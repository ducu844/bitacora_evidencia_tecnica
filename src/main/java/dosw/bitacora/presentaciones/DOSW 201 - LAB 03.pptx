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HK Modular" charset="1" panose="00000800000000000000"/>
      <p:regular r:id="rId37"/>
    </p:embeddedFont>
    <p:embeddedFont>
      <p:font typeface="RQND Pro" charset="1" panose="00000500000000000000"/>
      <p:regular r:id="rId38"/>
    </p:embeddedFont>
    <p:embeddedFont>
      <p:font typeface="Poppins" charset="1" panose="00000500000000000000"/>
      <p:regular r:id="rId39"/>
    </p:embeddedFont>
    <p:embeddedFont>
      <p:font typeface="Canva Sans" charset="1" panose="020B0503030501040103"/>
      <p:regular r:id="rId40"/>
    </p:embeddedFont>
    <p:embeddedFont>
      <p:font typeface="Poppins Bold" charset="1" panose="0000080000000000000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6.png" Type="http://schemas.openxmlformats.org/officeDocument/2006/relationships/image"/><Relationship Id="rId7"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17.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3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17.png" Type="http://schemas.openxmlformats.org/officeDocument/2006/relationships/image"/><Relationship Id="rId5" Target="../media/image3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4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17.png" Type="http://schemas.openxmlformats.org/officeDocument/2006/relationships/image"/><Relationship Id="rId5" Target="../media/image4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44.png" Type="http://schemas.openxmlformats.org/officeDocument/2006/relationships/image"/><Relationship Id="rId5" Target="../media/image45.png" Type="http://schemas.openxmlformats.org/officeDocument/2006/relationships/image"/><Relationship Id="rId6" Target="../media/image46.png" Type="http://schemas.openxmlformats.org/officeDocument/2006/relationships/image"/><Relationship Id="rId7" Target="../media/image4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4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svg" Type="http://schemas.openxmlformats.org/officeDocument/2006/relationships/image"/><Relationship Id="rId2" Target="../media/image9.jpeg" Type="http://schemas.openxmlformats.org/officeDocument/2006/relationships/image"/><Relationship Id="rId3" Target="../media/image5.png" Type="http://schemas.openxmlformats.org/officeDocument/2006/relationships/image"/><Relationship Id="rId4" Target="../media/image51.png" Type="http://schemas.openxmlformats.org/officeDocument/2006/relationships/image"/><Relationship Id="rId5" Target="../media/image52.png" Type="http://schemas.openxmlformats.org/officeDocument/2006/relationships/image"/><Relationship Id="rId6" Target="../media/image53.png"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5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58.png" Type="http://schemas.openxmlformats.org/officeDocument/2006/relationships/image"/><Relationship Id="rId5" Target="../media/image59.pn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62.png" Type="http://schemas.openxmlformats.org/officeDocument/2006/relationships/image"/><Relationship Id="rId5" Target="../media/image63.png" Type="http://schemas.openxmlformats.org/officeDocument/2006/relationships/image"/><Relationship Id="rId6" Target="../media/image64.png" Type="http://schemas.openxmlformats.org/officeDocument/2006/relationships/image"/><Relationship Id="rId7" Target="../media/image65.svg" Type="http://schemas.openxmlformats.org/officeDocument/2006/relationships/image"/><Relationship Id="rId8" Target="../media/image66.png" Type="http://schemas.openxmlformats.org/officeDocument/2006/relationships/image"/><Relationship Id="rId9" Target="../media/image67.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68.png" Type="http://schemas.openxmlformats.org/officeDocument/2006/relationships/image"/><Relationship Id="rId5" Target="../media/image69.png" Type="http://schemas.openxmlformats.org/officeDocument/2006/relationships/image"/><Relationship Id="rId6" Target="../media/image70.png" Type="http://schemas.openxmlformats.org/officeDocument/2006/relationships/image"/><Relationship Id="rId7" Target="../media/image7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7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73.png" Type="http://schemas.openxmlformats.org/officeDocument/2006/relationships/image"/><Relationship Id="rId5" Target="../media/image74.svg" Type="http://schemas.openxmlformats.org/officeDocument/2006/relationships/image"/><Relationship Id="rId6" Target="../media/image7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 Id="rId4" Target="../media/image17.png" Type="http://schemas.openxmlformats.org/officeDocument/2006/relationships/image"/><Relationship Id="rId5" Target="../media/image7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77.png" Type="http://schemas.openxmlformats.org/officeDocument/2006/relationships/image"/><Relationship Id="rId4"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304904" y="2295809"/>
            <a:ext cx="601820" cy="601820"/>
          </a:xfrm>
          <a:custGeom>
            <a:avLst/>
            <a:gdLst/>
            <a:ahLst/>
            <a:cxnLst/>
            <a:rect r="r" b="b" t="t" l="l"/>
            <a:pathLst>
              <a:path h="601820" w="601820">
                <a:moveTo>
                  <a:pt x="0" y="0"/>
                </a:moveTo>
                <a:lnTo>
                  <a:pt x="601819" y="0"/>
                </a:lnTo>
                <a:lnTo>
                  <a:pt x="601819" y="601820"/>
                </a:lnTo>
                <a:lnTo>
                  <a:pt x="0" y="601820"/>
                </a:lnTo>
                <a:lnTo>
                  <a:pt x="0" y="0"/>
                </a:lnTo>
                <a:close/>
              </a:path>
            </a:pathLst>
          </a:custGeom>
          <a:blipFill>
            <a:blip r:embed="rId5"/>
            <a:stretch>
              <a:fillRect l="0" t="0" r="0" b="0"/>
            </a:stretch>
          </a:blipFill>
        </p:spPr>
      </p:sp>
      <p:sp>
        <p:nvSpPr>
          <p:cNvPr name="TextBox 8" id="8"/>
          <p:cNvSpPr txBox="true"/>
          <p:nvPr/>
        </p:nvSpPr>
        <p:spPr>
          <a:xfrm rot="0">
            <a:off x="8304904" y="4377652"/>
            <a:ext cx="8271372" cy="1115662"/>
          </a:xfrm>
          <a:prstGeom prst="rect">
            <a:avLst/>
          </a:prstGeom>
        </p:spPr>
        <p:txBody>
          <a:bodyPr anchor="t" rtlCol="false" tIns="0" lIns="0" bIns="0" rIns="0">
            <a:spAutoFit/>
          </a:bodyPr>
          <a:lstStyle/>
          <a:p>
            <a:pPr algn="l">
              <a:lnSpc>
                <a:spcPts val="9165"/>
              </a:lnSpc>
              <a:spcBef>
                <a:spcPct val="0"/>
              </a:spcBef>
            </a:pPr>
            <a:r>
              <a:rPr lang="en-US" sz="6546">
                <a:solidFill>
                  <a:srgbClr val="99C5FF"/>
                </a:solidFill>
                <a:latin typeface="HK Modular"/>
                <a:ea typeface="HK Modular"/>
                <a:cs typeface="HK Modular"/>
                <a:sym typeface="HK Modular"/>
              </a:rPr>
              <a:t>BOOTCAMP</a:t>
            </a:r>
          </a:p>
        </p:txBody>
      </p:sp>
      <p:sp>
        <p:nvSpPr>
          <p:cNvPr name="TextBox 9" id="9"/>
          <p:cNvSpPr txBox="true"/>
          <p:nvPr/>
        </p:nvSpPr>
        <p:spPr>
          <a:xfrm rot="0">
            <a:off x="8304904" y="5916767"/>
            <a:ext cx="9083989" cy="1812977"/>
          </a:xfrm>
          <a:prstGeom prst="rect">
            <a:avLst/>
          </a:prstGeom>
        </p:spPr>
        <p:txBody>
          <a:bodyPr anchor="t" rtlCol="false" tIns="0" lIns="0" bIns="0" rIns="0">
            <a:spAutoFit/>
          </a:bodyPr>
          <a:lstStyle/>
          <a:p>
            <a:pPr algn="l">
              <a:lnSpc>
                <a:spcPts val="7267"/>
              </a:lnSpc>
              <a:spcBef>
                <a:spcPct val="0"/>
              </a:spcBef>
            </a:pPr>
            <a:r>
              <a:rPr lang="en-US" sz="5191">
                <a:solidFill>
                  <a:srgbClr val="7B640E"/>
                </a:solidFill>
                <a:latin typeface="HK Modular"/>
                <a:ea typeface="HK Modular"/>
                <a:cs typeface="HK Modular"/>
                <a:sym typeface="HK Modular"/>
              </a:rPr>
              <a:t>SESION SEMANA 3 201</a:t>
            </a:r>
          </a:p>
        </p:txBody>
      </p:sp>
      <p:sp>
        <p:nvSpPr>
          <p:cNvPr name="TextBox 10" id="10"/>
          <p:cNvSpPr txBox="true"/>
          <p:nvPr/>
        </p:nvSpPr>
        <p:spPr>
          <a:xfrm rot="0">
            <a:off x="8906723" y="2356120"/>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11" id="11"/>
          <p:cNvSpPr/>
          <p:nvPr/>
        </p:nvSpPr>
        <p:spPr>
          <a:xfrm flipH="false" flipV="false" rot="0">
            <a:off x="1302528" y="1824485"/>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6"/>
            <a:stretch>
              <a:fillRect l="0" t="0" r="0" b="0"/>
            </a:stretch>
          </a:blipFill>
        </p:spPr>
      </p:sp>
      <p:sp>
        <p:nvSpPr>
          <p:cNvPr name="Freeform 12" id="12"/>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894353" y="6745775"/>
            <a:ext cx="20076706" cy="4517259"/>
          </a:xfrm>
          <a:custGeom>
            <a:avLst/>
            <a:gdLst/>
            <a:ahLst/>
            <a:cxnLst/>
            <a:rect r="r" b="b" t="t" l="l"/>
            <a:pathLst>
              <a:path h="4517259" w="20076706">
                <a:moveTo>
                  <a:pt x="0" y="0"/>
                </a:moveTo>
                <a:lnTo>
                  <a:pt x="20076706" y="0"/>
                </a:lnTo>
                <a:lnTo>
                  <a:pt x="20076706" y="4517259"/>
                </a:lnTo>
                <a:lnTo>
                  <a:pt x="0" y="4517259"/>
                </a:lnTo>
                <a:lnTo>
                  <a:pt x="0" y="0"/>
                </a:lnTo>
                <a:close/>
              </a:path>
            </a:pathLst>
          </a:custGeom>
          <a:blipFill>
            <a:blip r:embed="rId2">
              <a:alphaModFix amt="31999"/>
            </a:blip>
            <a:stretch>
              <a:fillRect l="0" t="0" r="0" b="0"/>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100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5669932" y="-1017864"/>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alphaModFix amt="1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074793" y="2257807"/>
            <a:ext cx="9389196" cy="1115662"/>
          </a:xfrm>
          <a:prstGeom prst="rect">
            <a:avLst/>
          </a:prstGeom>
        </p:spPr>
        <p:txBody>
          <a:bodyPr anchor="t" rtlCol="false" tIns="0" lIns="0" bIns="0" rIns="0">
            <a:spAutoFit/>
          </a:bodyPr>
          <a:lstStyle/>
          <a:p>
            <a:pPr algn="l">
              <a:lnSpc>
                <a:spcPts val="9165"/>
              </a:lnSpc>
              <a:spcBef>
                <a:spcPct val="0"/>
              </a:spcBef>
            </a:pPr>
            <a:r>
              <a:rPr lang="en-US" sz="6546">
                <a:solidFill>
                  <a:srgbClr val="99C5FF"/>
                </a:solidFill>
                <a:latin typeface="HK Modular"/>
                <a:ea typeface="HK Modular"/>
                <a:cs typeface="HK Modular"/>
                <a:sym typeface="HK Modular"/>
              </a:rPr>
              <a:t>AGENDA</a:t>
            </a:r>
          </a:p>
        </p:txBody>
      </p:sp>
      <p:sp>
        <p:nvSpPr>
          <p:cNvPr name="TextBox 8" id="8"/>
          <p:cNvSpPr txBox="true"/>
          <p:nvPr/>
        </p:nvSpPr>
        <p:spPr>
          <a:xfrm rot="0">
            <a:off x="8906723" y="498026"/>
            <a:ext cx="4748826" cy="424049"/>
          </a:xfrm>
          <a:prstGeom prst="rect">
            <a:avLst/>
          </a:prstGeom>
        </p:spPr>
        <p:txBody>
          <a:bodyPr anchor="t" rtlCol="false" tIns="0" lIns="0" bIns="0" rIns="0">
            <a:spAutoFit/>
          </a:bodyPr>
          <a:lstStyle/>
          <a:p>
            <a:pPr algn="ctr">
              <a:lnSpc>
                <a:spcPts val="3402"/>
              </a:lnSpc>
              <a:spcBef>
                <a:spcPct val="0"/>
              </a:spcBef>
            </a:pPr>
            <a:r>
              <a:rPr lang="en-US" sz="2430">
                <a:solidFill>
                  <a:srgbClr val="FFFFFF"/>
                </a:solidFill>
                <a:latin typeface="RQND Pro"/>
                <a:ea typeface="RQND Pro"/>
                <a:cs typeface="RQND Pro"/>
                <a:sym typeface="RQND Pro"/>
              </a:rPr>
              <a:t>ESCUELA COLOMBIANA DE INGENIERIA</a:t>
            </a:r>
          </a:p>
        </p:txBody>
      </p:sp>
      <p:sp>
        <p:nvSpPr>
          <p:cNvPr name="Freeform 9" id="9"/>
          <p:cNvSpPr/>
          <p:nvPr/>
        </p:nvSpPr>
        <p:spPr>
          <a:xfrm flipH="false" flipV="false" rot="0">
            <a:off x="8202204" y="426880"/>
            <a:ext cx="601820" cy="601820"/>
          </a:xfrm>
          <a:custGeom>
            <a:avLst/>
            <a:gdLst/>
            <a:ahLst/>
            <a:cxnLst/>
            <a:rect r="r" b="b" t="t" l="l"/>
            <a:pathLst>
              <a:path h="601820" w="601820">
                <a:moveTo>
                  <a:pt x="0" y="0"/>
                </a:moveTo>
                <a:lnTo>
                  <a:pt x="601820" y="0"/>
                </a:lnTo>
                <a:lnTo>
                  <a:pt x="601820" y="601820"/>
                </a:lnTo>
                <a:lnTo>
                  <a:pt x="0" y="601820"/>
                </a:lnTo>
                <a:lnTo>
                  <a:pt x="0" y="0"/>
                </a:lnTo>
                <a:close/>
              </a:path>
            </a:pathLst>
          </a:custGeom>
          <a:blipFill>
            <a:blip r:embed="rId5"/>
            <a:stretch>
              <a:fillRect l="0" t="0" r="0" b="0"/>
            </a:stretch>
          </a:blipFill>
        </p:spPr>
      </p:sp>
      <p:sp>
        <p:nvSpPr>
          <p:cNvPr name="Freeform 10" id="10"/>
          <p:cNvSpPr/>
          <p:nvPr/>
        </p:nvSpPr>
        <p:spPr>
          <a:xfrm flipH="false" flipV="false" rot="0">
            <a:off x="1163911" y="163050"/>
            <a:ext cx="6623053" cy="9668691"/>
          </a:xfrm>
          <a:custGeom>
            <a:avLst/>
            <a:gdLst/>
            <a:ahLst/>
            <a:cxnLst/>
            <a:rect r="r" b="b" t="t" l="l"/>
            <a:pathLst>
              <a:path h="9668691" w="6623053">
                <a:moveTo>
                  <a:pt x="0" y="0"/>
                </a:moveTo>
                <a:lnTo>
                  <a:pt x="6623054" y="0"/>
                </a:lnTo>
                <a:lnTo>
                  <a:pt x="6623054" y="9668691"/>
                </a:lnTo>
                <a:lnTo>
                  <a:pt x="0" y="9668691"/>
                </a:lnTo>
                <a:lnTo>
                  <a:pt x="0" y="0"/>
                </a:lnTo>
                <a:close/>
              </a:path>
            </a:pathLst>
          </a:custGeom>
          <a:blipFill>
            <a:blip r:embed="rId6"/>
            <a:stretch>
              <a:fillRect l="0" t="0" r="0" b="0"/>
            </a:stretch>
          </a:blipFill>
        </p:spPr>
      </p:sp>
      <p:sp>
        <p:nvSpPr>
          <p:cNvPr name="Freeform 11" id="11"/>
          <p:cNvSpPr/>
          <p:nvPr/>
        </p:nvSpPr>
        <p:spPr>
          <a:xfrm flipH="false" flipV="false" rot="0">
            <a:off x="1302528" y="1970590"/>
            <a:ext cx="6345820" cy="6345820"/>
          </a:xfrm>
          <a:custGeom>
            <a:avLst/>
            <a:gdLst/>
            <a:ahLst/>
            <a:cxnLst/>
            <a:rect r="r" b="b" t="t" l="l"/>
            <a:pathLst>
              <a:path h="6345820" w="6345820">
                <a:moveTo>
                  <a:pt x="0" y="0"/>
                </a:moveTo>
                <a:lnTo>
                  <a:pt x="6345820" y="0"/>
                </a:lnTo>
                <a:lnTo>
                  <a:pt x="6345820" y="6345820"/>
                </a:lnTo>
                <a:lnTo>
                  <a:pt x="0" y="6345820"/>
                </a:lnTo>
                <a:lnTo>
                  <a:pt x="0" y="0"/>
                </a:lnTo>
                <a:close/>
              </a:path>
            </a:pathLst>
          </a:custGeom>
          <a:blipFill>
            <a:blip r:embed="rId7"/>
            <a:stretch>
              <a:fillRect l="0" t="0" r="0" b="0"/>
            </a:stretch>
          </a:blipFill>
        </p:spPr>
      </p:sp>
      <p:sp>
        <p:nvSpPr>
          <p:cNvPr name="TextBox 12" id="12"/>
          <p:cNvSpPr txBox="true"/>
          <p:nvPr/>
        </p:nvSpPr>
        <p:spPr>
          <a:xfrm rot="0">
            <a:off x="8074793" y="3919699"/>
            <a:ext cx="7261050" cy="474249"/>
          </a:xfrm>
          <a:prstGeom prst="rect">
            <a:avLst/>
          </a:prstGeom>
        </p:spPr>
        <p:txBody>
          <a:bodyPr anchor="t" rtlCol="false" tIns="0" lIns="0" bIns="0" rIns="0">
            <a:spAutoFit/>
          </a:bodyPr>
          <a:lstStyle/>
          <a:p>
            <a:pPr algn="l">
              <a:lnSpc>
                <a:spcPts val="3845"/>
              </a:lnSpc>
              <a:spcBef>
                <a:spcPct val="0"/>
              </a:spcBef>
            </a:pPr>
            <a:r>
              <a:rPr lang="en-US" sz="2747">
                <a:solidFill>
                  <a:srgbClr val="FFFFFF"/>
                </a:solidFill>
                <a:latin typeface="HK Modular"/>
                <a:ea typeface="HK Modular"/>
                <a:cs typeface="HK Modular"/>
                <a:sym typeface="HK Modular"/>
              </a:rPr>
              <a:t>EJERCICIOS EN CLASE</a:t>
            </a:r>
          </a:p>
        </p:txBody>
      </p:sp>
      <p:sp>
        <p:nvSpPr>
          <p:cNvPr name="TextBox 13" id="13"/>
          <p:cNvSpPr txBox="true"/>
          <p:nvPr/>
        </p:nvSpPr>
        <p:spPr>
          <a:xfrm rot="0">
            <a:off x="8202204" y="4757993"/>
            <a:ext cx="9402277" cy="431179"/>
          </a:xfrm>
          <a:prstGeom prst="rect">
            <a:avLst/>
          </a:prstGeom>
        </p:spPr>
        <p:txBody>
          <a:bodyPr anchor="t" rtlCol="false" tIns="0" lIns="0" bIns="0" rIns="0">
            <a:spAutoFit/>
          </a:bodyPr>
          <a:lstStyle/>
          <a:p>
            <a:pPr algn="l" marL="545028" indent="-272514" lvl="1">
              <a:lnSpc>
                <a:spcPts val="3534"/>
              </a:lnSpc>
              <a:buFont typeface="Arial"/>
              <a:buChar char="•"/>
            </a:pPr>
            <a:r>
              <a:rPr lang="en-US" sz="2524">
                <a:solidFill>
                  <a:srgbClr val="FFFFFF"/>
                </a:solidFill>
                <a:latin typeface="HK Modular"/>
                <a:ea typeface="HK Modular"/>
                <a:cs typeface="HK Modular"/>
                <a:sym typeface="HK Modular"/>
              </a:rPr>
              <a:t>PATRONES DE DISEÑO ESTRUCTURALES</a:t>
            </a:r>
          </a:p>
        </p:txBody>
      </p:sp>
      <p:sp>
        <p:nvSpPr>
          <p:cNvPr name="TextBox 14" id="14"/>
          <p:cNvSpPr txBox="true"/>
          <p:nvPr/>
        </p:nvSpPr>
        <p:spPr>
          <a:xfrm rot="0">
            <a:off x="8202204" y="5504234"/>
            <a:ext cx="9402277" cy="878854"/>
          </a:xfrm>
          <a:prstGeom prst="rect">
            <a:avLst/>
          </a:prstGeom>
        </p:spPr>
        <p:txBody>
          <a:bodyPr anchor="t" rtlCol="false" tIns="0" lIns="0" bIns="0" rIns="0">
            <a:spAutoFit/>
          </a:bodyPr>
          <a:lstStyle/>
          <a:p>
            <a:pPr algn="l" marL="545028" indent="-272514" lvl="1">
              <a:lnSpc>
                <a:spcPts val="3534"/>
              </a:lnSpc>
              <a:buFont typeface="Arial"/>
              <a:buChar char="•"/>
            </a:pPr>
            <a:r>
              <a:rPr lang="en-US" sz="2524">
                <a:solidFill>
                  <a:srgbClr val="FFFFFF"/>
                </a:solidFill>
                <a:latin typeface="HK Modular"/>
                <a:ea typeface="HK Modular"/>
                <a:cs typeface="HK Modular"/>
                <a:sym typeface="HK Modular"/>
              </a:rPr>
              <a:t>PATRONES DE DISEÑO COMPORTAMIENTO</a:t>
            </a:r>
          </a:p>
        </p:txBody>
      </p:sp>
      <p:sp>
        <p:nvSpPr>
          <p:cNvPr name="TextBox 15" id="15"/>
          <p:cNvSpPr txBox="true"/>
          <p:nvPr/>
        </p:nvSpPr>
        <p:spPr>
          <a:xfrm rot="0">
            <a:off x="8074793" y="6926013"/>
            <a:ext cx="9184507" cy="474249"/>
          </a:xfrm>
          <a:prstGeom prst="rect">
            <a:avLst/>
          </a:prstGeom>
        </p:spPr>
        <p:txBody>
          <a:bodyPr anchor="t" rtlCol="false" tIns="0" lIns="0" bIns="0" rIns="0">
            <a:spAutoFit/>
          </a:bodyPr>
          <a:lstStyle/>
          <a:p>
            <a:pPr algn="l">
              <a:lnSpc>
                <a:spcPts val="3845"/>
              </a:lnSpc>
              <a:spcBef>
                <a:spcPct val="0"/>
              </a:spcBef>
            </a:pPr>
            <a:r>
              <a:rPr lang="en-US" sz="2747">
                <a:solidFill>
                  <a:srgbClr val="FFFFFF"/>
                </a:solidFill>
                <a:latin typeface="HK Modular"/>
                <a:ea typeface="HK Modular"/>
                <a:cs typeface="HK Modular"/>
                <a:sym typeface="HK Modular"/>
              </a:rPr>
              <a:t>HACKATON LABORATORIO 2 - PARTE 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35773" y="1932099"/>
            <a:ext cx="12416455" cy="857781"/>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ESTRUCTURAL - COMPOSITE</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pic>
        <p:nvPicPr>
          <p:cNvPr name="Picture 8" id="8"/>
          <p:cNvPicPr>
            <a:picLocks noChangeAspect="true"/>
          </p:cNvPicPr>
          <p:nvPr/>
        </p:nvPicPr>
        <p:blipFill>
          <a:blip r:embed="rId4"/>
          <a:stretch>
            <a:fillRect/>
          </a:stretch>
        </p:blipFill>
        <p:spPr>
          <a:xfrm rot="0">
            <a:off x="8106190" y="4331953"/>
            <a:ext cx="884789" cy="885324"/>
          </a:xfrm>
          <a:prstGeom prst="rect">
            <a:avLst/>
          </a:prstGeom>
        </p:spPr>
      </p:pic>
      <p:pic>
        <p:nvPicPr>
          <p:cNvPr name="Picture 9" id="9"/>
          <p:cNvPicPr>
            <a:picLocks noChangeAspect="true"/>
          </p:cNvPicPr>
          <p:nvPr/>
        </p:nvPicPr>
        <p:blipFill>
          <a:blip r:embed="rId5"/>
          <a:stretch>
            <a:fillRect/>
          </a:stretch>
        </p:blipFill>
        <p:spPr>
          <a:xfrm rot="0">
            <a:off x="8106190" y="6245431"/>
            <a:ext cx="884789" cy="885324"/>
          </a:xfrm>
          <a:prstGeom prst="rect">
            <a:avLst/>
          </a:prstGeom>
        </p:spPr>
      </p:pic>
      <p:pic>
        <p:nvPicPr>
          <p:cNvPr name="Picture 10" id="10"/>
          <p:cNvPicPr>
            <a:picLocks noChangeAspect="true"/>
          </p:cNvPicPr>
          <p:nvPr/>
        </p:nvPicPr>
        <p:blipFill>
          <a:blip r:embed="rId6"/>
          <a:stretch>
            <a:fillRect/>
          </a:stretch>
        </p:blipFill>
        <p:spPr>
          <a:xfrm rot="0">
            <a:off x="8106190" y="8018227"/>
            <a:ext cx="884789" cy="885324"/>
          </a:xfrm>
          <a:prstGeom prst="rect">
            <a:avLst/>
          </a:prstGeom>
        </p:spPr>
      </p:pic>
      <p:sp>
        <p:nvSpPr>
          <p:cNvPr name="Freeform 11" id="11"/>
          <p:cNvSpPr/>
          <p:nvPr/>
        </p:nvSpPr>
        <p:spPr>
          <a:xfrm flipH="false" flipV="false" rot="0">
            <a:off x="1976191" y="4079974"/>
            <a:ext cx="5193449" cy="5431424"/>
          </a:xfrm>
          <a:custGeom>
            <a:avLst/>
            <a:gdLst/>
            <a:ahLst/>
            <a:cxnLst/>
            <a:rect r="r" b="b" t="t" l="l"/>
            <a:pathLst>
              <a:path h="5431424" w="5193449">
                <a:moveTo>
                  <a:pt x="0" y="0"/>
                </a:moveTo>
                <a:lnTo>
                  <a:pt x="5193449" y="0"/>
                </a:lnTo>
                <a:lnTo>
                  <a:pt x="5193449" y="5431423"/>
                </a:lnTo>
                <a:lnTo>
                  <a:pt x="0" y="5431423"/>
                </a:lnTo>
                <a:lnTo>
                  <a:pt x="0" y="0"/>
                </a:lnTo>
                <a:close/>
              </a:path>
            </a:pathLst>
          </a:custGeom>
          <a:blipFill>
            <a:blip r:embed="rId7"/>
            <a:stretch>
              <a:fillRect l="0" t="0" r="0" b="0"/>
            </a:stretch>
          </a:blipFill>
        </p:spPr>
      </p:sp>
      <p:sp>
        <p:nvSpPr>
          <p:cNvPr name="TextBox 12" id="12"/>
          <p:cNvSpPr txBox="true"/>
          <p:nvPr/>
        </p:nvSpPr>
        <p:spPr>
          <a:xfrm rot="0">
            <a:off x="1150092" y="3068532"/>
            <a:ext cx="16206550"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a:t>
            </a:r>
            <a:r>
              <a:rPr lang="en-US" sz="1899">
                <a:solidFill>
                  <a:srgbClr val="FFFFFF"/>
                </a:solidFill>
                <a:latin typeface="Poppins"/>
                <a:ea typeface="Poppins"/>
                <a:cs typeface="Poppins"/>
                <a:sym typeface="Poppins"/>
              </a:rPr>
              <a:t>s un patrón de diseño estructural que te permite componer objetos en estructuras de árbol y trabajar con esas estructuras como si fueran objetos individuales.</a:t>
            </a:r>
          </a:p>
        </p:txBody>
      </p:sp>
      <p:sp>
        <p:nvSpPr>
          <p:cNvPr name="TextBox 13" id="13"/>
          <p:cNvSpPr txBox="true"/>
          <p:nvPr/>
        </p:nvSpPr>
        <p:spPr>
          <a:xfrm rot="0">
            <a:off x="9082195" y="6466418"/>
            <a:ext cx="8859597"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Puedes trabajar con estructuras de árbol complejas con mayor comodidad: utiliza el polimorfismo y la recursión en tu favor.</a:t>
            </a:r>
          </a:p>
        </p:txBody>
      </p:sp>
      <p:sp>
        <p:nvSpPr>
          <p:cNvPr name="TextBox 14" id="14"/>
          <p:cNvSpPr txBox="true"/>
          <p:nvPr/>
        </p:nvSpPr>
        <p:spPr>
          <a:xfrm rot="0">
            <a:off x="9253367" y="4285828"/>
            <a:ext cx="8517253" cy="16567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Canva Sans"/>
                <a:ea typeface="Canva Sans"/>
                <a:cs typeface="Canva Sans"/>
                <a:sym typeface="Canva Sans"/>
              </a:rPr>
              <a:t>El patrón Composite te proporciona dos tipos de elementos básicos que comparten una interfaz común: hojas simples y contenedores complejos. Un contenedor puede estar compuesto por hojas y por otros contenedores. Esto te permite construir una estructura de objetos recursivos anidados parecida a un árbol.</a:t>
            </a:r>
          </a:p>
        </p:txBody>
      </p:sp>
      <p:sp>
        <p:nvSpPr>
          <p:cNvPr name="TextBox 15" id="15"/>
          <p:cNvSpPr txBox="true"/>
          <p:nvPr/>
        </p:nvSpPr>
        <p:spPr>
          <a:xfrm rot="0">
            <a:off x="9082195" y="8154134"/>
            <a:ext cx="8859597" cy="10090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Todos los elementos definidos por el patrón Composite comparten una interfaz común. Utilizando esta interfaz, el cliente no tiene que preocuparse por la clase concreta de los objetos con los que funciona.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15746" y="1747476"/>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COMO IMPLEMENTARLO</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6957502" y="2901342"/>
            <a:ext cx="5204760" cy="6356958"/>
          </a:xfrm>
          <a:custGeom>
            <a:avLst/>
            <a:gdLst/>
            <a:ahLst/>
            <a:cxnLst/>
            <a:rect r="r" b="b" t="t" l="l"/>
            <a:pathLst>
              <a:path h="6356958" w="5204760">
                <a:moveTo>
                  <a:pt x="0" y="0"/>
                </a:moveTo>
                <a:lnTo>
                  <a:pt x="5204760" y="0"/>
                </a:lnTo>
                <a:lnTo>
                  <a:pt x="5204760" y="6356958"/>
                </a:lnTo>
                <a:lnTo>
                  <a:pt x="0" y="6356958"/>
                </a:lnTo>
                <a:lnTo>
                  <a:pt x="0" y="0"/>
                </a:lnTo>
                <a:close/>
              </a:path>
            </a:pathLst>
          </a:custGeom>
          <a:blipFill>
            <a:blip r:embed="rId4"/>
            <a:stretch>
              <a:fillRect l="0" t="0" r="0" b="0"/>
            </a:stretch>
          </a:blipFill>
        </p:spPr>
      </p:sp>
      <p:sp>
        <p:nvSpPr>
          <p:cNvPr name="TextBox 9" id="9"/>
          <p:cNvSpPr txBox="true"/>
          <p:nvPr/>
        </p:nvSpPr>
        <p:spPr>
          <a:xfrm rot="0">
            <a:off x="2621383" y="4311935"/>
            <a:ext cx="3792469" cy="1049858"/>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La interfaz componente describe operaciones que son comunes a elementos simples y complejos del arbol</a:t>
            </a:r>
          </a:p>
        </p:txBody>
      </p:sp>
      <p:sp>
        <p:nvSpPr>
          <p:cNvPr name="TextBox 10" id="10"/>
          <p:cNvSpPr txBox="true"/>
          <p:nvPr/>
        </p:nvSpPr>
        <p:spPr>
          <a:xfrm rot="0">
            <a:off x="2621383" y="6466227"/>
            <a:ext cx="3792469" cy="524983"/>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La hoja es un elemento basico de un arbol que no tiene subelementos</a:t>
            </a:r>
          </a:p>
        </p:txBody>
      </p:sp>
      <p:sp>
        <p:nvSpPr>
          <p:cNvPr name="TextBox 11" id="11"/>
          <p:cNvSpPr txBox="true"/>
          <p:nvPr/>
        </p:nvSpPr>
        <p:spPr>
          <a:xfrm rot="0">
            <a:off x="12866075" y="6041721"/>
            <a:ext cx="3792469" cy="1312295"/>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El contenedor es un elemento que tiene subelementos: hojas u otros contenedores. Un contenedor no conoce las clases concretas de sus hijos.</a:t>
            </a:r>
          </a:p>
        </p:txBody>
      </p:sp>
      <p:sp>
        <p:nvSpPr>
          <p:cNvPr name="TextBox 12" id="12"/>
          <p:cNvSpPr txBox="true"/>
          <p:nvPr/>
        </p:nvSpPr>
        <p:spPr>
          <a:xfrm rot="0">
            <a:off x="12162262" y="8727464"/>
            <a:ext cx="5764368" cy="787421"/>
          </a:xfrm>
          <a:prstGeom prst="rect">
            <a:avLst/>
          </a:prstGeom>
        </p:spPr>
        <p:txBody>
          <a:bodyPr anchor="t" rtlCol="false" tIns="0" lIns="0" bIns="0" rIns="0">
            <a:spAutoFit/>
          </a:bodyPr>
          <a:lstStyle/>
          <a:p>
            <a:pPr algn="ctr">
              <a:lnSpc>
                <a:spcPts val="2093"/>
              </a:lnSpc>
              <a:spcBef>
                <a:spcPct val="0"/>
              </a:spcBef>
            </a:pPr>
            <a:r>
              <a:rPr lang="en-US" sz="1495">
                <a:solidFill>
                  <a:srgbClr val="FFFFFF"/>
                </a:solidFill>
                <a:latin typeface="Poppins"/>
                <a:ea typeface="Poppins"/>
                <a:cs typeface="Poppins"/>
                <a:sym typeface="Poppins"/>
              </a:rPr>
              <a:t>AL RECIBIR UNA SOLICITUD UN CONTENEDOR DELEGA EL TRABAJO A SUS SUBELEMENTOS, PROCESA LOS RESULTADOS INTERMEDIOS Y DEVUELVE EL RESULTADO FINAL AL CLIENTE</a:t>
            </a:r>
          </a:p>
        </p:txBody>
      </p:sp>
      <p:sp>
        <p:nvSpPr>
          <p:cNvPr name="TextBox 13" id="13"/>
          <p:cNvSpPr txBox="true"/>
          <p:nvPr/>
        </p:nvSpPr>
        <p:spPr>
          <a:xfrm rot="0">
            <a:off x="9144000" y="3037740"/>
            <a:ext cx="3792469" cy="1837169"/>
          </a:xfrm>
          <a:prstGeom prst="rect">
            <a:avLst/>
          </a:prstGeom>
        </p:spPr>
        <p:txBody>
          <a:bodyPr anchor="t" rtlCol="false" tIns="0" lIns="0" bIns="0" rIns="0">
            <a:spAutoFit/>
          </a:bodyPr>
          <a:lstStyle/>
          <a:p>
            <a:pPr algn="ctr" marL="322922" indent="-161461" lvl="1">
              <a:lnSpc>
                <a:spcPts val="2093"/>
              </a:lnSpc>
              <a:spcBef>
                <a:spcPct val="0"/>
              </a:spcBef>
              <a:buAutoNum type="arabicPeriod" startAt="1"/>
            </a:pPr>
            <a:r>
              <a:rPr lang="en-US" sz="1495">
                <a:solidFill>
                  <a:srgbClr val="FFFFFF"/>
                </a:solidFill>
                <a:latin typeface="Poppins"/>
                <a:ea typeface="Poppins"/>
                <a:cs typeface="Poppins"/>
                <a:sym typeface="Poppins"/>
              </a:rPr>
              <a:t>El cliente funciona con todos los elementos a traves de la interfaz componente. Como resultado el cliente puede funcionar de la misma manera tanto con elementos simples como complejos del arbol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#6</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721013" y="4281247"/>
            <a:ext cx="2241485" cy="2313791"/>
          </a:xfrm>
          <a:custGeom>
            <a:avLst/>
            <a:gdLst/>
            <a:ahLst/>
            <a:cxnLst/>
            <a:rect r="r" b="b" t="t" l="l"/>
            <a:pathLst>
              <a:path h="2313791" w="2241485">
                <a:moveTo>
                  <a:pt x="0" y="0"/>
                </a:moveTo>
                <a:lnTo>
                  <a:pt x="2241485" y="0"/>
                </a:lnTo>
                <a:lnTo>
                  <a:pt x="2241485" y="2313790"/>
                </a:lnTo>
                <a:lnTo>
                  <a:pt x="0" y="2313790"/>
                </a:lnTo>
                <a:lnTo>
                  <a:pt x="0" y="0"/>
                </a:lnTo>
                <a:close/>
              </a:path>
            </a:pathLst>
          </a:custGeom>
          <a:blipFill>
            <a:blip r:embed="rId4"/>
            <a:stretch>
              <a:fillRect l="0" t="0" r="0" b="0"/>
            </a:stretch>
          </a:blipFill>
        </p:spPr>
      </p:sp>
      <p:sp>
        <p:nvSpPr>
          <p:cNvPr name="Freeform 9" id="9"/>
          <p:cNvSpPr/>
          <p:nvPr/>
        </p:nvSpPr>
        <p:spPr>
          <a:xfrm flipH="false" flipV="false" rot="0">
            <a:off x="9978786" y="3107559"/>
            <a:ext cx="6698270" cy="6262882"/>
          </a:xfrm>
          <a:custGeom>
            <a:avLst/>
            <a:gdLst/>
            <a:ahLst/>
            <a:cxnLst/>
            <a:rect r="r" b="b" t="t" l="l"/>
            <a:pathLst>
              <a:path h="6262882" w="6698270">
                <a:moveTo>
                  <a:pt x="0" y="0"/>
                </a:moveTo>
                <a:lnTo>
                  <a:pt x="6698270" y="0"/>
                </a:lnTo>
                <a:lnTo>
                  <a:pt x="6698270" y="6262882"/>
                </a:lnTo>
                <a:lnTo>
                  <a:pt x="0" y="6262882"/>
                </a:lnTo>
                <a:lnTo>
                  <a:pt x="0" y="0"/>
                </a:lnTo>
                <a:close/>
              </a:path>
            </a:pathLst>
          </a:custGeom>
          <a:blipFill>
            <a:blip r:embed="rId5"/>
            <a:stretch>
              <a:fillRect l="0" t="0" r="0" b="0"/>
            </a:stretch>
          </a:blipFill>
        </p:spPr>
      </p:sp>
      <p:sp>
        <p:nvSpPr>
          <p:cNvPr name="TextBox 10" id="10"/>
          <p:cNvSpPr txBox="true"/>
          <p:nvPr/>
        </p:nvSpPr>
        <p:spPr>
          <a:xfrm rot="0">
            <a:off x="3381637" y="3648059"/>
            <a:ext cx="4798331" cy="4210191"/>
          </a:xfrm>
          <a:prstGeom prst="rect">
            <a:avLst/>
          </a:prstGeom>
        </p:spPr>
        <p:txBody>
          <a:bodyPr anchor="t" rtlCol="false" tIns="0" lIns="0" bIns="0" rIns="0">
            <a:spAutoFit/>
          </a:bodyPr>
          <a:lstStyle/>
          <a:p>
            <a:pPr algn="l">
              <a:lnSpc>
                <a:spcPts val="2617"/>
              </a:lnSpc>
              <a:spcBef>
                <a:spcPct val="0"/>
              </a:spcBef>
            </a:pPr>
            <a:r>
              <a:rPr lang="en-US" sz="1869">
                <a:solidFill>
                  <a:srgbClr val="FFFFFF"/>
                </a:solidFill>
                <a:latin typeface="Canva Sans"/>
                <a:ea typeface="Canva Sans"/>
                <a:cs typeface="Canva Sans"/>
                <a:sym typeface="Canva Sans"/>
              </a:rPr>
              <a:t>Una bodega maneja productos individuales y cajas que pueden contener:</a:t>
            </a:r>
          </a:p>
          <a:p>
            <a:pPr algn="l">
              <a:lnSpc>
                <a:spcPts val="2617"/>
              </a:lnSpc>
              <a:spcBef>
                <a:spcPct val="0"/>
              </a:spcBef>
            </a:pPr>
            <a:r>
              <a:rPr lang="en-US" sz="1869">
                <a:solidFill>
                  <a:srgbClr val="FFFFFF"/>
                </a:solidFill>
                <a:latin typeface="Canva Sans"/>
                <a:ea typeface="Canva Sans"/>
                <a:cs typeface="Canva Sans"/>
                <a:sym typeface="Canva Sans"/>
              </a:rPr>
              <a:t>Productos</a:t>
            </a:r>
          </a:p>
          <a:p>
            <a:pPr algn="l">
              <a:lnSpc>
                <a:spcPts val="2617"/>
              </a:lnSpc>
              <a:spcBef>
                <a:spcPct val="0"/>
              </a:spcBef>
            </a:pPr>
            <a:r>
              <a:rPr lang="en-US" sz="1869">
                <a:solidFill>
                  <a:srgbClr val="FFFFFF"/>
                </a:solidFill>
                <a:latin typeface="Canva Sans"/>
                <a:ea typeface="Canva Sans"/>
                <a:cs typeface="Canva Sans"/>
                <a:sym typeface="Canva Sans"/>
              </a:rPr>
              <a:t>Otras cajas (cajas dentro de cajas)</a:t>
            </a:r>
          </a:p>
          <a:p>
            <a:pPr algn="l">
              <a:lnSpc>
                <a:spcPts val="2617"/>
              </a:lnSpc>
              <a:spcBef>
                <a:spcPct val="0"/>
              </a:spcBef>
            </a:pPr>
            <a:r>
              <a:rPr lang="en-US" sz="1869">
                <a:solidFill>
                  <a:srgbClr val="FFFFFF"/>
                </a:solidFill>
                <a:latin typeface="Canva Sans"/>
                <a:ea typeface="Canva Sans"/>
                <a:cs typeface="Canva Sans"/>
                <a:sym typeface="Canva Sans"/>
              </a:rPr>
              <a:t>El sistema debe poder calcular el precio total de cualquier elemento, sin importar si es un producto simple o una caja compuesta.</a:t>
            </a:r>
          </a:p>
          <a:p>
            <a:pPr algn="l">
              <a:lnSpc>
                <a:spcPts val="2617"/>
              </a:lnSpc>
              <a:spcBef>
                <a:spcPct val="0"/>
              </a:spcBef>
            </a:pPr>
          </a:p>
          <a:p>
            <a:pPr algn="l">
              <a:lnSpc>
                <a:spcPts val="2617"/>
              </a:lnSpc>
              <a:spcBef>
                <a:spcPct val="0"/>
              </a:spcBef>
            </a:pPr>
            <a:r>
              <a:rPr lang="en-US" sz="1869">
                <a:solidFill>
                  <a:srgbClr val="FFFFFF"/>
                </a:solidFill>
                <a:latin typeface="Canva Sans"/>
                <a:ea typeface="Canva Sans"/>
                <a:cs typeface="Canva Sans"/>
                <a:sym typeface="Canva Sans"/>
              </a:rPr>
              <a:t>Para obtener el valor del precio total es necesario recorrer todos los items y obtener el precio</a:t>
            </a:r>
          </a:p>
          <a:p>
            <a:pPr algn="l">
              <a:lnSpc>
                <a:spcPts val="2617"/>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#6</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2481652" y="4199345"/>
            <a:ext cx="4592367" cy="5218598"/>
          </a:xfrm>
          <a:custGeom>
            <a:avLst/>
            <a:gdLst/>
            <a:ahLst/>
            <a:cxnLst/>
            <a:rect r="r" b="b" t="t" l="l"/>
            <a:pathLst>
              <a:path h="5218598" w="4592367">
                <a:moveTo>
                  <a:pt x="0" y="0"/>
                </a:moveTo>
                <a:lnTo>
                  <a:pt x="4592367" y="0"/>
                </a:lnTo>
                <a:lnTo>
                  <a:pt x="4592367" y="5218598"/>
                </a:lnTo>
                <a:lnTo>
                  <a:pt x="0" y="5218598"/>
                </a:lnTo>
                <a:lnTo>
                  <a:pt x="0" y="0"/>
                </a:lnTo>
                <a:close/>
              </a:path>
            </a:pathLst>
          </a:custGeom>
          <a:blipFill>
            <a:blip r:embed="rId4"/>
            <a:stretch>
              <a:fillRect l="0" t="0" r="0" b="0"/>
            </a:stretch>
          </a:blipFill>
        </p:spPr>
      </p:sp>
      <p:sp>
        <p:nvSpPr>
          <p:cNvPr name="Freeform 9" id="9"/>
          <p:cNvSpPr/>
          <p:nvPr/>
        </p:nvSpPr>
        <p:spPr>
          <a:xfrm flipH="false" flipV="false" rot="0">
            <a:off x="8958253" y="3978994"/>
            <a:ext cx="7218368" cy="5659299"/>
          </a:xfrm>
          <a:custGeom>
            <a:avLst/>
            <a:gdLst/>
            <a:ahLst/>
            <a:cxnLst/>
            <a:rect r="r" b="b" t="t" l="l"/>
            <a:pathLst>
              <a:path h="5659299" w="7218368">
                <a:moveTo>
                  <a:pt x="0" y="0"/>
                </a:moveTo>
                <a:lnTo>
                  <a:pt x="7218368" y="0"/>
                </a:lnTo>
                <a:lnTo>
                  <a:pt x="7218368" y="5659299"/>
                </a:lnTo>
                <a:lnTo>
                  <a:pt x="0" y="5659299"/>
                </a:lnTo>
                <a:lnTo>
                  <a:pt x="0" y="0"/>
                </a:lnTo>
                <a:close/>
              </a:path>
            </a:pathLst>
          </a:custGeom>
          <a:blipFill>
            <a:blip r:embed="rId5"/>
            <a:stretch>
              <a:fillRect l="0" t="0" r="0" b="0"/>
            </a:stretch>
          </a:blipFill>
        </p:spPr>
      </p:sp>
      <p:sp>
        <p:nvSpPr>
          <p:cNvPr name="TextBox 10" id="10"/>
          <p:cNvSpPr txBox="true"/>
          <p:nvPr/>
        </p:nvSpPr>
        <p:spPr>
          <a:xfrm rot="0">
            <a:off x="1083578" y="3121522"/>
            <a:ext cx="16613442" cy="466483"/>
          </a:xfrm>
          <a:prstGeom prst="rect">
            <a:avLst/>
          </a:prstGeom>
        </p:spPr>
        <p:txBody>
          <a:bodyPr anchor="t" rtlCol="false" tIns="0" lIns="0" bIns="0" rIns="0">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35773" y="1932099"/>
            <a:ext cx="12416455" cy="857781"/>
          </a:xfrm>
          <a:prstGeom prst="rect">
            <a:avLst/>
          </a:prstGeom>
        </p:spPr>
        <p:txBody>
          <a:bodyPr anchor="t" rtlCol="false" tIns="0" lIns="0" bIns="0" rIns="0">
            <a:spAutoFit/>
          </a:bodyPr>
          <a:lstStyle/>
          <a:p>
            <a:pPr algn="ctr">
              <a:lnSpc>
                <a:spcPts val="7012"/>
              </a:lnSpc>
              <a:spcBef>
                <a:spcPct val="0"/>
              </a:spcBef>
            </a:pPr>
            <a:r>
              <a:rPr lang="en-US" sz="5008">
                <a:solidFill>
                  <a:srgbClr val="99C5FF"/>
                </a:solidFill>
                <a:latin typeface="HK Modular"/>
                <a:ea typeface="HK Modular"/>
                <a:cs typeface="HK Modular"/>
                <a:sym typeface="HK Modular"/>
              </a:rPr>
              <a:t>ESTRUCTURAL - DECORATOR</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pic>
        <p:nvPicPr>
          <p:cNvPr name="Picture 8" id="8"/>
          <p:cNvPicPr>
            <a:picLocks noChangeAspect="true"/>
          </p:cNvPicPr>
          <p:nvPr/>
        </p:nvPicPr>
        <p:blipFill>
          <a:blip r:embed="rId4"/>
          <a:stretch>
            <a:fillRect/>
          </a:stretch>
        </p:blipFill>
        <p:spPr>
          <a:xfrm rot="0">
            <a:off x="8332988" y="4331953"/>
            <a:ext cx="884789" cy="885324"/>
          </a:xfrm>
          <a:prstGeom prst="rect">
            <a:avLst/>
          </a:prstGeom>
        </p:spPr>
      </p:pic>
      <p:pic>
        <p:nvPicPr>
          <p:cNvPr name="Picture 9" id="9"/>
          <p:cNvPicPr>
            <a:picLocks noChangeAspect="true"/>
          </p:cNvPicPr>
          <p:nvPr/>
        </p:nvPicPr>
        <p:blipFill>
          <a:blip r:embed="rId5"/>
          <a:stretch>
            <a:fillRect/>
          </a:stretch>
        </p:blipFill>
        <p:spPr>
          <a:xfrm rot="0">
            <a:off x="8332988" y="6204350"/>
            <a:ext cx="884789" cy="885324"/>
          </a:xfrm>
          <a:prstGeom prst="rect">
            <a:avLst/>
          </a:prstGeom>
        </p:spPr>
      </p:pic>
      <p:pic>
        <p:nvPicPr>
          <p:cNvPr name="Picture 10" id="10"/>
          <p:cNvPicPr>
            <a:picLocks noChangeAspect="true"/>
          </p:cNvPicPr>
          <p:nvPr/>
        </p:nvPicPr>
        <p:blipFill>
          <a:blip r:embed="rId6"/>
          <a:stretch>
            <a:fillRect/>
          </a:stretch>
        </p:blipFill>
        <p:spPr>
          <a:xfrm rot="0">
            <a:off x="8332988" y="8445812"/>
            <a:ext cx="884789" cy="885324"/>
          </a:xfrm>
          <a:prstGeom prst="rect">
            <a:avLst/>
          </a:prstGeom>
        </p:spPr>
      </p:pic>
      <p:sp>
        <p:nvSpPr>
          <p:cNvPr name="Freeform 11" id="11"/>
          <p:cNvSpPr/>
          <p:nvPr/>
        </p:nvSpPr>
        <p:spPr>
          <a:xfrm flipH="false" flipV="false" rot="0">
            <a:off x="764322" y="4585055"/>
            <a:ext cx="6879388" cy="4566194"/>
          </a:xfrm>
          <a:custGeom>
            <a:avLst/>
            <a:gdLst/>
            <a:ahLst/>
            <a:cxnLst/>
            <a:rect r="r" b="b" t="t" l="l"/>
            <a:pathLst>
              <a:path h="4566194" w="6879388">
                <a:moveTo>
                  <a:pt x="0" y="0"/>
                </a:moveTo>
                <a:lnTo>
                  <a:pt x="6879388" y="0"/>
                </a:lnTo>
                <a:lnTo>
                  <a:pt x="6879388" y="4566194"/>
                </a:lnTo>
                <a:lnTo>
                  <a:pt x="0" y="4566194"/>
                </a:lnTo>
                <a:lnTo>
                  <a:pt x="0" y="0"/>
                </a:lnTo>
                <a:close/>
              </a:path>
            </a:pathLst>
          </a:custGeom>
          <a:blipFill>
            <a:blip r:embed="rId7"/>
            <a:stretch>
              <a:fillRect l="0" t="0" r="0" b="0"/>
            </a:stretch>
          </a:blipFill>
        </p:spPr>
      </p:sp>
      <p:sp>
        <p:nvSpPr>
          <p:cNvPr name="TextBox 12" id="12"/>
          <p:cNvSpPr txBox="true"/>
          <p:nvPr/>
        </p:nvSpPr>
        <p:spPr>
          <a:xfrm rot="0">
            <a:off x="781876" y="3040777"/>
            <a:ext cx="16477424"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Es un patrón de diseño estructural que te permite añadir funcionalidades a objetos colocando estos objetos dentro de objetos encapsuladores especiales que contienen estas funcionalidades.</a:t>
            </a:r>
          </a:p>
        </p:txBody>
      </p:sp>
      <p:sp>
        <p:nvSpPr>
          <p:cNvPr name="TextBox 13" id="13"/>
          <p:cNvSpPr txBox="true"/>
          <p:nvPr/>
        </p:nvSpPr>
        <p:spPr>
          <a:xfrm rot="0">
            <a:off x="9397005" y="4348580"/>
            <a:ext cx="8389486" cy="134239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Cuando tenemos que alterar la funcionalidad de un objeto, lo primero que se viene a la mente es extender una clase. No obstante, la herencia tiene varias limitaciones importantes de las que debes ser consciente</a:t>
            </a:r>
          </a:p>
        </p:txBody>
      </p:sp>
      <p:sp>
        <p:nvSpPr>
          <p:cNvPr name="TextBox 14" id="14"/>
          <p:cNvSpPr txBox="true"/>
          <p:nvPr/>
        </p:nvSpPr>
        <p:spPr>
          <a:xfrm rot="0">
            <a:off x="9397005" y="5982752"/>
            <a:ext cx="8636082" cy="20091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Vestir ropa es un ejemplo del uso de decoradores. Cuando tienes frío, te cubres con un suéter. Si sigues teniendo frío a pesar del suéter, puedes ponerte una chaqueta encima. Si está lloviendo, puedes ponerte un impermeable. Todas estas prendas “extienden” tu comportamiento básico pero no son parte de ti, y puedes quitarte fácilmente cualquier prenda cuando lo desees.</a:t>
            </a:r>
          </a:p>
        </p:txBody>
      </p:sp>
      <p:sp>
        <p:nvSpPr>
          <p:cNvPr name="TextBox 15" id="15"/>
          <p:cNvSpPr txBox="true"/>
          <p:nvPr/>
        </p:nvSpPr>
        <p:spPr>
          <a:xfrm rot="0">
            <a:off x="9881235" y="8451479"/>
            <a:ext cx="7378065" cy="134239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Utiliza el patrón Decorator cuando necesites asignar funcionalidades adicionales a objetos durante el tiempo de ejecución sin descomponer el código que utiliza esos objetos.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15746" y="1747476"/>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COMO IMPLEMENTARLO</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6321220" y="2901342"/>
            <a:ext cx="5864294" cy="6356958"/>
          </a:xfrm>
          <a:custGeom>
            <a:avLst/>
            <a:gdLst/>
            <a:ahLst/>
            <a:cxnLst/>
            <a:rect r="r" b="b" t="t" l="l"/>
            <a:pathLst>
              <a:path h="6356958" w="5864294">
                <a:moveTo>
                  <a:pt x="0" y="0"/>
                </a:moveTo>
                <a:lnTo>
                  <a:pt x="5864294" y="0"/>
                </a:lnTo>
                <a:lnTo>
                  <a:pt x="5864294" y="6356958"/>
                </a:lnTo>
                <a:lnTo>
                  <a:pt x="0" y="6356958"/>
                </a:lnTo>
                <a:lnTo>
                  <a:pt x="0" y="0"/>
                </a:lnTo>
                <a:close/>
              </a:path>
            </a:pathLst>
          </a:custGeom>
          <a:blipFill>
            <a:blip r:embed="rId4"/>
            <a:stretch>
              <a:fillRect l="0" t="0" r="0" b="0"/>
            </a:stretch>
          </a:blipFill>
        </p:spPr>
      </p:sp>
      <p:sp>
        <p:nvSpPr>
          <p:cNvPr name="TextBox 9" id="9"/>
          <p:cNvSpPr txBox="true"/>
          <p:nvPr/>
        </p:nvSpPr>
        <p:spPr>
          <a:xfrm rot="0">
            <a:off x="1871845" y="2996630"/>
            <a:ext cx="4060098" cy="1342390"/>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 </a:t>
            </a:r>
            <a:r>
              <a:rPr lang="en-US" sz="1899">
                <a:solidFill>
                  <a:srgbClr val="FFFFFF"/>
                </a:solidFill>
                <a:latin typeface="Poppins"/>
                <a:ea typeface="Poppins"/>
                <a:cs typeface="Poppins"/>
                <a:sym typeface="Poppins"/>
              </a:rPr>
              <a:t>El Componente declara la interfaz común tanto para wrappers como para objetos envueltos.</a:t>
            </a:r>
          </a:p>
        </p:txBody>
      </p:sp>
      <p:sp>
        <p:nvSpPr>
          <p:cNvPr name="TextBox 10" id="10"/>
          <p:cNvSpPr txBox="true"/>
          <p:nvPr/>
        </p:nvSpPr>
        <p:spPr>
          <a:xfrm rot="0">
            <a:off x="1476515" y="5511119"/>
            <a:ext cx="4624945" cy="1342390"/>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El componente concreto es una clase de objetos envueltos, define el comportamiento basico que los decoradores pueden alterar</a:t>
            </a:r>
          </a:p>
        </p:txBody>
      </p:sp>
      <p:sp>
        <p:nvSpPr>
          <p:cNvPr name="TextBox 11" id="11"/>
          <p:cNvSpPr txBox="true"/>
          <p:nvPr/>
        </p:nvSpPr>
        <p:spPr>
          <a:xfrm rot="0">
            <a:off x="12404589" y="4510994"/>
            <a:ext cx="4624945" cy="3342640"/>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La clase decoradora Base tiene un campo para referenciar un objeto envuelto, el tipo del campo debe declararse como la interfaz del componente para que pueda contener tanto los componentes concretos como los decoradores, la clase decoradora base delega todas las operaciones al objeto envuelto</a:t>
            </a:r>
          </a:p>
        </p:txBody>
      </p:sp>
      <p:sp>
        <p:nvSpPr>
          <p:cNvPr name="TextBox 12" id="12"/>
          <p:cNvSpPr txBox="true"/>
          <p:nvPr/>
        </p:nvSpPr>
        <p:spPr>
          <a:xfrm rot="0">
            <a:off x="1216982" y="8377693"/>
            <a:ext cx="7151267" cy="1009015"/>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Los decoradores concretos definen funcionalidades que se pueden añadir dinamicamente a los componentes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#7</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8455222" y="3172660"/>
            <a:ext cx="9383313" cy="6263361"/>
          </a:xfrm>
          <a:custGeom>
            <a:avLst/>
            <a:gdLst/>
            <a:ahLst/>
            <a:cxnLst/>
            <a:rect r="r" b="b" t="t" l="l"/>
            <a:pathLst>
              <a:path h="6263361" w="9383313">
                <a:moveTo>
                  <a:pt x="0" y="0"/>
                </a:moveTo>
                <a:lnTo>
                  <a:pt x="9383314" y="0"/>
                </a:lnTo>
                <a:lnTo>
                  <a:pt x="9383314" y="6263361"/>
                </a:lnTo>
                <a:lnTo>
                  <a:pt x="0" y="6263361"/>
                </a:lnTo>
                <a:lnTo>
                  <a:pt x="0" y="0"/>
                </a:lnTo>
                <a:close/>
              </a:path>
            </a:pathLst>
          </a:custGeom>
          <a:blipFill>
            <a:blip r:embed="rId4"/>
            <a:stretch>
              <a:fillRect l="0" t="0" r="0" b="0"/>
            </a:stretch>
          </a:blipFill>
        </p:spPr>
      </p:sp>
      <p:sp>
        <p:nvSpPr>
          <p:cNvPr name="Freeform 9" id="9"/>
          <p:cNvSpPr/>
          <p:nvPr/>
        </p:nvSpPr>
        <p:spPr>
          <a:xfrm flipH="false" flipV="false" rot="0">
            <a:off x="2012057" y="2520319"/>
            <a:ext cx="2778713" cy="1580393"/>
          </a:xfrm>
          <a:custGeom>
            <a:avLst/>
            <a:gdLst/>
            <a:ahLst/>
            <a:cxnLst/>
            <a:rect r="r" b="b" t="t" l="l"/>
            <a:pathLst>
              <a:path h="1580393" w="2778713">
                <a:moveTo>
                  <a:pt x="0" y="0"/>
                </a:moveTo>
                <a:lnTo>
                  <a:pt x="2778713" y="0"/>
                </a:lnTo>
                <a:lnTo>
                  <a:pt x="2778713" y="1580393"/>
                </a:lnTo>
                <a:lnTo>
                  <a:pt x="0" y="1580393"/>
                </a:lnTo>
                <a:lnTo>
                  <a:pt x="0" y="0"/>
                </a:lnTo>
                <a:close/>
              </a:path>
            </a:pathLst>
          </a:custGeom>
          <a:blipFill>
            <a:blip r:embed="rId5"/>
            <a:stretch>
              <a:fillRect l="0" t="0" r="0" b="0"/>
            </a:stretch>
          </a:blipFill>
        </p:spPr>
      </p:sp>
      <p:sp>
        <p:nvSpPr>
          <p:cNvPr name="TextBox 10" id="10"/>
          <p:cNvSpPr txBox="true"/>
          <p:nvPr/>
        </p:nvSpPr>
        <p:spPr>
          <a:xfrm rot="0">
            <a:off x="531494" y="4612500"/>
            <a:ext cx="7426522" cy="4460674"/>
          </a:xfrm>
          <a:prstGeom prst="rect">
            <a:avLst/>
          </a:prstGeom>
        </p:spPr>
        <p:txBody>
          <a:bodyPr anchor="t" rtlCol="false" tIns="0" lIns="0" bIns="0" rIns="0">
            <a:spAutoFit/>
          </a:bodyPr>
          <a:lstStyle/>
          <a:p>
            <a:pPr algn="l">
              <a:lnSpc>
                <a:spcPts val="2560"/>
              </a:lnSpc>
              <a:spcBef>
                <a:spcPct val="0"/>
              </a:spcBef>
            </a:pPr>
            <a:r>
              <a:rPr lang="en-US" sz="1829">
                <a:solidFill>
                  <a:srgbClr val="FFFFFF"/>
                </a:solidFill>
                <a:latin typeface="Canva Sans"/>
                <a:ea typeface="Canva Sans"/>
                <a:cs typeface="Canva Sans"/>
                <a:sym typeface="Canva Sans"/>
              </a:rPr>
              <a:t>Estás desarrollando un simulador naval.</a:t>
            </a:r>
          </a:p>
          <a:p>
            <a:pPr algn="l">
              <a:lnSpc>
                <a:spcPts val="2560"/>
              </a:lnSpc>
              <a:spcBef>
                <a:spcPct val="0"/>
              </a:spcBef>
            </a:pPr>
            <a:r>
              <a:rPr lang="en-US" sz="1829">
                <a:solidFill>
                  <a:srgbClr val="FFFFFF"/>
                </a:solidFill>
                <a:latin typeface="Canva Sans"/>
                <a:ea typeface="Canva Sans"/>
                <a:cs typeface="Canva Sans"/>
                <a:sym typeface="Canva Sans"/>
              </a:rPr>
              <a:t>Cada barco tiene capacidades básicas como ataque, defensa y una descripcion del tipo de barco, pero puede ser equipado con módulos adicionales sin modificar su clase original:</a:t>
            </a:r>
          </a:p>
          <a:p>
            <a:pPr algn="l">
              <a:lnSpc>
                <a:spcPts val="2560"/>
              </a:lnSpc>
              <a:spcBef>
                <a:spcPct val="0"/>
              </a:spcBef>
            </a:pPr>
          </a:p>
          <a:p>
            <a:pPr algn="l" marL="394886" indent="-197443" lvl="1">
              <a:lnSpc>
                <a:spcPts val="2560"/>
              </a:lnSpc>
              <a:buFont typeface="Arial"/>
              <a:buChar char="•"/>
            </a:pPr>
            <a:r>
              <a:rPr lang="en-US" sz="1829">
                <a:solidFill>
                  <a:srgbClr val="FFFFFF"/>
                </a:solidFill>
                <a:latin typeface="Canva Sans"/>
                <a:ea typeface="Canva Sans"/>
                <a:cs typeface="Canva Sans"/>
                <a:sym typeface="Canva Sans"/>
              </a:rPr>
              <a:t>Blindaje reforzado →  + 30 en defensa</a:t>
            </a:r>
          </a:p>
          <a:p>
            <a:pPr algn="l" marL="394886" indent="-197443" lvl="1">
              <a:lnSpc>
                <a:spcPts val="2560"/>
              </a:lnSpc>
              <a:buFont typeface="Arial"/>
              <a:buChar char="•"/>
            </a:pPr>
            <a:r>
              <a:rPr lang="en-US" sz="1829">
                <a:solidFill>
                  <a:srgbClr val="FFFFFF"/>
                </a:solidFill>
                <a:latin typeface="Canva Sans"/>
                <a:ea typeface="Canva Sans"/>
                <a:cs typeface="Canva Sans"/>
                <a:sym typeface="Canva Sans"/>
              </a:rPr>
              <a:t>Radar avanzado → +10 en ataque</a:t>
            </a:r>
          </a:p>
          <a:p>
            <a:pPr algn="l" marL="394886" indent="-197443" lvl="1">
              <a:lnSpc>
                <a:spcPts val="2560"/>
              </a:lnSpc>
              <a:buFont typeface="Arial"/>
              <a:buChar char="•"/>
            </a:pPr>
            <a:r>
              <a:rPr lang="en-US" sz="1829">
                <a:solidFill>
                  <a:srgbClr val="FFFFFF"/>
                </a:solidFill>
                <a:latin typeface="Canva Sans"/>
                <a:ea typeface="Canva Sans"/>
                <a:cs typeface="Canva Sans"/>
                <a:sym typeface="Canva Sans"/>
              </a:rPr>
              <a:t>Misiles → +40 en ataque</a:t>
            </a:r>
          </a:p>
          <a:p>
            <a:pPr algn="l" marL="394886" indent="-197443" lvl="1">
              <a:lnSpc>
                <a:spcPts val="2560"/>
              </a:lnSpc>
              <a:buFont typeface="Arial"/>
              <a:buChar char="•"/>
            </a:pPr>
            <a:r>
              <a:rPr lang="en-US" sz="1829">
                <a:solidFill>
                  <a:srgbClr val="FFFFFF"/>
                </a:solidFill>
                <a:latin typeface="Canva Sans"/>
                <a:ea typeface="Canva Sans"/>
                <a:cs typeface="Canva Sans"/>
                <a:sym typeface="Canva Sans"/>
              </a:rPr>
              <a:t>Sistema antitorpedos → +20 de ataque</a:t>
            </a:r>
          </a:p>
          <a:p>
            <a:pPr algn="l">
              <a:lnSpc>
                <a:spcPts val="2560"/>
              </a:lnSpc>
            </a:pPr>
          </a:p>
          <a:p>
            <a:pPr algn="l">
              <a:lnSpc>
                <a:spcPts val="2560"/>
              </a:lnSpc>
              <a:spcBef>
                <a:spcPct val="0"/>
              </a:spcBef>
            </a:pPr>
            <a:r>
              <a:rPr lang="en-US" sz="1829">
                <a:solidFill>
                  <a:srgbClr val="FFFFFF"/>
                </a:solidFill>
                <a:latin typeface="Canva Sans"/>
                <a:ea typeface="Canva Sans"/>
                <a:cs typeface="Canva Sans"/>
                <a:sym typeface="Canva Sans"/>
              </a:rPr>
              <a:t>Un mismo barco puede tener múltiples mejoras</a:t>
            </a:r>
          </a:p>
          <a:p>
            <a:pPr algn="l" marL="394886" indent="-197443" lvl="1">
              <a:lnSpc>
                <a:spcPts val="2560"/>
              </a:lnSpc>
              <a:buFont typeface="Arial"/>
              <a:buChar char="•"/>
            </a:pPr>
            <a:r>
              <a:rPr lang="en-US" sz="1829">
                <a:solidFill>
                  <a:srgbClr val="FFFFFF"/>
                </a:solidFill>
                <a:latin typeface="Canva Sans"/>
                <a:ea typeface="Canva Sans"/>
                <a:cs typeface="Canva Sans"/>
                <a:sym typeface="Canva Sans"/>
              </a:rPr>
              <a:t>combinar módulos dinámicamente</a:t>
            </a:r>
          </a:p>
          <a:p>
            <a:pPr algn="l" marL="394886" indent="-197443" lvl="1">
              <a:lnSpc>
                <a:spcPts val="2560"/>
              </a:lnSpc>
              <a:buFont typeface="Arial"/>
              <a:buChar char="•"/>
            </a:pPr>
            <a:r>
              <a:rPr lang="en-US" sz="1829">
                <a:solidFill>
                  <a:srgbClr val="FFFFFF"/>
                </a:solidFill>
                <a:latin typeface="Canva Sans"/>
                <a:ea typeface="Canva Sans"/>
                <a:cs typeface="Canva Sans"/>
                <a:sym typeface="Canva Sans"/>
              </a:rPr>
              <a:t>cambiar su configuración en tiempo de ejecución</a:t>
            </a:r>
          </a:p>
          <a:p>
            <a:pPr algn="l" marL="394886" indent="-197443" lvl="1">
              <a:lnSpc>
                <a:spcPts val="2560"/>
              </a:lnSpc>
              <a:buFont typeface="Arial"/>
              <a:buChar char="•"/>
            </a:pPr>
            <a:r>
              <a:rPr lang="en-US" sz="1829">
                <a:solidFill>
                  <a:srgbClr val="FFFFFF"/>
                </a:solidFill>
                <a:latin typeface="Canva Sans"/>
                <a:ea typeface="Canva Sans"/>
                <a:cs typeface="Canva Sans"/>
                <a:sym typeface="Canva Sans"/>
              </a:rPr>
              <a:t>No se permite crear subclases como BarcoConRadarYMisiles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#7</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1028700" y="4092830"/>
            <a:ext cx="4592367" cy="5218598"/>
          </a:xfrm>
          <a:custGeom>
            <a:avLst/>
            <a:gdLst/>
            <a:ahLst/>
            <a:cxnLst/>
            <a:rect r="r" b="b" t="t" l="l"/>
            <a:pathLst>
              <a:path h="5218598" w="4592367">
                <a:moveTo>
                  <a:pt x="0" y="0"/>
                </a:moveTo>
                <a:lnTo>
                  <a:pt x="4592367" y="0"/>
                </a:lnTo>
                <a:lnTo>
                  <a:pt x="4592367" y="5218598"/>
                </a:lnTo>
                <a:lnTo>
                  <a:pt x="0" y="5218598"/>
                </a:lnTo>
                <a:lnTo>
                  <a:pt x="0" y="0"/>
                </a:lnTo>
                <a:close/>
              </a:path>
            </a:pathLst>
          </a:custGeom>
          <a:blipFill>
            <a:blip r:embed="rId4"/>
            <a:stretch>
              <a:fillRect l="0" t="0" r="0" b="0"/>
            </a:stretch>
          </a:blipFill>
        </p:spPr>
      </p:sp>
      <p:sp>
        <p:nvSpPr>
          <p:cNvPr name="Freeform 9" id="9"/>
          <p:cNvSpPr/>
          <p:nvPr/>
        </p:nvSpPr>
        <p:spPr>
          <a:xfrm flipH="false" flipV="false" rot="0">
            <a:off x="6387250" y="3990720"/>
            <a:ext cx="5513500" cy="5422818"/>
          </a:xfrm>
          <a:custGeom>
            <a:avLst/>
            <a:gdLst/>
            <a:ahLst/>
            <a:cxnLst/>
            <a:rect r="r" b="b" t="t" l="l"/>
            <a:pathLst>
              <a:path h="5422818" w="5513500">
                <a:moveTo>
                  <a:pt x="0" y="0"/>
                </a:moveTo>
                <a:lnTo>
                  <a:pt x="5513500" y="0"/>
                </a:lnTo>
                <a:lnTo>
                  <a:pt x="5513500" y="5422818"/>
                </a:lnTo>
                <a:lnTo>
                  <a:pt x="0" y="5422818"/>
                </a:lnTo>
                <a:lnTo>
                  <a:pt x="0" y="0"/>
                </a:lnTo>
                <a:close/>
              </a:path>
            </a:pathLst>
          </a:custGeom>
          <a:blipFill>
            <a:blip r:embed="rId5"/>
            <a:stretch>
              <a:fillRect l="0" t="0" r="0" b="0"/>
            </a:stretch>
          </a:blipFill>
        </p:spPr>
      </p:sp>
      <p:sp>
        <p:nvSpPr>
          <p:cNvPr name="Freeform 10" id="10"/>
          <p:cNvSpPr/>
          <p:nvPr/>
        </p:nvSpPr>
        <p:spPr>
          <a:xfrm flipH="false" flipV="false" rot="0">
            <a:off x="12269598" y="4752517"/>
            <a:ext cx="5427423" cy="3899224"/>
          </a:xfrm>
          <a:custGeom>
            <a:avLst/>
            <a:gdLst/>
            <a:ahLst/>
            <a:cxnLst/>
            <a:rect r="r" b="b" t="t" l="l"/>
            <a:pathLst>
              <a:path h="3899224" w="5427423">
                <a:moveTo>
                  <a:pt x="0" y="0"/>
                </a:moveTo>
                <a:lnTo>
                  <a:pt x="5427423" y="0"/>
                </a:lnTo>
                <a:lnTo>
                  <a:pt x="5427423" y="3899224"/>
                </a:lnTo>
                <a:lnTo>
                  <a:pt x="0" y="3899224"/>
                </a:lnTo>
                <a:lnTo>
                  <a:pt x="0" y="0"/>
                </a:lnTo>
                <a:close/>
              </a:path>
            </a:pathLst>
          </a:custGeom>
          <a:blipFill>
            <a:blip r:embed="rId6"/>
            <a:stretch>
              <a:fillRect l="0" t="0" r="0" b="0"/>
            </a:stretch>
          </a:blipFill>
        </p:spPr>
      </p:sp>
      <p:sp>
        <p:nvSpPr>
          <p:cNvPr name="TextBox 11" id="11"/>
          <p:cNvSpPr txBox="true"/>
          <p:nvPr/>
        </p:nvSpPr>
        <p:spPr>
          <a:xfrm rot="0">
            <a:off x="1083578" y="3121522"/>
            <a:ext cx="16613442" cy="466483"/>
          </a:xfrm>
          <a:prstGeom prst="rect">
            <a:avLst/>
          </a:prstGeom>
        </p:spPr>
        <p:txBody>
          <a:bodyPr anchor="t" rtlCol="false" tIns="0" lIns="0" bIns="0" rIns="0">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960674"/>
            <a:ext cx="16651383" cy="603570"/>
          </a:xfrm>
          <a:prstGeom prst="rect">
            <a:avLst/>
          </a:prstGeom>
        </p:spPr>
        <p:txBody>
          <a:bodyPr anchor="t" rtlCol="false" tIns="0" lIns="0" bIns="0" rIns="0">
            <a:spAutoFit/>
          </a:bodyPr>
          <a:lstStyle/>
          <a:p>
            <a:pPr algn="ctr">
              <a:lnSpc>
                <a:spcPts val="4937"/>
              </a:lnSpc>
              <a:spcBef>
                <a:spcPct val="0"/>
              </a:spcBef>
            </a:pPr>
            <a:r>
              <a:rPr lang="en-US" sz="3526">
                <a:solidFill>
                  <a:srgbClr val="99C5FF"/>
                </a:solidFill>
                <a:latin typeface="HK Modular"/>
                <a:ea typeface="HK Modular"/>
                <a:cs typeface="HK Modular"/>
                <a:sym typeface="HK Modular"/>
              </a:rPr>
              <a:t>COMPORTAMIENTO - CHAIN OF RESPONSABILITY</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pic>
        <p:nvPicPr>
          <p:cNvPr name="Picture 8" id="8"/>
          <p:cNvPicPr>
            <a:picLocks noChangeAspect="true"/>
          </p:cNvPicPr>
          <p:nvPr/>
        </p:nvPicPr>
        <p:blipFill>
          <a:blip r:embed="rId4"/>
          <a:stretch>
            <a:fillRect/>
          </a:stretch>
        </p:blipFill>
        <p:spPr>
          <a:xfrm rot="0">
            <a:off x="8332988" y="4006128"/>
            <a:ext cx="884789" cy="885324"/>
          </a:xfrm>
          <a:prstGeom prst="rect">
            <a:avLst/>
          </a:prstGeom>
        </p:spPr>
      </p:pic>
      <p:pic>
        <p:nvPicPr>
          <p:cNvPr name="Picture 9" id="9"/>
          <p:cNvPicPr>
            <a:picLocks noChangeAspect="true"/>
          </p:cNvPicPr>
          <p:nvPr/>
        </p:nvPicPr>
        <p:blipFill>
          <a:blip r:embed="rId5"/>
          <a:stretch>
            <a:fillRect/>
          </a:stretch>
        </p:blipFill>
        <p:spPr>
          <a:xfrm rot="0">
            <a:off x="8332988" y="6204350"/>
            <a:ext cx="884789" cy="885324"/>
          </a:xfrm>
          <a:prstGeom prst="rect">
            <a:avLst/>
          </a:prstGeom>
        </p:spPr>
      </p:pic>
      <p:pic>
        <p:nvPicPr>
          <p:cNvPr name="Picture 10" id="10"/>
          <p:cNvPicPr>
            <a:picLocks noChangeAspect="true"/>
          </p:cNvPicPr>
          <p:nvPr/>
        </p:nvPicPr>
        <p:blipFill>
          <a:blip r:embed="rId6"/>
          <a:stretch>
            <a:fillRect/>
          </a:stretch>
        </p:blipFill>
        <p:spPr>
          <a:xfrm rot="0">
            <a:off x="8332988" y="8445812"/>
            <a:ext cx="884789" cy="885324"/>
          </a:xfrm>
          <a:prstGeom prst="rect">
            <a:avLst/>
          </a:prstGeom>
        </p:spPr>
      </p:pic>
      <p:sp>
        <p:nvSpPr>
          <p:cNvPr name="Freeform 11" id="11"/>
          <p:cNvSpPr/>
          <p:nvPr/>
        </p:nvSpPr>
        <p:spPr>
          <a:xfrm flipH="false" flipV="false" rot="0">
            <a:off x="740937" y="4774615"/>
            <a:ext cx="6965270" cy="3482635"/>
          </a:xfrm>
          <a:custGeom>
            <a:avLst/>
            <a:gdLst/>
            <a:ahLst/>
            <a:cxnLst/>
            <a:rect r="r" b="b" t="t" l="l"/>
            <a:pathLst>
              <a:path h="3482635" w="6965270">
                <a:moveTo>
                  <a:pt x="0" y="0"/>
                </a:moveTo>
                <a:lnTo>
                  <a:pt x="6965270" y="0"/>
                </a:lnTo>
                <a:lnTo>
                  <a:pt x="6965270" y="3482635"/>
                </a:lnTo>
                <a:lnTo>
                  <a:pt x="0" y="3482635"/>
                </a:lnTo>
                <a:lnTo>
                  <a:pt x="0" y="0"/>
                </a:lnTo>
                <a:close/>
              </a:path>
            </a:pathLst>
          </a:custGeom>
          <a:blipFill>
            <a:blip r:embed="rId7"/>
            <a:stretch>
              <a:fillRect l="0" t="0" r="0" b="0"/>
            </a:stretch>
          </a:blipFill>
        </p:spPr>
      </p:sp>
      <p:sp>
        <p:nvSpPr>
          <p:cNvPr name="TextBox 12" id="12"/>
          <p:cNvSpPr txBox="true"/>
          <p:nvPr/>
        </p:nvSpPr>
        <p:spPr>
          <a:xfrm rot="0">
            <a:off x="1548826" y="2894381"/>
            <a:ext cx="15710474" cy="652124"/>
          </a:xfrm>
          <a:prstGeom prst="rect">
            <a:avLst/>
          </a:prstGeom>
        </p:spPr>
        <p:txBody>
          <a:bodyPr anchor="t" rtlCol="false" tIns="0" lIns="0" bIns="0" rIns="0">
            <a:spAutoFit/>
          </a:bodyPr>
          <a:lstStyle/>
          <a:p>
            <a:pPr algn="ctr">
              <a:lnSpc>
                <a:spcPts val="2599"/>
              </a:lnSpc>
              <a:spcBef>
                <a:spcPct val="0"/>
              </a:spcBef>
            </a:pPr>
            <a:r>
              <a:rPr lang="en-US" sz="1857">
                <a:solidFill>
                  <a:srgbClr val="FFFFFF"/>
                </a:solidFill>
                <a:latin typeface="Poppins"/>
                <a:ea typeface="Poppins"/>
                <a:cs typeface="Poppins"/>
                <a:sym typeface="Poppins"/>
              </a:rPr>
              <a:t>E</a:t>
            </a:r>
            <a:r>
              <a:rPr lang="en-US" sz="1857">
                <a:solidFill>
                  <a:srgbClr val="FFFFFF"/>
                </a:solidFill>
                <a:latin typeface="Poppins"/>
                <a:ea typeface="Poppins"/>
                <a:cs typeface="Poppins"/>
                <a:sym typeface="Poppins"/>
              </a:rPr>
              <a:t>s un patrón de diseño de comportamiento que te permite pasar solicitudes a lo largo de una cadena de manejadores. Al recibir una solicitud, cada manejador decide si la procesa o si la pasa al siguiente manejador de la cadena.</a:t>
            </a:r>
          </a:p>
        </p:txBody>
      </p:sp>
      <p:sp>
        <p:nvSpPr>
          <p:cNvPr name="TextBox 13" id="13"/>
          <p:cNvSpPr txBox="true"/>
          <p:nvPr/>
        </p:nvSpPr>
        <p:spPr>
          <a:xfrm rot="0">
            <a:off x="9848850" y="4032280"/>
            <a:ext cx="7699418" cy="1867547"/>
          </a:xfrm>
          <a:prstGeom prst="rect">
            <a:avLst/>
          </a:prstGeom>
        </p:spPr>
        <p:txBody>
          <a:bodyPr anchor="t" rtlCol="false" tIns="0" lIns="0" bIns="0" rIns="0">
            <a:spAutoFit/>
          </a:bodyPr>
          <a:lstStyle/>
          <a:p>
            <a:pPr algn="ctr">
              <a:lnSpc>
                <a:spcPts val="2480"/>
              </a:lnSpc>
              <a:spcBef>
                <a:spcPct val="0"/>
              </a:spcBef>
            </a:pPr>
            <a:r>
              <a:rPr lang="en-US" sz="1771">
                <a:solidFill>
                  <a:srgbClr val="FFFFFF"/>
                </a:solidFill>
                <a:latin typeface="Poppins"/>
                <a:ea typeface="Poppins"/>
                <a:cs typeface="Poppins"/>
                <a:sym typeface="Poppins"/>
              </a:rPr>
              <a:t>E</a:t>
            </a:r>
            <a:r>
              <a:rPr lang="en-US" sz="1771">
                <a:solidFill>
                  <a:srgbClr val="FFFFFF"/>
                </a:solidFill>
                <a:latin typeface="Poppins"/>
                <a:ea typeface="Poppins"/>
                <a:cs typeface="Poppins"/>
                <a:sym typeface="Poppins"/>
              </a:rPr>
              <a:t>l Chain of Responsibility se basa en transformar comportamientos particulares en objetos autónomos llamados manejadores. En nuestro caso, cada comprobación debe ponerse dentro de su propia clase con un único método que realice la comprobación. La solicitud, junto con su información, se pasa a este método como argumento.</a:t>
            </a:r>
          </a:p>
        </p:txBody>
      </p:sp>
      <p:sp>
        <p:nvSpPr>
          <p:cNvPr name="TextBox 14" id="14"/>
          <p:cNvSpPr txBox="true"/>
          <p:nvPr/>
        </p:nvSpPr>
        <p:spPr>
          <a:xfrm rot="0">
            <a:off x="10137818" y="6385602"/>
            <a:ext cx="7410450" cy="1244417"/>
          </a:xfrm>
          <a:prstGeom prst="rect">
            <a:avLst/>
          </a:prstGeom>
        </p:spPr>
        <p:txBody>
          <a:bodyPr anchor="t" rtlCol="false" tIns="0" lIns="0" bIns="0" rIns="0">
            <a:spAutoFit/>
          </a:bodyPr>
          <a:lstStyle/>
          <a:p>
            <a:pPr algn="ctr">
              <a:lnSpc>
                <a:spcPts val="2476"/>
              </a:lnSpc>
              <a:spcBef>
                <a:spcPct val="0"/>
              </a:spcBef>
            </a:pPr>
            <a:r>
              <a:rPr lang="en-US" sz="1769">
                <a:solidFill>
                  <a:srgbClr val="FFFFFF"/>
                </a:solidFill>
                <a:latin typeface="Poppins"/>
                <a:ea typeface="Poppins"/>
                <a:cs typeface="Poppins"/>
                <a:sym typeface="Poppins"/>
              </a:rPr>
              <a:t>Utiliza el patrón Chain of Responsibility cuando tu programa deba procesar distintos tipos de solicitudes de varias maneras, pero los tipos exactos de solicitudes y sus secuencias no se conozcan de antemano.</a:t>
            </a:r>
          </a:p>
        </p:txBody>
      </p:sp>
      <p:sp>
        <p:nvSpPr>
          <p:cNvPr name="TextBox 15" id="15"/>
          <p:cNvSpPr txBox="true"/>
          <p:nvPr/>
        </p:nvSpPr>
        <p:spPr>
          <a:xfrm rot="0">
            <a:off x="10137818" y="8688767"/>
            <a:ext cx="6162303"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Puedes controlar el orden de control de solicitudes.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15746" y="1747476"/>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COMO IMPLEMENTARLO</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6199934" y="2901342"/>
            <a:ext cx="5888133" cy="6356958"/>
          </a:xfrm>
          <a:custGeom>
            <a:avLst/>
            <a:gdLst/>
            <a:ahLst/>
            <a:cxnLst/>
            <a:rect r="r" b="b" t="t" l="l"/>
            <a:pathLst>
              <a:path h="6356958" w="5888133">
                <a:moveTo>
                  <a:pt x="0" y="0"/>
                </a:moveTo>
                <a:lnTo>
                  <a:pt x="5888132" y="0"/>
                </a:lnTo>
                <a:lnTo>
                  <a:pt x="5888132" y="6356958"/>
                </a:lnTo>
                <a:lnTo>
                  <a:pt x="0" y="6356958"/>
                </a:lnTo>
                <a:lnTo>
                  <a:pt x="0" y="0"/>
                </a:lnTo>
                <a:close/>
              </a:path>
            </a:pathLst>
          </a:custGeom>
          <a:blipFill>
            <a:blip r:embed="rId4"/>
            <a:stretch>
              <a:fillRect l="0" t="0" r="0" b="0"/>
            </a:stretch>
          </a:blipFill>
        </p:spPr>
      </p:sp>
      <p:sp>
        <p:nvSpPr>
          <p:cNvPr name="TextBox 9" id="9"/>
          <p:cNvSpPr txBox="true"/>
          <p:nvPr/>
        </p:nvSpPr>
        <p:spPr>
          <a:xfrm rot="0">
            <a:off x="605175" y="3238528"/>
            <a:ext cx="5133600" cy="1009015"/>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La clase manejadora declara la interfaz comun a todos los manejadores concretos</a:t>
            </a:r>
          </a:p>
        </p:txBody>
      </p:sp>
      <p:sp>
        <p:nvSpPr>
          <p:cNvPr name="TextBox 10" id="10"/>
          <p:cNvSpPr txBox="true"/>
          <p:nvPr/>
        </p:nvSpPr>
        <p:spPr>
          <a:xfrm rot="0">
            <a:off x="740430" y="5123843"/>
            <a:ext cx="5133600" cy="2009140"/>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La clase manejadora base es opcional y es donde puedes colocar el codigo comun para todas las clases manejadoras, normalmente esta clase define un campo para almacenar una referencia al siguiente manejador</a:t>
            </a:r>
          </a:p>
        </p:txBody>
      </p:sp>
      <p:sp>
        <p:nvSpPr>
          <p:cNvPr name="TextBox 11" id="11"/>
          <p:cNvSpPr txBox="true"/>
          <p:nvPr/>
        </p:nvSpPr>
        <p:spPr>
          <a:xfrm rot="0">
            <a:off x="12654328" y="6287800"/>
            <a:ext cx="5133600" cy="3009265"/>
          </a:xfrm>
          <a:prstGeom prst="rect">
            <a:avLst/>
          </a:prstGeom>
        </p:spPr>
        <p:txBody>
          <a:bodyPr anchor="t" rtlCol="false" tIns="0" lIns="0" bIns="0" rIns="0">
            <a:spAutoFit/>
          </a:bodyPr>
          <a:lstStyle/>
          <a:p>
            <a:pPr algn="ctr" marL="410209" indent="-205105" lvl="1">
              <a:lnSpc>
                <a:spcPts val="2659"/>
              </a:lnSpc>
              <a:buAutoNum type="arabicPeriod" startAt="1"/>
            </a:pPr>
            <a:r>
              <a:rPr lang="en-US" sz="1899">
                <a:solidFill>
                  <a:srgbClr val="FFFFFF"/>
                </a:solidFill>
                <a:latin typeface="Poppins"/>
                <a:ea typeface="Poppins"/>
                <a:cs typeface="Poppins"/>
                <a:sym typeface="Poppins"/>
              </a:rPr>
              <a:t>Los manejadores concretos contienen el codigo para procesar las solicitudes. Al recibir una solicitud cada manejador debe decidir si procesarla y ademas si la pasa a lo largo de la cadena.</a:t>
            </a:r>
          </a:p>
          <a:p>
            <a:pPr algn="ctr">
              <a:lnSpc>
                <a:spcPts val="2659"/>
              </a:lnSpc>
            </a:pPr>
          </a:p>
          <a:p>
            <a:pPr algn="ctr">
              <a:lnSpc>
                <a:spcPts val="2659"/>
              </a:lnSpc>
              <a:spcBef>
                <a:spcPct val="0"/>
              </a:spcBef>
            </a:pPr>
            <a:r>
              <a:rPr lang="en-US" sz="1899">
                <a:solidFill>
                  <a:srgbClr val="FFFFFF"/>
                </a:solidFill>
                <a:latin typeface="Poppins"/>
                <a:ea typeface="Poppins"/>
                <a:cs typeface="Poppins"/>
                <a:sym typeface="Poppins"/>
              </a:rPr>
              <a:t>LOS MANEJADORES SON AUTONOMOS E INMUTABLES</a:t>
            </a:r>
          </a:p>
        </p:txBody>
      </p:sp>
      <p:sp>
        <p:nvSpPr>
          <p:cNvPr name="TextBox 12" id="12"/>
          <p:cNvSpPr txBox="true"/>
          <p:nvPr/>
        </p:nvSpPr>
        <p:spPr>
          <a:xfrm rot="0">
            <a:off x="12545266" y="3030882"/>
            <a:ext cx="5133600" cy="1009015"/>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El cliente puede componer cadenas una sola vez o componerlas dinamicamente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#8</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2560138" y="2682961"/>
            <a:ext cx="2499260" cy="1596402"/>
          </a:xfrm>
          <a:custGeom>
            <a:avLst/>
            <a:gdLst/>
            <a:ahLst/>
            <a:cxnLst/>
            <a:rect r="r" b="b" t="t" l="l"/>
            <a:pathLst>
              <a:path h="1596402" w="2499260">
                <a:moveTo>
                  <a:pt x="0" y="0"/>
                </a:moveTo>
                <a:lnTo>
                  <a:pt x="2499260" y="0"/>
                </a:lnTo>
                <a:lnTo>
                  <a:pt x="2499260" y="1596402"/>
                </a:lnTo>
                <a:lnTo>
                  <a:pt x="0" y="1596402"/>
                </a:lnTo>
                <a:lnTo>
                  <a:pt x="0" y="0"/>
                </a:lnTo>
                <a:close/>
              </a:path>
            </a:pathLst>
          </a:custGeom>
          <a:blipFill>
            <a:blip r:embed="rId4"/>
            <a:stretch>
              <a:fillRect l="0" t="0" r="0" b="0"/>
            </a:stretch>
          </a:blipFill>
        </p:spPr>
      </p:sp>
      <p:sp>
        <p:nvSpPr>
          <p:cNvPr name="Freeform 9" id="9"/>
          <p:cNvSpPr/>
          <p:nvPr/>
        </p:nvSpPr>
        <p:spPr>
          <a:xfrm flipH="false" flipV="false" rot="0">
            <a:off x="7728196" y="3834709"/>
            <a:ext cx="9834550" cy="5212312"/>
          </a:xfrm>
          <a:custGeom>
            <a:avLst/>
            <a:gdLst/>
            <a:ahLst/>
            <a:cxnLst/>
            <a:rect r="r" b="b" t="t" l="l"/>
            <a:pathLst>
              <a:path h="5212312" w="9834550">
                <a:moveTo>
                  <a:pt x="0" y="0"/>
                </a:moveTo>
                <a:lnTo>
                  <a:pt x="9834550" y="0"/>
                </a:lnTo>
                <a:lnTo>
                  <a:pt x="9834550" y="5212312"/>
                </a:lnTo>
                <a:lnTo>
                  <a:pt x="0" y="5212312"/>
                </a:lnTo>
                <a:lnTo>
                  <a:pt x="0" y="0"/>
                </a:lnTo>
                <a:close/>
              </a:path>
            </a:pathLst>
          </a:custGeom>
          <a:blipFill>
            <a:blip r:embed="rId5"/>
            <a:stretch>
              <a:fillRect l="0" t="0" r="0" b="0"/>
            </a:stretch>
          </a:blipFill>
        </p:spPr>
      </p:sp>
      <p:sp>
        <p:nvSpPr>
          <p:cNvPr name="TextBox 10" id="10"/>
          <p:cNvSpPr txBox="true"/>
          <p:nvPr/>
        </p:nvSpPr>
        <p:spPr>
          <a:xfrm rot="0">
            <a:off x="1183005" y="4763773"/>
            <a:ext cx="6369731" cy="4009390"/>
          </a:xfrm>
          <a:prstGeom prst="rect">
            <a:avLst/>
          </a:prstGeom>
        </p:spPr>
        <p:txBody>
          <a:bodyPr anchor="t" rtlCol="false" tIns="0" lIns="0" bIns="0" rIns="0">
            <a:spAutoFit/>
          </a:bodyPr>
          <a:lstStyle/>
          <a:p>
            <a:pPr algn="l">
              <a:lnSpc>
                <a:spcPts val="2659"/>
              </a:lnSpc>
              <a:spcBef>
                <a:spcPct val="0"/>
              </a:spcBef>
            </a:pPr>
            <a:r>
              <a:rPr lang="en-US" sz="1899">
                <a:solidFill>
                  <a:srgbClr val="FFFFFF"/>
                </a:solidFill>
                <a:latin typeface="Poppins"/>
                <a:ea typeface="Poppins"/>
                <a:cs typeface="Poppins"/>
                <a:sym typeface="Poppins"/>
              </a:rPr>
              <a:t>Una persona intenta ingresar a Estados Unidos.</a:t>
            </a:r>
          </a:p>
          <a:p>
            <a:pPr algn="l">
              <a:lnSpc>
                <a:spcPts val="2659"/>
              </a:lnSpc>
              <a:spcBef>
                <a:spcPct val="0"/>
              </a:spcBef>
            </a:pPr>
            <a:r>
              <a:rPr lang="en-US" sz="1899">
                <a:solidFill>
                  <a:srgbClr val="FFFFFF"/>
                </a:solidFill>
                <a:latin typeface="Poppins"/>
                <a:ea typeface="Poppins"/>
                <a:cs typeface="Poppins"/>
                <a:sym typeface="Poppins"/>
              </a:rPr>
              <a:t>Antes de permitir la entrada, debe pasar por una cadena de controles migratorios:</a:t>
            </a:r>
          </a:p>
          <a:p>
            <a:pPr algn="l" marL="410209" indent="-205105" lvl="1">
              <a:lnSpc>
                <a:spcPts val="2659"/>
              </a:lnSpc>
              <a:buFont typeface="Arial"/>
              <a:buChar char="•"/>
            </a:pPr>
            <a:r>
              <a:rPr lang="en-US" sz="1899">
                <a:solidFill>
                  <a:srgbClr val="FFFFFF"/>
                </a:solidFill>
                <a:latin typeface="Poppins"/>
                <a:ea typeface="Poppins"/>
                <a:cs typeface="Poppins"/>
                <a:sym typeface="Poppins"/>
              </a:rPr>
              <a:t>Revisión de pasaporte y visa</a:t>
            </a:r>
          </a:p>
          <a:p>
            <a:pPr algn="l" marL="410209" indent="-205105" lvl="1">
              <a:lnSpc>
                <a:spcPts val="2659"/>
              </a:lnSpc>
              <a:buFont typeface="Arial"/>
              <a:buChar char="•"/>
            </a:pPr>
            <a:r>
              <a:rPr lang="en-US" sz="1899">
                <a:solidFill>
                  <a:srgbClr val="FFFFFF"/>
                </a:solidFill>
                <a:latin typeface="Poppins"/>
                <a:ea typeface="Poppins"/>
                <a:cs typeface="Poppins"/>
                <a:sym typeface="Poppins"/>
              </a:rPr>
              <a:t>Control de antecedentes</a:t>
            </a:r>
          </a:p>
          <a:p>
            <a:pPr algn="l" marL="410209" indent="-205105" lvl="1">
              <a:lnSpc>
                <a:spcPts val="2659"/>
              </a:lnSpc>
              <a:buFont typeface="Arial"/>
              <a:buChar char="•"/>
            </a:pPr>
            <a:r>
              <a:rPr lang="en-US" sz="1899">
                <a:solidFill>
                  <a:srgbClr val="FFFFFF"/>
                </a:solidFill>
                <a:latin typeface="Poppins"/>
                <a:ea typeface="Poppins"/>
                <a:cs typeface="Poppins"/>
                <a:sym typeface="Poppins"/>
              </a:rPr>
              <a:t>Revisión de motivos del viaje</a:t>
            </a:r>
          </a:p>
          <a:p>
            <a:pPr algn="l" marL="410209" indent="-205105" lvl="1">
              <a:lnSpc>
                <a:spcPts val="2659"/>
              </a:lnSpc>
              <a:buFont typeface="Arial"/>
              <a:buChar char="•"/>
            </a:pPr>
            <a:r>
              <a:rPr lang="en-US" sz="1899">
                <a:solidFill>
                  <a:srgbClr val="FFFFFF"/>
                </a:solidFill>
                <a:latin typeface="Poppins"/>
                <a:ea typeface="Poppins"/>
                <a:cs typeface="Poppins"/>
                <a:sym typeface="Poppins"/>
              </a:rPr>
              <a:t>Aprobación final por migración</a:t>
            </a:r>
          </a:p>
          <a:p>
            <a:pPr algn="l">
              <a:lnSpc>
                <a:spcPts val="2659"/>
              </a:lnSpc>
              <a:spcBef>
                <a:spcPct val="0"/>
              </a:spcBef>
            </a:pPr>
            <a:r>
              <a:rPr lang="en-US" sz="1899">
                <a:solidFill>
                  <a:srgbClr val="FFFFFF"/>
                </a:solidFill>
                <a:latin typeface="Poppins"/>
                <a:ea typeface="Poppins"/>
                <a:cs typeface="Poppins"/>
                <a:sym typeface="Poppins"/>
              </a:rPr>
              <a:t>Cada control:</a:t>
            </a:r>
          </a:p>
          <a:p>
            <a:pPr algn="l" marL="410209" indent="-205105" lvl="1">
              <a:lnSpc>
                <a:spcPts val="2659"/>
              </a:lnSpc>
              <a:buFont typeface="Arial"/>
              <a:buChar char="•"/>
            </a:pPr>
            <a:r>
              <a:rPr lang="en-US" sz="1899">
                <a:solidFill>
                  <a:srgbClr val="FFFFFF"/>
                </a:solidFill>
                <a:latin typeface="Poppins"/>
                <a:ea typeface="Poppins"/>
                <a:cs typeface="Poppins"/>
                <a:sym typeface="Poppins"/>
              </a:rPr>
              <a:t>Puede aprobar y pasar al siguiente</a:t>
            </a:r>
          </a:p>
          <a:p>
            <a:pPr algn="l" marL="410209" indent="-205105" lvl="1">
              <a:lnSpc>
                <a:spcPts val="2659"/>
              </a:lnSpc>
              <a:buFont typeface="Arial"/>
              <a:buChar char="•"/>
            </a:pPr>
            <a:r>
              <a:rPr lang="en-US" sz="1899">
                <a:solidFill>
                  <a:srgbClr val="FFFFFF"/>
                </a:solidFill>
                <a:latin typeface="Poppins"/>
                <a:ea typeface="Poppins"/>
                <a:cs typeface="Poppins"/>
                <a:sym typeface="Poppins"/>
              </a:rPr>
              <a:t>O rechazar el ingreso y detener el proceso</a:t>
            </a:r>
          </a:p>
          <a:p>
            <a:pPr algn="l" marL="410209" indent="-205105" lvl="1">
              <a:lnSpc>
                <a:spcPts val="2659"/>
              </a:lnSpc>
              <a:buFont typeface="Arial"/>
              <a:buChar char="•"/>
            </a:pPr>
            <a:r>
              <a:rPr lang="en-US" sz="1899">
                <a:solidFill>
                  <a:srgbClr val="FFFFFF"/>
                </a:solidFill>
                <a:latin typeface="Poppins"/>
                <a:ea typeface="Poppins"/>
                <a:cs typeface="Poppins"/>
                <a:sym typeface="Poppins"/>
              </a:rPr>
              <a:t>La persona no conoce qué control la rechaza ni cuántos controles existen.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#8</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2424554" y="4216490"/>
            <a:ext cx="4592367" cy="5218598"/>
          </a:xfrm>
          <a:custGeom>
            <a:avLst/>
            <a:gdLst/>
            <a:ahLst/>
            <a:cxnLst/>
            <a:rect r="r" b="b" t="t" l="l"/>
            <a:pathLst>
              <a:path h="5218598" w="4592367">
                <a:moveTo>
                  <a:pt x="0" y="0"/>
                </a:moveTo>
                <a:lnTo>
                  <a:pt x="4592366" y="0"/>
                </a:lnTo>
                <a:lnTo>
                  <a:pt x="4592366" y="5218598"/>
                </a:lnTo>
                <a:lnTo>
                  <a:pt x="0" y="5218598"/>
                </a:lnTo>
                <a:lnTo>
                  <a:pt x="0" y="0"/>
                </a:lnTo>
                <a:close/>
              </a:path>
            </a:pathLst>
          </a:custGeom>
          <a:blipFill>
            <a:blip r:embed="rId4"/>
            <a:stretch>
              <a:fillRect l="0" t="0" r="0" b="0"/>
            </a:stretch>
          </a:blipFill>
        </p:spPr>
      </p:sp>
      <p:sp>
        <p:nvSpPr>
          <p:cNvPr name="Freeform 9" id="9"/>
          <p:cNvSpPr/>
          <p:nvPr/>
        </p:nvSpPr>
        <p:spPr>
          <a:xfrm flipH="false" flipV="false" rot="0">
            <a:off x="9253367" y="3901971"/>
            <a:ext cx="6483015" cy="5847636"/>
          </a:xfrm>
          <a:custGeom>
            <a:avLst/>
            <a:gdLst/>
            <a:ahLst/>
            <a:cxnLst/>
            <a:rect r="r" b="b" t="t" l="l"/>
            <a:pathLst>
              <a:path h="5847636" w="6483015">
                <a:moveTo>
                  <a:pt x="0" y="0"/>
                </a:moveTo>
                <a:lnTo>
                  <a:pt x="6483015" y="0"/>
                </a:lnTo>
                <a:lnTo>
                  <a:pt x="6483015" y="5847636"/>
                </a:lnTo>
                <a:lnTo>
                  <a:pt x="0" y="5847636"/>
                </a:lnTo>
                <a:lnTo>
                  <a:pt x="0" y="0"/>
                </a:lnTo>
                <a:close/>
              </a:path>
            </a:pathLst>
          </a:custGeom>
          <a:blipFill>
            <a:blip r:embed="rId5"/>
            <a:stretch>
              <a:fillRect l="0" t="0" r="0" b="0"/>
            </a:stretch>
          </a:blipFill>
        </p:spPr>
      </p:sp>
      <p:sp>
        <p:nvSpPr>
          <p:cNvPr name="TextBox 10" id="10"/>
          <p:cNvSpPr txBox="true"/>
          <p:nvPr/>
        </p:nvSpPr>
        <p:spPr>
          <a:xfrm rot="0">
            <a:off x="1083578" y="3121522"/>
            <a:ext cx="16613442" cy="466483"/>
          </a:xfrm>
          <a:prstGeom prst="rect">
            <a:avLst/>
          </a:prstGeom>
        </p:spPr>
        <p:txBody>
          <a:bodyPr anchor="t" rtlCol="false" tIns="0" lIns="0" bIns="0" rIns="0">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960674"/>
            <a:ext cx="16651383" cy="603570"/>
          </a:xfrm>
          <a:prstGeom prst="rect">
            <a:avLst/>
          </a:prstGeom>
        </p:spPr>
        <p:txBody>
          <a:bodyPr anchor="t" rtlCol="false" tIns="0" lIns="0" bIns="0" rIns="0">
            <a:spAutoFit/>
          </a:bodyPr>
          <a:lstStyle/>
          <a:p>
            <a:pPr algn="ctr">
              <a:lnSpc>
                <a:spcPts val="4937"/>
              </a:lnSpc>
              <a:spcBef>
                <a:spcPct val="0"/>
              </a:spcBef>
            </a:pPr>
            <a:r>
              <a:rPr lang="en-US" sz="3526">
                <a:solidFill>
                  <a:srgbClr val="99C5FF"/>
                </a:solidFill>
                <a:latin typeface="HK Modular"/>
                <a:ea typeface="HK Modular"/>
                <a:cs typeface="HK Modular"/>
                <a:sym typeface="HK Modular"/>
              </a:rPr>
              <a:t>COMPORTAMIENTO - COMMAND</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pic>
        <p:nvPicPr>
          <p:cNvPr name="Picture 8" id="8"/>
          <p:cNvPicPr>
            <a:picLocks noChangeAspect="true"/>
          </p:cNvPicPr>
          <p:nvPr/>
        </p:nvPicPr>
        <p:blipFill>
          <a:blip r:embed="rId4"/>
          <a:stretch>
            <a:fillRect/>
          </a:stretch>
        </p:blipFill>
        <p:spPr>
          <a:xfrm rot="0">
            <a:off x="8332988" y="4331953"/>
            <a:ext cx="884789" cy="885324"/>
          </a:xfrm>
          <a:prstGeom prst="rect">
            <a:avLst/>
          </a:prstGeom>
        </p:spPr>
      </p:pic>
      <p:pic>
        <p:nvPicPr>
          <p:cNvPr name="Picture 9" id="9"/>
          <p:cNvPicPr>
            <a:picLocks noChangeAspect="true"/>
          </p:cNvPicPr>
          <p:nvPr/>
        </p:nvPicPr>
        <p:blipFill>
          <a:blip r:embed="rId5"/>
          <a:stretch>
            <a:fillRect/>
          </a:stretch>
        </p:blipFill>
        <p:spPr>
          <a:xfrm rot="0">
            <a:off x="8332988" y="6693414"/>
            <a:ext cx="884789" cy="885324"/>
          </a:xfrm>
          <a:prstGeom prst="rect">
            <a:avLst/>
          </a:prstGeom>
        </p:spPr>
      </p:pic>
      <p:pic>
        <p:nvPicPr>
          <p:cNvPr name="Picture 10" id="10"/>
          <p:cNvPicPr>
            <a:picLocks noChangeAspect="true"/>
          </p:cNvPicPr>
          <p:nvPr/>
        </p:nvPicPr>
        <p:blipFill>
          <a:blip r:embed="rId6"/>
          <a:stretch>
            <a:fillRect/>
          </a:stretch>
        </p:blipFill>
        <p:spPr>
          <a:xfrm rot="0">
            <a:off x="8332988" y="8445812"/>
            <a:ext cx="884789" cy="885324"/>
          </a:xfrm>
          <a:prstGeom prst="rect">
            <a:avLst/>
          </a:prstGeom>
        </p:spPr>
      </p:pic>
      <p:sp>
        <p:nvSpPr>
          <p:cNvPr name="Freeform 11" id="11"/>
          <p:cNvSpPr/>
          <p:nvPr/>
        </p:nvSpPr>
        <p:spPr>
          <a:xfrm flipH="false" flipV="false" rot="0">
            <a:off x="570371" y="4405730"/>
            <a:ext cx="7402530" cy="5079986"/>
          </a:xfrm>
          <a:custGeom>
            <a:avLst/>
            <a:gdLst/>
            <a:ahLst/>
            <a:cxnLst/>
            <a:rect r="r" b="b" t="t" l="l"/>
            <a:pathLst>
              <a:path h="5079986" w="7402530">
                <a:moveTo>
                  <a:pt x="0" y="0"/>
                </a:moveTo>
                <a:lnTo>
                  <a:pt x="7402530" y="0"/>
                </a:lnTo>
                <a:lnTo>
                  <a:pt x="7402530" y="5079986"/>
                </a:lnTo>
                <a:lnTo>
                  <a:pt x="0" y="5079986"/>
                </a:lnTo>
                <a:lnTo>
                  <a:pt x="0" y="0"/>
                </a:lnTo>
                <a:close/>
              </a:path>
            </a:pathLst>
          </a:custGeom>
          <a:blipFill>
            <a:blip r:embed="rId7"/>
            <a:stretch>
              <a:fillRect l="0" t="0" r="0" b="0"/>
            </a:stretch>
          </a:blipFill>
        </p:spPr>
      </p:sp>
      <p:sp>
        <p:nvSpPr>
          <p:cNvPr name="TextBox 12" id="12"/>
          <p:cNvSpPr txBox="true"/>
          <p:nvPr/>
        </p:nvSpPr>
        <p:spPr>
          <a:xfrm rot="0">
            <a:off x="906611" y="2916024"/>
            <a:ext cx="16474777" cy="934671"/>
          </a:xfrm>
          <a:prstGeom prst="rect">
            <a:avLst/>
          </a:prstGeom>
        </p:spPr>
        <p:txBody>
          <a:bodyPr anchor="t" rtlCol="false" tIns="0" lIns="0" bIns="0" rIns="0">
            <a:spAutoFit/>
          </a:bodyPr>
          <a:lstStyle/>
          <a:p>
            <a:pPr algn="ctr">
              <a:lnSpc>
                <a:spcPts val="2478"/>
              </a:lnSpc>
              <a:spcBef>
                <a:spcPct val="0"/>
              </a:spcBef>
            </a:pPr>
            <a:r>
              <a:rPr lang="en-US" sz="1770">
                <a:solidFill>
                  <a:srgbClr val="FFFFFF"/>
                </a:solidFill>
                <a:latin typeface="Poppins"/>
                <a:ea typeface="Poppins"/>
                <a:cs typeface="Poppins"/>
                <a:sym typeface="Poppins"/>
              </a:rPr>
              <a:t>E</a:t>
            </a:r>
            <a:r>
              <a:rPr lang="en-US" sz="1770">
                <a:solidFill>
                  <a:srgbClr val="FFFFFF"/>
                </a:solidFill>
                <a:latin typeface="Poppins"/>
                <a:ea typeface="Poppins"/>
                <a:cs typeface="Poppins"/>
                <a:sym typeface="Poppins"/>
              </a:rPr>
              <a:t>s un patrón de diseño de comportamiento que convierte una solicitud en un objeto independiente que contiene toda la información sobre la solicitud. Esta transformación te permite parametrizar los métodos con diferentes solicitudes, retrasar o poner en cola la ejecución de una solicitud y soportar operaciones que no se pueden realizar.</a:t>
            </a:r>
          </a:p>
        </p:txBody>
      </p:sp>
      <p:sp>
        <p:nvSpPr>
          <p:cNvPr name="TextBox 13" id="13"/>
          <p:cNvSpPr txBox="true"/>
          <p:nvPr/>
        </p:nvSpPr>
        <p:spPr>
          <a:xfrm rot="0">
            <a:off x="9442694" y="4348580"/>
            <a:ext cx="8237389" cy="16757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El patrón Command puede convertir una llamada a un método específico en un objeto autónomo. Este cambio abre la puerta a muchos usos interesantes: puedes pasar comandos como argumentos de método, almacenarlos dentro de otros objetos, cambiar comandos vinculados durante el tiempo de ejecución, etc.</a:t>
            </a:r>
          </a:p>
        </p:txBody>
      </p:sp>
      <p:sp>
        <p:nvSpPr>
          <p:cNvPr name="TextBox 14" id="14"/>
          <p:cNvSpPr txBox="true"/>
          <p:nvPr/>
        </p:nvSpPr>
        <p:spPr>
          <a:xfrm rot="0">
            <a:off x="9582150" y="6888573"/>
            <a:ext cx="7992067"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Utiliza el patrón Command cuando quieras poner operaciones en cola, programar su ejecución, o ejecutarlas de forma remota.</a:t>
            </a:r>
          </a:p>
        </p:txBody>
      </p:sp>
      <p:sp>
        <p:nvSpPr>
          <p:cNvPr name="TextBox 15" id="15"/>
          <p:cNvSpPr txBox="true"/>
          <p:nvPr/>
        </p:nvSpPr>
        <p:spPr>
          <a:xfrm rot="0">
            <a:off x="9582150" y="8582660"/>
            <a:ext cx="7992067"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Utiliza el patrón Command cuando quieras implementar operaciones reversibles.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15746" y="1747476"/>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COMO IMPLEMENTARLO</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5426875" y="4123959"/>
            <a:ext cx="7652984" cy="4496128"/>
          </a:xfrm>
          <a:custGeom>
            <a:avLst/>
            <a:gdLst/>
            <a:ahLst/>
            <a:cxnLst/>
            <a:rect r="r" b="b" t="t" l="l"/>
            <a:pathLst>
              <a:path h="4496128" w="7652984">
                <a:moveTo>
                  <a:pt x="0" y="0"/>
                </a:moveTo>
                <a:lnTo>
                  <a:pt x="7652984" y="0"/>
                </a:lnTo>
                <a:lnTo>
                  <a:pt x="7652984" y="4496129"/>
                </a:lnTo>
                <a:lnTo>
                  <a:pt x="0" y="4496129"/>
                </a:lnTo>
                <a:lnTo>
                  <a:pt x="0" y="0"/>
                </a:lnTo>
                <a:close/>
              </a:path>
            </a:pathLst>
          </a:custGeom>
          <a:blipFill>
            <a:blip r:embed="rId4"/>
            <a:stretch>
              <a:fillRect l="0" t="0" r="0" b="0"/>
            </a:stretch>
          </a:blipFill>
        </p:spPr>
      </p:sp>
      <p:sp>
        <p:nvSpPr>
          <p:cNvPr name="TextBox 9" id="9"/>
          <p:cNvSpPr txBox="true"/>
          <p:nvPr/>
        </p:nvSpPr>
        <p:spPr>
          <a:xfrm rot="0">
            <a:off x="1107115" y="2889583"/>
            <a:ext cx="7615585" cy="1169272"/>
          </a:xfrm>
          <a:prstGeom prst="rect">
            <a:avLst/>
          </a:prstGeom>
        </p:spPr>
        <p:txBody>
          <a:bodyPr anchor="t" rtlCol="false" tIns="0" lIns="0" bIns="0" rIns="0">
            <a:spAutoFit/>
          </a:bodyPr>
          <a:lstStyle/>
          <a:p>
            <a:pPr algn="ctr" marL="357995" indent="-178998" lvl="1">
              <a:lnSpc>
                <a:spcPts val="2321"/>
              </a:lnSpc>
              <a:spcBef>
                <a:spcPct val="0"/>
              </a:spcBef>
              <a:buAutoNum type="arabicPeriod" startAt="1"/>
            </a:pPr>
            <a:r>
              <a:rPr lang="en-US" sz="1658">
                <a:solidFill>
                  <a:srgbClr val="FFFFFF"/>
                </a:solidFill>
                <a:latin typeface="Poppins"/>
                <a:ea typeface="Poppins"/>
                <a:cs typeface="Poppins"/>
                <a:sym typeface="Poppins"/>
              </a:rPr>
              <a:t>La clase Emisora es responsable de inicializar las solicitudes. Esta clase debe tener un campo para almacenar una referencia a un objeto de comando. El emisor activa este comando en lugar de enviar la solicitud directamente al receptor</a:t>
            </a:r>
          </a:p>
        </p:txBody>
      </p:sp>
      <p:sp>
        <p:nvSpPr>
          <p:cNvPr name="TextBox 10" id="10"/>
          <p:cNvSpPr txBox="true"/>
          <p:nvPr/>
        </p:nvSpPr>
        <p:spPr>
          <a:xfrm rot="0">
            <a:off x="11602238" y="3516193"/>
            <a:ext cx="6174073" cy="607766"/>
          </a:xfrm>
          <a:prstGeom prst="rect">
            <a:avLst/>
          </a:prstGeom>
        </p:spPr>
        <p:txBody>
          <a:bodyPr anchor="t" rtlCol="false" tIns="0" lIns="0" bIns="0" rIns="0">
            <a:spAutoFit/>
          </a:bodyPr>
          <a:lstStyle/>
          <a:p>
            <a:pPr algn="ctr" marL="371510" indent="-185755" lvl="1">
              <a:lnSpc>
                <a:spcPts val="2409"/>
              </a:lnSpc>
              <a:spcBef>
                <a:spcPct val="0"/>
              </a:spcBef>
              <a:buAutoNum type="arabicPeriod" startAt="1"/>
            </a:pPr>
            <a:r>
              <a:rPr lang="en-US" sz="1720">
                <a:solidFill>
                  <a:srgbClr val="FFFFFF"/>
                </a:solidFill>
                <a:latin typeface="Poppins"/>
                <a:ea typeface="Poppins"/>
                <a:cs typeface="Poppins"/>
                <a:sym typeface="Poppins"/>
              </a:rPr>
              <a:t>La interfaz comando normalmente declara un unico metodo para ejecutar el comando</a:t>
            </a:r>
          </a:p>
        </p:txBody>
      </p:sp>
      <p:sp>
        <p:nvSpPr>
          <p:cNvPr name="TextBox 11" id="11"/>
          <p:cNvSpPr txBox="true"/>
          <p:nvPr/>
        </p:nvSpPr>
        <p:spPr>
          <a:xfrm rot="0">
            <a:off x="13606302" y="4815804"/>
            <a:ext cx="4356699" cy="1513539"/>
          </a:xfrm>
          <a:prstGeom prst="rect">
            <a:avLst/>
          </a:prstGeom>
        </p:spPr>
        <p:txBody>
          <a:bodyPr anchor="t" rtlCol="false" tIns="0" lIns="0" bIns="0" rIns="0">
            <a:spAutoFit/>
          </a:bodyPr>
          <a:lstStyle/>
          <a:p>
            <a:pPr algn="ctr" marL="371510" indent="-185755" lvl="1">
              <a:lnSpc>
                <a:spcPts val="2409"/>
              </a:lnSpc>
              <a:spcBef>
                <a:spcPct val="0"/>
              </a:spcBef>
              <a:buAutoNum type="arabicPeriod" startAt="1"/>
            </a:pPr>
            <a:r>
              <a:rPr lang="en-US" sz="1720">
                <a:solidFill>
                  <a:srgbClr val="FFFFFF"/>
                </a:solidFill>
                <a:latin typeface="Poppins"/>
                <a:ea typeface="Poppins"/>
                <a:cs typeface="Poppins"/>
                <a:sym typeface="Poppins"/>
              </a:rPr>
              <a:t>Los comandos concretos implementan varios tipos de solicitudes, un comando concreto no se supone que tenga que realizar el trabajo por su cuenta </a:t>
            </a:r>
          </a:p>
        </p:txBody>
      </p:sp>
      <p:sp>
        <p:nvSpPr>
          <p:cNvPr name="TextBox 12" id="12"/>
          <p:cNvSpPr txBox="true"/>
          <p:nvPr/>
        </p:nvSpPr>
        <p:spPr>
          <a:xfrm rot="0">
            <a:off x="10501144" y="8200287"/>
            <a:ext cx="6877020" cy="1513539"/>
          </a:xfrm>
          <a:prstGeom prst="rect">
            <a:avLst/>
          </a:prstGeom>
        </p:spPr>
        <p:txBody>
          <a:bodyPr anchor="t" rtlCol="false" tIns="0" lIns="0" bIns="0" rIns="0">
            <a:spAutoFit/>
          </a:bodyPr>
          <a:lstStyle/>
          <a:p>
            <a:pPr algn="ctr" marL="371510" indent="-185755" lvl="1">
              <a:lnSpc>
                <a:spcPts val="2409"/>
              </a:lnSpc>
              <a:spcBef>
                <a:spcPct val="0"/>
              </a:spcBef>
              <a:buAutoNum type="arabicPeriod" startAt="1"/>
            </a:pPr>
            <a:r>
              <a:rPr lang="en-US" sz="1720">
                <a:solidFill>
                  <a:srgbClr val="FFFFFF"/>
                </a:solidFill>
                <a:latin typeface="Poppins"/>
                <a:ea typeface="Poppins"/>
                <a:cs typeface="Poppins"/>
                <a:sym typeface="Poppins"/>
              </a:rPr>
              <a:t>La clase Receptora contiene cierta lógica de negocio. Casi cualquier objeto puede actuar como receptor. La mayoría de los comandos solo gestiona los detalles sobre cómo se pasa una solicitud al receptor, mientras que el propio receptor hace el trabajo real.</a:t>
            </a:r>
          </a:p>
        </p:txBody>
      </p:sp>
      <p:sp>
        <p:nvSpPr>
          <p:cNvPr name="TextBox 13" id="13"/>
          <p:cNvSpPr txBox="true"/>
          <p:nvPr/>
        </p:nvSpPr>
        <p:spPr>
          <a:xfrm rot="0">
            <a:off x="726565" y="5397799"/>
            <a:ext cx="5471126" cy="1513539"/>
          </a:xfrm>
          <a:prstGeom prst="rect">
            <a:avLst/>
          </a:prstGeom>
        </p:spPr>
        <p:txBody>
          <a:bodyPr anchor="t" rtlCol="false" tIns="0" lIns="0" bIns="0" rIns="0">
            <a:spAutoFit/>
          </a:bodyPr>
          <a:lstStyle/>
          <a:p>
            <a:pPr algn="ctr" marL="371510" indent="-185755" lvl="1">
              <a:lnSpc>
                <a:spcPts val="2409"/>
              </a:lnSpc>
              <a:spcBef>
                <a:spcPct val="0"/>
              </a:spcBef>
              <a:buAutoNum type="arabicPeriod" startAt="1"/>
            </a:pPr>
            <a:r>
              <a:rPr lang="en-US" sz="1720">
                <a:solidFill>
                  <a:srgbClr val="FFFFFF"/>
                </a:solidFill>
                <a:latin typeface="Poppins"/>
                <a:ea typeface="Poppins"/>
                <a:cs typeface="Poppins"/>
                <a:sym typeface="Poppins"/>
              </a:rPr>
              <a:t>El cliente crea y configura los objetos de comando concretos. El cliente debe pasar todos los parametros de la solicitud, incluyendo una instancia del receptor, dentro del constructor del comando</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#9</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2585606" y="2408615"/>
            <a:ext cx="2733466" cy="2330280"/>
          </a:xfrm>
          <a:custGeom>
            <a:avLst/>
            <a:gdLst/>
            <a:ahLst/>
            <a:cxnLst/>
            <a:rect r="r" b="b" t="t" l="l"/>
            <a:pathLst>
              <a:path h="2330280" w="2733466">
                <a:moveTo>
                  <a:pt x="0" y="0"/>
                </a:moveTo>
                <a:lnTo>
                  <a:pt x="2733466" y="0"/>
                </a:lnTo>
                <a:lnTo>
                  <a:pt x="2733466" y="2330280"/>
                </a:lnTo>
                <a:lnTo>
                  <a:pt x="0" y="2330280"/>
                </a:lnTo>
                <a:lnTo>
                  <a:pt x="0" y="0"/>
                </a:lnTo>
                <a:close/>
              </a:path>
            </a:pathLst>
          </a:custGeom>
          <a:blipFill>
            <a:blip r:embed="rId4"/>
            <a:stretch>
              <a:fillRect l="0" t="0" r="0" b="0"/>
            </a:stretch>
          </a:blipFill>
        </p:spPr>
      </p:sp>
      <p:sp>
        <p:nvSpPr>
          <p:cNvPr name="TextBox 9" id="9"/>
          <p:cNvSpPr txBox="true"/>
          <p:nvPr/>
        </p:nvSpPr>
        <p:spPr>
          <a:xfrm rot="0">
            <a:off x="1474471" y="5114925"/>
            <a:ext cx="5669548" cy="3606378"/>
          </a:xfrm>
          <a:prstGeom prst="rect">
            <a:avLst/>
          </a:prstGeom>
        </p:spPr>
        <p:txBody>
          <a:bodyPr anchor="t" rtlCol="false" tIns="0" lIns="0" bIns="0" rIns="0">
            <a:spAutoFit/>
          </a:bodyPr>
          <a:lstStyle/>
          <a:p>
            <a:pPr algn="l">
              <a:lnSpc>
                <a:spcPts val="2896"/>
              </a:lnSpc>
            </a:pPr>
            <a:r>
              <a:rPr lang="en-US" sz="2069">
                <a:solidFill>
                  <a:srgbClr val="FFFFFF"/>
                </a:solidFill>
                <a:latin typeface="Canva Sans"/>
                <a:ea typeface="Canva Sans"/>
                <a:cs typeface="Canva Sans"/>
                <a:sym typeface="Canva Sans"/>
              </a:rPr>
              <a:t>Un personaje de videojuego puede ejecutar diferentes acciones mediante comandos:</a:t>
            </a:r>
          </a:p>
          <a:p>
            <a:pPr algn="l" marL="446706" indent="-223353" lvl="1">
              <a:lnSpc>
                <a:spcPts val="2896"/>
              </a:lnSpc>
              <a:buFont typeface="Arial"/>
              <a:buChar char="•"/>
            </a:pPr>
            <a:r>
              <a:rPr lang="en-US" sz="2069">
                <a:solidFill>
                  <a:srgbClr val="FFFFFF"/>
                </a:solidFill>
                <a:latin typeface="Canva Sans"/>
                <a:ea typeface="Canva Sans"/>
                <a:cs typeface="Canva Sans"/>
                <a:sym typeface="Canva Sans"/>
              </a:rPr>
              <a:t>Caminar</a:t>
            </a:r>
          </a:p>
          <a:p>
            <a:pPr algn="l" marL="446706" indent="-223353" lvl="1">
              <a:lnSpc>
                <a:spcPts val="2896"/>
              </a:lnSpc>
              <a:buFont typeface="Arial"/>
              <a:buChar char="•"/>
            </a:pPr>
            <a:r>
              <a:rPr lang="en-US" sz="2069">
                <a:solidFill>
                  <a:srgbClr val="FFFFFF"/>
                </a:solidFill>
                <a:latin typeface="Canva Sans"/>
                <a:ea typeface="Canva Sans"/>
                <a:cs typeface="Canva Sans"/>
                <a:sym typeface="Canva Sans"/>
              </a:rPr>
              <a:t>Saltar</a:t>
            </a:r>
          </a:p>
          <a:p>
            <a:pPr algn="l" marL="446706" indent="-223353" lvl="1">
              <a:lnSpc>
                <a:spcPts val="2896"/>
              </a:lnSpc>
              <a:buFont typeface="Arial"/>
              <a:buChar char="•"/>
            </a:pPr>
            <a:r>
              <a:rPr lang="en-US" sz="2069">
                <a:solidFill>
                  <a:srgbClr val="FFFFFF"/>
                </a:solidFill>
                <a:latin typeface="Canva Sans"/>
                <a:ea typeface="Canva Sans"/>
                <a:cs typeface="Canva Sans"/>
                <a:sym typeface="Canva Sans"/>
              </a:rPr>
              <a:t>Atacar</a:t>
            </a:r>
          </a:p>
          <a:p>
            <a:pPr algn="l" marL="446706" indent="-223353" lvl="1">
              <a:lnSpc>
                <a:spcPts val="2896"/>
              </a:lnSpc>
              <a:buFont typeface="Arial"/>
              <a:buChar char="•"/>
            </a:pPr>
            <a:r>
              <a:rPr lang="en-US" sz="2069">
                <a:solidFill>
                  <a:srgbClr val="FFFFFF"/>
                </a:solidFill>
                <a:latin typeface="Canva Sans"/>
                <a:ea typeface="Canva Sans"/>
                <a:cs typeface="Canva Sans"/>
                <a:sym typeface="Canva Sans"/>
              </a:rPr>
              <a:t>Defenderse</a:t>
            </a:r>
          </a:p>
          <a:p>
            <a:pPr algn="l">
              <a:lnSpc>
                <a:spcPts val="2896"/>
              </a:lnSpc>
            </a:pPr>
            <a:r>
              <a:rPr lang="en-US" sz="2069">
                <a:solidFill>
                  <a:srgbClr val="FFFFFF"/>
                </a:solidFill>
                <a:latin typeface="Canva Sans"/>
                <a:ea typeface="Canva Sans"/>
                <a:cs typeface="Canva Sans"/>
                <a:sym typeface="Canva Sans"/>
              </a:rPr>
              <a:t>Cada acción se encapsula como un comando, de modo que el control del juego pueda ejecutar cualquier acción sin conocer su implementación interna.</a:t>
            </a:r>
          </a:p>
        </p:txBody>
      </p:sp>
      <p:sp>
        <p:nvSpPr>
          <p:cNvPr name="Freeform 10" id="10"/>
          <p:cNvSpPr/>
          <p:nvPr/>
        </p:nvSpPr>
        <p:spPr>
          <a:xfrm flipH="false" flipV="false" rot="0">
            <a:off x="7968986" y="3338108"/>
            <a:ext cx="9290314" cy="5736769"/>
          </a:xfrm>
          <a:custGeom>
            <a:avLst/>
            <a:gdLst/>
            <a:ahLst/>
            <a:cxnLst/>
            <a:rect r="r" b="b" t="t" l="l"/>
            <a:pathLst>
              <a:path h="5736769" w="9290314">
                <a:moveTo>
                  <a:pt x="0" y="0"/>
                </a:moveTo>
                <a:lnTo>
                  <a:pt x="9290314" y="0"/>
                </a:lnTo>
                <a:lnTo>
                  <a:pt x="9290314" y="5736769"/>
                </a:lnTo>
                <a:lnTo>
                  <a:pt x="0" y="5736769"/>
                </a:lnTo>
                <a:lnTo>
                  <a:pt x="0" y="0"/>
                </a:lnTo>
                <a:close/>
              </a:path>
            </a:pathLst>
          </a:custGeom>
          <a:blipFill>
            <a:blip r:embed="rId5"/>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#9</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2481652" y="4199345"/>
            <a:ext cx="4592367" cy="5218598"/>
          </a:xfrm>
          <a:custGeom>
            <a:avLst/>
            <a:gdLst/>
            <a:ahLst/>
            <a:cxnLst/>
            <a:rect r="r" b="b" t="t" l="l"/>
            <a:pathLst>
              <a:path h="5218598" w="4592367">
                <a:moveTo>
                  <a:pt x="0" y="0"/>
                </a:moveTo>
                <a:lnTo>
                  <a:pt x="4592367" y="0"/>
                </a:lnTo>
                <a:lnTo>
                  <a:pt x="4592367" y="5218598"/>
                </a:lnTo>
                <a:lnTo>
                  <a:pt x="0" y="5218598"/>
                </a:lnTo>
                <a:lnTo>
                  <a:pt x="0" y="0"/>
                </a:lnTo>
                <a:close/>
              </a:path>
            </a:pathLst>
          </a:custGeom>
          <a:blipFill>
            <a:blip r:embed="rId4"/>
            <a:stretch>
              <a:fillRect l="0" t="0" r="0" b="0"/>
            </a:stretch>
          </a:blipFill>
        </p:spPr>
      </p:sp>
      <p:sp>
        <p:nvSpPr>
          <p:cNvPr name="Freeform 9" id="9"/>
          <p:cNvSpPr/>
          <p:nvPr/>
        </p:nvSpPr>
        <p:spPr>
          <a:xfrm flipH="false" flipV="false" rot="0">
            <a:off x="8954501" y="3999407"/>
            <a:ext cx="6516922" cy="5618473"/>
          </a:xfrm>
          <a:custGeom>
            <a:avLst/>
            <a:gdLst/>
            <a:ahLst/>
            <a:cxnLst/>
            <a:rect r="r" b="b" t="t" l="l"/>
            <a:pathLst>
              <a:path h="5618473" w="6516922">
                <a:moveTo>
                  <a:pt x="0" y="0"/>
                </a:moveTo>
                <a:lnTo>
                  <a:pt x="6516923" y="0"/>
                </a:lnTo>
                <a:lnTo>
                  <a:pt x="6516923" y="5618473"/>
                </a:lnTo>
                <a:lnTo>
                  <a:pt x="0" y="5618473"/>
                </a:lnTo>
                <a:lnTo>
                  <a:pt x="0" y="0"/>
                </a:lnTo>
                <a:close/>
              </a:path>
            </a:pathLst>
          </a:custGeom>
          <a:blipFill>
            <a:blip r:embed="rId5"/>
            <a:stretch>
              <a:fillRect l="0" t="0" r="0" b="0"/>
            </a:stretch>
          </a:blipFill>
        </p:spPr>
      </p:sp>
      <p:sp>
        <p:nvSpPr>
          <p:cNvPr name="TextBox 10" id="10"/>
          <p:cNvSpPr txBox="true"/>
          <p:nvPr/>
        </p:nvSpPr>
        <p:spPr>
          <a:xfrm rot="0">
            <a:off x="1083578" y="3121522"/>
            <a:ext cx="16613442" cy="466483"/>
          </a:xfrm>
          <a:prstGeom prst="rect">
            <a:avLst/>
          </a:prstGeom>
        </p:spPr>
        <p:txBody>
          <a:bodyPr anchor="t" rtlCol="false" tIns="0" lIns="0" bIns="0" rIns="0">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960674"/>
            <a:ext cx="16651383" cy="603570"/>
          </a:xfrm>
          <a:prstGeom prst="rect">
            <a:avLst/>
          </a:prstGeom>
        </p:spPr>
        <p:txBody>
          <a:bodyPr anchor="t" rtlCol="false" tIns="0" lIns="0" bIns="0" rIns="0">
            <a:spAutoFit/>
          </a:bodyPr>
          <a:lstStyle/>
          <a:p>
            <a:pPr algn="ctr">
              <a:lnSpc>
                <a:spcPts val="4937"/>
              </a:lnSpc>
              <a:spcBef>
                <a:spcPct val="0"/>
              </a:spcBef>
            </a:pPr>
            <a:r>
              <a:rPr lang="en-US" sz="3526">
                <a:solidFill>
                  <a:srgbClr val="99C5FF"/>
                </a:solidFill>
                <a:latin typeface="HK Modular"/>
                <a:ea typeface="HK Modular"/>
                <a:cs typeface="HK Modular"/>
                <a:sym typeface="HK Modular"/>
              </a:rPr>
              <a:t>COMPORTAMIENTO - ITERATOR</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pic>
        <p:nvPicPr>
          <p:cNvPr name="Picture 8" id="8"/>
          <p:cNvPicPr>
            <a:picLocks noChangeAspect="true"/>
          </p:cNvPicPr>
          <p:nvPr/>
        </p:nvPicPr>
        <p:blipFill>
          <a:blip r:embed="rId4"/>
          <a:stretch>
            <a:fillRect/>
          </a:stretch>
        </p:blipFill>
        <p:spPr>
          <a:xfrm rot="0">
            <a:off x="8332988" y="4331953"/>
            <a:ext cx="884789" cy="885324"/>
          </a:xfrm>
          <a:prstGeom prst="rect">
            <a:avLst/>
          </a:prstGeom>
        </p:spPr>
      </p:pic>
      <p:pic>
        <p:nvPicPr>
          <p:cNvPr name="Picture 9" id="9"/>
          <p:cNvPicPr>
            <a:picLocks noChangeAspect="true"/>
          </p:cNvPicPr>
          <p:nvPr/>
        </p:nvPicPr>
        <p:blipFill>
          <a:blip r:embed="rId5"/>
          <a:stretch>
            <a:fillRect/>
          </a:stretch>
        </p:blipFill>
        <p:spPr>
          <a:xfrm rot="0">
            <a:off x="8332988" y="6204350"/>
            <a:ext cx="884789" cy="885324"/>
          </a:xfrm>
          <a:prstGeom prst="rect">
            <a:avLst/>
          </a:prstGeom>
        </p:spPr>
      </p:pic>
      <p:pic>
        <p:nvPicPr>
          <p:cNvPr name="Picture 10" id="10"/>
          <p:cNvPicPr>
            <a:picLocks noChangeAspect="true"/>
          </p:cNvPicPr>
          <p:nvPr/>
        </p:nvPicPr>
        <p:blipFill>
          <a:blip r:embed="rId6"/>
          <a:stretch>
            <a:fillRect/>
          </a:stretch>
        </p:blipFill>
        <p:spPr>
          <a:xfrm rot="0">
            <a:off x="8332988" y="8445812"/>
            <a:ext cx="884789" cy="885324"/>
          </a:xfrm>
          <a:prstGeom prst="rect">
            <a:avLst/>
          </a:prstGeom>
        </p:spPr>
      </p:pic>
      <p:sp>
        <p:nvSpPr>
          <p:cNvPr name="Freeform 11" id="11"/>
          <p:cNvSpPr/>
          <p:nvPr/>
        </p:nvSpPr>
        <p:spPr>
          <a:xfrm flipH="false" flipV="false" rot="0">
            <a:off x="797148" y="4472085"/>
            <a:ext cx="7170359" cy="4786215"/>
          </a:xfrm>
          <a:custGeom>
            <a:avLst/>
            <a:gdLst/>
            <a:ahLst/>
            <a:cxnLst/>
            <a:rect r="r" b="b" t="t" l="l"/>
            <a:pathLst>
              <a:path h="4786215" w="7170359">
                <a:moveTo>
                  <a:pt x="0" y="0"/>
                </a:moveTo>
                <a:lnTo>
                  <a:pt x="7170359" y="0"/>
                </a:lnTo>
                <a:lnTo>
                  <a:pt x="7170359" y="4786215"/>
                </a:lnTo>
                <a:lnTo>
                  <a:pt x="0" y="4786215"/>
                </a:lnTo>
                <a:lnTo>
                  <a:pt x="0" y="0"/>
                </a:lnTo>
                <a:close/>
              </a:path>
            </a:pathLst>
          </a:custGeom>
          <a:blipFill>
            <a:blip r:embed="rId7"/>
            <a:stretch>
              <a:fillRect l="0" t="0" r="0" b="0"/>
            </a:stretch>
          </a:blipFill>
        </p:spPr>
      </p:sp>
      <p:sp>
        <p:nvSpPr>
          <p:cNvPr name="TextBox 12" id="12"/>
          <p:cNvSpPr txBox="true"/>
          <p:nvPr/>
        </p:nvSpPr>
        <p:spPr>
          <a:xfrm rot="0">
            <a:off x="743396" y="2929989"/>
            <a:ext cx="16801207" cy="3422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a:t>
            </a:r>
            <a:r>
              <a:rPr lang="en-US" sz="1899">
                <a:solidFill>
                  <a:srgbClr val="FFFFFF"/>
                </a:solidFill>
                <a:latin typeface="Poppins"/>
                <a:ea typeface="Poppins"/>
                <a:cs typeface="Poppins"/>
                <a:sym typeface="Poppins"/>
              </a:rPr>
              <a:t>s un patrón de diseño de comportamiento que te permite recorrer elementos de una colección sin exponer su representación subyacente</a:t>
            </a:r>
          </a:p>
        </p:txBody>
      </p:sp>
      <p:sp>
        <p:nvSpPr>
          <p:cNvPr name="TextBox 13" id="13"/>
          <p:cNvSpPr txBox="true"/>
          <p:nvPr/>
        </p:nvSpPr>
        <p:spPr>
          <a:xfrm rot="0">
            <a:off x="860621" y="3344962"/>
            <a:ext cx="16566758" cy="625299"/>
          </a:xfrm>
          <a:prstGeom prst="rect">
            <a:avLst/>
          </a:prstGeom>
        </p:spPr>
        <p:txBody>
          <a:bodyPr anchor="t" rtlCol="false" tIns="0" lIns="0" bIns="0" rIns="0">
            <a:spAutoFit/>
          </a:bodyPr>
          <a:lstStyle/>
          <a:p>
            <a:pPr algn="ctr">
              <a:lnSpc>
                <a:spcPts val="2484"/>
              </a:lnSpc>
              <a:spcBef>
                <a:spcPct val="0"/>
              </a:spcBef>
            </a:pPr>
            <a:r>
              <a:rPr lang="en-US" sz="1774">
                <a:solidFill>
                  <a:srgbClr val="FFFFFF"/>
                </a:solidFill>
                <a:latin typeface="Poppins"/>
                <a:ea typeface="Poppins"/>
                <a:cs typeface="Poppins"/>
                <a:sym typeface="Poppins"/>
              </a:rPr>
              <a:t>Las colecciones son de los tipos de datos más utilizados en programación. Sin embargo, una colección tan solo es un contenedor para un grupo de objetos.</a:t>
            </a:r>
          </a:p>
        </p:txBody>
      </p:sp>
      <p:sp>
        <p:nvSpPr>
          <p:cNvPr name="TextBox 14" id="14"/>
          <p:cNvSpPr txBox="true"/>
          <p:nvPr/>
        </p:nvSpPr>
        <p:spPr>
          <a:xfrm rot="0">
            <a:off x="9700725" y="4414935"/>
            <a:ext cx="7726654" cy="10090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La idea central del patrón Iterator es extraer el comportamiento de recorrido de una colección y colocarlo en un objeto independiente llamado iterador.</a:t>
            </a:r>
          </a:p>
        </p:txBody>
      </p:sp>
      <p:sp>
        <p:nvSpPr>
          <p:cNvPr name="TextBox 15" id="15"/>
          <p:cNvSpPr txBox="true"/>
          <p:nvPr/>
        </p:nvSpPr>
        <p:spPr>
          <a:xfrm rot="0">
            <a:off x="9582150" y="6149439"/>
            <a:ext cx="8179967" cy="167576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Además de implementar el propio algoritmo, un objeto iterador encapsula todos los detalles del recorrido, como la posición actual y cuántos elementos quedan hasta el final. Debido a esto, varios iteradores pueden recorrer la misma colección al mismo tiempo, independientemente los unos de los otros.</a:t>
            </a:r>
          </a:p>
        </p:txBody>
      </p:sp>
      <p:sp>
        <p:nvSpPr>
          <p:cNvPr name="TextBox 16" id="16"/>
          <p:cNvSpPr txBox="true"/>
          <p:nvPr/>
        </p:nvSpPr>
        <p:spPr>
          <a:xfrm rot="0">
            <a:off x="9700725" y="8834855"/>
            <a:ext cx="8061392"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Utiliza el patrón para reducir la duplicación en el código de recorrido a lo largo de tu aplicación.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15746" y="1747476"/>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COMO IMPLEMENTARLO</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5682494" y="2864087"/>
            <a:ext cx="6923012" cy="6204749"/>
          </a:xfrm>
          <a:custGeom>
            <a:avLst/>
            <a:gdLst/>
            <a:ahLst/>
            <a:cxnLst/>
            <a:rect r="r" b="b" t="t" l="l"/>
            <a:pathLst>
              <a:path h="6204749" w="6923012">
                <a:moveTo>
                  <a:pt x="0" y="0"/>
                </a:moveTo>
                <a:lnTo>
                  <a:pt x="6923012" y="0"/>
                </a:lnTo>
                <a:lnTo>
                  <a:pt x="6923012" y="6204750"/>
                </a:lnTo>
                <a:lnTo>
                  <a:pt x="0" y="6204750"/>
                </a:lnTo>
                <a:lnTo>
                  <a:pt x="0" y="0"/>
                </a:lnTo>
                <a:close/>
              </a:path>
            </a:pathLst>
          </a:custGeom>
          <a:blipFill>
            <a:blip r:embed="rId4"/>
            <a:stretch>
              <a:fillRect l="0" t="0" r="0" b="0"/>
            </a:stretch>
          </a:blipFill>
        </p:spPr>
      </p:sp>
      <p:sp>
        <p:nvSpPr>
          <p:cNvPr name="TextBox 9" id="9"/>
          <p:cNvSpPr txBox="true"/>
          <p:nvPr/>
        </p:nvSpPr>
        <p:spPr>
          <a:xfrm rot="0">
            <a:off x="874397" y="2806937"/>
            <a:ext cx="4983448" cy="1675765"/>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La interfaz Iteradora declara las operaciones necesarias para recorrer una colección: extraer el siguiente elemento, recuperar la posición actual, reiniciar la iteración, etc.</a:t>
            </a:r>
          </a:p>
        </p:txBody>
      </p:sp>
      <p:sp>
        <p:nvSpPr>
          <p:cNvPr name="TextBox 10" id="10"/>
          <p:cNvSpPr txBox="true"/>
          <p:nvPr/>
        </p:nvSpPr>
        <p:spPr>
          <a:xfrm rot="0">
            <a:off x="512446" y="6354056"/>
            <a:ext cx="4983448" cy="1675765"/>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Los Iteradores Concretos implementan algoritmos específicos para recorrer una colección. El objeto iterador debe controlar el progreso del recorrido por su cuenta.</a:t>
            </a:r>
          </a:p>
        </p:txBody>
      </p:sp>
      <p:sp>
        <p:nvSpPr>
          <p:cNvPr name="TextBox 11" id="11"/>
          <p:cNvSpPr txBox="true"/>
          <p:nvPr/>
        </p:nvSpPr>
        <p:spPr>
          <a:xfrm rot="0">
            <a:off x="12734955" y="2806937"/>
            <a:ext cx="4983448" cy="1342390"/>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La interfaz Colección declara uno o varios métodos para obtener iteradores compatibles con la colección. </a:t>
            </a:r>
          </a:p>
        </p:txBody>
      </p:sp>
      <p:sp>
        <p:nvSpPr>
          <p:cNvPr name="TextBox 12" id="12"/>
          <p:cNvSpPr txBox="true"/>
          <p:nvPr/>
        </p:nvSpPr>
        <p:spPr>
          <a:xfrm rot="0">
            <a:off x="12796006" y="5591420"/>
            <a:ext cx="4983448" cy="1342390"/>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Las Colecciones Concretas devuelven nuevas instancias de una clase iteradora concreta particular cada vez que el cliente solicita una.</a:t>
            </a:r>
          </a:p>
        </p:txBody>
      </p:sp>
      <p:sp>
        <p:nvSpPr>
          <p:cNvPr name="TextBox 13" id="13"/>
          <p:cNvSpPr txBox="true"/>
          <p:nvPr/>
        </p:nvSpPr>
        <p:spPr>
          <a:xfrm rot="0">
            <a:off x="9810863" y="8558530"/>
            <a:ext cx="7332318" cy="1342390"/>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El Cliente debe funcionar con colecciones e iteradores a través de sus interfaces. De este modo, el cliente no se acopla a clases concretas, permitiéndote utilizar varias colecciones e iteradores con el mismo código cliente.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#10</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6577993" y="3145877"/>
            <a:ext cx="5132014" cy="2527517"/>
          </a:xfrm>
          <a:custGeom>
            <a:avLst/>
            <a:gdLst/>
            <a:ahLst/>
            <a:cxnLst/>
            <a:rect r="r" b="b" t="t" l="l"/>
            <a:pathLst>
              <a:path h="2527517" w="5132014">
                <a:moveTo>
                  <a:pt x="0" y="0"/>
                </a:moveTo>
                <a:lnTo>
                  <a:pt x="5132014" y="0"/>
                </a:lnTo>
                <a:lnTo>
                  <a:pt x="5132014" y="2527517"/>
                </a:lnTo>
                <a:lnTo>
                  <a:pt x="0" y="25275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5802952" y="6073444"/>
            <a:ext cx="6900829" cy="3441067"/>
          </a:xfrm>
          <a:prstGeom prst="rect">
            <a:avLst/>
          </a:prstGeom>
        </p:spPr>
        <p:txBody>
          <a:bodyPr anchor="t" rtlCol="false" tIns="0" lIns="0" bIns="0" rIns="0">
            <a:spAutoFit/>
          </a:bodyPr>
          <a:lstStyle/>
          <a:p>
            <a:pPr algn="l">
              <a:lnSpc>
                <a:spcPts val="3009"/>
              </a:lnSpc>
              <a:spcBef>
                <a:spcPct val="0"/>
              </a:spcBef>
            </a:pPr>
            <a:r>
              <a:rPr lang="en-US" sz="2149">
                <a:solidFill>
                  <a:srgbClr val="FFFFFF"/>
                </a:solidFill>
                <a:latin typeface="Poppins"/>
                <a:ea typeface="Poppins"/>
                <a:cs typeface="Poppins"/>
                <a:sym typeface="Poppins"/>
              </a:rPr>
              <a:t>Un turista quiere explorar distintos lugares emblemáticos de Roma:</a:t>
            </a:r>
          </a:p>
          <a:p>
            <a:pPr algn="l" marL="464171" indent="-232085" lvl="1">
              <a:lnSpc>
                <a:spcPts val="3009"/>
              </a:lnSpc>
              <a:buFont typeface="Arial"/>
              <a:buChar char="•"/>
            </a:pPr>
            <a:r>
              <a:rPr lang="en-US" sz="2149">
                <a:solidFill>
                  <a:srgbClr val="FFFFFF"/>
                </a:solidFill>
                <a:latin typeface="Poppins"/>
                <a:ea typeface="Poppins"/>
                <a:cs typeface="Poppins"/>
                <a:sym typeface="Poppins"/>
              </a:rPr>
              <a:t>Coliseo</a:t>
            </a:r>
          </a:p>
          <a:p>
            <a:pPr algn="l" marL="464171" indent="-232085" lvl="1">
              <a:lnSpc>
                <a:spcPts val="3009"/>
              </a:lnSpc>
              <a:buFont typeface="Arial"/>
              <a:buChar char="•"/>
            </a:pPr>
            <a:r>
              <a:rPr lang="en-US" sz="2149">
                <a:solidFill>
                  <a:srgbClr val="FFFFFF"/>
                </a:solidFill>
                <a:latin typeface="Poppins"/>
                <a:ea typeface="Poppins"/>
                <a:cs typeface="Poppins"/>
                <a:sym typeface="Poppins"/>
              </a:rPr>
              <a:t>Foro Romano</a:t>
            </a:r>
          </a:p>
          <a:p>
            <a:pPr algn="l" marL="464171" indent="-232085" lvl="1">
              <a:lnSpc>
                <a:spcPts val="3009"/>
              </a:lnSpc>
              <a:buFont typeface="Arial"/>
              <a:buChar char="•"/>
            </a:pPr>
            <a:r>
              <a:rPr lang="en-US" sz="2149">
                <a:solidFill>
                  <a:srgbClr val="FFFFFF"/>
                </a:solidFill>
                <a:latin typeface="Poppins"/>
                <a:ea typeface="Poppins"/>
                <a:cs typeface="Poppins"/>
                <a:sym typeface="Poppins"/>
              </a:rPr>
              <a:t>Fontana di Trevi</a:t>
            </a:r>
          </a:p>
          <a:p>
            <a:pPr algn="l" marL="464171" indent="-232085" lvl="1">
              <a:lnSpc>
                <a:spcPts val="3009"/>
              </a:lnSpc>
              <a:buFont typeface="Arial"/>
              <a:buChar char="•"/>
            </a:pPr>
            <a:r>
              <a:rPr lang="en-US" sz="2149">
                <a:solidFill>
                  <a:srgbClr val="FFFFFF"/>
                </a:solidFill>
                <a:latin typeface="Poppins"/>
                <a:ea typeface="Poppins"/>
                <a:cs typeface="Poppins"/>
                <a:sym typeface="Poppins"/>
              </a:rPr>
              <a:t>Panteón</a:t>
            </a:r>
          </a:p>
          <a:p>
            <a:pPr algn="l" marL="464171" indent="-232085" lvl="1">
              <a:lnSpc>
                <a:spcPts val="3009"/>
              </a:lnSpc>
              <a:buFont typeface="Arial"/>
              <a:buChar char="•"/>
            </a:pPr>
            <a:r>
              <a:rPr lang="en-US" sz="2149">
                <a:solidFill>
                  <a:srgbClr val="FFFFFF"/>
                </a:solidFill>
                <a:latin typeface="Poppins"/>
                <a:ea typeface="Poppins"/>
                <a:cs typeface="Poppins"/>
                <a:sym typeface="Poppins"/>
              </a:rPr>
              <a:t>Plaza de España</a:t>
            </a:r>
          </a:p>
          <a:p>
            <a:pPr algn="l">
              <a:lnSpc>
                <a:spcPts val="3009"/>
              </a:lnSpc>
              <a:spcBef>
                <a:spcPct val="0"/>
              </a:spcBef>
            </a:pPr>
            <a:r>
              <a:rPr lang="en-US" sz="2149">
                <a:solidFill>
                  <a:srgbClr val="FFFFFF"/>
                </a:solidFill>
                <a:latin typeface="Poppins"/>
                <a:ea typeface="Poppins"/>
                <a:cs typeface="Poppins"/>
                <a:sym typeface="Poppins"/>
              </a:rPr>
              <a:t>El recorrido debe poder iterarse sin exponer la estructura interna que almacena los lugares.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#10</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2016533" y="3417560"/>
            <a:ext cx="4699367" cy="1907492"/>
          </a:xfrm>
          <a:custGeom>
            <a:avLst/>
            <a:gdLst/>
            <a:ahLst/>
            <a:cxnLst/>
            <a:rect r="r" b="b" t="t" l="l"/>
            <a:pathLst>
              <a:path h="1907492" w="4699367">
                <a:moveTo>
                  <a:pt x="0" y="0"/>
                </a:moveTo>
                <a:lnTo>
                  <a:pt x="4699368" y="0"/>
                </a:lnTo>
                <a:lnTo>
                  <a:pt x="4699368" y="1907493"/>
                </a:lnTo>
                <a:lnTo>
                  <a:pt x="0" y="1907493"/>
                </a:lnTo>
                <a:lnTo>
                  <a:pt x="0" y="0"/>
                </a:lnTo>
                <a:close/>
              </a:path>
            </a:pathLst>
          </a:custGeom>
          <a:blipFill>
            <a:blip r:embed="rId4"/>
            <a:stretch>
              <a:fillRect l="0" t="0" r="0" b="0"/>
            </a:stretch>
          </a:blipFill>
        </p:spPr>
      </p:sp>
      <p:sp>
        <p:nvSpPr>
          <p:cNvPr name="Freeform 9" id="9"/>
          <p:cNvSpPr/>
          <p:nvPr/>
        </p:nvSpPr>
        <p:spPr>
          <a:xfrm flipH="false" flipV="false" rot="0">
            <a:off x="2016533" y="6058478"/>
            <a:ext cx="4699367" cy="1311451"/>
          </a:xfrm>
          <a:custGeom>
            <a:avLst/>
            <a:gdLst/>
            <a:ahLst/>
            <a:cxnLst/>
            <a:rect r="r" b="b" t="t" l="l"/>
            <a:pathLst>
              <a:path h="1311451" w="4699367">
                <a:moveTo>
                  <a:pt x="0" y="0"/>
                </a:moveTo>
                <a:lnTo>
                  <a:pt x="4699368" y="0"/>
                </a:lnTo>
                <a:lnTo>
                  <a:pt x="4699368" y="1311451"/>
                </a:lnTo>
                <a:lnTo>
                  <a:pt x="0" y="1311451"/>
                </a:lnTo>
                <a:lnTo>
                  <a:pt x="0" y="0"/>
                </a:lnTo>
                <a:close/>
              </a:path>
            </a:pathLst>
          </a:custGeom>
          <a:blipFill>
            <a:blip r:embed="rId5"/>
            <a:stretch>
              <a:fillRect l="0" t="0" r="0" b="0"/>
            </a:stretch>
          </a:blipFill>
        </p:spPr>
      </p:sp>
      <p:sp>
        <p:nvSpPr>
          <p:cNvPr name="Freeform 10" id="10"/>
          <p:cNvSpPr/>
          <p:nvPr/>
        </p:nvSpPr>
        <p:spPr>
          <a:xfrm flipH="false" flipV="false" rot="0">
            <a:off x="10939797" y="3691771"/>
            <a:ext cx="5527507" cy="5166604"/>
          </a:xfrm>
          <a:custGeom>
            <a:avLst/>
            <a:gdLst/>
            <a:ahLst/>
            <a:cxnLst/>
            <a:rect r="r" b="b" t="t" l="l"/>
            <a:pathLst>
              <a:path h="5166604" w="5527507">
                <a:moveTo>
                  <a:pt x="0" y="0"/>
                </a:moveTo>
                <a:lnTo>
                  <a:pt x="5527507" y="0"/>
                </a:lnTo>
                <a:lnTo>
                  <a:pt x="5527507" y="5166604"/>
                </a:lnTo>
                <a:lnTo>
                  <a:pt x="0" y="5166604"/>
                </a:lnTo>
                <a:lnTo>
                  <a:pt x="0" y="0"/>
                </a:lnTo>
                <a:close/>
              </a:path>
            </a:pathLst>
          </a:custGeom>
          <a:blipFill>
            <a:blip r:embed="rId6"/>
            <a:stretch>
              <a:fillRect l="0" t="0" r="0" b="0"/>
            </a:stretch>
          </a:blipFill>
        </p:spPr>
      </p:sp>
      <p:sp>
        <p:nvSpPr>
          <p:cNvPr name="Freeform 11" id="11"/>
          <p:cNvSpPr/>
          <p:nvPr/>
        </p:nvSpPr>
        <p:spPr>
          <a:xfrm flipH="false" flipV="false" rot="0">
            <a:off x="707065" y="3417560"/>
            <a:ext cx="880730" cy="880730"/>
          </a:xfrm>
          <a:custGeom>
            <a:avLst/>
            <a:gdLst/>
            <a:ahLst/>
            <a:cxnLst/>
            <a:rect r="r" b="b" t="t" l="l"/>
            <a:pathLst>
              <a:path h="880730" w="880730">
                <a:moveTo>
                  <a:pt x="0" y="0"/>
                </a:moveTo>
                <a:lnTo>
                  <a:pt x="880730" y="0"/>
                </a:lnTo>
                <a:lnTo>
                  <a:pt x="880730" y="880731"/>
                </a:lnTo>
                <a:lnTo>
                  <a:pt x="0" y="8807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9559882" y="3298187"/>
            <a:ext cx="1119476" cy="1119476"/>
          </a:xfrm>
          <a:custGeom>
            <a:avLst/>
            <a:gdLst/>
            <a:ahLst/>
            <a:cxnLst/>
            <a:rect r="r" b="b" t="t" l="l"/>
            <a:pathLst>
              <a:path h="1119476" w="1119476">
                <a:moveTo>
                  <a:pt x="0" y="0"/>
                </a:moveTo>
                <a:lnTo>
                  <a:pt x="1119476" y="0"/>
                </a:lnTo>
                <a:lnTo>
                  <a:pt x="1119476" y="1119477"/>
                </a:lnTo>
                <a:lnTo>
                  <a:pt x="0" y="11194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1293806" y="7822238"/>
            <a:ext cx="5700676" cy="774067"/>
          </a:xfrm>
          <a:prstGeom prst="rect">
            <a:avLst/>
          </a:prstGeom>
        </p:spPr>
        <p:txBody>
          <a:bodyPr anchor="t" rtlCol="false" tIns="0" lIns="0" bIns="0" rIns="0">
            <a:spAutoFit/>
          </a:bodyPr>
          <a:lstStyle/>
          <a:p>
            <a:pPr algn="l">
              <a:lnSpc>
                <a:spcPts val="3009"/>
              </a:lnSpc>
              <a:spcBef>
                <a:spcPct val="0"/>
              </a:spcBef>
            </a:pPr>
            <a:r>
              <a:rPr lang="en-US" sz="2149">
                <a:solidFill>
                  <a:srgbClr val="FFFFFF"/>
                </a:solidFill>
                <a:latin typeface="Poppins"/>
                <a:ea typeface="Poppins"/>
                <a:cs typeface="Poppins"/>
                <a:sym typeface="Poppins"/>
              </a:rPr>
              <a:t>Esto representa cualquier coleccion que pueda producir un iterador</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#10</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1309929" y="3189919"/>
            <a:ext cx="6870039" cy="5574546"/>
          </a:xfrm>
          <a:custGeom>
            <a:avLst/>
            <a:gdLst/>
            <a:ahLst/>
            <a:cxnLst/>
            <a:rect r="r" b="b" t="t" l="l"/>
            <a:pathLst>
              <a:path h="5574546" w="6870039">
                <a:moveTo>
                  <a:pt x="0" y="0"/>
                </a:moveTo>
                <a:lnTo>
                  <a:pt x="6870038" y="0"/>
                </a:lnTo>
                <a:lnTo>
                  <a:pt x="6870038" y="5574545"/>
                </a:lnTo>
                <a:lnTo>
                  <a:pt x="0" y="5574545"/>
                </a:lnTo>
                <a:lnTo>
                  <a:pt x="0" y="0"/>
                </a:lnTo>
                <a:close/>
              </a:path>
            </a:pathLst>
          </a:custGeom>
          <a:blipFill>
            <a:blip r:embed="rId4"/>
            <a:stretch>
              <a:fillRect l="0" t="0" r="0" b="0"/>
            </a:stretch>
          </a:blipFill>
        </p:spPr>
      </p:sp>
      <p:sp>
        <p:nvSpPr>
          <p:cNvPr name="Freeform 9" id="9"/>
          <p:cNvSpPr/>
          <p:nvPr/>
        </p:nvSpPr>
        <p:spPr>
          <a:xfrm flipH="false" flipV="false" rot="0">
            <a:off x="8740991" y="3450595"/>
            <a:ext cx="8894600" cy="5313870"/>
          </a:xfrm>
          <a:custGeom>
            <a:avLst/>
            <a:gdLst/>
            <a:ahLst/>
            <a:cxnLst/>
            <a:rect r="r" b="b" t="t" l="l"/>
            <a:pathLst>
              <a:path h="5313870" w="8894600">
                <a:moveTo>
                  <a:pt x="0" y="0"/>
                </a:moveTo>
                <a:lnTo>
                  <a:pt x="8894600" y="0"/>
                </a:lnTo>
                <a:lnTo>
                  <a:pt x="8894600" y="5313869"/>
                </a:lnTo>
                <a:lnTo>
                  <a:pt x="0" y="5313869"/>
                </a:lnTo>
                <a:lnTo>
                  <a:pt x="0" y="0"/>
                </a:lnTo>
                <a:close/>
              </a:path>
            </a:pathLst>
          </a:custGeom>
          <a:blipFill>
            <a:blip r:embed="rId5"/>
            <a:stretch>
              <a:fillRect l="0" t="0" r="0" b="0"/>
            </a:stretch>
          </a:blipFill>
        </p:spPr>
      </p:sp>
      <p:sp>
        <p:nvSpPr>
          <p:cNvPr name="Freeform 10" id="10"/>
          <p:cNvSpPr/>
          <p:nvPr/>
        </p:nvSpPr>
        <p:spPr>
          <a:xfrm flipH="false" flipV="false" rot="0">
            <a:off x="77573" y="2975031"/>
            <a:ext cx="951127" cy="951127"/>
          </a:xfrm>
          <a:custGeom>
            <a:avLst/>
            <a:gdLst/>
            <a:ahLst/>
            <a:cxnLst/>
            <a:rect r="r" b="b" t="t" l="l"/>
            <a:pathLst>
              <a:path h="951127" w="951127">
                <a:moveTo>
                  <a:pt x="0" y="0"/>
                </a:moveTo>
                <a:lnTo>
                  <a:pt x="951127" y="0"/>
                </a:lnTo>
                <a:lnTo>
                  <a:pt x="951127" y="951127"/>
                </a:lnTo>
                <a:lnTo>
                  <a:pt x="0" y="9511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#10</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922271" y="4101211"/>
            <a:ext cx="7677818" cy="3874389"/>
          </a:xfrm>
          <a:custGeom>
            <a:avLst/>
            <a:gdLst/>
            <a:ahLst/>
            <a:cxnLst/>
            <a:rect r="r" b="b" t="t" l="l"/>
            <a:pathLst>
              <a:path h="3874389" w="7677818">
                <a:moveTo>
                  <a:pt x="0" y="0"/>
                </a:moveTo>
                <a:lnTo>
                  <a:pt x="7677818" y="0"/>
                </a:lnTo>
                <a:lnTo>
                  <a:pt x="7677818" y="3874388"/>
                </a:lnTo>
                <a:lnTo>
                  <a:pt x="0" y="3874388"/>
                </a:lnTo>
                <a:lnTo>
                  <a:pt x="0" y="0"/>
                </a:lnTo>
                <a:close/>
              </a:path>
            </a:pathLst>
          </a:custGeom>
          <a:blipFill>
            <a:blip r:embed="rId4"/>
            <a:stretch>
              <a:fillRect l="0" t="0" r="0" b="0"/>
            </a:stretch>
          </a:blipFill>
        </p:spPr>
      </p:sp>
      <p:sp>
        <p:nvSpPr>
          <p:cNvPr name="Freeform 9" id="9"/>
          <p:cNvSpPr/>
          <p:nvPr/>
        </p:nvSpPr>
        <p:spPr>
          <a:xfrm flipH="false" flipV="false" rot="0">
            <a:off x="10157287" y="3806592"/>
            <a:ext cx="7527728" cy="4778306"/>
          </a:xfrm>
          <a:custGeom>
            <a:avLst/>
            <a:gdLst/>
            <a:ahLst/>
            <a:cxnLst/>
            <a:rect r="r" b="b" t="t" l="l"/>
            <a:pathLst>
              <a:path h="4778306" w="7527728">
                <a:moveTo>
                  <a:pt x="0" y="0"/>
                </a:moveTo>
                <a:lnTo>
                  <a:pt x="7527728" y="0"/>
                </a:lnTo>
                <a:lnTo>
                  <a:pt x="7527728" y="4778306"/>
                </a:lnTo>
                <a:lnTo>
                  <a:pt x="0" y="4778306"/>
                </a:lnTo>
                <a:lnTo>
                  <a:pt x="0" y="0"/>
                </a:lnTo>
                <a:close/>
              </a:path>
            </a:pathLst>
          </a:custGeom>
          <a:blipFill>
            <a:blip r:embed="rId5"/>
            <a:stretch>
              <a:fillRect l="0" t="0" r="0" b="0"/>
            </a:stretch>
          </a:blipFill>
        </p:spPr>
      </p:sp>
      <p:sp>
        <p:nvSpPr>
          <p:cNvPr name="Freeform 10" id="10"/>
          <p:cNvSpPr/>
          <p:nvPr/>
        </p:nvSpPr>
        <p:spPr>
          <a:xfrm flipH="false" flipV="false" rot="0">
            <a:off x="375588" y="3007843"/>
            <a:ext cx="1093367" cy="1093367"/>
          </a:xfrm>
          <a:custGeom>
            <a:avLst/>
            <a:gdLst/>
            <a:ahLst/>
            <a:cxnLst/>
            <a:rect r="r" b="b" t="t" l="l"/>
            <a:pathLst>
              <a:path h="1093367" w="1093367">
                <a:moveTo>
                  <a:pt x="0" y="0"/>
                </a:moveTo>
                <a:lnTo>
                  <a:pt x="1093367" y="0"/>
                </a:lnTo>
                <a:lnTo>
                  <a:pt x="1093367" y="1093368"/>
                </a:lnTo>
                <a:lnTo>
                  <a:pt x="0" y="10933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8923050" y="3007843"/>
            <a:ext cx="1093367" cy="1093367"/>
          </a:xfrm>
          <a:custGeom>
            <a:avLst/>
            <a:gdLst/>
            <a:ahLst/>
            <a:cxnLst/>
            <a:rect r="r" b="b" t="t" l="l"/>
            <a:pathLst>
              <a:path h="1093367" w="1093367">
                <a:moveTo>
                  <a:pt x="0" y="0"/>
                </a:moveTo>
                <a:lnTo>
                  <a:pt x="1093367" y="0"/>
                </a:lnTo>
                <a:lnTo>
                  <a:pt x="1093367" y="1093368"/>
                </a:lnTo>
                <a:lnTo>
                  <a:pt x="0" y="10933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960674"/>
            <a:ext cx="16651383" cy="603570"/>
          </a:xfrm>
          <a:prstGeom prst="rect">
            <a:avLst/>
          </a:prstGeom>
        </p:spPr>
        <p:txBody>
          <a:bodyPr anchor="t" rtlCol="false" tIns="0" lIns="0" bIns="0" rIns="0">
            <a:spAutoFit/>
          </a:bodyPr>
          <a:lstStyle/>
          <a:p>
            <a:pPr algn="ctr">
              <a:lnSpc>
                <a:spcPts val="4937"/>
              </a:lnSpc>
              <a:spcBef>
                <a:spcPct val="0"/>
              </a:spcBef>
            </a:pPr>
            <a:r>
              <a:rPr lang="en-US" sz="3526">
                <a:solidFill>
                  <a:srgbClr val="99C5FF"/>
                </a:solidFill>
                <a:latin typeface="HK Modular"/>
                <a:ea typeface="HK Modular"/>
                <a:cs typeface="HK Modular"/>
                <a:sym typeface="HK Modular"/>
              </a:rPr>
              <a:t>COMPORTAMIENTO - STRATEGY</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pic>
        <p:nvPicPr>
          <p:cNvPr name="Picture 8" id="8"/>
          <p:cNvPicPr>
            <a:picLocks noChangeAspect="true"/>
          </p:cNvPicPr>
          <p:nvPr/>
        </p:nvPicPr>
        <p:blipFill>
          <a:blip r:embed="rId4"/>
          <a:stretch>
            <a:fillRect/>
          </a:stretch>
        </p:blipFill>
        <p:spPr>
          <a:xfrm rot="0">
            <a:off x="8332988" y="4331953"/>
            <a:ext cx="884789" cy="885324"/>
          </a:xfrm>
          <a:prstGeom prst="rect">
            <a:avLst/>
          </a:prstGeom>
        </p:spPr>
      </p:pic>
      <p:pic>
        <p:nvPicPr>
          <p:cNvPr name="Picture 9" id="9"/>
          <p:cNvPicPr>
            <a:picLocks noChangeAspect="true"/>
          </p:cNvPicPr>
          <p:nvPr/>
        </p:nvPicPr>
        <p:blipFill>
          <a:blip r:embed="rId5"/>
          <a:stretch>
            <a:fillRect/>
          </a:stretch>
        </p:blipFill>
        <p:spPr>
          <a:xfrm rot="0">
            <a:off x="8332988" y="6204350"/>
            <a:ext cx="884789" cy="885324"/>
          </a:xfrm>
          <a:prstGeom prst="rect">
            <a:avLst/>
          </a:prstGeom>
        </p:spPr>
      </p:pic>
      <p:pic>
        <p:nvPicPr>
          <p:cNvPr name="Picture 10" id="10"/>
          <p:cNvPicPr>
            <a:picLocks noChangeAspect="true"/>
          </p:cNvPicPr>
          <p:nvPr/>
        </p:nvPicPr>
        <p:blipFill>
          <a:blip r:embed="rId6"/>
          <a:stretch>
            <a:fillRect/>
          </a:stretch>
        </p:blipFill>
        <p:spPr>
          <a:xfrm rot="0">
            <a:off x="8332988" y="8445812"/>
            <a:ext cx="884789" cy="885324"/>
          </a:xfrm>
          <a:prstGeom prst="rect">
            <a:avLst/>
          </a:prstGeom>
        </p:spPr>
      </p:pic>
      <p:sp>
        <p:nvSpPr>
          <p:cNvPr name="Freeform 11" id="11"/>
          <p:cNvSpPr/>
          <p:nvPr/>
        </p:nvSpPr>
        <p:spPr>
          <a:xfrm flipH="false" flipV="false" rot="0">
            <a:off x="487324" y="4262269"/>
            <a:ext cx="7568319" cy="4995091"/>
          </a:xfrm>
          <a:custGeom>
            <a:avLst/>
            <a:gdLst/>
            <a:ahLst/>
            <a:cxnLst/>
            <a:rect r="r" b="b" t="t" l="l"/>
            <a:pathLst>
              <a:path h="4995091" w="7568319">
                <a:moveTo>
                  <a:pt x="0" y="0"/>
                </a:moveTo>
                <a:lnTo>
                  <a:pt x="7568319" y="0"/>
                </a:lnTo>
                <a:lnTo>
                  <a:pt x="7568319" y="4995090"/>
                </a:lnTo>
                <a:lnTo>
                  <a:pt x="0" y="4995090"/>
                </a:lnTo>
                <a:lnTo>
                  <a:pt x="0" y="0"/>
                </a:lnTo>
                <a:close/>
              </a:path>
            </a:pathLst>
          </a:custGeom>
          <a:blipFill>
            <a:blip r:embed="rId7"/>
            <a:stretch>
              <a:fillRect l="0" t="0" r="0" b="0"/>
            </a:stretch>
          </a:blipFill>
        </p:spPr>
      </p:sp>
      <p:sp>
        <p:nvSpPr>
          <p:cNvPr name="TextBox 12" id="12"/>
          <p:cNvSpPr txBox="true"/>
          <p:nvPr/>
        </p:nvSpPr>
        <p:spPr>
          <a:xfrm rot="0">
            <a:off x="1697927" y="2825912"/>
            <a:ext cx="14496975" cy="67564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a:t>
            </a:r>
            <a:r>
              <a:rPr lang="en-US" sz="1899">
                <a:solidFill>
                  <a:srgbClr val="FFFFFF"/>
                </a:solidFill>
                <a:latin typeface="Poppins"/>
                <a:ea typeface="Poppins"/>
                <a:cs typeface="Poppins"/>
                <a:sym typeface="Poppins"/>
              </a:rPr>
              <a:t>s un patrón de diseño de comportamiento que te permite definir una familia de algoritmos, colocar cada uno de ellos en una clase separada y hacer sus objetos intercambiables.</a:t>
            </a:r>
          </a:p>
        </p:txBody>
      </p:sp>
      <p:sp>
        <p:nvSpPr>
          <p:cNvPr name="TextBox 13" id="13"/>
          <p:cNvSpPr txBox="true"/>
          <p:nvPr/>
        </p:nvSpPr>
        <p:spPr>
          <a:xfrm rot="0">
            <a:off x="9354391" y="4443730"/>
            <a:ext cx="8448277" cy="1342390"/>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El patrón Strategy sugiere que tomes esa clase que hace algo específico de muchas formas diferentes y extraigas todos esos algoritmos para colocarlos en clases separadas llamadas estrategias.</a:t>
            </a:r>
          </a:p>
        </p:txBody>
      </p:sp>
      <p:sp>
        <p:nvSpPr>
          <p:cNvPr name="TextBox 14" id="14"/>
          <p:cNvSpPr txBox="true"/>
          <p:nvPr/>
        </p:nvSpPr>
        <p:spPr>
          <a:xfrm rot="0">
            <a:off x="9496425" y="6316127"/>
            <a:ext cx="8183658" cy="10090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Utiliza el patrón Strategy cuando quieras utiliza distintas variantes de un algoritmo dentro de un objeto y poder cambiar de un algoritmo a otro durante el tiempo de ejecución.</a:t>
            </a:r>
          </a:p>
        </p:txBody>
      </p:sp>
      <p:sp>
        <p:nvSpPr>
          <p:cNvPr name="TextBox 15" id="15"/>
          <p:cNvSpPr txBox="true"/>
          <p:nvPr/>
        </p:nvSpPr>
        <p:spPr>
          <a:xfrm rot="0">
            <a:off x="10408105" y="8355392"/>
            <a:ext cx="6360298" cy="10090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Poppins"/>
                <a:ea typeface="Poppins"/>
                <a:cs typeface="Poppins"/>
                <a:sym typeface="Poppins"/>
              </a:rPr>
              <a:t>Utiliza el patrón Strategy cuando tengas muchas clases similares que sólo se diferencien en la forma en que ejecutan cierto comportamiento.</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315746" y="1747476"/>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COMO IMPLEMENTARLO</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5506849" y="2975289"/>
            <a:ext cx="7274302" cy="6119507"/>
          </a:xfrm>
          <a:custGeom>
            <a:avLst/>
            <a:gdLst/>
            <a:ahLst/>
            <a:cxnLst/>
            <a:rect r="r" b="b" t="t" l="l"/>
            <a:pathLst>
              <a:path h="6119507" w="7274302">
                <a:moveTo>
                  <a:pt x="0" y="0"/>
                </a:moveTo>
                <a:lnTo>
                  <a:pt x="7274302" y="0"/>
                </a:lnTo>
                <a:lnTo>
                  <a:pt x="7274302" y="6119506"/>
                </a:lnTo>
                <a:lnTo>
                  <a:pt x="0" y="6119506"/>
                </a:lnTo>
                <a:lnTo>
                  <a:pt x="0" y="0"/>
                </a:lnTo>
                <a:close/>
              </a:path>
            </a:pathLst>
          </a:custGeom>
          <a:blipFill>
            <a:blip r:embed="rId4"/>
            <a:stretch>
              <a:fillRect l="0" t="0" r="0" b="0"/>
            </a:stretch>
          </a:blipFill>
        </p:spPr>
      </p:sp>
      <p:sp>
        <p:nvSpPr>
          <p:cNvPr name="TextBox 9" id="9"/>
          <p:cNvSpPr txBox="true"/>
          <p:nvPr/>
        </p:nvSpPr>
        <p:spPr>
          <a:xfrm rot="0">
            <a:off x="904199" y="2918139"/>
            <a:ext cx="4843397" cy="1675765"/>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La clase Contexto mantiene una referencia a una de las estrategias concretas y se comunica con este objeto únicamente a través de la interfaz estrategia.</a:t>
            </a:r>
          </a:p>
        </p:txBody>
      </p:sp>
      <p:sp>
        <p:nvSpPr>
          <p:cNvPr name="TextBox 10" id="10"/>
          <p:cNvSpPr txBox="true"/>
          <p:nvPr/>
        </p:nvSpPr>
        <p:spPr>
          <a:xfrm rot="0">
            <a:off x="13190988" y="2804467"/>
            <a:ext cx="4843397" cy="1675765"/>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La interfaz Estrategia es común a todas las estrategias concretas. Declara un método que la clase contexto utiliza para ejecutar una estrategia.</a:t>
            </a:r>
          </a:p>
        </p:txBody>
      </p:sp>
      <p:sp>
        <p:nvSpPr>
          <p:cNvPr name="TextBox 11" id="11"/>
          <p:cNvSpPr txBox="true"/>
          <p:nvPr/>
        </p:nvSpPr>
        <p:spPr>
          <a:xfrm rot="0">
            <a:off x="13190988" y="5511156"/>
            <a:ext cx="4843397" cy="1342390"/>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Las Estrategias Concretas implementan distintas variaciones de un algoritmo que la clase contexto utiliza.</a:t>
            </a:r>
          </a:p>
        </p:txBody>
      </p:sp>
      <p:sp>
        <p:nvSpPr>
          <p:cNvPr name="TextBox 12" id="12"/>
          <p:cNvSpPr txBox="true"/>
          <p:nvPr/>
        </p:nvSpPr>
        <p:spPr>
          <a:xfrm rot="0">
            <a:off x="10061836" y="7943112"/>
            <a:ext cx="6120541" cy="2009140"/>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La clase contexto invoca el método de ejecución en el objeto de estrategia vinculado cada vez que necesita ejecutar el algoritmo. La clase contexto no sabe con qué tipo de estrategia funciona o cómo se ejecuta el algoritmo.</a:t>
            </a:r>
          </a:p>
        </p:txBody>
      </p:sp>
      <p:sp>
        <p:nvSpPr>
          <p:cNvPr name="TextBox 13" id="13"/>
          <p:cNvSpPr txBox="true"/>
          <p:nvPr/>
        </p:nvSpPr>
        <p:spPr>
          <a:xfrm rot="0">
            <a:off x="1206637" y="6582410"/>
            <a:ext cx="4540958" cy="2675890"/>
          </a:xfrm>
          <a:prstGeom prst="rect">
            <a:avLst/>
          </a:prstGeom>
        </p:spPr>
        <p:txBody>
          <a:bodyPr anchor="t" rtlCol="false" tIns="0" lIns="0" bIns="0" rIns="0">
            <a:spAutoFit/>
          </a:bodyPr>
          <a:lstStyle/>
          <a:p>
            <a:pPr algn="ctr" marL="410209" indent="-205105" lvl="1">
              <a:lnSpc>
                <a:spcPts val="2659"/>
              </a:lnSpc>
              <a:spcBef>
                <a:spcPct val="0"/>
              </a:spcBef>
              <a:buAutoNum type="arabicPeriod" startAt="1"/>
            </a:pPr>
            <a:r>
              <a:rPr lang="en-US" sz="1899">
                <a:solidFill>
                  <a:srgbClr val="FFFFFF"/>
                </a:solidFill>
                <a:latin typeface="Poppins"/>
                <a:ea typeface="Poppins"/>
                <a:cs typeface="Poppins"/>
                <a:sym typeface="Poppins"/>
              </a:rPr>
              <a:t>El Cliente crea un objeto de estrategia específico y lo pasa a la clase contexto. La clase contexto expone un modificador set que permite a los clientes sustituir la estrategia asociada al contexto durante el tiempo de ejecución.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#11</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1584014" y="2983328"/>
            <a:ext cx="4205689" cy="1987188"/>
          </a:xfrm>
          <a:custGeom>
            <a:avLst/>
            <a:gdLst/>
            <a:ahLst/>
            <a:cxnLst/>
            <a:rect r="r" b="b" t="t" l="l"/>
            <a:pathLst>
              <a:path h="1987188" w="4205689">
                <a:moveTo>
                  <a:pt x="0" y="0"/>
                </a:moveTo>
                <a:lnTo>
                  <a:pt x="4205689" y="0"/>
                </a:lnTo>
                <a:lnTo>
                  <a:pt x="4205689" y="1987188"/>
                </a:lnTo>
                <a:lnTo>
                  <a:pt x="0" y="19871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7330934" y="4751466"/>
            <a:ext cx="10416888" cy="3268298"/>
          </a:xfrm>
          <a:custGeom>
            <a:avLst/>
            <a:gdLst/>
            <a:ahLst/>
            <a:cxnLst/>
            <a:rect r="r" b="b" t="t" l="l"/>
            <a:pathLst>
              <a:path h="3268298" w="10416888">
                <a:moveTo>
                  <a:pt x="0" y="0"/>
                </a:moveTo>
                <a:lnTo>
                  <a:pt x="10416888" y="0"/>
                </a:lnTo>
                <a:lnTo>
                  <a:pt x="10416888" y="3268298"/>
                </a:lnTo>
                <a:lnTo>
                  <a:pt x="0" y="3268298"/>
                </a:lnTo>
                <a:lnTo>
                  <a:pt x="0" y="0"/>
                </a:lnTo>
                <a:close/>
              </a:path>
            </a:pathLst>
          </a:custGeom>
          <a:blipFill>
            <a:blip r:embed="rId6"/>
            <a:stretch>
              <a:fillRect l="0" t="0" r="0" b="0"/>
            </a:stretch>
          </a:blipFill>
        </p:spPr>
      </p:sp>
      <p:sp>
        <p:nvSpPr>
          <p:cNvPr name="TextBox 10" id="10"/>
          <p:cNvSpPr txBox="true"/>
          <p:nvPr/>
        </p:nvSpPr>
        <p:spPr>
          <a:xfrm rot="0">
            <a:off x="1028700" y="5564482"/>
            <a:ext cx="6178068" cy="2342515"/>
          </a:xfrm>
          <a:prstGeom prst="rect">
            <a:avLst/>
          </a:prstGeom>
        </p:spPr>
        <p:txBody>
          <a:bodyPr anchor="t" rtlCol="false" tIns="0" lIns="0" bIns="0" rIns="0">
            <a:spAutoFit/>
          </a:bodyPr>
          <a:lstStyle/>
          <a:p>
            <a:pPr algn="l">
              <a:lnSpc>
                <a:spcPts val="2659"/>
              </a:lnSpc>
              <a:spcBef>
                <a:spcPct val="0"/>
              </a:spcBef>
            </a:pPr>
            <a:r>
              <a:rPr lang="en-US" sz="1899">
                <a:solidFill>
                  <a:srgbClr val="FFFFFF"/>
                </a:solidFill>
                <a:latin typeface="Poppins"/>
                <a:ea typeface="Poppins"/>
                <a:cs typeface="Poppins"/>
                <a:sym typeface="Poppins"/>
              </a:rPr>
              <a:t>Una aplicación de navegación puede calcular rutas de distintas maneras.</a:t>
            </a:r>
          </a:p>
          <a:p>
            <a:pPr algn="l">
              <a:lnSpc>
                <a:spcPts val="2659"/>
              </a:lnSpc>
              <a:spcBef>
                <a:spcPct val="0"/>
              </a:spcBef>
            </a:pPr>
            <a:r>
              <a:rPr lang="en-US" sz="1899">
                <a:solidFill>
                  <a:srgbClr val="FFFFFF"/>
                </a:solidFill>
                <a:latin typeface="Poppins"/>
                <a:ea typeface="Poppins"/>
                <a:cs typeface="Poppins"/>
                <a:sym typeface="Poppins"/>
              </a:rPr>
              <a:t> El algoritmo de cálculo de ruta no debe estar acoplado a la aplicación, ya que puede cambiar según la preferencia del usuario.</a:t>
            </a:r>
          </a:p>
          <a:p>
            <a:pPr algn="l">
              <a:lnSpc>
                <a:spcPts val="2659"/>
              </a:lnSpc>
              <a:spcBef>
                <a:spcPct val="0"/>
              </a:spcBef>
            </a:pPr>
            <a:r>
              <a:rPr lang="en-US" sz="1899">
                <a:solidFill>
                  <a:srgbClr val="FFFFFF"/>
                </a:solidFill>
                <a:latin typeface="Poppins"/>
                <a:ea typeface="Poppins"/>
                <a:cs typeface="Poppins"/>
                <a:sym typeface="Poppins"/>
              </a:rPr>
              <a:t>Permitir cambiar cómo se calcula la ruta sin modificar la app.</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52679" y="2067594"/>
            <a:ext cx="7875242" cy="615367"/>
          </a:xfrm>
          <a:prstGeom prst="rect">
            <a:avLst/>
          </a:prstGeom>
        </p:spPr>
        <p:txBody>
          <a:bodyPr anchor="t" rtlCol="false" tIns="0" lIns="0" bIns="0" rIns="0">
            <a:spAutoFit/>
          </a:bodyPr>
          <a:lstStyle/>
          <a:p>
            <a:pPr algn="ctr">
              <a:lnSpc>
                <a:spcPts val="5045"/>
              </a:lnSpc>
              <a:spcBef>
                <a:spcPct val="0"/>
              </a:spcBef>
            </a:pPr>
            <a:r>
              <a:rPr lang="en-US" sz="3604">
                <a:solidFill>
                  <a:srgbClr val="99C5FF"/>
                </a:solidFill>
                <a:latin typeface="HK Modular"/>
                <a:ea typeface="HK Modular"/>
                <a:cs typeface="HK Modular"/>
                <a:sym typeface="HK Modular"/>
              </a:rPr>
              <a:t>EJERCICIO #12</a:t>
            </a:r>
          </a:p>
        </p:txBody>
      </p:sp>
      <p:sp>
        <p:nvSpPr>
          <p:cNvPr name="Freeform 7" id="7"/>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
        <p:nvSpPr>
          <p:cNvPr name="Freeform 8" id="8"/>
          <p:cNvSpPr/>
          <p:nvPr/>
        </p:nvSpPr>
        <p:spPr>
          <a:xfrm flipH="false" flipV="false" rot="0">
            <a:off x="2481652" y="4199345"/>
            <a:ext cx="4592367" cy="5218598"/>
          </a:xfrm>
          <a:custGeom>
            <a:avLst/>
            <a:gdLst/>
            <a:ahLst/>
            <a:cxnLst/>
            <a:rect r="r" b="b" t="t" l="l"/>
            <a:pathLst>
              <a:path h="5218598" w="4592367">
                <a:moveTo>
                  <a:pt x="0" y="0"/>
                </a:moveTo>
                <a:lnTo>
                  <a:pt x="4592367" y="0"/>
                </a:lnTo>
                <a:lnTo>
                  <a:pt x="4592367" y="5218598"/>
                </a:lnTo>
                <a:lnTo>
                  <a:pt x="0" y="5218598"/>
                </a:lnTo>
                <a:lnTo>
                  <a:pt x="0" y="0"/>
                </a:lnTo>
                <a:close/>
              </a:path>
            </a:pathLst>
          </a:custGeom>
          <a:blipFill>
            <a:blip r:embed="rId4"/>
            <a:stretch>
              <a:fillRect l="0" t="0" r="0" b="0"/>
            </a:stretch>
          </a:blipFill>
        </p:spPr>
      </p:sp>
      <p:sp>
        <p:nvSpPr>
          <p:cNvPr name="Freeform 9" id="9"/>
          <p:cNvSpPr/>
          <p:nvPr/>
        </p:nvSpPr>
        <p:spPr>
          <a:xfrm flipH="false" flipV="false" rot="0">
            <a:off x="7834536" y="4305436"/>
            <a:ext cx="9270557" cy="5006417"/>
          </a:xfrm>
          <a:custGeom>
            <a:avLst/>
            <a:gdLst/>
            <a:ahLst/>
            <a:cxnLst/>
            <a:rect r="r" b="b" t="t" l="l"/>
            <a:pathLst>
              <a:path h="5006417" w="9270557">
                <a:moveTo>
                  <a:pt x="0" y="0"/>
                </a:moveTo>
                <a:lnTo>
                  <a:pt x="9270557" y="0"/>
                </a:lnTo>
                <a:lnTo>
                  <a:pt x="9270557" y="5006416"/>
                </a:lnTo>
                <a:lnTo>
                  <a:pt x="0" y="5006416"/>
                </a:lnTo>
                <a:lnTo>
                  <a:pt x="0" y="0"/>
                </a:lnTo>
                <a:close/>
              </a:path>
            </a:pathLst>
          </a:custGeom>
          <a:blipFill>
            <a:blip r:embed="rId5"/>
            <a:stretch>
              <a:fillRect l="0" t="0" r="0" b="0"/>
            </a:stretch>
          </a:blipFill>
        </p:spPr>
      </p:sp>
      <p:sp>
        <p:nvSpPr>
          <p:cNvPr name="TextBox 10" id="10"/>
          <p:cNvSpPr txBox="true"/>
          <p:nvPr/>
        </p:nvSpPr>
        <p:spPr>
          <a:xfrm rot="0">
            <a:off x="1083578" y="3121522"/>
            <a:ext cx="16613442" cy="466483"/>
          </a:xfrm>
          <a:prstGeom prst="rect">
            <a:avLst/>
          </a:prstGeom>
        </p:spPr>
        <p:txBody>
          <a:bodyPr anchor="t" rtlCol="false" tIns="0" lIns="0" bIns="0" rIns="0">
            <a:spAutoFit/>
          </a:bodyPr>
          <a:lstStyle/>
          <a:p>
            <a:pPr algn="ctr">
              <a:lnSpc>
                <a:spcPts val="3688"/>
              </a:lnSpc>
              <a:spcBef>
                <a:spcPct val="0"/>
              </a:spcBef>
            </a:pPr>
            <a:r>
              <a:rPr lang="en-US" sz="2634">
                <a:solidFill>
                  <a:srgbClr val="FFFFFF"/>
                </a:solidFill>
                <a:latin typeface="Poppins"/>
                <a:ea typeface="Poppins"/>
                <a:cs typeface="Poppins"/>
                <a:sym typeface="Poppins"/>
              </a:rPr>
              <a:t>En codigo deben ejecutarlo desde una clase de la siguiente manera para validar su solucion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754272" y="3961382"/>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7B640E"/>
                </a:solidFill>
                <a:latin typeface="HK Modular"/>
                <a:ea typeface="HK Modular"/>
                <a:cs typeface="HK Modular"/>
                <a:sym typeface="HK Modular"/>
              </a:rPr>
              <a:t>HACKATON SESION 2</a:t>
            </a:r>
          </a:p>
        </p:txBody>
      </p:sp>
      <p:sp>
        <p:nvSpPr>
          <p:cNvPr name="TextBox 13" id="13"/>
          <p:cNvSpPr txBox="true"/>
          <p:nvPr/>
        </p:nvSpPr>
        <p:spPr>
          <a:xfrm rot="0">
            <a:off x="2754272" y="6131427"/>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99C5FF"/>
                </a:solidFill>
                <a:latin typeface="HK Modular"/>
                <a:ea typeface="HK Modular"/>
                <a:cs typeface="HK Modular"/>
                <a:sym typeface="HK Modular"/>
              </a:rPr>
              <a:t>2 HORAS</a:t>
            </a:r>
          </a:p>
        </p:txBody>
      </p:sp>
      <p:sp>
        <p:nvSpPr>
          <p:cNvPr name="Freeform 14" id="14"/>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719253" y="1810333"/>
            <a:ext cx="13296149" cy="1034638"/>
          </a:xfrm>
          <a:prstGeom prst="rect">
            <a:avLst/>
          </a:prstGeom>
        </p:spPr>
        <p:txBody>
          <a:bodyPr anchor="t" rtlCol="false" tIns="0" lIns="0" bIns="0" rIns="0">
            <a:spAutoFit/>
          </a:bodyPr>
          <a:lstStyle/>
          <a:p>
            <a:pPr algn="ctr">
              <a:lnSpc>
                <a:spcPts val="8072"/>
              </a:lnSpc>
              <a:spcBef>
                <a:spcPct val="0"/>
              </a:spcBef>
            </a:pPr>
            <a:r>
              <a:rPr lang="en-US" b="true" sz="5766">
                <a:solidFill>
                  <a:srgbClr val="7B640E"/>
                </a:solidFill>
                <a:latin typeface="Poppins Bold"/>
                <a:ea typeface="Poppins Bold"/>
                <a:cs typeface="Poppins Bold"/>
                <a:sym typeface="Poppins Bold"/>
              </a:rPr>
              <a:t>LABORATORIO 2</a:t>
            </a:r>
          </a:p>
        </p:txBody>
      </p:sp>
      <p:grpSp>
        <p:nvGrpSpPr>
          <p:cNvPr name="Group 7" id="7"/>
          <p:cNvGrpSpPr/>
          <p:nvPr/>
        </p:nvGrpSpPr>
        <p:grpSpPr>
          <a:xfrm rot="0">
            <a:off x="10454289" y="6123402"/>
            <a:ext cx="968622" cy="367920"/>
            <a:chOff x="0" y="0"/>
            <a:chExt cx="255110" cy="96901"/>
          </a:xfrm>
        </p:grpSpPr>
        <p:sp>
          <p:nvSpPr>
            <p:cNvPr name="Freeform 8" id="8"/>
            <p:cNvSpPr/>
            <p:nvPr/>
          </p:nvSpPr>
          <p:spPr>
            <a:xfrm flipH="false" flipV="false" rot="0">
              <a:off x="0" y="0"/>
              <a:ext cx="255110" cy="96901"/>
            </a:xfrm>
            <a:custGeom>
              <a:avLst/>
              <a:gdLst/>
              <a:ahLst/>
              <a:cxnLst/>
              <a:rect r="r" b="b" t="t" l="l"/>
              <a:pathLst>
                <a:path h="96901" w="255110">
                  <a:moveTo>
                    <a:pt x="0" y="0"/>
                  </a:moveTo>
                  <a:lnTo>
                    <a:pt x="255110" y="0"/>
                  </a:lnTo>
                  <a:lnTo>
                    <a:pt x="255110" y="96901"/>
                  </a:lnTo>
                  <a:lnTo>
                    <a:pt x="0" y="96901"/>
                  </a:lnTo>
                  <a:close/>
                </a:path>
              </a:pathLst>
            </a:custGeom>
          </p:spPr>
        </p:sp>
        <p:sp>
          <p:nvSpPr>
            <p:cNvPr name="TextBox 9" id="9"/>
            <p:cNvSpPr txBox="true"/>
            <p:nvPr/>
          </p:nvSpPr>
          <p:spPr>
            <a:xfrm>
              <a:off x="0" y="-38100"/>
              <a:ext cx="255110" cy="135001"/>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3703915"/>
            <a:ext cx="7405131" cy="441748"/>
          </a:xfrm>
          <a:prstGeom prst="rect">
            <a:avLst/>
          </a:prstGeom>
        </p:spPr>
        <p:txBody>
          <a:bodyPr anchor="t" rtlCol="false" tIns="0" lIns="0" bIns="0" rIns="0">
            <a:spAutoFit/>
          </a:bodyPr>
          <a:lstStyle/>
          <a:p>
            <a:pPr algn="ctr">
              <a:lnSpc>
                <a:spcPts val="3476"/>
              </a:lnSpc>
              <a:spcBef>
                <a:spcPct val="0"/>
              </a:spcBef>
            </a:pPr>
            <a:r>
              <a:rPr lang="en-US" sz="2483">
                <a:solidFill>
                  <a:srgbClr val="FFFFFF"/>
                </a:solidFill>
                <a:latin typeface="Poppins"/>
                <a:ea typeface="Poppins"/>
                <a:cs typeface="Poppins"/>
                <a:sym typeface="Poppins"/>
              </a:rPr>
              <a:t>Reto</a:t>
            </a:r>
          </a:p>
        </p:txBody>
      </p:sp>
      <p:sp>
        <p:nvSpPr>
          <p:cNvPr name="TextBox 11" id="11"/>
          <p:cNvSpPr txBox="true"/>
          <p:nvPr/>
        </p:nvSpPr>
        <p:spPr>
          <a:xfrm rot="0">
            <a:off x="1028700" y="4658459"/>
            <a:ext cx="7405131" cy="398780"/>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FFFFFF"/>
                </a:solidFill>
                <a:latin typeface="Poppins"/>
                <a:ea typeface="Poppins"/>
                <a:cs typeface="Poppins"/>
                <a:sym typeface="Poppins"/>
              </a:rPr>
              <a:t>RETO #1: El problema de la tienda de Don Pepe</a:t>
            </a:r>
          </a:p>
        </p:txBody>
      </p:sp>
      <p:sp>
        <p:nvSpPr>
          <p:cNvPr name="TextBox 12" id="12"/>
          <p:cNvSpPr txBox="true"/>
          <p:nvPr/>
        </p:nvSpPr>
        <p:spPr>
          <a:xfrm rot="0">
            <a:off x="1028700" y="5176455"/>
            <a:ext cx="7405131" cy="398780"/>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FFFFFF"/>
                </a:solidFill>
                <a:latin typeface="Poppins"/>
                <a:ea typeface="Poppins"/>
                <a:cs typeface="Poppins"/>
                <a:sym typeface="Poppins"/>
              </a:rPr>
              <a:t>RETO #2: El chef de 5 estrellas</a:t>
            </a:r>
          </a:p>
        </p:txBody>
      </p:sp>
      <p:sp>
        <p:nvSpPr>
          <p:cNvPr name="TextBox 13" id="13"/>
          <p:cNvSpPr txBox="true"/>
          <p:nvPr/>
        </p:nvSpPr>
        <p:spPr>
          <a:xfrm rot="0">
            <a:off x="1028700" y="5699061"/>
            <a:ext cx="7405131" cy="398780"/>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FFFFFF"/>
                </a:solidFill>
                <a:latin typeface="Poppins"/>
                <a:ea typeface="Poppins"/>
                <a:cs typeface="Poppins"/>
                <a:sym typeface="Poppins"/>
              </a:rPr>
              <a:t>RETO #3: El Reino de los Vehículos</a:t>
            </a:r>
          </a:p>
        </p:txBody>
      </p:sp>
      <p:sp>
        <p:nvSpPr>
          <p:cNvPr name="TextBox 14" id="14"/>
          <p:cNvSpPr txBox="true"/>
          <p:nvPr/>
        </p:nvSpPr>
        <p:spPr>
          <a:xfrm rot="0">
            <a:off x="1028700" y="6221666"/>
            <a:ext cx="7405131" cy="398780"/>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FFFFFF"/>
                </a:solidFill>
                <a:latin typeface="Poppins"/>
                <a:ea typeface="Poppins"/>
                <a:cs typeface="Poppins"/>
                <a:sym typeface="Poppins"/>
              </a:rPr>
              <a:t>RETO #4: La Estafa de la Casa de Cambio</a:t>
            </a:r>
          </a:p>
        </p:txBody>
      </p:sp>
      <p:sp>
        <p:nvSpPr>
          <p:cNvPr name="TextBox 15" id="15"/>
          <p:cNvSpPr txBox="true"/>
          <p:nvPr/>
        </p:nvSpPr>
        <p:spPr>
          <a:xfrm rot="0">
            <a:off x="1028700" y="6744271"/>
            <a:ext cx="7405131" cy="398780"/>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FFFFFF"/>
                </a:solidFill>
                <a:latin typeface="Poppins"/>
                <a:ea typeface="Poppins"/>
                <a:cs typeface="Poppins"/>
                <a:sym typeface="Poppins"/>
              </a:rPr>
              <a:t>RETO #5: El Café Personalizado</a:t>
            </a:r>
          </a:p>
        </p:txBody>
      </p:sp>
      <p:sp>
        <p:nvSpPr>
          <p:cNvPr name="TextBox 16" id="16"/>
          <p:cNvSpPr txBox="true"/>
          <p:nvPr/>
        </p:nvSpPr>
        <p:spPr>
          <a:xfrm rot="0">
            <a:off x="1028700" y="7266877"/>
            <a:ext cx="7405131" cy="398780"/>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FFFFFF"/>
                </a:solidFill>
                <a:latin typeface="Poppins"/>
                <a:ea typeface="Poppins"/>
                <a:cs typeface="Poppins"/>
                <a:sym typeface="Poppins"/>
              </a:rPr>
              <a:t>RETO #6: Habla con Soporte Técnico</a:t>
            </a:r>
          </a:p>
        </p:txBody>
      </p:sp>
      <p:sp>
        <p:nvSpPr>
          <p:cNvPr name="TextBox 17" id="17"/>
          <p:cNvSpPr txBox="true"/>
          <p:nvPr/>
        </p:nvSpPr>
        <p:spPr>
          <a:xfrm rot="0">
            <a:off x="1028700" y="7789482"/>
            <a:ext cx="7405131" cy="398780"/>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FFFFFF"/>
                </a:solidFill>
                <a:latin typeface="Poppins"/>
                <a:ea typeface="Poppins"/>
                <a:cs typeface="Poppins"/>
                <a:sym typeface="Poppins"/>
              </a:rPr>
              <a:t>RETO #7: El control remoto Mágico</a:t>
            </a:r>
          </a:p>
        </p:txBody>
      </p:sp>
      <p:sp>
        <p:nvSpPr>
          <p:cNvPr name="TextBox 18" id="18"/>
          <p:cNvSpPr txBox="true"/>
          <p:nvPr/>
        </p:nvSpPr>
        <p:spPr>
          <a:xfrm rot="0">
            <a:off x="8669849" y="3703915"/>
            <a:ext cx="2869786" cy="441748"/>
          </a:xfrm>
          <a:prstGeom prst="rect">
            <a:avLst/>
          </a:prstGeom>
        </p:spPr>
        <p:txBody>
          <a:bodyPr anchor="t" rtlCol="false" tIns="0" lIns="0" bIns="0" rIns="0">
            <a:spAutoFit/>
          </a:bodyPr>
          <a:lstStyle/>
          <a:p>
            <a:pPr algn="ctr">
              <a:lnSpc>
                <a:spcPts val="3476"/>
              </a:lnSpc>
              <a:spcBef>
                <a:spcPct val="0"/>
              </a:spcBef>
            </a:pPr>
            <a:r>
              <a:rPr lang="en-US" sz="2483">
                <a:solidFill>
                  <a:srgbClr val="FFFFFF"/>
                </a:solidFill>
                <a:latin typeface="Poppins"/>
                <a:ea typeface="Poppins"/>
                <a:cs typeface="Poppins"/>
                <a:sym typeface="Poppins"/>
              </a:rPr>
              <a:t>¿Creación?</a:t>
            </a:r>
          </a:p>
        </p:txBody>
      </p:sp>
      <p:sp>
        <p:nvSpPr>
          <p:cNvPr name="TextBox 19" id="19"/>
          <p:cNvSpPr txBox="true"/>
          <p:nvPr/>
        </p:nvSpPr>
        <p:spPr>
          <a:xfrm rot="0">
            <a:off x="11368896" y="3703915"/>
            <a:ext cx="2869786" cy="441748"/>
          </a:xfrm>
          <a:prstGeom prst="rect">
            <a:avLst/>
          </a:prstGeom>
        </p:spPr>
        <p:txBody>
          <a:bodyPr anchor="t" rtlCol="false" tIns="0" lIns="0" bIns="0" rIns="0">
            <a:spAutoFit/>
          </a:bodyPr>
          <a:lstStyle/>
          <a:p>
            <a:pPr algn="ctr">
              <a:lnSpc>
                <a:spcPts val="3476"/>
              </a:lnSpc>
              <a:spcBef>
                <a:spcPct val="0"/>
              </a:spcBef>
            </a:pPr>
            <a:r>
              <a:rPr lang="en-US" sz="2483">
                <a:solidFill>
                  <a:srgbClr val="FFFFFF"/>
                </a:solidFill>
                <a:latin typeface="Poppins"/>
                <a:ea typeface="Poppins"/>
                <a:cs typeface="Poppins"/>
                <a:sym typeface="Poppins"/>
              </a:rPr>
              <a:t>¿Estructura?</a:t>
            </a:r>
          </a:p>
        </p:txBody>
      </p:sp>
      <p:sp>
        <p:nvSpPr>
          <p:cNvPr name="TextBox 20" id="20"/>
          <p:cNvSpPr txBox="true"/>
          <p:nvPr/>
        </p:nvSpPr>
        <p:spPr>
          <a:xfrm rot="0">
            <a:off x="14238683" y="3703915"/>
            <a:ext cx="3278651" cy="441748"/>
          </a:xfrm>
          <a:prstGeom prst="rect">
            <a:avLst/>
          </a:prstGeom>
        </p:spPr>
        <p:txBody>
          <a:bodyPr anchor="t" rtlCol="false" tIns="0" lIns="0" bIns="0" rIns="0">
            <a:spAutoFit/>
          </a:bodyPr>
          <a:lstStyle/>
          <a:p>
            <a:pPr algn="ctr">
              <a:lnSpc>
                <a:spcPts val="3476"/>
              </a:lnSpc>
              <a:spcBef>
                <a:spcPct val="0"/>
              </a:spcBef>
            </a:pPr>
            <a:r>
              <a:rPr lang="en-US" sz="2483">
                <a:solidFill>
                  <a:srgbClr val="FFFFFF"/>
                </a:solidFill>
                <a:latin typeface="Poppins"/>
                <a:ea typeface="Poppins"/>
                <a:cs typeface="Poppins"/>
                <a:sym typeface="Poppins"/>
              </a:rPr>
              <a:t>¿Comportamiento?</a:t>
            </a:r>
          </a:p>
        </p:txBody>
      </p:sp>
      <p:sp>
        <p:nvSpPr>
          <p:cNvPr name="Freeform 21" id="21"/>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3"/>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5400000">
            <a:off x="3940201" y="-7697568"/>
            <a:ext cx="10626331" cy="19778728"/>
            <a:chOff x="0" y="0"/>
            <a:chExt cx="2798705" cy="5209212"/>
          </a:xfrm>
        </p:grpSpPr>
        <p:sp>
          <p:nvSpPr>
            <p:cNvPr name="Freeform 4" id="4"/>
            <p:cNvSpPr/>
            <p:nvPr/>
          </p:nvSpPr>
          <p:spPr>
            <a:xfrm flipH="false" flipV="false" rot="0">
              <a:off x="0" y="0"/>
              <a:ext cx="2798705" cy="5209212"/>
            </a:xfrm>
            <a:custGeom>
              <a:avLst/>
              <a:gdLst/>
              <a:ahLst/>
              <a:cxnLst/>
              <a:rect r="r" b="b" t="t" l="l"/>
              <a:pathLst>
                <a:path h="5209212" w="2798705">
                  <a:moveTo>
                    <a:pt x="0" y="0"/>
                  </a:moveTo>
                  <a:lnTo>
                    <a:pt x="2798705" y="0"/>
                  </a:lnTo>
                  <a:lnTo>
                    <a:pt x="2798705" y="5209212"/>
                  </a:lnTo>
                  <a:lnTo>
                    <a:pt x="0" y="5209212"/>
                  </a:lnTo>
                  <a:close/>
                </a:path>
              </a:pathLst>
            </a:custGeom>
            <a:gradFill rotWithShape="true">
              <a:gsLst>
                <a:gs pos="0">
                  <a:srgbClr val="000000">
                    <a:alpha val="0"/>
                  </a:srgbClr>
                </a:gs>
                <a:gs pos="100000">
                  <a:srgbClr val="A67D00">
                    <a:alpha val="52000"/>
                  </a:srgbClr>
                </a:gs>
              </a:gsLst>
              <a:lin ang="0"/>
            </a:gradFill>
          </p:spPr>
        </p:sp>
        <p:sp>
          <p:nvSpPr>
            <p:cNvPr name="TextBox 5" id="5"/>
            <p:cNvSpPr txBox="true"/>
            <p:nvPr/>
          </p:nvSpPr>
          <p:spPr>
            <a:xfrm>
              <a:off x="0" y="-38100"/>
              <a:ext cx="2798705" cy="524731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874366" y="8434822"/>
            <a:ext cx="10731144" cy="4199330"/>
            <a:chOff x="0" y="0"/>
            <a:chExt cx="3083604" cy="1206681"/>
          </a:xfrm>
        </p:grpSpPr>
        <p:sp>
          <p:nvSpPr>
            <p:cNvPr name="Freeform 7" id="7"/>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8" id="8"/>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339501" y="-2648321"/>
            <a:ext cx="10731144" cy="4199330"/>
            <a:chOff x="0" y="0"/>
            <a:chExt cx="3083604" cy="1206681"/>
          </a:xfrm>
        </p:grpSpPr>
        <p:sp>
          <p:nvSpPr>
            <p:cNvPr name="Freeform 10" id="10"/>
            <p:cNvSpPr/>
            <p:nvPr/>
          </p:nvSpPr>
          <p:spPr>
            <a:xfrm flipH="false" flipV="false" rot="0">
              <a:off x="0" y="0"/>
              <a:ext cx="3083604" cy="1206681"/>
            </a:xfrm>
            <a:custGeom>
              <a:avLst/>
              <a:gdLst/>
              <a:ahLst/>
              <a:cxnLst/>
              <a:rect r="r" b="b" t="t" l="l"/>
              <a:pathLst>
                <a:path h="1206681" w="3083604">
                  <a:moveTo>
                    <a:pt x="20922" y="0"/>
                  </a:moveTo>
                  <a:lnTo>
                    <a:pt x="3062682" y="0"/>
                  </a:lnTo>
                  <a:cubicBezTo>
                    <a:pt x="3068231" y="0"/>
                    <a:pt x="3073553" y="2204"/>
                    <a:pt x="3077476" y="6128"/>
                  </a:cubicBezTo>
                  <a:cubicBezTo>
                    <a:pt x="3081400" y="10051"/>
                    <a:pt x="3083604" y="15373"/>
                    <a:pt x="3083604" y="20922"/>
                  </a:cubicBezTo>
                  <a:lnTo>
                    <a:pt x="3083604" y="1185759"/>
                  </a:lnTo>
                  <a:cubicBezTo>
                    <a:pt x="3083604" y="1191308"/>
                    <a:pt x="3081400" y="1196630"/>
                    <a:pt x="3077476" y="1200553"/>
                  </a:cubicBezTo>
                  <a:cubicBezTo>
                    <a:pt x="3073553" y="1204477"/>
                    <a:pt x="3068231" y="1206681"/>
                    <a:pt x="3062682" y="1206681"/>
                  </a:cubicBezTo>
                  <a:lnTo>
                    <a:pt x="20922" y="1206681"/>
                  </a:lnTo>
                  <a:cubicBezTo>
                    <a:pt x="15373" y="1206681"/>
                    <a:pt x="10051" y="1204477"/>
                    <a:pt x="6128" y="1200553"/>
                  </a:cubicBezTo>
                  <a:cubicBezTo>
                    <a:pt x="2204" y="1196630"/>
                    <a:pt x="0" y="1191308"/>
                    <a:pt x="0" y="1185759"/>
                  </a:cubicBezTo>
                  <a:lnTo>
                    <a:pt x="0" y="20922"/>
                  </a:lnTo>
                  <a:cubicBezTo>
                    <a:pt x="0" y="15373"/>
                    <a:pt x="2204" y="10051"/>
                    <a:pt x="6128" y="6128"/>
                  </a:cubicBezTo>
                  <a:cubicBezTo>
                    <a:pt x="10051" y="2204"/>
                    <a:pt x="15373" y="0"/>
                    <a:pt x="20922" y="0"/>
                  </a:cubicBezTo>
                  <a:close/>
                </a:path>
              </a:pathLst>
            </a:custGeom>
            <a:gradFill rotWithShape="true">
              <a:gsLst>
                <a:gs pos="0">
                  <a:srgbClr val="000000">
                    <a:alpha val="0"/>
                  </a:srgbClr>
                </a:gs>
                <a:gs pos="100000">
                  <a:srgbClr val="A67D00">
                    <a:alpha val="100000"/>
                  </a:srgbClr>
                </a:gs>
              </a:gsLst>
              <a:lin ang="0"/>
            </a:gradFill>
          </p:spPr>
        </p:sp>
        <p:sp>
          <p:nvSpPr>
            <p:cNvPr name="TextBox 11" id="11"/>
            <p:cNvSpPr txBox="true"/>
            <p:nvPr/>
          </p:nvSpPr>
          <p:spPr>
            <a:xfrm>
              <a:off x="0" y="-38100"/>
              <a:ext cx="3083604" cy="124478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5676229" y="4664058"/>
            <a:ext cx="10955440" cy="1611888"/>
          </a:xfrm>
          <a:prstGeom prst="rect">
            <a:avLst/>
          </a:prstGeom>
        </p:spPr>
        <p:txBody>
          <a:bodyPr anchor="t" rtlCol="false" tIns="0" lIns="0" bIns="0" rIns="0">
            <a:spAutoFit/>
          </a:bodyPr>
          <a:lstStyle/>
          <a:p>
            <a:pPr algn="ctr">
              <a:lnSpc>
                <a:spcPts val="6476"/>
              </a:lnSpc>
            </a:pPr>
            <a:r>
              <a:rPr lang="en-US" sz="4626">
                <a:solidFill>
                  <a:srgbClr val="7B640E"/>
                </a:solidFill>
                <a:latin typeface="HK Modular"/>
                <a:ea typeface="HK Modular"/>
                <a:cs typeface="HK Modular"/>
                <a:sym typeface="HK Modular"/>
              </a:rPr>
              <a:t>PROXIMA SESION TEORICA</a:t>
            </a:r>
          </a:p>
          <a:p>
            <a:pPr algn="ctr">
              <a:lnSpc>
                <a:spcPts val="6476"/>
              </a:lnSpc>
              <a:spcBef>
                <a:spcPct val="0"/>
              </a:spcBef>
            </a:pPr>
          </a:p>
        </p:txBody>
      </p:sp>
      <p:sp>
        <p:nvSpPr>
          <p:cNvPr name="TextBox 13" id="13"/>
          <p:cNvSpPr txBox="true"/>
          <p:nvPr/>
        </p:nvSpPr>
        <p:spPr>
          <a:xfrm rot="0">
            <a:off x="4375694" y="2910728"/>
            <a:ext cx="13556508" cy="1217902"/>
          </a:xfrm>
          <a:prstGeom prst="rect">
            <a:avLst/>
          </a:prstGeom>
        </p:spPr>
        <p:txBody>
          <a:bodyPr anchor="t" rtlCol="false" tIns="0" lIns="0" bIns="0" rIns="0">
            <a:spAutoFit/>
          </a:bodyPr>
          <a:lstStyle/>
          <a:p>
            <a:pPr algn="ctr">
              <a:lnSpc>
                <a:spcPts val="9973"/>
              </a:lnSpc>
              <a:spcBef>
                <a:spcPct val="0"/>
              </a:spcBef>
            </a:pPr>
            <a:r>
              <a:rPr lang="en-US" sz="7123">
                <a:solidFill>
                  <a:srgbClr val="99C5FF"/>
                </a:solidFill>
                <a:latin typeface="HK Modular"/>
                <a:ea typeface="HK Modular"/>
                <a:cs typeface="HK Modular"/>
                <a:sym typeface="HK Modular"/>
              </a:rPr>
              <a:t>NOS VEMOS EN LA </a:t>
            </a:r>
          </a:p>
        </p:txBody>
      </p:sp>
      <p:sp>
        <p:nvSpPr>
          <p:cNvPr name="Freeform 14" id="14"/>
          <p:cNvSpPr/>
          <p:nvPr/>
        </p:nvSpPr>
        <p:spPr>
          <a:xfrm flipH="false" flipV="false" rot="0">
            <a:off x="0" y="5621699"/>
            <a:ext cx="6220402" cy="4665301"/>
          </a:xfrm>
          <a:custGeom>
            <a:avLst/>
            <a:gdLst/>
            <a:ahLst/>
            <a:cxnLst/>
            <a:rect r="r" b="b" t="t" l="l"/>
            <a:pathLst>
              <a:path h="4665301" w="6220402">
                <a:moveTo>
                  <a:pt x="0" y="0"/>
                </a:moveTo>
                <a:lnTo>
                  <a:pt x="6220402" y="0"/>
                </a:lnTo>
                <a:lnTo>
                  <a:pt x="6220402" y="4665301"/>
                </a:lnTo>
                <a:lnTo>
                  <a:pt x="0" y="4665301"/>
                </a:lnTo>
                <a:lnTo>
                  <a:pt x="0" y="0"/>
                </a:lnTo>
                <a:close/>
              </a:path>
            </a:pathLst>
          </a:custGeom>
          <a:blipFill>
            <a:blip r:embed="rId3"/>
            <a:stretch>
              <a:fillRect l="0" t="0" r="0" b="0"/>
            </a:stretch>
          </a:blipFill>
        </p:spPr>
      </p:sp>
      <p:sp>
        <p:nvSpPr>
          <p:cNvPr name="Freeform 15" id="15"/>
          <p:cNvSpPr/>
          <p:nvPr/>
        </p:nvSpPr>
        <p:spPr>
          <a:xfrm flipH="false" flipV="false" rot="0">
            <a:off x="8179967" y="-351215"/>
            <a:ext cx="2759830" cy="2759830"/>
          </a:xfrm>
          <a:custGeom>
            <a:avLst/>
            <a:gdLst/>
            <a:ahLst/>
            <a:cxnLst/>
            <a:rect r="r" b="b" t="t" l="l"/>
            <a:pathLst>
              <a:path h="2759830" w="2759830">
                <a:moveTo>
                  <a:pt x="0" y="0"/>
                </a:moveTo>
                <a:lnTo>
                  <a:pt x="2759830" y="0"/>
                </a:lnTo>
                <a:lnTo>
                  <a:pt x="2759830" y="2759830"/>
                </a:lnTo>
                <a:lnTo>
                  <a:pt x="0" y="2759830"/>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DAGxClXj6Jk</dc:identifier>
  <dcterms:modified xsi:type="dcterms:W3CDTF">2011-08-01T06:04:30Z</dcterms:modified>
  <cp:revision>1</cp:revision>
  <dc:title>DOSW 201 - LAB 03</dc:title>
</cp:coreProperties>
</file>