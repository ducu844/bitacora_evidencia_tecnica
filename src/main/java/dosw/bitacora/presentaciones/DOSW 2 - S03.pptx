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HK Modular" charset="1" panose="00000800000000000000"/>
      <p:regular r:id="rId41"/>
    </p:embeddedFont>
    <p:embeddedFont>
      <p:font typeface="RQND Pro" charset="1" panose="00000500000000000000"/>
      <p:regular r:id="rId42"/>
    </p:embeddedFont>
    <p:embeddedFont>
      <p:font typeface="Poppins" charset="1" panose="00000500000000000000"/>
      <p:regular r:id="rId43"/>
    </p:embeddedFont>
    <p:embeddedFont>
      <p:font typeface="Arimo" charset="1" panose="020B0604020202020204"/>
      <p:regular r:id="rId44"/>
    </p:embeddedFont>
    <p:embeddedFont>
      <p:font typeface="Canva Sans" charset="1" panose="020B0503030501040103"/>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https://gitbybit.com/gitopedia/index" TargetMode="External" Type="http://schemas.openxmlformats.org/officeDocument/2006/relationships/hyperlink"/><Relationship Id="rId4" Target="../media/image5.png" Type="http://schemas.openxmlformats.org/officeDocument/2006/relationships/image"/><Relationship Id="rId5" Target="../media/image14.png" Type="http://schemas.openxmlformats.org/officeDocument/2006/relationships/image"/><Relationship Id="rId6" Target="https://gitbybit.com/gitopedia/index" TargetMode="External" Type="http://schemas.openxmlformats.org/officeDocument/2006/relationships/hyperlink"/><Relationship Id="rId7" Target="../media/image15.png" Type="http://schemas.openxmlformats.org/officeDocument/2006/relationships/image"/><Relationship Id="rId8" Target="https://gitbybit.com/gitopedia/index"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2.png" Type="http://schemas.openxmlformats.org/officeDocument/2006/relationships/image"/><Relationship Id="rId5" Target="../media/image4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2.png" Type="http://schemas.openxmlformats.org/officeDocument/2006/relationships/image"/><Relationship Id="rId5" Target="../media/image5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5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2.png" Type="http://schemas.openxmlformats.org/officeDocument/2006/relationships/image"/><Relationship Id="rId5" Target="../media/image6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64.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65.png" Type="http://schemas.openxmlformats.org/officeDocument/2006/relationships/image"/><Relationship Id="rId5" Target="../media/image66.png" Type="http://schemas.openxmlformats.org/officeDocument/2006/relationships/image"/><Relationship Id="rId6" Target="../media/image67.pn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 Id="rId9" Target="../media/image7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32.png" Type="http://schemas.openxmlformats.org/officeDocument/2006/relationships/image"/><Relationship Id="rId5" Target="../media/image71.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72.png" Type="http://schemas.openxmlformats.org/officeDocument/2006/relationships/image"/><Relationship Id="rId5" Target="../media/image73.png" Type="http://schemas.openxmlformats.org/officeDocument/2006/relationships/image"/><Relationship Id="rId6" Target="../media/image74.png" Type="http://schemas.openxmlformats.org/officeDocument/2006/relationships/image"/><Relationship Id="rId7" Target="../media/image7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7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7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7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SEMANA 3</a:t>
            </a:r>
          </a:p>
        </p:txBody>
      </p:sp>
      <p:sp>
        <p:nvSpPr>
          <p:cNvPr name="TextBox 8" id="8"/>
          <p:cNvSpPr txBox="true"/>
          <p:nvPr/>
        </p:nvSpPr>
        <p:spPr>
          <a:xfrm rot="0">
            <a:off x="8304904" y="5916767"/>
            <a:ext cx="6621756" cy="892949"/>
          </a:xfrm>
          <a:prstGeom prst="rect">
            <a:avLst/>
          </a:prstGeom>
        </p:spPr>
        <p:txBody>
          <a:bodyPr anchor="t" rtlCol="false" tIns="0" lIns="0" bIns="0" rIns="0">
            <a:spAutoFit/>
          </a:bodyPr>
          <a:lstStyle/>
          <a:p>
            <a:pPr algn="l">
              <a:lnSpc>
                <a:spcPts val="7267"/>
              </a:lnSpc>
              <a:spcBef>
                <a:spcPct val="0"/>
              </a:spcBef>
            </a:pPr>
            <a:r>
              <a:rPr lang="en-US" sz="5191">
                <a:solidFill>
                  <a:srgbClr val="957F3B"/>
                </a:solidFill>
                <a:latin typeface="HK Modular"/>
                <a:ea typeface="HK Modular"/>
                <a:cs typeface="HK Modular"/>
                <a:sym typeface="HK Modular"/>
              </a:rPr>
              <a:t>GRUPO 2</a:t>
            </a:r>
          </a:p>
        </p:txBody>
      </p:sp>
      <p:sp>
        <p:nvSpPr>
          <p:cNvPr name="TextBox 9" id="9"/>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5"/>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6"/>
            <a:stretch>
              <a:fillRect l="0" t="0" r="0" b="0"/>
            </a:stretch>
          </a:blipFill>
        </p:spPr>
      </p:sp>
      <p:sp>
        <p:nvSpPr>
          <p:cNvPr name="Freeform 12" id="12"/>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87875" y="1229153"/>
            <a:ext cx="9389196" cy="1119588"/>
          </a:xfrm>
          <a:prstGeom prst="rect">
            <a:avLst/>
          </a:prstGeom>
        </p:spPr>
        <p:txBody>
          <a:bodyPr anchor="t" rtlCol="false" tIns="0" lIns="0" bIns="0" rIns="0">
            <a:spAutoFit/>
          </a:bodyPr>
          <a:lstStyle/>
          <a:p>
            <a:pPr algn="ctr">
              <a:lnSpc>
                <a:spcPts val="9165"/>
              </a:lnSpc>
              <a:spcBef>
                <a:spcPct val="0"/>
              </a:spcBef>
            </a:pPr>
            <a:r>
              <a:rPr lang="en-US" sz="6546">
                <a:solidFill>
                  <a:srgbClr val="99C5FF"/>
                </a:solidFill>
                <a:latin typeface="HK Modular"/>
                <a:ea typeface="HK Modular"/>
                <a:cs typeface="HK Modular"/>
                <a:sym typeface="HK Modular"/>
              </a:rPr>
              <a:t>NOTICIAS</a:t>
            </a:r>
          </a:p>
        </p:txBody>
      </p:sp>
      <p:sp>
        <p:nvSpPr>
          <p:cNvPr name="TextBox 8" id="8"/>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9" id="9"/>
          <p:cNvSpPr/>
          <p:nvPr/>
        </p:nvSpPr>
        <p:spPr>
          <a:xfrm flipH="false" flipV="false" rot="0">
            <a:off x="8202204" y="426880"/>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5"/>
            <a:stretch>
              <a:fillRect l="0" t="0" r="0" b="0"/>
            </a:stretch>
          </a:blipFill>
        </p:spPr>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Freeform 12" id="12"/>
          <p:cNvSpPr/>
          <p:nvPr/>
        </p:nvSpPr>
        <p:spPr>
          <a:xfrm flipH="false" flipV="false" rot="0">
            <a:off x="10290538" y="3096936"/>
            <a:ext cx="5190045" cy="5606916"/>
          </a:xfrm>
          <a:custGeom>
            <a:avLst/>
            <a:gdLst/>
            <a:ahLst/>
            <a:cxnLst/>
            <a:rect r="r" b="b" t="t" l="l"/>
            <a:pathLst>
              <a:path h="5606916" w="5190045">
                <a:moveTo>
                  <a:pt x="0" y="0"/>
                </a:moveTo>
                <a:lnTo>
                  <a:pt x="5190044" y="0"/>
                </a:lnTo>
                <a:lnTo>
                  <a:pt x="5190044" y="5606915"/>
                </a:lnTo>
                <a:lnTo>
                  <a:pt x="0" y="5606915"/>
                </a:lnTo>
                <a:lnTo>
                  <a:pt x="0" y="0"/>
                </a:lnTo>
                <a:close/>
              </a:path>
            </a:pathLst>
          </a:custGeom>
          <a:blipFill>
            <a:blip r:embed="rId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74793" y="2257807"/>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AGENDA</a:t>
            </a:r>
          </a:p>
        </p:txBody>
      </p:sp>
      <p:sp>
        <p:nvSpPr>
          <p:cNvPr name="TextBox 8" id="8"/>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9" id="9"/>
          <p:cNvSpPr/>
          <p:nvPr/>
        </p:nvSpPr>
        <p:spPr>
          <a:xfrm flipH="false" flipV="false" rot="0">
            <a:off x="8202204" y="426880"/>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5"/>
            <a:stretch>
              <a:fillRect l="0" t="0" r="0" b="0"/>
            </a:stretch>
          </a:blipFill>
        </p:spPr>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TextBox 12" id="12"/>
          <p:cNvSpPr txBox="true"/>
          <p:nvPr/>
        </p:nvSpPr>
        <p:spPr>
          <a:xfrm rot="0">
            <a:off x="8086787" y="3996384"/>
            <a:ext cx="6295246" cy="458072"/>
          </a:xfrm>
          <a:prstGeom prst="rect">
            <a:avLst/>
          </a:prstGeom>
        </p:spPr>
        <p:txBody>
          <a:bodyPr anchor="t" rtlCol="false" tIns="0" lIns="0" bIns="0" rIns="0">
            <a:spAutoFit/>
          </a:bodyPr>
          <a:lstStyle/>
          <a:p>
            <a:pPr algn="just">
              <a:lnSpc>
                <a:spcPts val="3790"/>
              </a:lnSpc>
              <a:spcBef>
                <a:spcPct val="0"/>
              </a:spcBef>
            </a:pPr>
            <a:r>
              <a:rPr lang="en-US" sz="2707">
                <a:solidFill>
                  <a:srgbClr val="FFFFFF"/>
                </a:solidFill>
                <a:latin typeface="HK Modular"/>
                <a:ea typeface="HK Modular"/>
                <a:cs typeface="HK Modular"/>
                <a:sym typeface="HK Modular"/>
              </a:rPr>
              <a:t>QUIZ #2</a:t>
            </a:r>
          </a:p>
        </p:txBody>
      </p:sp>
      <p:sp>
        <p:nvSpPr>
          <p:cNvPr name="TextBox 13" id="13"/>
          <p:cNvSpPr txBox="true"/>
          <p:nvPr/>
        </p:nvSpPr>
        <p:spPr>
          <a:xfrm rot="0">
            <a:off x="8074793" y="4669251"/>
            <a:ext cx="7261050" cy="474249"/>
          </a:xfrm>
          <a:prstGeom prst="rect">
            <a:avLst/>
          </a:prstGeom>
        </p:spPr>
        <p:txBody>
          <a:bodyPr anchor="t" rtlCol="false" tIns="0" lIns="0" bIns="0" rIns="0">
            <a:spAutoFit/>
          </a:bodyPr>
          <a:lstStyle/>
          <a:p>
            <a:pPr algn="l">
              <a:lnSpc>
                <a:spcPts val="3845"/>
              </a:lnSpc>
              <a:spcBef>
                <a:spcPct val="0"/>
              </a:spcBef>
            </a:pPr>
            <a:r>
              <a:rPr lang="en-US" sz="2747">
                <a:solidFill>
                  <a:srgbClr val="FFFFFF"/>
                </a:solidFill>
                <a:latin typeface="HK Modular"/>
                <a:ea typeface="HK Modular"/>
                <a:cs typeface="HK Modular"/>
                <a:sym typeface="HK Modular"/>
              </a:rPr>
              <a:t>BITACORA</a:t>
            </a:r>
          </a:p>
        </p:txBody>
      </p:sp>
      <p:sp>
        <p:nvSpPr>
          <p:cNvPr name="TextBox 14" id="14"/>
          <p:cNvSpPr txBox="true"/>
          <p:nvPr/>
        </p:nvSpPr>
        <p:spPr>
          <a:xfrm rot="0">
            <a:off x="8074793" y="5307556"/>
            <a:ext cx="7261050" cy="474249"/>
          </a:xfrm>
          <a:prstGeom prst="rect">
            <a:avLst/>
          </a:prstGeom>
        </p:spPr>
        <p:txBody>
          <a:bodyPr anchor="t" rtlCol="false" tIns="0" lIns="0" bIns="0" rIns="0">
            <a:spAutoFit/>
          </a:bodyPr>
          <a:lstStyle/>
          <a:p>
            <a:pPr algn="l">
              <a:lnSpc>
                <a:spcPts val="3845"/>
              </a:lnSpc>
              <a:spcBef>
                <a:spcPct val="0"/>
              </a:spcBef>
            </a:pPr>
            <a:r>
              <a:rPr lang="en-US" sz="2747">
                <a:solidFill>
                  <a:srgbClr val="FFFFFF"/>
                </a:solidFill>
                <a:latin typeface="HK Modular"/>
                <a:ea typeface="HK Modular"/>
                <a:cs typeface="HK Modular"/>
                <a:sym typeface="HK Modular"/>
              </a:rPr>
              <a:t>EJERCICIOS EN CLASE</a:t>
            </a:r>
          </a:p>
        </p:txBody>
      </p:sp>
      <p:sp>
        <p:nvSpPr>
          <p:cNvPr name="TextBox 15" id="15"/>
          <p:cNvSpPr txBox="true"/>
          <p:nvPr/>
        </p:nvSpPr>
        <p:spPr>
          <a:xfrm rot="0">
            <a:off x="8074793" y="6024388"/>
            <a:ext cx="9402277" cy="431179"/>
          </a:xfrm>
          <a:prstGeom prst="rect">
            <a:avLst/>
          </a:prstGeom>
        </p:spPr>
        <p:txBody>
          <a:bodyPr anchor="t" rtlCol="false" tIns="0" lIns="0" bIns="0" rIns="0">
            <a:spAutoFit/>
          </a:bodyPr>
          <a:lstStyle/>
          <a:p>
            <a:pPr algn="l" marL="545028" indent="-272514" lvl="1">
              <a:lnSpc>
                <a:spcPts val="3534"/>
              </a:lnSpc>
              <a:buFont typeface="Arial"/>
              <a:buChar char="•"/>
            </a:pPr>
            <a:r>
              <a:rPr lang="en-US" sz="2524">
                <a:solidFill>
                  <a:srgbClr val="FFFFFF"/>
                </a:solidFill>
                <a:latin typeface="HK Modular"/>
                <a:ea typeface="HK Modular"/>
                <a:cs typeface="HK Modular"/>
                <a:sym typeface="HK Modular"/>
              </a:rPr>
              <a:t>PATRONES DE DISEÑO CREACIONALES</a:t>
            </a:r>
          </a:p>
        </p:txBody>
      </p:sp>
      <p:sp>
        <p:nvSpPr>
          <p:cNvPr name="TextBox 16" id="16"/>
          <p:cNvSpPr txBox="true"/>
          <p:nvPr/>
        </p:nvSpPr>
        <p:spPr>
          <a:xfrm rot="0">
            <a:off x="8074793" y="6731792"/>
            <a:ext cx="9402277" cy="431179"/>
          </a:xfrm>
          <a:prstGeom prst="rect">
            <a:avLst/>
          </a:prstGeom>
        </p:spPr>
        <p:txBody>
          <a:bodyPr anchor="t" rtlCol="false" tIns="0" lIns="0" bIns="0" rIns="0">
            <a:spAutoFit/>
          </a:bodyPr>
          <a:lstStyle/>
          <a:p>
            <a:pPr algn="l" marL="545028" indent="-272514" lvl="1">
              <a:lnSpc>
                <a:spcPts val="3534"/>
              </a:lnSpc>
              <a:buFont typeface="Arial"/>
              <a:buChar char="•"/>
            </a:pPr>
            <a:r>
              <a:rPr lang="en-US" sz="2524">
                <a:solidFill>
                  <a:srgbClr val="FFFFFF"/>
                </a:solidFill>
                <a:latin typeface="HK Modular"/>
                <a:ea typeface="HK Modular"/>
                <a:cs typeface="HK Modular"/>
                <a:sym typeface="HK Modular"/>
              </a:rPr>
              <a:t>PATRONES DE DISEÑO ESTRUCTURALES</a:t>
            </a:r>
          </a:p>
        </p:txBody>
      </p:sp>
      <p:sp>
        <p:nvSpPr>
          <p:cNvPr name="TextBox 17" id="17"/>
          <p:cNvSpPr txBox="true"/>
          <p:nvPr/>
        </p:nvSpPr>
        <p:spPr>
          <a:xfrm rot="0">
            <a:off x="8087875" y="7401096"/>
            <a:ext cx="9402277" cy="878854"/>
          </a:xfrm>
          <a:prstGeom prst="rect">
            <a:avLst/>
          </a:prstGeom>
        </p:spPr>
        <p:txBody>
          <a:bodyPr anchor="t" rtlCol="false" tIns="0" lIns="0" bIns="0" rIns="0">
            <a:spAutoFit/>
          </a:bodyPr>
          <a:lstStyle/>
          <a:p>
            <a:pPr algn="l" marL="545028" indent="-272514" lvl="1">
              <a:lnSpc>
                <a:spcPts val="3534"/>
              </a:lnSpc>
              <a:buFont typeface="Arial"/>
              <a:buChar char="•"/>
            </a:pPr>
            <a:r>
              <a:rPr lang="en-US" sz="2524">
                <a:solidFill>
                  <a:srgbClr val="FFFFFF"/>
                </a:solidFill>
                <a:latin typeface="HK Modular"/>
                <a:ea typeface="HK Modular"/>
                <a:cs typeface="HK Modular"/>
                <a:sym typeface="HK Modular"/>
              </a:rPr>
              <a:t>PATRONES DE DISEÑO COMPORTAMIENTO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10800000">
            <a:off x="-1787219" y="2807845"/>
            <a:ext cx="7553143" cy="9506253"/>
            <a:chOff x="0" y="0"/>
            <a:chExt cx="2170403" cy="2731631"/>
          </a:xfrm>
        </p:grpSpPr>
        <p:sp>
          <p:nvSpPr>
            <p:cNvPr name="Freeform 4" id="4"/>
            <p:cNvSpPr/>
            <p:nvPr/>
          </p:nvSpPr>
          <p:spPr>
            <a:xfrm flipH="false" flipV="false" rot="0">
              <a:off x="0" y="0"/>
              <a:ext cx="2170403" cy="2731631"/>
            </a:xfrm>
            <a:custGeom>
              <a:avLst/>
              <a:gdLst/>
              <a:ahLst/>
              <a:cxnLst/>
              <a:rect r="r" b="b" t="t" l="l"/>
              <a:pathLst>
                <a:path h="2731631" w="2170403">
                  <a:moveTo>
                    <a:pt x="29725" y="0"/>
                  </a:moveTo>
                  <a:lnTo>
                    <a:pt x="2140678" y="0"/>
                  </a:lnTo>
                  <a:cubicBezTo>
                    <a:pt x="2148561" y="0"/>
                    <a:pt x="2156122" y="3132"/>
                    <a:pt x="2161696" y="8706"/>
                  </a:cubicBezTo>
                  <a:cubicBezTo>
                    <a:pt x="2167271" y="14281"/>
                    <a:pt x="2170403" y="21841"/>
                    <a:pt x="2170403" y="29725"/>
                  </a:cubicBezTo>
                  <a:lnTo>
                    <a:pt x="2170403" y="2701906"/>
                  </a:lnTo>
                  <a:cubicBezTo>
                    <a:pt x="2170403" y="2718322"/>
                    <a:pt x="2157094" y="2731631"/>
                    <a:pt x="2140678" y="2731631"/>
                  </a:cubicBezTo>
                  <a:lnTo>
                    <a:pt x="29725" y="2731631"/>
                  </a:lnTo>
                  <a:cubicBezTo>
                    <a:pt x="21841" y="2731631"/>
                    <a:pt x="14281" y="2728499"/>
                    <a:pt x="8706" y="2722924"/>
                  </a:cubicBezTo>
                  <a:cubicBezTo>
                    <a:pt x="3132" y="2717350"/>
                    <a:pt x="0" y="2709789"/>
                    <a:pt x="0" y="2701906"/>
                  </a:cubicBezTo>
                  <a:lnTo>
                    <a:pt x="0" y="29725"/>
                  </a:lnTo>
                  <a:cubicBezTo>
                    <a:pt x="0" y="21841"/>
                    <a:pt x="3132" y="14281"/>
                    <a:pt x="8706" y="8706"/>
                  </a:cubicBezTo>
                  <a:cubicBezTo>
                    <a:pt x="14281" y="3132"/>
                    <a:pt x="21841" y="0"/>
                    <a:pt x="29725" y="0"/>
                  </a:cubicBez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170403" cy="276973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3940201" y="-7697568"/>
            <a:ext cx="10626331" cy="19778728"/>
            <a:chOff x="0" y="0"/>
            <a:chExt cx="2798705" cy="5209212"/>
          </a:xfrm>
        </p:grpSpPr>
        <p:sp>
          <p:nvSpPr>
            <p:cNvPr name="Freeform 7" id="7"/>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8" id="8"/>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5061148" y="2645920"/>
            <a:ext cx="12198152" cy="1370059"/>
          </a:xfrm>
          <a:prstGeom prst="rect">
            <a:avLst/>
          </a:prstGeom>
        </p:spPr>
        <p:txBody>
          <a:bodyPr anchor="t" rtlCol="false" tIns="0" lIns="0" bIns="0" rIns="0">
            <a:spAutoFit/>
          </a:bodyPr>
          <a:lstStyle/>
          <a:p>
            <a:pPr algn="ctr">
              <a:lnSpc>
                <a:spcPts val="11109"/>
              </a:lnSpc>
              <a:spcBef>
                <a:spcPct val="0"/>
              </a:spcBef>
            </a:pPr>
            <a:r>
              <a:rPr lang="en-US" sz="7935">
                <a:solidFill>
                  <a:srgbClr val="7B640E"/>
                </a:solidFill>
                <a:latin typeface="HK Modular"/>
                <a:ea typeface="HK Modular"/>
                <a:cs typeface="HK Modular"/>
                <a:sym typeface="HK Modular"/>
              </a:rPr>
              <a:t>QUIZ #2</a:t>
            </a:r>
          </a:p>
        </p:txBody>
      </p:sp>
      <p:grpSp>
        <p:nvGrpSpPr>
          <p:cNvPr name="Group 10" id="10"/>
          <p:cNvGrpSpPr/>
          <p:nvPr/>
        </p:nvGrpSpPr>
        <p:grpSpPr>
          <a:xfrm rot="0">
            <a:off x="572768" y="3822181"/>
            <a:ext cx="4125543" cy="412554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960DC">
                      <a:alpha val="100000"/>
                    </a:srgbClr>
                  </a:gs>
                  <a:gs pos="100000">
                    <a:srgbClr val="FF99FF">
                      <a:alpha val="100000"/>
                    </a:srgbClr>
                  </a:gs>
                </a:gsLst>
                <a:lin ang="0"/>
              </a:gra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a:grpSpLocks noChangeAspect="true"/>
          </p:cNvGrpSpPr>
          <p:nvPr/>
        </p:nvGrpSpPr>
        <p:grpSpPr>
          <a:xfrm rot="0">
            <a:off x="902350" y="4151763"/>
            <a:ext cx="3466379" cy="3466379"/>
            <a:chOff x="0" y="0"/>
            <a:chExt cx="14840029" cy="14840029"/>
          </a:xfrm>
        </p:grpSpPr>
        <p:sp>
          <p:nvSpPr>
            <p:cNvPr name="Freeform 14" id="14"/>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99C5FF"/>
            </a:solidFill>
          </p:spPr>
        </p:sp>
        <p:sp>
          <p:nvSpPr>
            <p:cNvPr name="Freeform 15" id="15"/>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p:spPr>
        </p:sp>
        <p:sp>
          <p:nvSpPr>
            <p:cNvPr name="Freeform 16" id="16"/>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4712" t="0" r="-24712" b="0"/>
              </a:stretch>
            </a:blipFill>
          </p:spPr>
        </p:sp>
      </p:grpSp>
      <p:sp>
        <p:nvSpPr>
          <p:cNvPr name="TextBox 17" id="17"/>
          <p:cNvSpPr txBox="true"/>
          <p:nvPr/>
        </p:nvSpPr>
        <p:spPr>
          <a:xfrm rot="0">
            <a:off x="5061148" y="4888611"/>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Ingresen al  Codigo que se va a generar con Quizizz</a:t>
            </a:r>
          </a:p>
        </p:txBody>
      </p:sp>
      <p:sp>
        <p:nvSpPr>
          <p:cNvPr name="TextBox 18" id="18"/>
          <p:cNvSpPr txBox="true"/>
          <p:nvPr/>
        </p:nvSpPr>
        <p:spPr>
          <a:xfrm rot="0">
            <a:off x="5061148" y="5622697"/>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Solo van a tener un intento</a:t>
            </a:r>
          </a:p>
        </p:txBody>
      </p:sp>
      <p:sp>
        <p:nvSpPr>
          <p:cNvPr name="TextBox 19" id="19"/>
          <p:cNvSpPr txBox="true"/>
          <p:nvPr/>
        </p:nvSpPr>
        <p:spPr>
          <a:xfrm rot="0">
            <a:off x="5061148" y="7881049"/>
            <a:ext cx="11651029" cy="9150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Los estudiantes que estan exonerados pueden presentarlo ya que les sirve para afianzar conocimientos</a:t>
            </a:r>
          </a:p>
        </p:txBody>
      </p:sp>
      <p:sp>
        <p:nvSpPr>
          <p:cNvPr name="TextBox 20" id="20"/>
          <p:cNvSpPr txBox="true"/>
          <p:nvPr/>
        </p:nvSpPr>
        <p:spPr>
          <a:xfrm rot="0">
            <a:off x="5061148" y="6356758"/>
            <a:ext cx="11651029" cy="457836"/>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Poppins"/>
                <a:ea typeface="Poppins"/>
                <a:cs typeface="Poppins"/>
                <a:sym typeface="Poppins"/>
              </a:rPr>
              <a:t>10 preguntas de opcion multiple</a:t>
            </a:r>
          </a:p>
        </p:txBody>
      </p:sp>
      <p:sp>
        <p:nvSpPr>
          <p:cNvPr name="Freeform 21" id="21"/>
          <p:cNvSpPr/>
          <p:nvPr/>
        </p:nvSpPr>
        <p:spPr>
          <a:xfrm flipH="false" flipV="false" rot="0">
            <a:off x="7755480" y="-630396"/>
            <a:ext cx="3718782" cy="3718782"/>
          </a:xfrm>
          <a:custGeom>
            <a:avLst/>
            <a:gdLst/>
            <a:ahLst/>
            <a:cxnLst/>
            <a:rect r="r" b="b" t="t" l="l"/>
            <a:pathLst>
              <a:path h="3718782" w="3718782">
                <a:moveTo>
                  <a:pt x="0" y="0"/>
                </a:moveTo>
                <a:lnTo>
                  <a:pt x="3718782" y="0"/>
                </a:lnTo>
                <a:lnTo>
                  <a:pt x="3718782" y="3718782"/>
                </a:lnTo>
                <a:lnTo>
                  <a:pt x="0" y="3718782"/>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381222" y="2407704"/>
            <a:ext cx="12467298" cy="1101873"/>
          </a:xfrm>
          <a:prstGeom prst="rect">
            <a:avLst/>
          </a:prstGeom>
        </p:spPr>
        <p:txBody>
          <a:bodyPr anchor="t" rtlCol="false" tIns="0" lIns="0" bIns="0" rIns="0">
            <a:spAutoFit/>
          </a:bodyPr>
          <a:lstStyle/>
          <a:p>
            <a:pPr algn="ctr">
              <a:lnSpc>
                <a:spcPts val="8941"/>
              </a:lnSpc>
              <a:spcBef>
                <a:spcPct val="0"/>
              </a:spcBef>
            </a:pPr>
            <a:r>
              <a:rPr lang="en-US" sz="6387">
                <a:solidFill>
                  <a:srgbClr val="7B640E"/>
                </a:solidFill>
                <a:latin typeface="HK Modular"/>
                <a:ea typeface="HK Modular"/>
                <a:cs typeface="HK Modular"/>
                <a:sym typeface="HK Modular"/>
              </a:rPr>
              <a:t>BITACORA</a:t>
            </a:r>
          </a:p>
        </p:txBody>
      </p:sp>
      <p:sp>
        <p:nvSpPr>
          <p:cNvPr name="Freeform 13" id="13"/>
          <p:cNvSpPr/>
          <p:nvPr/>
        </p:nvSpPr>
        <p:spPr>
          <a:xfrm flipH="false" flipV="false" rot="0">
            <a:off x="7755480" y="-630396"/>
            <a:ext cx="3718782" cy="3718782"/>
          </a:xfrm>
          <a:custGeom>
            <a:avLst/>
            <a:gdLst/>
            <a:ahLst/>
            <a:cxnLst/>
            <a:rect r="r" b="b" t="t" l="l"/>
            <a:pathLst>
              <a:path h="3718782" w="3718782">
                <a:moveTo>
                  <a:pt x="0" y="0"/>
                </a:moveTo>
                <a:lnTo>
                  <a:pt x="3718782" y="0"/>
                </a:lnTo>
                <a:lnTo>
                  <a:pt x="3718782" y="3718782"/>
                </a:lnTo>
                <a:lnTo>
                  <a:pt x="0" y="3718782"/>
                </a:lnTo>
                <a:lnTo>
                  <a:pt x="0" y="0"/>
                </a:lnTo>
                <a:close/>
              </a:path>
            </a:pathLst>
          </a:custGeom>
          <a:blipFill>
            <a:blip r:embed="rId3"/>
            <a:stretch>
              <a:fillRect l="0" t="0" r="0" b="0"/>
            </a:stretch>
          </a:blipFill>
        </p:spPr>
      </p:sp>
      <p:sp>
        <p:nvSpPr>
          <p:cNvPr name="Freeform 14" id="14"/>
          <p:cNvSpPr/>
          <p:nvPr/>
        </p:nvSpPr>
        <p:spPr>
          <a:xfrm flipH="false" flipV="false" rot="0">
            <a:off x="11131931" y="4044629"/>
            <a:ext cx="5059313" cy="4869589"/>
          </a:xfrm>
          <a:custGeom>
            <a:avLst/>
            <a:gdLst/>
            <a:ahLst/>
            <a:cxnLst/>
            <a:rect r="r" b="b" t="t" l="l"/>
            <a:pathLst>
              <a:path h="4869589" w="5059313">
                <a:moveTo>
                  <a:pt x="0" y="0"/>
                </a:moveTo>
                <a:lnTo>
                  <a:pt x="5059313" y="0"/>
                </a:lnTo>
                <a:lnTo>
                  <a:pt x="5059313" y="4869589"/>
                </a:lnTo>
                <a:lnTo>
                  <a:pt x="0" y="4869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784351" y="4137639"/>
            <a:ext cx="7830520" cy="4155230"/>
          </a:xfrm>
          <a:prstGeom prst="rect">
            <a:avLst/>
          </a:prstGeom>
        </p:spPr>
        <p:txBody>
          <a:bodyPr anchor="t" rtlCol="false" tIns="0" lIns="0" bIns="0" rIns="0">
            <a:spAutoFit/>
          </a:bodyPr>
          <a:lstStyle/>
          <a:p>
            <a:pPr algn="l" marL="564559" indent="-282280" lvl="1">
              <a:lnSpc>
                <a:spcPts val="3660"/>
              </a:lnSpc>
              <a:buFont typeface="Arial"/>
              <a:buChar char="•"/>
            </a:pPr>
            <a:r>
              <a:rPr lang="en-US" sz="2614">
                <a:solidFill>
                  <a:srgbClr val="FFFFFF"/>
                </a:solidFill>
                <a:latin typeface="Poppins"/>
                <a:ea typeface="Poppins"/>
                <a:cs typeface="Poppins"/>
                <a:sym typeface="Poppins"/>
              </a:rPr>
              <a:t>Semana a semana </a:t>
            </a:r>
          </a:p>
          <a:p>
            <a:pPr algn="l" marL="564559" indent="-282280" lvl="1">
              <a:lnSpc>
                <a:spcPts val="3660"/>
              </a:lnSpc>
              <a:buFont typeface="Arial"/>
              <a:buChar char="•"/>
            </a:pPr>
            <a:r>
              <a:rPr lang="en-US" sz="2614">
                <a:solidFill>
                  <a:srgbClr val="FFFFFF"/>
                </a:solidFill>
                <a:latin typeface="Poppins"/>
                <a:ea typeface="Poppins"/>
                <a:cs typeface="Poppins"/>
                <a:sym typeface="Poppins"/>
              </a:rPr>
              <a:t>Se ira construyendo con los temas que veamos en clase</a:t>
            </a:r>
          </a:p>
          <a:p>
            <a:pPr algn="l" marL="564559" indent="-282280" lvl="1">
              <a:lnSpc>
                <a:spcPts val="3660"/>
              </a:lnSpc>
              <a:buFont typeface="Arial"/>
              <a:buChar char="•"/>
            </a:pPr>
            <a:r>
              <a:rPr lang="en-US" sz="2614">
                <a:solidFill>
                  <a:srgbClr val="FFFFFF"/>
                </a:solidFill>
                <a:latin typeface="Poppins"/>
                <a:ea typeface="Poppins"/>
                <a:cs typeface="Poppins"/>
                <a:sym typeface="Poppins"/>
              </a:rPr>
              <a:t>Incluso los ejercicios que se realicen completamente en clase deben quedar codificados en la bitácora.</a:t>
            </a:r>
          </a:p>
          <a:p>
            <a:pPr algn="l" marL="564559" indent="-282280" lvl="1">
              <a:lnSpc>
                <a:spcPts val="3660"/>
              </a:lnSpc>
              <a:buFont typeface="Arial"/>
              <a:buChar char="•"/>
            </a:pPr>
            <a:r>
              <a:rPr lang="en-US" sz="2614">
                <a:solidFill>
                  <a:srgbClr val="FFFFFF"/>
                </a:solidFill>
                <a:latin typeface="Poppins"/>
                <a:ea typeface="Poppins"/>
                <a:cs typeface="Poppins"/>
                <a:sym typeface="Poppins"/>
              </a:rPr>
              <a:t>En algunos casos, se dejarán ejercicios sencillos para completar en casa, como parte natural del proceso de práctica.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a:hlinkClick r:id="rId3" tooltip="https://gitbybit.com/gitopedia/index"/>
            </p:cNvPr>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
        <p:nvSpPr>
          <p:cNvPr name="Freeform 7" id="7">
            <a:hlinkClick r:id="rId6" tooltip="https://gitbybit.com/gitopedia/index"/>
          </p:cNvPr>
          <p:cNvSpPr/>
          <p:nvPr/>
        </p:nvSpPr>
        <p:spPr>
          <a:xfrm flipH="false" flipV="false" rot="0">
            <a:off x="12034807" y="4794000"/>
            <a:ext cx="5224493" cy="1355716"/>
          </a:xfrm>
          <a:custGeom>
            <a:avLst/>
            <a:gdLst/>
            <a:ahLst/>
            <a:cxnLst/>
            <a:rect r="r" b="b" t="t" l="l"/>
            <a:pathLst>
              <a:path h="1355716" w="5224493">
                <a:moveTo>
                  <a:pt x="0" y="0"/>
                </a:moveTo>
                <a:lnTo>
                  <a:pt x="5224493" y="0"/>
                </a:lnTo>
                <a:lnTo>
                  <a:pt x="5224493" y="1355716"/>
                </a:lnTo>
                <a:lnTo>
                  <a:pt x="0" y="1355716"/>
                </a:lnTo>
                <a:lnTo>
                  <a:pt x="0" y="0"/>
                </a:lnTo>
                <a:close/>
              </a:path>
            </a:pathLst>
          </a:custGeom>
          <a:blipFill>
            <a:blip r:embed="rId5"/>
            <a:stretch>
              <a:fillRect l="0" t="-2832" r="0" b="-2832"/>
            </a:stretch>
          </a:blipFill>
        </p:spPr>
      </p:sp>
      <p:sp>
        <p:nvSpPr>
          <p:cNvPr name="Freeform 8" id="8"/>
          <p:cNvSpPr/>
          <p:nvPr/>
        </p:nvSpPr>
        <p:spPr>
          <a:xfrm flipH="false" flipV="false" rot="0">
            <a:off x="1028700" y="2534611"/>
            <a:ext cx="10069221" cy="5261168"/>
          </a:xfrm>
          <a:custGeom>
            <a:avLst/>
            <a:gdLst/>
            <a:ahLst/>
            <a:cxnLst/>
            <a:rect r="r" b="b" t="t" l="l"/>
            <a:pathLst>
              <a:path h="5261168" w="10069221">
                <a:moveTo>
                  <a:pt x="0" y="0"/>
                </a:moveTo>
                <a:lnTo>
                  <a:pt x="10069221" y="0"/>
                </a:lnTo>
                <a:lnTo>
                  <a:pt x="10069221" y="5261168"/>
                </a:lnTo>
                <a:lnTo>
                  <a:pt x="0" y="5261168"/>
                </a:lnTo>
                <a:lnTo>
                  <a:pt x="0" y="0"/>
                </a:lnTo>
                <a:close/>
              </a:path>
            </a:pathLst>
          </a:custGeom>
          <a:blipFill>
            <a:blip r:embed="rId7"/>
            <a:stretch>
              <a:fillRect l="0" t="0" r="0" b="0"/>
            </a:stretch>
          </a:blipFill>
        </p:spPr>
      </p:sp>
      <p:sp>
        <p:nvSpPr>
          <p:cNvPr name="TextBox 9" id="9"/>
          <p:cNvSpPr txBox="true"/>
          <p:nvPr/>
        </p:nvSpPr>
        <p:spPr>
          <a:xfrm rot="0">
            <a:off x="2139923" y="8400519"/>
            <a:ext cx="5740987" cy="857781"/>
          </a:xfrm>
          <a:prstGeom prst="rect">
            <a:avLst/>
          </a:prstGeom>
        </p:spPr>
        <p:txBody>
          <a:bodyPr anchor="t" rtlCol="false" tIns="0" lIns="0" bIns="0" rIns="0">
            <a:spAutoFit/>
          </a:bodyPr>
          <a:lstStyle/>
          <a:p>
            <a:pPr algn="ctr">
              <a:lnSpc>
                <a:spcPts val="7012"/>
              </a:lnSpc>
              <a:spcBef>
                <a:spcPct val="0"/>
              </a:spcBef>
            </a:pPr>
            <a:r>
              <a:rPr lang="en-US" sz="5008">
                <a:solidFill>
                  <a:srgbClr val="7B640E"/>
                </a:solidFill>
                <a:latin typeface="HK Modular"/>
                <a:ea typeface="HK Modular"/>
                <a:cs typeface="HK Modular"/>
                <a:sym typeface="HK Modular"/>
              </a:rPr>
              <a:t>GITOPEDIA</a:t>
            </a:r>
          </a:p>
        </p:txBody>
      </p:sp>
      <p:sp>
        <p:nvSpPr>
          <p:cNvPr name="TextBox 10" id="10"/>
          <p:cNvSpPr txBox="true"/>
          <p:nvPr/>
        </p:nvSpPr>
        <p:spPr>
          <a:xfrm rot="0">
            <a:off x="8788140" y="8451215"/>
            <a:ext cx="8962504" cy="807085"/>
          </a:xfrm>
          <a:prstGeom prst="rect">
            <a:avLst/>
          </a:prstGeom>
        </p:spPr>
        <p:txBody>
          <a:bodyPr anchor="t" rtlCol="false" tIns="0" lIns="0" bIns="0" rIns="0">
            <a:spAutoFit/>
          </a:bodyPr>
          <a:lstStyle/>
          <a:p>
            <a:pPr algn="l">
              <a:lnSpc>
                <a:spcPts val="6439"/>
              </a:lnSpc>
            </a:pPr>
            <a:r>
              <a:rPr lang="en-US" sz="4599" u="sng">
                <a:solidFill>
                  <a:srgbClr val="99C5FF"/>
                </a:solidFill>
                <a:latin typeface="Arimo"/>
                <a:ea typeface="Arimo"/>
                <a:cs typeface="Arimo"/>
                <a:sym typeface="Arimo"/>
                <a:hlinkClick r:id="rId8" tooltip="https://gitbybit.com/gitopedia/index"/>
              </a:rPr>
              <a:t>https://gitbybit.com/gitopedia/index</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292713" y="6117119"/>
            <a:ext cx="4363587" cy="1218609"/>
          </a:xfrm>
          <a:custGeom>
            <a:avLst/>
            <a:gdLst/>
            <a:ahLst/>
            <a:cxnLst/>
            <a:rect r="r" b="b" t="t" l="l"/>
            <a:pathLst>
              <a:path h="1218609" w="4363587">
                <a:moveTo>
                  <a:pt x="0" y="0"/>
                </a:moveTo>
                <a:lnTo>
                  <a:pt x="4363587" y="0"/>
                </a:lnTo>
                <a:lnTo>
                  <a:pt x="4363587" y="1218609"/>
                </a:lnTo>
                <a:lnTo>
                  <a:pt x="0" y="1218609"/>
                </a:lnTo>
                <a:lnTo>
                  <a:pt x="0" y="0"/>
                </a:lnTo>
                <a:close/>
              </a:path>
            </a:pathLst>
          </a:custGeom>
          <a:blipFill>
            <a:blip r:embed="rId3"/>
            <a:stretch>
              <a:fillRect l="0" t="-69772" r="0" b="-85998"/>
            </a:stretch>
          </a:blipFill>
        </p:spPr>
      </p:sp>
      <p:sp>
        <p:nvSpPr>
          <p:cNvPr name="Freeform 13" id="13"/>
          <p:cNvSpPr/>
          <p:nvPr/>
        </p:nvSpPr>
        <p:spPr>
          <a:xfrm flipH="false" flipV="false" rot="0">
            <a:off x="8005613" y="5408182"/>
            <a:ext cx="2636483" cy="2636483"/>
          </a:xfrm>
          <a:custGeom>
            <a:avLst/>
            <a:gdLst/>
            <a:ahLst/>
            <a:cxnLst/>
            <a:rect r="r" b="b" t="t" l="l"/>
            <a:pathLst>
              <a:path h="2636483" w="2636483">
                <a:moveTo>
                  <a:pt x="0" y="0"/>
                </a:moveTo>
                <a:lnTo>
                  <a:pt x="2636482" y="0"/>
                </a:lnTo>
                <a:lnTo>
                  <a:pt x="2636482" y="2636483"/>
                </a:lnTo>
                <a:lnTo>
                  <a:pt x="0" y="2636483"/>
                </a:lnTo>
                <a:lnTo>
                  <a:pt x="0" y="0"/>
                </a:lnTo>
                <a:close/>
              </a:path>
            </a:pathLst>
          </a:custGeom>
          <a:blipFill>
            <a:blip r:embed="rId4"/>
            <a:stretch>
              <a:fillRect l="0" t="0" r="0" b="0"/>
            </a:stretch>
          </a:blipFill>
        </p:spPr>
      </p:sp>
      <p:sp>
        <p:nvSpPr>
          <p:cNvPr name="Freeform 14" id="14"/>
          <p:cNvSpPr/>
          <p:nvPr/>
        </p:nvSpPr>
        <p:spPr>
          <a:xfrm flipH="false" flipV="false" rot="0">
            <a:off x="12991408" y="6084753"/>
            <a:ext cx="3427330" cy="1250975"/>
          </a:xfrm>
          <a:custGeom>
            <a:avLst/>
            <a:gdLst/>
            <a:ahLst/>
            <a:cxnLst/>
            <a:rect r="r" b="b" t="t" l="l"/>
            <a:pathLst>
              <a:path h="1250975" w="3427330">
                <a:moveTo>
                  <a:pt x="0" y="0"/>
                </a:moveTo>
                <a:lnTo>
                  <a:pt x="3427330" y="0"/>
                </a:lnTo>
                <a:lnTo>
                  <a:pt x="3427330" y="1250975"/>
                </a:lnTo>
                <a:lnTo>
                  <a:pt x="0" y="1250975"/>
                </a:lnTo>
                <a:lnTo>
                  <a:pt x="0" y="0"/>
                </a:lnTo>
                <a:close/>
              </a:path>
            </a:pathLst>
          </a:custGeom>
          <a:blipFill>
            <a:blip r:embed="rId5"/>
            <a:stretch>
              <a:fillRect l="0" t="0" r="0" b="0"/>
            </a:stretch>
          </a:blipFill>
        </p:spPr>
      </p:sp>
      <p:sp>
        <p:nvSpPr>
          <p:cNvPr name="TextBox 15" id="15"/>
          <p:cNvSpPr txBox="true"/>
          <p:nvPr/>
        </p:nvSpPr>
        <p:spPr>
          <a:xfrm rot="0">
            <a:off x="2652876" y="3281171"/>
            <a:ext cx="14407805" cy="985735"/>
          </a:xfrm>
          <a:prstGeom prst="rect">
            <a:avLst/>
          </a:prstGeom>
        </p:spPr>
        <p:txBody>
          <a:bodyPr anchor="t" rtlCol="false" tIns="0" lIns="0" bIns="0" rIns="0">
            <a:spAutoFit/>
          </a:bodyPr>
          <a:lstStyle/>
          <a:p>
            <a:pPr algn="ctr">
              <a:lnSpc>
                <a:spcPts val="8045"/>
              </a:lnSpc>
              <a:spcBef>
                <a:spcPct val="0"/>
              </a:spcBef>
            </a:pPr>
            <a:r>
              <a:rPr lang="en-US" sz="5746">
                <a:solidFill>
                  <a:srgbClr val="7B640E"/>
                </a:solidFill>
                <a:latin typeface="HK Modular"/>
                <a:ea typeface="HK Modular"/>
                <a:cs typeface="HK Modular"/>
                <a:sym typeface="HK Modular"/>
              </a:rPr>
              <a:t>MODULO DE DIAGRAMACION </a:t>
            </a:r>
          </a:p>
        </p:txBody>
      </p:sp>
      <p:sp>
        <p:nvSpPr>
          <p:cNvPr name="Freeform 16" id="16"/>
          <p:cNvSpPr/>
          <p:nvPr/>
        </p:nvSpPr>
        <p:spPr>
          <a:xfrm flipH="false" flipV="false" rot="0">
            <a:off x="7612707" y="114152"/>
            <a:ext cx="3281320" cy="3281320"/>
          </a:xfrm>
          <a:custGeom>
            <a:avLst/>
            <a:gdLst/>
            <a:ahLst/>
            <a:cxnLst/>
            <a:rect r="r" b="b" t="t" l="l"/>
            <a:pathLst>
              <a:path h="3281320" w="3281320">
                <a:moveTo>
                  <a:pt x="0" y="0"/>
                </a:moveTo>
                <a:lnTo>
                  <a:pt x="3281320" y="0"/>
                </a:lnTo>
                <a:lnTo>
                  <a:pt x="3281320" y="3281319"/>
                </a:lnTo>
                <a:lnTo>
                  <a:pt x="0" y="3281319"/>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049465" y="2182646"/>
            <a:ext cx="14407805" cy="985735"/>
          </a:xfrm>
          <a:prstGeom prst="rect">
            <a:avLst/>
          </a:prstGeom>
        </p:spPr>
        <p:txBody>
          <a:bodyPr anchor="t" rtlCol="false" tIns="0" lIns="0" bIns="0" rIns="0">
            <a:spAutoFit/>
          </a:bodyPr>
          <a:lstStyle/>
          <a:p>
            <a:pPr algn="ctr">
              <a:lnSpc>
                <a:spcPts val="8045"/>
              </a:lnSpc>
              <a:spcBef>
                <a:spcPct val="0"/>
              </a:spcBef>
            </a:pPr>
            <a:r>
              <a:rPr lang="en-US" sz="5746">
                <a:solidFill>
                  <a:srgbClr val="7B640E"/>
                </a:solidFill>
                <a:latin typeface="HK Modular"/>
                <a:ea typeface="HK Modular"/>
                <a:cs typeface="HK Modular"/>
                <a:sym typeface="HK Modular"/>
              </a:rPr>
              <a:t>MAVEN</a:t>
            </a:r>
          </a:p>
        </p:txBody>
      </p:sp>
      <p:sp>
        <p:nvSpPr>
          <p:cNvPr name="Freeform 13" id="13"/>
          <p:cNvSpPr/>
          <p:nvPr/>
        </p:nvSpPr>
        <p:spPr>
          <a:xfrm flipH="false" flipV="false" rot="0">
            <a:off x="7612707" y="-548656"/>
            <a:ext cx="3281320" cy="3281320"/>
          </a:xfrm>
          <a:custGeom>
            <a:avLst/>
            <a:gdLst/>
            <a:ahLst/>
            <a:cxnLst/>
            <a:rect r="r" b="b" t="t" l="l"/>
            <a:pathLst>
              <a:path h="3281320" w="3281320">
                <a:moveTo>
                  <a:pt x="0" y="0"/>
                </a:moveTo>
                <a:lnTo>
                  <a:pt x="3281320" y="0"/>
                </a:lnTo>
                <a:lnTo>
                  <a:pt x="3281320" y="3281319"/>
                </a:lnTo>
                <a:lnTo>
                  <a:pt x="0" y="3281319"/>
                </a:lnTo>
                <a:lnTo>
                  <a:pt x="0" y="0"/>
                </a:lnTo>
                <a:close/>
              </a:path>
            </a:pathLst>
          </a:custGeom>
          <a:blipFill>
            <a:blip r:embed="rId3"/>
            <a:stretch>
              <a:fillRect l="0" t="0" r="0" b="0"/>
            </a:stretch>
          </a:blipFill>
        </p:spPr>
      </p:sp>
      <p:sp>
        <p:nvSpPr>
          <p:cNvPr name="Freeform 14" id="14"/>
          <p:cNvSpPr/>
          <p:nvPr/>
        </p:nvSpPr>
        <p:spPr>
          <a:xfrm flipH="false" flipV="false" rot="0">
            <a:off x="2203531" y="3849667"/>
            <a:ext cx="5409176" cy="5058138"/>
          </a:xfrm>
          <a:custGeom>
            <a:avLst/>
            <a:gdLst/>
            <a:ahLst/>
            <a:cxnLst/>
            <a:rect r="r" b="b" t="t" l="l"/>
            <a:pathLst>
              <a:path h="5058138" w="5409176">
                <a:moveTo>
                  <a:pt x="0" y="0"/>
                </a:moveTo>
                <a:lnTo>
                  <a:pt x="5409176" y="0"/>
                </a:lnTo>
                <a:lnTo>
                  <a:pt x="5409176" y="5058138"/>
                </a:lnTo>
                <a:lnTo>
                  <a:pt x="0" y="5058138"/>
                </a:lnTo>
                <a:lnTo>
                  <a:pt x="0" y="0"/>
                </a:lnTo>
                <a:close/>
              </a:path>
            </a:pathLst>
          </a:custGeom>
          <a:blipFill>
            <a:blip r:embed="rId4"/>
            <a:stretch>
              <a:fillRect l="0" t="0" r="0" b="0"/>
            </a:stretch>
          </a:blipFill>
        </p:spPr>
      </p:sp>
      <p:sp>
        <p:nvSpPr>
          <p:cNvPr name="TextBox 15" id="15"/>
          <p:cNvSpPr txBox="true"/>
          <p:nvPr/>
        </p:nvSpPr>
        <p:spPr>
          <a:xfrm rot="0">
            <a:off x="9856778" y="4313575"/>
            <a:ext cx="2369637"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groupId --&gt;</a:t>
            </a:r>
          </a:p>
        </p:txBody>
      </p:sp>
      <p:sp>
        <p:nvSpPr>
          <p:cNvPr name="TextBox 16" id="16"/>
          <p:cNvSpPr txBox="true"/>
          <p:nvPr/>
        </p:nvSpPr>
        <p:spPr>
          <a:xfrm rot="0">
            <a:off x="9775690" y="5347093"/>
            <a:ext cx="6109012"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artifactId --&gt;</a:t>
            </a:r>
          </a:p>
        </p:txBody>
      </p:sp>
      <p:sp>
        <p:nvSpPr>
          <p:cNvPr name="TextBox 17" id="17"/>
          <p:cNvSpPr txBox="true"/>
          <p:nvPr/>
        </p:nvSpPr>
        <p:spPr>
          <a:xfrm rot="0">
            <a:off x="9856778" y="6254611"/>
            <a:ext cx="2024233"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version --&gt; </a:t>
            </a:r>
          </a:p>
        </p:txBody>
      </p:sp>
      <p:sp>
        <p:nvSpPr>
          <p:cNvPr name="TextBox 18" id="18"/>
          <p:cNvSpPr txBox="true"/>
          <p:nvPr/>
        </p:nvSpPr>
        <p:spPr>
          <a:xfrm rot="0">
            <a:off x="9775690" y="7312522"/>
            <a:ext cx="3360797"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dependencies --&gt;</a:t>
            </a:r>
          </a:p>
        </p:txBody>
      </p:sp>
      <p:sp>
        <p:nvSpPr>
          <p:cNvPr name="TextBox 19" id="19"/>
          <p:cNvSpPr txBox="true"/>
          <p:nvPr/>
        </p:nvSpPr>
        <p:spPr>
          <a:xfrm rot="0">
            <a:off x="12634358" y="4313575"/>
            <a:ext cx="2369637"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Quién lo crea</a:t>
            </a:r>
          </a:p>
        </p:txBody>
      </p:sp>
      <p:sp>
        <p:nvSpPr>
          <p:cNvPr name="TextBox 20" id="20"/>
          <p:cNvSpPr txBox="true"/>
          <p:nvPr/>
        </p:nvSpPr>
        <p:spPr>
          <a:xfrm rot="0">
            <a:off x="12634358" y="5370586"/>
            <a:ext cx="4066623"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Nombre del proyecto</a:t>
            </a:r>
          </a:p>
        </p:txBody>
      </p:sp>
      <p:sp>
        <p:nvSpPr>
          <p:cNvPr name="TextBox 21" id="21"/>
          <p:cNvSpPr txBox="true"/>
          <p:nvPr/>
        </p:nvSpPr>
        <p:spPr>
          <a:xfrm rot="0">
            <a:off x="12671762" y="6254611"/>
            <a:ext cx="4066623"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Versión</a:t>
            </a:r>
          </a:p>
        </p:txBody>
      </p:sp>
      <p:sp>
        <p:nvSpPr>
          <p:cNvPr name="TextBox 22" id="22"/>
          <p:cNvSpPr txBox="true"/>
          <p:nvPr/>
        </p:nvSpPr>
        <p:spPr>
          <a:xfrm rot="0">
            <a:off x="13136487" y="7312522"/>
            <a:ext cx="4066623" cy="457836"/>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Poppins"/>
                <a:ea typeface="Poppins"/>
                <a:cs typeface="Poppins"/>
                <a:sym typeface="Poppins"/>
              </a:rPr>
              <a:t>Librerias necesarias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283256" y="2591401"/>
            <a:ext cx="15721487" cy="3071531"/>
          </a:xfrm>
          <a:prstGeom prst="rect">
            <a:avLst/>
          </a:prstGeom>
        </p:spPr>
        <p:txBody>
          <a:bodyPr anchor="t" rtlCol="false" tIns="0" lIns="0" bIns="0" rIns="0">
            <a:spAutoFit/>
          </a:bodyPr>
          <a:lstStyle/>
          <a:p>
            <a:pPr algn="ctr">
              <a:lnSpc>
                <a:spcPts val="12353"/>
              </a:lnSpc>
              <a:spcBef>
                <a:spcPct val="0"/>
              </a:spcBef>
            </a:pPr>
            <a:r>
              <a:rPr lang="en-US" sz="8823">
                <a:solidFill>
                  <a:srgbClr val="99C5FF"/>
                </a:solidFill>
                <a:latin typeface="HK Modular"/>
                <a:ea typeface="HK Modular"/>
                <a:cs typeface="HK Modular"/>
                <a:sym typeface="HK Modular"/>
              </a:rPr>
              <a:t>PATRONES DE DISEÑO</a:t>
            </a:r>
          </a:p>
        </p:txBody>
      </p:sp>
      <p:sp>
        <p:nvSpPr>
          <p:cNvPr name="Freeform 13" id="13"/>
          <p:cNvSpPr/>
          <p:nvPr/>
        </p:nvSpPr>
        <p:spPr>
          <a:xfrm flipH="false" flipV="false" rot="0">
            <a:off x="7959586"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TextBox 14" id="14"/>
          <p:cNvSpPr txBox="true"/>
          <p:nvPr/>
        </p:nvSpPr>
        <p:spPr>
          <a:xfrm rot="0">
            <a:off x="2943565" y="6588801"/>
            <a:ext cx="12185121" cy="824901"/>
          </a:xfrm>
          <a:prstGeom prst="rect">
            <a:avLst/>
          </a:prstGeom>
        </p:spPr>
        <p:txBody>
          <a:bodyPr anchor="t" rtlCol="false" tIns="0" lIns="0" bIns="0" rIns="0">
            <a:spAutoFit/>
          </a:bodyPr>
          <a:lstStyle/>
          <a:p>
            <a:pPr algn="ctr">
              <a:lnSpc>
                <a:spcPts val="6736"/>
              </a:lnSpc>
              <a:spcBef>
                <a:spcPct val="0"/>
              </a:spcBef>
            </a:pPr>
            <a:r>
              <a:rPr lang="en-US" sz="4811">
                <a:solidFill>
                  <a:srgbClr val="957F3B"/>
                </a:solidFill>
                <a:latin typeface="HK Modular"/>
                <a:ea typeface="HK Modular"/>
                <a:cs typeface="HK Modular"/>
                <a:sym typeface="HK Modular"/>
              </a:rPr>
              <a:t>APLICACION PRACTICA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28700" y="3291582"/>
            <a:ext cx="3582608" cy="2239130"/>
          </a:xfrm>
          <a:custGeom>
            <a:avLst/>
            <a:gdLst/>
            <a:ahLst/>
            <a:cxnLst/>
            <a:rect r="r" b="b" t="t" l="l"/>
            <a:pathLst>
              <a:path h="2239130" w="3582608">
                <a:moveTo>
                  <a:pt x="0" y="0"/>
                </a:moveTo>
                <a:lnTo>
                  <a:pt x="3582608" y="0"/>
                </a:lnTo>
                <a:lnTo>
                  <a:pt x="3582608" y="2239130"/>
                </a:lnTo>
                <a:lnTo>
                  <a:pt x="0" y="2239130"/>
                </a:lnTo>
                <a:lnTo>
                  <a:pt x="0" y="0"/>
                </a:lnTo>
                <a:close/>
              </a:path>
            </a:pathLst>
          </a:custGeom>
          <a:blipFill>
            <a:blip r:embed="rId3"/>
            <a:stretch>
              <a:fillRect l="0" t="0" r="0" b="0"/>
            </a:stretch>
          </a:blipFill>
        </p:spPr>
      </p:sp>
      <p:sp>
        <p:nvSpPr>
          <p:cNvPr name="Freeform 7" id="7"/>
          <p:cNvSpPr/>
          <p:nvPr/>
        </p:nvSpPr>
        <p:spPr>
          <a:xfrm flipH="false" flipV="false" rot="0">
            <a:off x="7114140" y="3220983"/>
            <a:ext cx="3808523" cy="2380327"/>
          </a:xfrm>
          <a:custGeom>
            <a:avLst/>
            <a:gdLst/>
            <a:ahLst/>
            <a:cxnLst/>
            <a:rect r="r" b="b" t="t" l="l"/>
            <a:pathLst>
              <a:path h="2380327" w="3808523">
                <a:moveTo>
                  <a:pt x="0" y="0"/>
                </a:moveTo>
                <a:lnTo>
                  <a:pt x="3808524" y="0"/>
                </a:lnTo>
                <a:lnTo>
                  <a:pt x="3808524" y="2380327"/>
                </a:lnTo>
                <a:lnTo>
                  <a:pt x="0" y="2380327"/>
                </a:lnTo>
                <a:lnTo>
                  <a:pt x="0" y="0"/>
                </a:lnTo>
                <a:close/>
              </a:path>
            </a:pathLst>
          </a:custGeom>
          <a:blipFill>
            <a:blip r:embed="rId4"/>
            <a:stretch>
              <a:fillRect l="0" t="0" r="0" b="0"/>
            </a:stretch>
          </a:blipFill>
        </p:spPr>
      </p:sp>
      <p:sp>
        <p:nvSpPr>
          <p:cNvPr name="Freeform 8" id="8"/>
          <p:cNvSpPr/>
          <p:nvPr/>
        </p:nvSpPr>
        <p:spPr>
          <a:xfrm flipH="false" flipV="false" rot="0">
            <a:off x="13246245" y="3056518"/>
            <a:ext cx="3923145" cy="2709257"/>
          </a:xfrm>
          <a:custGeom>
            <a:avLst/>
            <a:gdLst/>
            <a:ahLst/>
            <a:cxnLst/>
            <a:rect r="r" b="b" t="t" l="l"/>
            <a:pathLst>
              <a:path h="2709257" w="3923145">
                <a:moveTo>
                  <a:pt x="0" y="0"/>
                </a:moveTo>
                <a:lnTo>
                  <a:pt x="3923145" y="0"/>
                </a:lnTo>
                <a:lnTo>
                  <a:pt x="3923145" y="2709257"/>
                </a:lnTo>
                <a:lnTo>
                  <a:pt x="0" y="2709257"/>
                </a:lnTo>
                <a:lnTo>
                  <a:pt x="0" y="0"/>
                </a:lnTo>
                <a:close/>
              </a:path>
            </a:pathLst>
          </a:custGeom>
          <a:blipFill>
            <a:blip r:embed="rId5"/>
            <a:stretch>
              <a:fillRect l="0" t="0" r="0" b="0"/>
            </a:stretch>
          </a:blipFill>
        </p:spPr>
      </p:sp>
      <p:sp>
        <p:nvSpPr>
          <p:cNvPr name="TextBox 9" id="9"/>
          <p:cNvSpPr txBox="true"/>
          <p:nvPr/>
        </p:nvSpPr>
        <p:spPr>
          <a:xfrm rot="0">
            <a:off x="3391747" y="2024456"/>
            <a:ext cx="11723240" cy="758774"/>
          </a:xfrm>
          <a:prstGeom prst="rect">
            <a:avLst/>
          </a:prstGeom>
        </p:spPr>
        <p:txBody>
          <a:bodyPr anchor="t" rtlCol="false" tIns="0" lIns="0" bIns="0" rIns="0">
            <a:spAutoFit/>
          </a:bodyPr>
          <a:lstStyle/>
          <a:p>
            <a:pPr algn="ctr">
              <a:lnSpc>
                <a:spcPts val="6101"/>
              </a:lnSpc>
              <a:spcBef>
                <a:spcPct val="0"/>
              </a:spcBef>
            </a:pPr>
            <a:r>
              <a:rPr lang="en-US" sz="4358">
                <a:solidFill>
                  <a:srgbClr val="99C5FF"/>
                </a:solidFill>
                <a:latin typeface="HK Modular"/>
                <a:ea typeface="HK Modular"/>
                <a:cs typeface="HK Modular"/>
                <a:sym typeface="HK Modular"/>
              </a:rPr>
              <a:t>CATEGORIAS</a:t>
            </a:r>
          </a:p>
        </p:txBody>
      </p:sp>
      <p:sp>
        <p:nvSpPr>
          <p:cNvPr name="TextBox 10" id="10"/>
          <p:cNvSpPr txBox="true"/>
          <p:nvPr/>
        </p:nvSpPr>
        <p:spPr>
          <a:xfrm rot="0">
            <a:off x="777277" y="5972389"/>
            <a:ext cx="4177332" cy="518534"/>
          </a:xfrm>
          <a:prstGeom prst="rect">
            <a:avLst/>
          </a:prstGeom>
        </p:spPr>
        <p:txBody>
          <a:bodyPr anchor="t" rtlCol="false" tIns="0" lIns="0" bIns="0" rIns="0">
            <a:spAutoFit/>
          </a:bodyPr>
          <a:lstStyle/>
          <a:p>
            <a:pPr algn="ctr">
              <a:lnSpc>
                <a:spcPts val="4155"/>
              </a:lnSpc>
              <a:spcBef>
                <a:spcPct val="0"/>
              </a:spcBef>
            </a:pPr>
            <a:r>
              <a:rPr lang="en-US" sz="2968">
                <a:solidFill>
                  <a:srgbClr val="7B640E"/>
                </a:solidFill>
                <a:latin typeface="HK Modular"/>
                <a:ea typeface="HK Modular"/>
                <a:cs typeface="HK Modular"/>
                <a:sym typeface="HK Modular"/>
              </a:rPr>
              <a:t>CREACIONALES</a:t>
            </a:r>
          </a:p>
        </p:txBody>
      </p:sp>
      <p:sp>
        <p:nvSpPr>
          <p:cNvPr name="TextBox 11" id="11"/>
          <p:cNvSpPr txBox="true"/>
          <p:nvPr/>
        </p:nvSpPr>
        <p:spPr>
          <a:xfrm rot="0">
            <a:off x="6773126" y="5972389"/>
            <a:ext cx="4544292" cy="504838"/>
          </a:xfrm>
          <a:prstGeom prst="rect">
            <a:avLst/>
          </a:prstGeom>
        </p:spPr>
        <p:txBody>
          <a:bodyPr anchor="t" rtlCol="false" tIns="0" lIns="0" bIns="0" rIns="0">
            <a:spAutoFit/>
          </a:bodyPr>
          <a:lstStyle/>
          <a:p>
            <a:pPr algn="ctr">
              <a:lnSpc>
                <a:spcPts val="4029"/>
              </a:lnSpc>
              <a:spcBef>
                <a:spcPct val="0"/>
              </a:spcBef>
            </a:pPr>
            <a:r>
              <a:rPr lang="en-US" sz="2878">
                <a:solidFill>
                  <a:srgbClr val="7B640E"/>
                </a:solidFill>
                <a:latin typeface="HK Modular"/>
                <a:ea typeface="HK Modular"/>
                <a:cs typeface="HK Modular"/>
                <a:sym typeface="HK Modular"/>
              </a:rPr>
              <a:t>ESTRUCTURALES</a:t>
            </a:r>
          </a:p>
        </p:txBody>
      </p:sp>
      <p:sp>
        <p:nvSpPr>
          <p:cNvPr name="TextBox 12" id="12"/>
          <p:cNvSpPr txBox="true"/>
          <p:nvPr/>
        </p:nvSpPr>
        <p:spPr>
          <a:xfrm rot="0">
            <a:off x="12767240" y="5981914"/>
            <a:ext cx="4959028" cy="535302"/>
          </a:xfrm>
          <a:prstGeom prst="rect">
            <a:avLst/>
          </a:prstGeom>
        </p:spPr>
        <p:txBody>
          <a:bodyPr anchor="t" rtlCol="false" tIns="0" lIns="0" bIns="0" rIns="0">
            <a:spAutoFit/>
          </a:bodyPr>
          <a:lstStyle/>
          <a:p>
            <a:pPr algn="ctr">
              <a:lnSpc>
                <a:spcPts val="4397"/>
              </a:lnSpc>
              <a:spcBef>
                <a:spcPct val="0"/>
              </a:spcBef>
            </a:pPr>
            <a:r>
              <a:rPr lang="en-US" sz="3140">
                <a:solidFill>
                  <a:srgbClr val="7B640E"/>
                </a:solidFill>
                <a:latin typeface="HK Modular"/>
                <a:ea typeface="HK Modular"/>
                <a:cs typeface="HK Modular"/>
                <a:sym typeface="HK Modular"/>
              </a:rPr>
              <a:t>COMPORTAMIENTO</a:t>
            </a:r>
          </a:p>
        </p:txBody>
      </p:sp>
      <p:sp>
        <p:nvSpPr>
          <p:cNvPr name="TextBox 13" id="13"/>
          <p:cNvSpPr txBox="true"/>
          <p:nvPr/>
        </p:nvSpPr>
        <p:spPr>
          <a:xfrm rot="0">
            <a:off x="685400" y="6738573"/>
            <a:ext cx="4269209" cy="1925965"/>
          </a:xfrm>
          <a:prstGeom prst="rect">
            <a:avLst/>
          </a:prstGeom>
        </p:spPr>
        <p:txBody>
          <a:bodyPr anchor="t" rtlCol="false" tIns="0" lIns="0" bIns="0" rIns="0">
            <a:spAutoFit/>
          </a:bodyPr>
          <a:lstStyle/>
          <a:p>
            <a:pPr algn="ctr">
              <a:lnSpc>
                <a:spcPts val="3048"/>
              </a:lnSpc>
              <a:spcBef>
                <a:spcPct val="0"/>
              </a:spcBef>
            </a:pPr>
            <a:r>
              <a:rPr lang="en-US" sz="2177">
                <a:solidFill>
                  <a:srgbClr val="FFFFFF"/>
                </a:solidFill>
                <a:latin typeface="Poppins"/>
                <a:ea typeface="Poppins"/>
                <a:cs typeface="Poppins"/>
                <a:sym typeface="Poppins"/>
              </a:rPr>
              <a:t>Proporcionan diversos mecanismos de creacion de objetos que incrementan la flexibilidad y reutilizacion del codigo existente</a:t>
            </a:r>
          </a:p>
        </p:txBody>
      </p:sp>
      <p:sp>
        <p:nvSpPr>
          <p:cNvPr name="TextBox 14" id="14"/>
          <p:cNvSpPr txBox="true"/>
          <p:nvPr/>
        </p:nvSpPr>
        <p:spPr>
          <a:xfrm rot="0">
            <a:off x="7074180" y="6682916"/>
            <a:ext cx="3888444" cy="2099381"/>
          </a:xfrm>
          <a:prstGeom prst="rect">
            <a:avLst/>
          </a:prstGeom>
        </p:spPr>
        <p:txBody>
          <a:bodyPr anchor="t" rtlCol="false" tIns="0" lIns="0" bIns="0" rIns="0">
            <a:spAutoFit/>
          </a:bodyPr>
          <a:lstStyle/>
          <a:p>
            <a:pPr algn="ctr">
              <a:lnSpc>
                <a:spcPts val="2776"/>
              </a:lnSpc>
              <a:spcBef>
                <a:spcPct val="0"/>
              </a:spcBef>
            </a:pPr>
            <a:r>
              <a:rPr lang="en-US" sz="1983">
                <a:solidFill>
                  <a:srgbClr val="FFFFFF"/>
                </a:solidFill>
                <a:latin typeface="Poppins"/>
                <a:ea typeface="Poppins"/>
                <a:cs typeface="Poppins"/>
                <a:sym typeface="Poppins"/>
              </a:rPr>
              <a:t>Explican como ensamblar objetos y clases en estructuras mas grandes, mientras se mantiene la flexibilidad y eficiencia de la estructura</a:t>
            </a:r>
          </a:p>
        </p:txBody>
      </p:sp>
      <p:sp>
        <p:nvSpPr>
          <p:cNvPr name="TextBox 15" id="15"/>
          <p:cNvSpPr txBox="true"/>
          <p:nvPr/>
        </p:nvSpPr>
        <p:spPr>
          <a:xfrm rot="0">
            <a:off x="13246245" y="6682916"/>
            <a:ext cx="4001017" cy="1799639"/>
          </a:xfrm>
          <a:prstGeom prst="rect">
            <a:avLst/>
          </a:prstGeom>
        </p:spPr>
        <p:txBody>
          <a:bodyPr anchor="t" rtlCol="false" tIns="0" lIns="0" bIns="0" rIns="0">
            <a:spAutoFit/>
          </a:bodyPr>
          <a:lstStyle/>
          <a:p>
            <a:pPr algn="ctr">
              <a:lnSpc>
                <a:spcPts val="2857"/>
              </a:lnSpc>
              <a:spcBef>
                <a:spcPct val="0"/>
              </a:spcBef>
            </a:pPr>
            <a:r>
              <a:rPr lang="en-US" sz="2040">
                <a:solidFill>
                  <a:srgbClr val="FFFFFF"/>
                </a:solidFill>
                <a:latin typeface="Poppins"/>
                <a:ea typeface="Poppins"/>
                <a:cs typeface="Poppins"/>
                <a:sym typeface="Poppins"/>
              </a:rPr>
              <a:t>Estos patrones tratan con algoritmos y la asignacion de responsabilidades entre objetos, es decir como interactuan entre si</a:t>
            </a:r>
          </a:p>
        </p:txBody>
      </p:sp>
      <p:sp>
        <p:nvSpPr>
          <p:cNvPr name="Freeform 16" id="16"/>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81153" y="1850399"/>
            <a:ext cx="10944428" cy="174753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CREACIONAL - FACTORY METHOD</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188362" y="5143500"/>
            <a:ext cx="6603979" cy="4338008"/>
          </a:xfrm>
          <a:custGeom>
            <a:avLst/>
            <a:gdLst/>
            <a:ahLst/>
            <a:cxnLst/>
            <a:rect r="r" b="b" t="t" l="l"/>
            <a:pathLst>
              <a:path h="4338008" w="6603979">
                <a:moveTo>
                  <a:pt x="0" y="0"/>
                </a:moveTo>
                <a:lnTo>
                  <a:pt x="6603979" y="0"/>
                </a:lnTo>
                <a:lnTo>
                  <a:pt x="6603979" y="4338008"/>
                </a:lnTo>
                <a:lnTo>
                  <a:pt x="0" y="4338008"/>
                </a:lnTo>
                <a:lnTo>
                  <a:pt x="0" y="0"/>
                </a:lnTo>
                <a:close/>
              </a:path>
            </a:pathLst>
          </a:custGeom>
          <a:blipFill>
            <a:blip r:embed="rId4"/>
            <a:stretch>
              <a:fillRect l="0" t="0" r="0" b="0"/>
            </a:stretch>
          </a:blipFill>
        </p:spPr>
      </p:sp>
      <p:pic>
        <p:nvPicPr>
          <p:cNvPr name="Picture 9" id="9"/>
          <p:cNvPicPr>
            <a:picLocks noChangeAspect="true"/>
          </p:cNvPicPr>
          <p:nvPr/>
        </p:nvPicPr>
        <p:blipFill>
          <a:blip r:embed="rId5"/>
          <a:stretch>
            <a:fillRect/>
          </a:stretch>
        </p:blipFill>
        <p:spPr>
          <a:xfrm rot="0">
            <a:off x="8332988" y="5415412"/>
            <a:ext cx="884789" cy="885324"/>
          </a:xfrm>
          <a:prstGeom prst="rect">
            <a:avLst/>
          </a:prstGeom>
        </p:spPr>
      </p:pic>
      <p:sp>
        <p:nvSpPr>
          <p:cNvPr name="TextBox 10" id="10"/>
          <p:cNvSpPr txBox="true"/>
          <p:nvPr/>
        </p:nvSpPr>
        <p:spPr>
          <a:xfrm rot="0">
            <a:off x="1652826" y="3970911"/>
            <a:ext cx="15814111"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creacional que proporciona una interfaz para crear objetos en una superclase, mientras permite a las subclases alterar el tipo de objetos que se crearán.</a:t>
            </a:r>
          </a:p>
        </p:txBody>
      </p:sp>
      <p:sp>
        <p:nvSpPr>
          <p:cNvPr name="TextBox 11" id="11"/>
          <p:cNvSpPr txBox="true"/>
          <p:nvPr/>
        </p:nvSpPr>
        <p:spPr>
          <a:xfrm rot="0">
            <a:off x="9144000" y="5663982"/>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Con el evitas un acoplamiento fuerte entre el creador y los productos concretos</a:t>
            </a:r>
          </a:p>
        </p:txBody>
      </p:sp>
      <p:sp>
        <p:nvSpPr>
          <p:cNvPr name="TextBox 12" id="12"/>
          <p:cNvSpPr txBox="true"/>
          <p:nvPr/>
        </p:nvSpPr>
        <p:spPr>
          <a:xfrm rot="0">
            <a:off x="9253367" y="6958747"/>
            <a:ext cx="8744962"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SINGLE RESPONSABILITY ya que puedes mover el codigo de la creacion de un producto a un lugar del programa haciendolo mas facil de mantener</a:t>
            </a:r>
          </a:p>
        </p:txBody>
      </p:sp>
      <p:sp>
        <p:nvSpPr>
          <p:cNvPr name="TextBox 13" id="13"/>
          <p:cNvSpPr txBox="true"/>
          <p:nvPr/>
        </p:nvSpPr>
        <p:spPr>
          <a:xfrm rot="0">
            <a:off x="9144000" y="8582660"/>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OPEN/CLOSE al incorporar nuevos tipos de productos en el programa sin descomponer el codigo cliente existente</a:t>
            </a:r>
          </a:p>
        </p:txBody>
      </p:sp>
      <p:pic>
        <p:nvPicPr>
          <p:cNvPr name="Picture 14" id="14"/>
          <p:cNvPicPr>
            <a:picLocks noChangeAspect="true"/>
          </p:cNvPicPr>
          <p:nvPr/>
        </p:nvPicPr>
        <p:blipFill>
          <a:blip r:embed="rId6"/>
          <a:stretch>
            <a:fillRect/>
          </a:stretch>
        </p:blipFill>
        <p:spPr>
          <a:xfrm rot="0">
            <a:off x="8332988" y="6869842"/>
            <a:ext cx="884789" cy="885324"/>
          </a:xfrm>
          <a:prstGeom prst="rect">
            <a:avLst/>
          </a:prstGeom>
        </p:spPr>
      </p:pic>
      <p:pic>
        <p:nvPicPr>
          <p:cNvPr name="Picture 15" id="15"/>
          <p:cNvPicPr>
            <a:picLocks noChangeAspect="true"/>
          </p:cNvPicPr>
          <p:nvPr/>
        </p:nvPicPr>
        <p:blipFill>
          <a:blip r:embed="rId7"/>
          <a:stretch>
            <a:fillRect/>
          </a:stretch>
        </p:blipFill>
        <p:spPr>
          <a:xfrm rot="0">
            <a:off x="8332988" y="8445812"/>
            <a:ext cx="884789" cy="885324"/>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4280851" y="3218530"/>
            <a:ext cx="9481246" cy="5458899"/>
          </a:xfrm>
          <a:custGeom>
            <a:avLst/>
            <a:gdLst/>
            <a:ahLst/>
            <a:cxnLst/>
            <a:rect r="r" b="b" t="t" l="l"/>
            <a:pathLst>
              <a:path h="5458899" w="9481246">
                <a:moveTo>
                  <a:pt x="0" y="0"/>
                </a:moveTo>
                <a:lnTo>
                  <a:pt x="9481246" y="0"/>
                </a:lnTo>
                <a:lnTo>
                  <a:pt x="9481246" y="5458899"/>
                </a:lnTo>
                <a:lnTo>
                  <a:pt x="0" y="5458899"/>
                </a:lnTo>
                <a:lnTo>
                  <a:pt x="0" y="0"/>
                </a:lnTo>
                <a:close/>
              </a:path>
            </a:pathLst>
          </a:custGeom>
          <a:blipFill>
            <a:blip r:embed="rId4"/>
            <a:stretch>
              <a:fillRect l="0" t="0" r="0" b="0"/>
            </a:stretch>
          </a:blipFill>
        </p:spPr>
      </p:sp>
      <p:sp>
        <p:nvSpPr>
          <p:cNvPr name="TextBox 9" id="9"/>
          <p:cNvSpPr txBox="true"/>
          <p:nvPr/>
        </p:nvSpPr>
        <p:spPr>
          <a:xfrm rot="0">
            <a:off x="11074793" y="3161380"/>
            <a:ext cx="6612422" cy="1342390"/>
          </a:xfrm>
          <a:prstGeom prst="rect">
            <a:avLst/>
          </a:prstGeom>
        </p:spPr>
        <p:txBody>
          <a:bodyPr anchor="t" rtlCol="false" tIns="0" lIns="0" bIns="0" rIns="0">
            <a:spAutoFit/>
          </a:bodyPr>
          <a:lstStyle/>
          <a:p>
            <a:pPr algn="ctr" marL="410209" indent="-205105" lvl="1">
              <a:lnSpc>
                <a:spcPts val="2659"/>
              </a:lnSpc>
              <a:buAutoNum type="arabicPeriod" startAt="1"/>
            </a:pPr>
            <a:r>
              <a:rPr lang="en-US" sz="1899">
                <a:solidFill>
                  <a:srgbClr val="FFFFFF"/>
                </a:solidFill>
                <a:latin typeface="Poppins"/>
                <a:ea typeface="Poppins"/>
                <a:cs typeface="Poppins"/>
                <a:sym typeface="Poppins"/>
              </a:rPr>
              <a:t>Generen una interfaz que es comun para todos los objetos que puede producir la clase creadora y sus implementaciones concretas</a:t>
            </a:r>
          </a:p>
          <a:p>
            <a:pPr algn="ctr">
              <a:lnSpc>
                <a:spcPts val="2659"/>
              </a:lnSpc>
              <a:spcBef>
                <a:spcPct val="0"/>
              </a:spcBef>
            </a:pPr>
          </a:p>
        </p:txBody>
      </p:sp>
      <p:sp>
        <p:nvSpPr>
          <p:cNvPr name="TextBox 10" id="10"/>
          <p:cNvSpPr txBox="true"/>
          <p:nvPr/>
        </p:nvSpPr>
        <p:spPr>
          <a:xfrm rot="0">
            <a:off x="287574" y="2852135"/>
            <a:ext cx="3689508" cy="200914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clase creadora declara el metodo fabrica que devuelve nuevos objetos de producto, el retorno debe coincidir con la interfaz de producto</a:t>
            </a:r>
          </a:p>
        </p:txBody>
      </p:sp>
      <p:sp>
        <p:nvSpPr>
          <p:cNvPr name="TextBox 11" id="11"/>
          <p:cNvSpPr txBox="true"/>
          <p:nvPr/>
        </p:nvSpPr>
        <p:spPr>
          <a:xfrm rot="0">
            <a:off x="3695777" y="9125104"/>
            <a:ext cx="7379016" cy="67564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Los creadores concretos sobrescriben el Factory Method base y devuelven un tipo diferente de producto</a:t>
            </a:r>
          </a:p>
        </p:txBody>
      </p:sp>
      <p:sp>
        <p:nvSpPr>
          <p:cNvPr name="TextBox 12" id="12"/>
          <p:cNvSpPr txBox="true"/>
          <p:nvPr/>
        </p:nvSpPr>
        <p:spPr>
          <a:xfrm rot="0">
            <a:off x="421099" y="6259803"/>
            <a:ext cx="3555983" cy="1540079"/>
          </a:xfrm>
          <a:prstGeom prst="rect">
            <a:avLst/>
          </a:prstGeom>
        </p:spPr>
        <p:txBody>
          <a:bodyPr anchor="t" rtlCol="false" tIns="0" lIns="0" bIns="0" rIns="0">
            <a:spAutoFit/>
          </a:bodyPr>
          <a:lstStyle/>
          <a:p>
            <a:pPr algn="ctr">
              <a:lnSpc>
                <a:spcPts val="2452"/>
              </a:lnSpc>
              <a:spcBef>
                <a:spcPct val="0"/>
              </a:spcBef>
            </a:pPr>
            <a:r>
              <a:rPr lang="en-US" sz="1751">
                <a:solidFill>
                  <a:srgbClr val="FFFFFF"/>
                </a:solidFill>
                <a:latin typeface="Poppins"/>
                <a:ea typeface="Poppins"/>
                <a:cs typeface="Poppins"/>
                <a:sym typeface="Poppins"/>
              </a:rPr>
              <a:t>SE PUEDE USAR EL CREADOR COMO ABSTRACTO para forzar a las subclases a implementar sus propias versiones con overriding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697597" y="4357860"/>
            <a:ext cx="11301259" cy="3475137"/>
          </a:xfrm>
          <a:custGeom>
            <a:avLst/>
            <a:gdLst/>
            <a:ahLst/>
            <a:cxnLst/>
            <a:rect r="r" b="b" t="t" l="l"/>
            <a:pathLst>
              <a:path h="3475137" w="11301259">
                <a:moveTo>
                  <a:pt x="0" y="0"/>
                </a:moveTo>
                <a:lnTo>
                  <a:pt x="11301259" y="0"/>
                </a:lnTo>
                <a:lnTo>
                  <a:pt x="11301259" y="3475137"/>
                </a:lnTo>
                <a:lnTo>
                  <a:pt x="0" y="3475137"/>
                </a:lnTo>
                <a:lnTo>
                  <a:pt x="0" y="0"/>
                </a:lnTo>
                <a:close/>
              </a:path>
            </a:pathLst>
          </a:custGeom>
          <a:blipFill>
            <a:blip r:embed="rId4"/>
            <a:stretch>
              <a:fillRect l="0" t="0" r="0" b="0"/>
            </a:stretch>
          </a:blipFill>
        </p:spPr>
      </p:sp>
      <p:sp>
        <p:nvSpPr>
          <p:cNvPr name="Freeform 9" id="9"/>
          <p:cNvSpPr/>
          <p:nvPr/>
        </p:nvSpPr>
        <p:spPr>
          <a:xfrm flipH="false" flipV="false" rot="0">
            <a:off x="1873694" y="2191796"/>
            <a:ext cx="2574485" cy="1956608"/>
          </a:xfrm>
          <a:custGeom>
            <a:avLst/>
            <a:gdLst/>
            <a:ahLst/>
            <a:cxnLst/>
            <a:rect r="r" b="b" t="t" l="l"/>
            <a:pathLst>
              <a:path h="1956608" w="2574485">
                <a:moveTo>
                  <a:pt x="0" y="0"/>
                </a:moveTo>
                <a:lnTo>
                  <a:pt x="2574485" y="0"/>
                </a:lnTo>
                <a:lnTo>
                  <a:pt x="2574485" y="1956608"/>
                </a:lnTo>
                <a:lnTo>
                  <a:pt x="0" y="19566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833574" y="4560890"/>
            <a:ext cx="5451327" cy="4833115"/>
          </a:xfrm>
          <a:prstGeom prst="rect">
            <a:avLst/>
          </a:prstGeom>
        </p:spPr>
        <p:txBody>
          <a:bodyPr anchor="t" rtlCol="false" tIns="0" lIns="0" bIns="0" rIns="0">
            <a:spAutoFit/>
          </a:bodyPr>
          <a:lstStyle/>
          <a:p>
            <a:pPr algn="l">
              <a:lnSpc>
                <a:spcPts val="2747"/>
              </a:lnSpc>
              <a:spcBef>
                <a:spcPct val="0"/>
              </a:spcBef>
            </a:pPr>
            <a:r>
              <a:rPr lang="en-US" sz="1962">
                <a:solidFill>
                  <a:srgbClr val="FFFFFF"/>
                </a:solidFill>
                <a:latin typeface="Poppins"/>
                <a:ea typeface="Poppins"/>
                <a:cs typeface="Poppins"/>
                <a:sym typeface="Poppins"/>
              </a:rPr>
              <a:t>Una plataforma de comercio electrónico procesa pagos usando distintos métodos de pago:</a:t>
            </a:r>
          </a:p>
          <a:p>
            <a:pPr algn="l">
              <a:lnSpc>
                <a:spcPts val="2747"/>
              </a:lnSpc>
              <a:spcBef>
                <a:spcPct val="0"/>
              </a:spcBef>
            </a:pPr>
          </a:p>
          <a:p>
            <a:pPr algn="l" marL="423723" indent="-211861" lvl="1">
              <a:lnSpc>
                <a:spcPts val="2747"/>
              </a:lnSpc>
              <a:buFont typeface="Arial"/>
              <a:buChar char="•"/>
            </a:pPr>
            <a:r>
              <a:rPr lang="en-US" sz="1962">
                <a:solidFill>
                  <a:srgbClr val="FFFFFF"/>
                </a:solidFill>
                <a:latin typeface="Poppins"/>
                <a:ea typeface="Poppins"/>
                <a:cs typeface="Poppins"/>
                <a:sym typeface="Poppins"/>
              </a:rPr>
              <a:t>Tarjeta de crédito</a:t>
            </a:r>
          </a:p>
          <a:p>
            <a:pPr algn="l" marL="423723" indent="-211861" lvl="1">
              <a:lnSpc>
                <a:spcPts val="2747"/>
              </a:lnSpc>
              <a:buFont typeface="Arial"/>
              <a:buChar char="•"/>
            </a:pPr>
            <a:r>
              <a:rPr lang="en-US" sz="1962">
                <a:solidFill>
                  <a:srgbClr val="FFFFFF"/>
                </a:solidFill>
                <a:latin typeface="Poppins"/>
                <a:ea typeface="Poppins"/>
                <a:cs typeface="Poppins"/>
                <a:sym typeface="Poppins"/>
              </a:rPr>
              <a:t>PayPal</a:t>
            </a:r>
          </a:p>
          <a:p>
            <a:pPr algn="l" marL="423723" indent="-211861" lvl="1">
              <a:lnSpc>
                <a:spcPts val="2747"/>
              </a:lnSpc>
              <a:buFont typeface="Arial"/>
              <a:buChar char="•"/>
            </a:pPr>
            <a:r>
              <a:rPr lang="en-US" sz="1962">
                <a:solidFill>
                  <a:srgbClr val="FFFFFF"/>
                </a:solidFill>
                <a:latin typeface="Poppins"/>
                <a:ea typeface="Poppins"/>
                <a:cs typeface="Poppins"/>
                <a:sym typeface="Poppins"/>
              </a:rPr>
              <a:t>Transferencia bancaria</a:t>
            </a:r>
          </a:p>
          <a:p>
            <a:pPr algn="l">
              <a:lnSpc>
                <a:spcPts val="2747"/>
              </a:lnSpc>
            </a:pPr>
          </a:p>
          <a:p>
            <a:pPr algn="l">
              <a:lnSpc>
                <a:spcPts val="2747"/>
              </a:lnSpc>
              <a:spcBef>
                <a:spcPct val="0"/>
              </a:spcBef>
            </a:pPr>
            <a:r>
              <a:rPr lang="en-US" sz="1962">
                <a:solidFill>
                  <a:srgbClr val="FFFFFF"/>
                </a:solidFill>
                <a:latin typeface="Poppins"/>
                <a:ea typeface="Poppins"/>
                <a:cs typeface="Poppins"/>
                <a:sym typeface="Poppins"/>
              </a:rPr>
              <a:t>El sistema no debe acoplarse a las clases concretas de cada tipo de pago.</a:t>
            </a:r>
          </a:p>
          <a:p>
            <a:pPr algn="l">
              <a:lnSpc>
                <a:spcPts val="2747"/>
              </a:lnSpc>
              <a:spcBef>
                <a:spcPct val="0"/>
              </a:spcBef>
            </a:pPr>
            <a:r>
              <a:rPr lang="en-US" sz="1962">
                <a:solidFill>
                  <a:srgbClr val="FFFFFF"/>
                </a:solidFill>
                <a:latin typeface="Poppins"/>
                <a:ea typeface="Poppins"/>
                <a:cs typeface="Poppins"/>
                <a:sym typeface="Poppins"/>
              </a:rPr>
              <a:t>Los pagos son con decimales</a:t>
            </a:r>
          </a:p>
          <a:p>
            <a:pPr algn="l">
              <a:lnSpc>
                <a:spcPts val="2747"/>
              </a:lnSpc>
              <a:spcBef>
                <a:spcPct val="0"/>
              </a:spcBef>
            </a:pPr>
            <a:r>
              <a:rPr lang="en-US" sz="1962">
                <a:solidFill>
                  <a:srgbClr val="FFFFFF"/>
                </a:solidFill>
                <a:latin typeface="Poppins"/>
                <a:ea typeface="Poppins"/>
                <a:cs typeface="Poppins"/>
                <a:sym typeface="Poppins"/>
              </a:rPr>
              <a:t>Cada pago debe decir:</a:t>
            </a:r>
          </a:p>
          <a:p>
            <a:pPr algn="l">
              <a:lnSpc>
                <a:spcPts val="2747"/>
              </a:lnSpc>
              <a:spcBef>
                <a:spcPct val="0"/>
              </a:spcBef>
            </a:pPr>
          </a:p>
          <a:p>
            <a:pPr algn="l">
              <a:lnSpc>
                <a:spcPts val="2747"/>
              </a:lnSpc>
              <a:spcBef>
                <a:spcPct val="0"/>
              </a:spcBef>
            </a:pPr>
            <a:r>
              <a:rPr lang="en-US" sz="1962">
                <a:solidFill>
                  <a:srgbClr val="FFFFFF"/>
                </a:solidFill>
                <a:latin typeface="Poppins"/>
                <a:ea typeface="Poppins"/>
                <a:cs typeface="Poppins"/>
                <a:sym typeface="Poppins"/>
              </a:rPr>
              <a:t>Pago con METODO por $ MONTO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0075325" y="4092830"/>
            <a:ext cx="6505191" cy="5430805"/>
          </a:xfrm>
          <a:custGeom>
            <a:avLst/>
            <a:gdLst/>
            <a:ahLst/>
            <a:cxnLst/>
            <a:rect r="r" b="b" t="t" l="l"/>
            <a:pathLst>
              <a:path h="5430805" w="6505191">
                <a:moveTo>
                  <a:pt x="0" y="0"/>
                </a:moveTo>
                <a:lnTo>
                  <a:pt x="6505191" y="0"/>
                </a:lnTo>
                <a:lnTo>
                  <a:pt x="6505191" y="5430805"/>
                </a:lnTo>
                <a:lnTo>
                  <a:pt x="0" y="5430805"/>
                </a:lnTo>
                <a:lnTo>
                  <a:pt x="0" y="0"/>
                </a:lnTo>
                <a:close/>
              </a:path>
            </a:pathLst>
          </a:custGeom>
          <a:blipFill>
            <a:blip r:embed="rId4"/>
            <a:stretch>
              <a:fillRect l="0" t="0" r="0" b="0"/>
            </a:stretch>
          </a:blipFill>
        </p:spPr>
      </p:sp>
      <p:sp>
        <p:nvSpPr>
          <p:cNvPr name="Freeform 9" id="9"/>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81153" y="1850399"/>
            <a:ext cx="10944428" cy="1747534"/>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CREACIONAL - ABSTRACT FACTORY</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950443"/>
            <a:ext cx="884789" cy="885324"/>
          </a:xfrm>
          <a:prstGeom prst="rect">
            <a:avLst/>
          </a:prstGeom>
        </p:spPr>
      </p:pic>
      <p:pic>
        <p:nvPicPr>
          <p:cNvPr name="Picture 9" id="9"/>
          <p:cNvPicPr>
            <a:picLocks noChangeAspect="true"/>
          </p:cNvPicPr>
          <p:nvPr/>
        </p:nvPicPr>
        <p:blipFill>
          <a:blip r:embed="rId5"/>
          <a:stretch>
            <a:fillRect/>
          </a:stretch>
        </p:blipFill>
        <p:spPr>
          <a:xfrm rot="0">
            <a:off x="8332988" y="6869842"/>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pic>
        <p:nvPicPr>
          <p:cNvPr name="Picture 11" id="11"/>
          <p:cNvPicPr>
            <a:picLocks noChangeAspect="true"/>
          </p:cNvPicPr>
          <p:nvPr/>
        </p:nvPicPr>
        <p:blipFill>
          <a:blip r:embed="rId7"/>
          <a:stretch>
            <a:fillRect/>
          </a:stretch>
        </p:blipFill>
        <p:spPr>
          <a:xfrm rot="0">
            <a:off x="8332988" y="5922151"/>
            <a:ext cx="884789" cy="885324"/>
          </a:xfrm>
          <a:prstGeom prst="rect">
            <a:avLst/>
          </a:prstGeom>
        </p:spPr>
      </p:pic>
      <p:sp>
        <p:nvSpPr>
          <p:cNvPr name="Freeform 12" id="12"/>
          <p:cNvSpPr/>
          <p:nvPr/>
        </p:nvSpPr>
        <p:spPr>
          <a:xfrm flipH="false" flipV="false" rot="0">
            <a:off x="1302721" y="5024220"/>
            <a:ext cx="6401345" cy="4330031"/>
          </a:xfrm>
          <a:custGeom>
            <a:avLst/>
            <a:gdLst/>
            <a:ahLst/>
            <a:cxnLst/>
            <a:rect r="r" b="b" t="t" l="l"/>
            <a:pathLst>
              <a:path h="4330031" w="6401345">
                <a:moveTo>
                  <a:pt x="0" y="0"/>
                </a:moveTo>
                <a:lnTo>
                  <a:pt x="6401345" y="0"/>
                </a:lnTo>
                <a:lnTo>
                  <a:pt x="6401345" y="4330031"/>
                </a:lnTo>
                <a:lnTo>
                  <a:pt x="0" y="4330031"/>
                </a:lnTo>
                <a:lnTo>
                  <a:pt x="0" y="0"/>
                </a:lnTo>
                <a:close/>
              </a:path>
            </a:pathLst>
          </a:custGeom>
          <a:blipFill>
            <a:blip r:embed="rId8"/>
            <a:stretch>
              <a:fillRect l="0" t="0" r="0" b="0"/>
            </a:stretch>
          </a:blipFill>
        </p:spPr>
      </p:sp>
      <p:sp>
        <p:nvSpPr>
          <p:cNvPr name="TextBox 13" id="13"/>
          <p:cNvSpPr txBox="true"/>
          <p:nvPr/>
        </p:nvSpPr>
        <p:spPr>
          <a:xfrm rot="0">
            <a:off x="1652826" y="3970911"/>
            <a:ext cx="15814111"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creacional que nos permite producir familias de objetos relacionados sin especificar sus clases concretas.</a:t>
            </a:r>
          </a:p>
        </p:txBody>
      </p:sp>
      <p:sp>
        <p:nvSpPr>
          <p:cNvPr name="TextBox 14" id="14"/>
          <p:cNvSpPr txBox="true"/>
          <p:nvPr/>
        </p:nvSpPr>
        <p:spPr>
          <a:xfrm rot="0">
            <a:off x="9144000" y="5086350"/>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Puedes tener la certeza de que los productos que obtienes en una fabrica son compatibles entre si</a:t>
            </a:r>
          </a:p>
        </p:txBody>
      </p:sp>
      <p:sp>
        <p:nvSpPr>
          <p:cNvPr name="TextBox 15" id="15"/>
          <p:cNvSpPr txBox="true"/>
          <p:nvPr/>
        </p:nvSpPr>
        <p:spPr>
          <a:xfrm rot="0">
            <a:off x="9253367" y="6958747"/>
            <a:ext cx="8744962"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SINGLE RESPONSABILITY ya que puedes mover el codigo de la creacion de un producto a un lugar del programa haciendolo mas facil de mantener</a:t>
            </a:r>
          </a:p>
        </p:txBody>
      </p:sp>
      <p:sp>
        <p:nvSpPr>
          <p:cNvPr name="TextBox 16" id="16"/>
          <p:cNvSpPr txBox="true"/>
          <p:nvPr/>
        </p:nvSpPr>
        <p:spPr>
          <a:xfrm rot="0">
            <a:off x="9144000" y="8582660"/>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presenta el principio de OPEN/CLOSE al incorporar nuevos tipos de productos en el programa sin descomponer el codigo cliente existente</a:t>
            </a:r>
          </a:p>
        </p:txBody>
      </p:sp>
      <p:sp>
        <p:nvSpPr>
          <p:cNvPr name="TextBox 17" id="17"/>
          <p:cNvSpPr txBox="true"/>
          <p:nvPr/>
        </p:nvSpPr>
        <p:spPr>
          <a:xfrm rot="0">
            <a:off x="9253367" y="6022548"/>
            <a:ext cx="8744962"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Evitas un acoplamiento fierte entre productos y codigo cliente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4178261" y="2978957"/>
            <a:ext cx="9012727" cy="5632954"/>
          </a:xfrm>
          <a:custGeom>
            <a:avLst/>
            <a:gdLst/>
            <a:ahLst/>
            <a:cxnLst/>
            <a:rect r="r" b="b" t="t" l="l"/>
            <a:pathLst>
              <a:path h="5632954" w="9012727">
                <a:moveTo>
                  <a:pt x="0" y="0"/>
                </a:moveTo>
                <a:lnTo>
                  <a:pt x="9012727" y="0"/>
                </a:lnTo>
                <a:lnTo>
                  <a:pt x="9012727" y="5632955"/>
                </a:lnTo>
                <a:lnTo>
                  <a:pt x="0" y="5632955"/>
                </a:lnTo>
                <a:lnTo>
                  <a:pt x="0" y="0"/>
                </a:lnTo>
                <a:close/>
              </a:path>
            </a:pathLst>
          </a:custGeom>
          <a:blipFill>
            <a:blip r:embed="rId4"/>
            <a:stretch>
              <a:fillRect l="0" t="0" r="0" b="0"/>
            </a:stretch>
          </a:blipFill>
        </p:spPr>
      </p:sp>
      <p:sp>
        <p:nvSpPr>
          <p:cNvPr name="TextBox 9" id="9"/>
          <p:cNvSpPr txBox="true"/>
          <p:nvPr/>
        </p:nvSpPr>
        <p:spPr>
          <a:xfrm rot="0">
            <a:off x="625795" y="6119311"/>
            <a:ext cx="3389563" cy="1074992"/>
          </a:xfrm>
          <a:prstGeom prst="rect">
            <a:avLst/>
          </a:prstGeom>
        </p:spPr>
        <p:txBody>
          <a:bodyPr anchor="t" rtlCol="false" tIns="0" lIns="0" bIns="0" rIns="0">
            <a:spAutoFit/>
          </a:bodyPr>
          <a:lstStyle/>
          <a:p>
            <a:pPr algn="ctr" marL="327904" indent="-163952" lvl="1">
              <a:lnSpc>
                <a:spcPts val="2126"/>
              </a:lnSpc>
              <a:spcBef>
                <a:spcPct val="0"/>
              </a:spcBef>
              <a:buAutoNum type="arabicPeriod" startAt="1"/>
            </a:pPr>
            <a:r>
              <a:rPr lang="en-US" sz="1518">
                <a:solidFill>
                  <a:srgbClr val="FFFFFF"/>
                </a:solidFill>
                <a:latin typeface="Poppins"/>
                <a:ea typeface="Poppins"/>
                <a:cs typeface="Poppins"/>
                <a:sym typeface="Poppins"/>
              </a:rPr>
              <a:t>Los productos abstractos declaran interfaces para un grupo de productos diferentes pero relacionados en familia</a:t>
            </a:r>
          </a:p>
        </p:txBody>
      </p:sp>
      <p:sp>
        <p:nvSpPr>
          <p:cNvPr name="TextBox 10" id="10"/>
          <p:cNvSpPr txBox="true"/>
          <p:nvPr/>
        </p:nvSpPr>
        <p:spPr>
          <a:xfrm rot="0">
            <a:off x="435438" y="2940857"/>
            <a:ext cx="3792469" cy="787421"/>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Los productos concretos son implementaciones distintas de los asbtractos agrupados por variantes</a:t>
            </a:r>
          </a:p>
        </p:txBody>
      </p:sp>
      <p:sp>
        <p:nvSpPr>
          <p:cNvPr name="TextBox 11" id="11"/>
          <p:cNvSpPr txBox="true"/>
          <p:nvPr/>
        </p:nvSpPr>
        <p:spPr>
          <a:xfrm rot="0">
            <a:off x="625795" y="3962444"/>
            <a:ext cx="3792469" cy="787421"/>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CADA PRODUCTO ABSTRACTO DEBE IMPLEMENTARSE EN TODAS LAS VARIABLES DADAS</a:t>
            </a:r>
          </a:p>
        </p:txBody>
      </p:sp>
      <p:sp>
        <p:nvSpPr>
          <p:cNvPr name="TextBox 12" id="12"/>
          <p:cNvSpPr txBox="true"/>
          <p:nvPr/>
        </p:nvSpPr>
        <p:spPr>
          <a:xfrm rot="0">
            <a:off x="9957867" y="3305992"/>
            <a:ext cx="3389563" cy="1341478"/>
          </a:xfrm>
          <a:prstGeom prst="rect">
            <a:avLst/>
          </a:prstGeom>
        </p:spPr>
        <p:txBody>
          <a:bodyPr anchor="t" rtlCol="false" tIns="0" lIns="0" bIns="0" rIns="0">
            <a:spAutoFit/>
          </a:bodyPr>
          <a:lstStyle/>
          <a:p>
            <a:pPr algn="ctr" marL="327904" indent="-163952" lvl="1">
              <a:lnSpc>
                <a:spcPts val="2126"/>
              </a:lnSpc>
              <a:spcBef>
                <a:spcPct val="0"/>
              </a:spcBef>
              <a:buAutoNum type="arabicPeriod" startAt="1"/>
            </a:pPr>
            <a:r>
              <a:rPr lang="en-US" sz="1518">
                <a:solidFill>
                  <a:srgbClr val="FFFFFF"/>
                </a:solidFill>
                <a:latin typeface="Poppins"/>
                <a:ea typeface="Poppins"/>
                <a:cs typeface="Poppins"/>
                <a:sym typeface="Poppins"/>
              </a:rPr>
              <a:t>La fabrica abstracta es definida como una interfaz y declara un grupo de metodos para crear cada producto abstracto</a:t>
            </a:r>
          </a:p>
        </p:txBody>
      </p:sp>
      <p:sp>
        <p:nvSpPr>
          <p:cNvPr name="TextBox 13" id="13"/>
          <p:cNvSpPr txBox="true"/>
          <p:nvPr/>
        </p:nvSpPr>
        <p:spPr>
          <a:xfrm rot="0">
            <a:off x="4790404" y="8736058"/>
            <a:ext cx="3389563" cy="1341478"/>
          </a:xfrm>
          <a:prstGeom prst="rect">
            <a:avLst/>
          </a:prstGeom>
        </p:spPr>
        <p:txBody>
          <a:bodyPr anchor="t" rtlCol="false" tIns="0" lIns="0" bIns="0" rIns="0">
            <a:spAutoFit/>
          </a:bodyPr>
          <a:lstStyle/>
          <a:p>
            <a:pPr algn="ctr" marL="327904" indent="-163952" lvl="1">
              <a:lnSpc>
                <a:spcPts val="2126"/>
              </a:lnSpc>
              <a:spcBef>
                <a:spcPct val="0"/>
              </a:spcBef>
              <a:buAutoNum type="arabicPeriod" startAt="1"/>
            </a:pPr>
            <a:r>
              <a:rPr lang="en-US" sz="1518">
                <a:solidFill>
                  <a:srgbClr val="FFFFFF"/>
                </a:solidFill>
                <a:latin typeface="Poppins"/>
                <a:ea typeface="Poppins"/>
                <a:cs typeface="Poppins"/>
                <a:sym typeface="Poppins"/>
              </a:rPr>
              <a:t>Las fabricas concretas implementan metodos de creacion de la fabrica abstracta, cada fabrica es una variante de los productos</a:t>
            </a:r>
          </a:p>
        </p:txBody>
      </p:sp>
      <p:sp>
        <p:nvSpPr>
          <p:cNvPr name="TextBox 14" id="14"/>
          <p:cNvSpPr txBox="true"/>
          <p:nvPr/>
        </p:nvSpPr>
        <p:spPr>
          <a:xfrm rot="0">
            <a:off x="8684624" y="9135787"/>
            <a:ext cx="6213800" cy="542020"/>
          </a:xfrm>
          <a:prstGeom prst="rect">
            <a:avLst/>
          </a:prstGeom>
        </p:spPr>
        <p:txBody>
          <a:bodyPr anchor="t" rtlCol="false" tIns="0" lIns="0" bIns="0" rIns="0">
            <a:spAutoFit/>
          </a:bodyPr>
          <a:lstStyle/>
          <a:p>
            <a:pPr algn="ctr">
              <a:lnSpc>
                <a:spcPts val="2126"/>
              </a:lnSpc>
              <a:spcBef>
                <a:spcPct val="0"/>
              </a:spcBef>
            </a:pPr>
            <a:r>
              <a:rPr lang="en-US" sz="1518">
                <a:solidFill>
                  <a:srgbClr val="FFFFFF"/>
                </a:solidFill>
                <a:latin typeface="Poppins"/>
                <a:ea typeface="Poppins"/>
                <a:cs typeface="Poppins"/>
                <a:sym typeface="Poppins"/>
              </a:rPr>
              <a:t>LAS FIRMAS DE LOS METODOS DE CREACION DEBEN DEVOLVER LOS PRODUCTOS ABSTRACTOS CORRESPONDIENTES</a:t>
            </a:r>
          </a:p>
        </p:txBody>
      </p:sp>
      <p:sp>
        <p:nvSpPr>
          <p:cNvPr name="TextBox 15" id="15"/>
          <p:cNvSpPr txBox="true"/>
          <p:nvPr/>
        </p:nvSpPr>
        <p:spPr>
          <a:xfrm rot="0">
            <a:off x="13749920" y="5369740"/>
            <a:ext cx="3389563" cy="1074992"/>
          </a:xfrm>
          <a:prstGeom prst="rect">
            <a:avLst/>
          </a:prstGeom>
        </p:spPr>
        <p:txBody>
          <a:bodyPr anchor="t" rtlCol="false" tIns="0" lIns="0" bIns="0" rIns="0">
            <a:spAutoFit/>
          </a:bodyPr>
          <a:lstStyle/>
          <a:p>
            <a:pPr algn="ctr" marL="327904" indent="-163952" lvl="1">
              <a:lnSpc>
                <a:spcPts val="2126"/>
              </a:lnSpc>
              <a:spcBef>
                <a:spcPct val="0"/>
              </a:spcBef>
              <a:buAutoNum type="arabicPeriod" startAt="1"/>
            </a:pPr>
            <a:r>
              <a:rPr lang="en-US" sz="1518">
                <a:solidFill>
                  <a:srgbClr val="FFFFFF"/>
                </a:solidFill>
                <a:latin typeface="Poppins"/>
                <a:ea typeface="Poppins"/>
                <a:cs typeface="Poppins"/>
                <a:sym typeface="Poppins"/>
              </a:rPr>
              <a:t>El codigo cliente no se acopla a la variante del producto y puede funcionar como cualquier fabrica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#2</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702542" y="3368277"/>
            <a:ext cx="11301259" cy="5707136"/>
          </a:xfrm>
          <a:custGeom>
            <a:avLst/>
            <a:gdLst/>
            <a:ahLst/>
            <a:cxnLst/>
            <a:rect r="r" b="b" t="t" l="l"/>
            <a:pathLst>
              <a:path h="5707136" w="11301259">
                <a:moveTo>
                  <a:pt x="0" y="0"/>
                </a:moveTo>
                <a:lnTo>
                  <a:pt x="11301259" y="0"/>
                </a:lnTo>
                <a:lnTo>
                  <a:pt x="11301259" y="5707136"/>
                </a:lnTo>
                <a:lnTo>
                  <a:pt x="0" y="5707136"/>
                </a:lnTo>
                <a:lnTo>
                  <a:pt x="0" y="0"/>
                </a:lnTo>
                <a:close/>
              </a:path>
            </a:pathLst>
          </a:custGeom>
          <a:blipFill>
            <a:blip r:embed="rId4"/>
            <a:stretch>
              <a:fillRect l="0" t="0" r="0" b="0"/>
            </a:stretch>
          </a:blipFill>
        </p:spPr>
      </p:sp>
      <p:sp>
        <p:nvSpPr>
          <p:cNvPr name="Freeform 9" id="9"/>
          <p:cNvSpPr/>
          <p:nvPr/>
        </p:nvSpPr>
        <p:spPr>
          <a:xfrm flipH="false" flipV="false" rot="0">
            <a:off x="1791026" y="572080"/>
            <a:ext cx="1973945" cy="1366957"/>
          </a:xfrm>
          <a:custGeom>
            <a:avLst/>
            <a:gdLst/>
            <a:ahLst/>
            <a:cxnLst/>
            <a:rect r="r" b="b" t="t" l="l"/>
            <a:pathLst>
              <a:path h="1366957" w="1973945">
                <a:moveTo>
                  <a:pt x="0" y="0"/>
                </a:moveTo>
                <a:lnTo>
                  <a:pt x="1973945" y="0"/>
                </a:lnTo>
                <a:lnTo>
                  <a:pt x="1973945" y="1366956"/>
                </a:lnTo>
                <a:lnTo>
                  <a:pt x="0" y="13669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789068" y="2351465"/>
            <a:ext cx="5673842" cy="7551100"/>
          </a:xfrm>
          <a:prstGeom prst="rect">
            <a:avLst/>
          </a:prstGeom>
        </p:spPr>
        <p:txBody>
          <a:bodyPr anchor="t" rtlCol="false" tIns="0" lIns="0" bIns="0" rIns="0">
            <a:spAutoFit/>
          </a:bodyPr>
          <a:lstStyle/>
          <a:p>
            <a:pPr algn="l">
              <a:lnSpc>
                <a:spcPts val="2747"/>
              </a:lnSpc>
            </a:pPr>
            <a:r>
              <a:rPr lang="en-US" sz="1962">
                <a:solidFill>
                  <a:srgbClr val="FFFFFF"/>
                </a:solidFill>
                <a:latin typeface="Poppins"/>
                <a:ea typeface="Poppins"/>
                <a:cs typeface="Poppins"/>
                <a:sym typeface="Poppins"/>
              </a:rPr>
              <a:t>Una empresa desarrolla videojuegos que deben ejecutarse en distintas consolas.</a:t>
            </a:r>
          </a:p>
          <a:p>
            <a:pPr algn="l">
              <a:lnSpc>
                <a:spcPts val="2747"/>
              </a:lnSpc>
            </a:pPr>
            <a:r>
              <a:rPr lang="en-US" sz="1962">
                <a:solidFill>
                  <a:srgbClr val="FFFFFF"/>
                </a:solidFill>
                <a:latin typeface="Poppins"/>
                <a:ea typeface="Poppins"/>
                <a:cs typeface="Poppins"/>
                <a:sym typeface="Poppins"/>
              </a:rPr>
              <a:t> Cada consola ofrece una familia de componentes compatibles entre sí:</a:t>
            </a:r>
          </a:p>
          <a:p>
            <a:pPr algn="l">
              <a:lnSpc>
                <a:spcPts val="2747"/>
              </a:lnSpc>
            </a:pPr>
          </a:p>
          <a:p>
            <a:pPr algn="l" marL="423722" indent="-211861" lvl="1">
              <a:lnSpc>
                <a:spcPts val="2747"/>
              </a:lnSpc>
              <a:buFont typeface="Arial"/>
              <a:buChar char="•"/>
            </a:pPr>
            <a:r>
              <a:rPr lang="en-US" sz="1962">
                <a:solidFill>
                  <a:srgbClr val="FFFFFF"/>
                </a:solidFill>
                <a:latin typeface="Poppins"/>
                <a:ea typeface="Poppins"/>
                <a:cs typeface="Poppins"/>
                <a:sym typeface="Poppins"/>
              </a:rPr>
              <a:t>Control</a:t>
            </a:r>
          </a:p>
          <a:p>
            <a:pPr algn="l" marL="423722" indent="-211861" lvl="1">
              <a:lnSpc>
                <a:spcPts val="2747"/>
              </a:lnSpc>
              <a:buFont typeface="Arial"/>
              <a:buChar char="•"/>
            </a:pPr>
            <a:r>
              <a:rPr lang="en-US" sz="1962">
                <a:solidFill>
                  <a:srgbClr val="FFFFFF"/>
                </a:solidFill>
                <a:latin typeface="Poppins"/>
                <a:ea typeface="Poppins"/>
                <a:cs typeface="Poppins"/>
                <a:sym typeface="Poppins"/>
              </a:rPr>
              <a:t>Juego</a:t>
            </a:r>
          </a:p>
          <a:p>
            <a:pPr algn="l" marL="423722" indent="-211861" lvl="1">
              <a:lnSpc>
                <a:spcPts val="2747"/>
              </a:lnSpc>
              <a:buFont typeface="Arial"/>
              <a:buChar char="•"/>
            </a:pPr>
            <a:r>
              <a:rPr lang="en-US" sz="1962">
                <a:solidFill>
                  <a:srgbClr val="FFFFFF"/>
                </a:solidFill>
                <a:latin typeface="Poppins"/>
                <a:ea typeface="Poppins"/>
                <a:cs typeface="Poppins"/>
                <a:sym typeface="Poppins"/>
              </a:rPr>
              <a:t>Interfaz gráfica</a:t>
            </a:r>
          </a:p>
          <a:p>
            <a:pPr algn="l">
              <a:lnSpc>
                <a:spcPts val="2747"/>
              </a:lnSpc>
            </a:pPr>
          </a:p>
          <a:p>
            <a:pPr algn="l">
              <a:lnSpc>
                <a:spcPts val="2747"/>
              </a:lnSpc>
            </a:pPr>
            <a:r>
              <a:rPr lang="en-US" sz="1962">
                <a:solidFill>
                  <a:srgbClr val="FFFFFF"/>
                </a:solidFill>
                <a:latin typeface="Poppins"/>
                <a:ea typeface="Poppins"/>
                <a:cs typeface="Poppins"/>
                <a:sym typeface="Poppins"/>
              </a:rPr>
              <a:t>Las consolas soportadas inicialmente son:</a:t>
            </a:r>
          </a:p>
          <a:p>
            <a:pPr algn="l" marL="423722" indent="-211861" lvl="1">
              <a:lnSpc>
                <a:spcPts val="2747"/>
              </a:lnSpc>
              <a:buFont typeface="Arial"/>
              <a:buChar char="•"/>
            </a:pPr>
            <a:r>
              <a:rPr lang="en-US" sz="1962">
                <a:solidFill>
                  <a:srgbClr val="FFFFFF"/>
                </a:solidFill>
                <a:latin typeface="Poppins"/>
                <a:ea typeface="Poppins"/>
                <a:cs typeface="Poppins"/>
                <a:sym typeface="Poppins"/>
              </a:rPr>
              <a:t>PlayStation</a:t>
            </a:r>
          </a:p>
          <a:p>
            <a:pPr algn="l" marL="423722" indent="-211861" lvl="1">
              <a:lnSpc>
                <a:spcPts val="2747"/>
              </a:lnSpc>
              <a:buFont typeface="Arial"/>
              <a:buChar char="•"/>
            </a:pPr>
            <a:r>
              <a:rPr lang="en-US" sz="1962">
                <a:solidFill>
                  <a:srgbClr val="FFFFFF"/>
                </a:solidFill>
                <a:latin typeface="Poppins"/>
                <a:ea typeface="Poppins"/>
                <a:cs typeface="Poppins"/>
                <a:sym typeface="Poppins"/>
              </a:rPr>
              <a:t>Xbox</a:t>
            </a:r>
          </a:p>
          <a:p>
            <a:pPr algn="l">
              <a:lnSpc>
                <a:spcPts val="2747"/>
              </a:lnSpc>
            </a:pPr>
          </a:p>
          <a:p>
            <a:pPr algn="l">
              <a:lnSpc>
                <a:spcPts val="2747"/>
              </a:lnSpc>
            </a:pPr>
            <a:r>
              <a:rPr lang="en-US" sz="1962">
                <a:solidFill>
                  <a:srgbClr val="FFFFFF"/>
                </a:solidFill>
                <a:latin typeface="Poppins"/>
                <a:ea typeface="Poppins"/>
                <a:cs typeface="Poppins"/>
                <a:sym typeface="Poppins"/>
              </a:rPr>
              <a:t>El motor del juego no debe conocer las implementaciones concretas de estos componentes.</a:t>
            </a:r>
          </a:p>
          <a:p>
            <a:pPr algn="l">
              <a:lnSpc>
                <a:spcPts val="2747"/>
              </a:lnSpc>
            </a:pPr>
          </a:p>
          <a:p>
            <a:pPr algn="l" marL="423722" indent="-211861" lvl="1">
              <a:lnSpc>
                <a:spcPts val="2747"/>
              </a:lnSpc>
              <a:buFont typeface="Arial"/>
              <a:buChar char="•"/>
            </a:pPr>
            <a:r>
              <a:rPr lang="en-US" sz="1962">
                <a:solidFill>
                  <a:srgbClr val="FFFFFF"/>
                </a:solidFill>
                <a:latin typeface="Poppins"/>
                <a:ea typeface="Poppins"/>
                <a:cs typeface="Poppins"/>
                <a:sym typeface="Poppins"/>
              </a:rPr>
              <a:t>El control puede conectarse</a:t>
            </a:r>
          </a:p>
          <a:p>
            <a:pPr algn="l" marL="423722" indent="-211861" lvl="1">
              <a:lnSpc>
                <a:spcPts val="2747"/>
              </a:lnSpc>
              <a:buFont typeface="Arial"/>
              <a:buChar char="•"/>
            </a:pPr>
            <a:r>
              <a:rPr lang="en-US" sz="1962">
                <a:solidFill>
                  <a:srgbClr val="FFFFFF"/>
                </a:solidFill>
                <a:latin typeface="Poppins"/>
                <a:ea typeface="Poppins"/>
                <a:cs typeface="Poppins"/>
                <a:sym typeface="Poppins"/>
              </a:rPr>
              <a:t>El juego iniciarse</a:t>
            </a:r>
          </a:p>
          <a:p>
            <a:pPr algn="l" marL="423722" indent="-211861" lvl="1">
              <a:lnSpc>
                <a:spcPts val="2747"/>
              </a:lnSpc>
              <a:buFont typeface="Arial"/>
              <a:buChar char="•"/>
            </a:pPr>
            <a:r>
              <a:rPr lang="en-US" sz="1962">
                <a:solidFill>
                  <a:srgbClr val="FFFFFF"/>
                </a:solidFill>
                <a:latin typeface="Poppins"/>
                <a:ea typeface="Poppins"/>
                <a:cs typeface="Poppins"/>
                <a:sym typeface="Poppins"/>
              </a:rPr>
              <a:t>Y la interfaz grafica renderizar</a:t>
            </a:r>
          </a:p>
          <a:p>
            <a:pPr algn="l">
              <a:lnSpc>
                <a:spcPts val="2747"/>
              </a:lnSpc>
            </a:pPr>
          </a:p>
          <a:p>
            <a:pPr algn="l">
              <a:lnSpc>
                <a:spcPts val="2747"/>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#2</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9253367" y="3923320"/>
            <a:ext cx="7000764" cy="5494623"/>
          </a:xfrm>
          <a:custGeom>
            <a:avLst/>
            <a:gdLst/>
            <a:ahLst/>
            <a:cxnLst/>
            <a:rect r="r" b="b" t="t" l="l"/>
            <a:pathLst>
              <a:path h="5494623" w="7000764">
                <a:moveTo>
                  <a:pt x="0" y="0"/>
                </a:moveTo>
                <a:lnTo>
                  <a:pt x="7000763" y="0"/>
                </a:lnTo>
                <a:lnTo>
                  <a:pt x="7000763" y="5494623"/>
                </a:lnTo>
                <a:lnTo>
                  <a:pt x="0" y="5494623"/>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81153" y="1850399"/>
            <a:ext cx="10944428"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CREACIONAL - BUILDER</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331953"/>
            <a:ext cx="884789" cy="885324"/>
          </a:xfrm>
          <a:prstGeom prst="rect">
            <a:avLst/>
          </a:prstGeom>
        </p:spPr>
      </p:pic>
      <p:pic>
        <p:nvPicPr>
          <p:cNvPr name="Picture 9" id="9"/>
          <p:cNvPicPr>
            <a:picLocks noChangeAspect="true"/>
          </p:cNvPicPr>
          <p:nvPr/>
        </p:nvPicPr>
        <p:blipFill>
          <a:blip r:embed="rId5"/>
          <a:stretch>
            <a:fillRect/>
          </a:stretch>
        </p:blipFill>
        <p:spPr>
          <a:xfrm rot="0">
            <a:off x="8332988" y="5535333"/>
            <a:ext cx="884789" cy="885324"/>
          </a:xfrm>
          <a:prstGeom prst="rect">
            <a:avLst/>
          </a:prstGeom>
        </p:spPr>
      </p:pic>
      <p:pic>
        <p:nvPicPr>
          <p:cNvPr name="Picture 10" id="10"/>
          <p:cNvPicPr>
            <a:picLocks noChangeAspect="true"/>
          </p:cNvPicPr>
          <p:nvPr/>
        </p:nvPicPr>
        <p:blipFill>
          <a:blip r:embed="rId6"/>
          <a:stretch>
            <a:fillRect/>
          </a:stretch>
        </p:blipFill>
        <p:spPr>
          <a:xfrm rot="0">
            <a:off x="8332988" y="6753054"/>
            <a:ext cx="884789" cy="885324"/>
          </a:xfrm>
          <a:prstGeom prst="rect">
            <a:avLst/>
          </a:prstGeom>
        </p:spPr>
      </p:pic>
      <p:sp>
        <p:nvSpPr>
          <p:cNvPr name="Freeform 11" id="11"/>
          <p:cNvSpPr/>
          <p:nvPr/>
        </p:nvSpPr>
        <p:spPr>
          <a:xfrm flipH="false" flipV="false" rot="0">
            <a:off x="703485" y="4025107"/>
            <a:ext cx="7363907" cy="4863368"/>
          </a:xfrm>
          <a:custGeom>
            <a:avLst/>
            <a:gdLst/>
            <a:ahLst/>
            <a:cxnLst/>
            <a:rect r="r" b="b" t="t" l="l"/>
            <a:pathLst>
              <a:path h="4863368" w="7363907">
                <a:moveTo>
                  <a:pt x="0" y="0"/>
                </a:moveTo>
                <a:lnTo>
                  <a:pt x="7363907" y="0"/>
                </a:lnTo>
                <a:lnTo>
                  <a:pt x="7363907" y="4863367"/>
                </a:lnTo>
                <a:lnTo>
                  <a:pt x="0" y="4863367"/>
                </a:lnTo>
                <a:lnTo>
                  <a:pt x="0" y="0"/>
                </a:lnTo>
                <a:close/>
              </a:path>
            </a:pathLst>
          </a:custGeom>
          <a:blipFill>
            <a:blip r:embed="rId7"/>
            <a:stretch>
              <a:fillRect l="-2217" t="0" r="0" b="0"/>
            </a:stretch>
          </a:blipFill>
        </p:spPr>
      </p:sp>
      <p:sp>
        <p:nvSpPr>
          <p:cNvPr name="TextBox 12" id="12"/>
          <p:cNvSpPr txBox="true"/>
          <p:nvPr/>
        </p:nvSpPr>
        <p:spPr>
          <a:xfrm rot="0">
            <a:off x="1445189" y="2943916"/>
            <a:ext cx="15814111"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creacional que nos permite construir objetos complejos paso a paso. El patrón nos permite producir distintos tipos y representaciones de un objeto empleando el mismo código de construcción.</a:t>
            </a:r>
          </a:p>
        </p:txBody>
      </p:sp>
      <p:sp>
        <p:nvSpPr>
          <p:cNvPr name="TextBox 13" id="13"/>
          <p:cNvSpPr txBox="true"/>
          <p:nvPr/>
        </p:nvSpPr>
        <p:spPr>
          <a:xfrm rot="0">
            <a:off x="9253367" y="4462201"/>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Puedes construir objetos paso a paso, aplazar pasos de la construccion o ejecutar pasos de forma recursiva</a:t>
            </a:r>
          </a:p>
        </p:txBody>
      </p:sp>
      <p:sp>
        <p:nvSpPr>
          <p:cNvPr name="TextBox 14" id="14"/>
          <p:cNvSpPr txBox="true"/>
          <p:nvPr/>
        </p:nvSpPr>
        <p:spPr>
          <a:xfrm rot="0">
            <a:off x="9253367" y="5671241"/>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Puedes reutilizar el mismo codigo de construccion al construir varias representaciones de productos</a:t>
            </a:r>
          </a:p>
        </p:txBody>
      </p:sp>
      <p:sp>
        <p:nvSpPr>
          <p:cNvPr name="TextBox 15" id="15"/>
          <p:cNvSpPr txBox="true"/>
          <p:nvPr/>
        </p:nvSpPr>
        <p:spPr>
          <a:xfrm rot="0">
            <a:off x="9144000" y="6829322"/>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SINGLE RESPONSABILITY al aislar el codigo de construccion complejo de la logica de negocio del producto</a:t>
            </a:r>
          </a:p>
        </p:txBody>
      </p:sp>
      <p:sp>
        <p:nvSpPr>
          <p:cNvPr name="TextBox 16" id="16"/>
          <p:cNvSpPr txBox="true"/>
          <p:nvPr/>
        </p:nvSpPr>
        <p:spPr>
          <a:xfrm rot="0">
            <a:off x="9253367" y="8038362"/>
            <a:ext cx="874496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No es necesario crear constructores tan grandes o especializados dependiendo la combinacion de los datos de entrada</a:t>
            </a:r>
          </a:p>
        </p:txBody>
      </p:sp>
      <p:pic>
        <p:nvPicPr>
          <p:cNvPr name="Picture 17" id="17"/>
          <p:cNvPicPr>
            <a:picLocks noChangeAspect="true"/>
          </p:cNvPicPr>
          <p:nvPr/>
        </p:nvPicPr>
        <p:blipFill>
          <a:blip r:embed="rId8"/>
          <a:stretch>
            <a:fillRect/>
          </a:stretch>
        </p:blipFill>
        <p:spPr>
          <a:xfrm rot="0">
            <a:off x="8332988" y="8076927"/>
            <a:ext cx="884789" cy="885324"/>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593789" y="2744245"/>
            <a:ext cx="5662995" cy="7140298"/>
          </a:xfrm>
          <a:custGeom>
            <a:avLst/>
            <a:gdLst/>
            <a:ahLst/>
            <a:cxnLst/>
            <a:rect r="r" b="b" t="t" l="l"/>
            <a:pathLst>
              <a:path h="7140298" w="5662995">
                <a:moveTo>
                  <a:pt x="0" y="0"/>
                </a:moveTo>
                <a:lnTo>
                  <a:pt x="5662994" y="0"/>
                </a:lnTo>
                <a:lnTo>
                  <a:pt x="5662994" y="7140298"/>
                </a:lnTo>
                <a:lnTo>
                  <a:pt x="0" y="7140298"/>
                </a:lnTo>
                <a:lnTo>
                  <a:pt x="0" y="0"/>
                </a:lnTo>
                <a:close/>
              </a:path>
            </a:pathLst>
          </a:custGeom>
          <a:blipFill>
            <a:blip r:embed="rId4"/>
            <a:stretch>
              <a:fillRect l="0" t="0" r="0" b="0"/>
            </a:stretch>
          </a:blipFill>
        </p:spPr>
      </p:sp>
      <p:sp>
        <p:nvSpPr>
          <p:cNvPr name="TextBox 9" id="9"/>
          <p:cNvSpPr txBox="true"/>
          <p:nvPr/>
        </p:nvSpPr>
        <p:spPr>
          <a:xfrm rot="0">
            <a:off x="1523277" y="2940857"/>
            <a:ext cx="3792469" cy="1049858"/>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interfaz constructora declara pasos de construccion de producto que todos los objetos constructores tienen en comun</a:t>
            </a:r>
          </a:p>
        </p:txBody>
      </p:sp>
      <p:sp>
        <p:nvSpPr>
          <p:cNvPr name="TextBox 10" id="10"/>
          <p:cNvSpPr txBox="true"/>
          <p:nvPr/>
        </p:nvSpPr>
        <p:spPr>
          <a:xfrm rot="0">
            <a:off x="1523277" y="5105400"/>
            <a:ext cx="3792469" cy="1312295"/>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Los constructores concretos ofrecen distintas implementaciones de los pasos de la construccion y crear productos que no siguen la interfaz comun</a:t>
            </a:r>
          </a:p>
        </p:txBody>
      </p:sp>
      <p:sp>
        <p:nvSpPr>
          <p:cNvPr name="TextBox 11" id="11"/>
          <p:cNvSpPr txBox="true"/>
          <p:nvPr/>
        </p:nvSpPr>
        <p:spPr>
          <a:xfrm rot="0">
            <a:off x="1523277" y="8270319"/>
            <a:ext cx="3792469" cy="1049858"/>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Los productos son los objetos resultantes, no tienen que perteneces a la misma jerarquia de clases o interfaz</a:t>
            </a:r>
          </a:p>
        </p:txBody>
      </p:sp>
      <p:sp>
        <p:nvSpPr>
          <p:cNvPr name="TextBox 12" id="12"/>
          <p:cNvSpPr txBox="true"/>
          <p:nvPr/>
        </p:nvSpPr>
        <p:spPr>
          <a:xfrm rot="0">
            <a:off x="12602880" y="4468303"/>
            <a:ext cx="3792469" cy="1312295"/>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El director define el orden en el que se invocan los pasos de construccion por lo que puedes crear y reutilizar configuraciones especificas de los productos</a:t>
            </a:r>
          </a:p>
        </p:txBody>
      </p:sp>
      <p:sp>
        <p:nvSpPr>
          <p:cNvPr name="TextBox 13" id="13"/>
          <p:cNvSpPr txBox="true"/>
          <p:nvPr/>
        </p:nvSpPr>
        <p:spPr>
          <a:xfrm rot="0">
            <a:off x="10939797" y="2831190"/>
            <a:ext cx="3792469" cy="787421"/>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El cliente debe asociar uno de los objetos constructores con la clase directora</a:t>
            </a:r>
          </a:p>
        </p:txBody>
      </p:sp>
      <p:sp>
        <p:nvSpPr>
          <p:cNvPr name="TextBox 14" id="14"/>
          <p:cNvSpPr txBox="true"/>
          <p:nvPr/>
        </p:nvSpPr>
        <p:spPr>
          <a:xfrm rot="0">
            <a:off x="13303029" y="7466862"/>
            <a:ext cx="3792469" cy="787421"/>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EL BUILDER NO ELIMINA LOS PARAMETROS LOS CONVIERTE EN PASOS EXPLICITOS Y CON NOMBRE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5811" y="1576429"/>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#3</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9778982" y="1917450"/>
            <a:ext cx="6950034" cy="8116828"/>
          </a:xfrm>
          <a:custGeom>
            <a:avLst/>
            <a:gdLst/>
            <a:ahLst/>
            <a:cxnLst/>
            <a:rect r="r" b="b" t="t" l="l"/>
            <a:pathLst>
              <a:path h="8116828" w="6950034">
                <a:moveTo>
                  <a:pt x="0" y="0"/>
                </a:moveTo>
                <a:lnTo>
                  <a:pt x="6950034" y="0"/>
                </a:lnTo>
                <a:lnTo>
                  <a:pt x="6950034" y="8116828"/>
                </a:lnTo>
                <a:lnTo>
                  <a:pt x="0" y="8116828"/>
                </a:lnTo>
                <a:lnTo>
                  <a:pt x="0" y="0"/>
                </a:lnTo>
                <a:close/>
              </a:path>
            </a:pathLst>
          </a:custGeom>
          <a:blipFill>
            <a:blip r:embed="rId4"/>
            <a:stretch>
              <a:fillRect l="0" t="0" r="0" b="0"/>
            </a:stretch>
          </a:blipFill>
        </p:spPr>
      </p:sp>
      <p:sp>
        <p:nvSpPr>
          <p:cNvPr name="Freeform 9" id="9"/>
          <p:cNvSpPr/>
          <p:nvPr/>
        </p:nvSpPr>
        <p:spPr>
          <a:xfrm flipH="false" flipV="false" rot="0">
            <a:off x="2946027" y="7835174"/>
            <a:ext cx="2234809" cy="2025296"/>
          </a:xfrm>
          <a:custGeom>
            <a:avLst/>
            <a:gdLst/>
            <a:ahLst/>
            <a:cxnLst/>
            <a:rect r="r" b="b" t="t" l="l"/>
            <a:pathLst>
              <a:path h="2025296" w="2234809">
                <a:moveTo>
                  <a:pt x="0" y="0"/>
                </a:moveTo>
                <a:lnTo>
                  <a:pt x="2234809" y="0"/>
                </a:lnTo>
                <a:lnTo>
                  <a:pt x="2234809" y="2025295"/>
                </a:lnTo>
                <a:lnTo>
                  <a:pt x="0" y="20252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201111" y="2845587"/>
            <a:ext cx="5898939" cy="4659374"/>
          </a:xfrm>
          <a:prstGeom prst="rect">
            <a:avLst/>
          </a:prstGeom>
        </p:spPr>
        <p:txBody>
          <a:bodyPr anchor="t" rtlCol="false" tIns="0" lIns="0" bIns="0" rIns="0">
            <a:spAutoFit/>
          </a:bodyPr>
          <a:lstStyle/>
          <a:p>
            <a:pPr algn="l">
              <a:lnSpc>
                <a:spcPts val="2477"/>
              </a:lnSpc>
            </a:pPr>
            <a:r>
              <a:rPr lang="en-US" sz="1769">
                <a:solidFill>
                  <a:srgbClr val="FFFFFF"/>
                </a:solidFill>
                <a:latin typeface="Poppins"/>
                <a:ea typeface="Poppins"/>
                <a:cs typeface="Poppins"/>
                <a:sym typeface="Poppins"/>
              </a:rPr>
              <a:t>Una fábrica de juguetes produce muñecos con distintas configuraciones.</a:t>
            </a:r>
          </a:p>
          <a:p>
            <a:pPr algn="l">
              <a:lnSpc>
                <a:spcPts val="2477"/>
              </a:lnSpc>
            </a:pPr>
            <a:r>
              <a:rPr lang="en-US" sz="1769">
                <a:solidFill>
                  <a:srgbClr val="FFFFFF"/>
                </a:solidFill>
                <a:latin typeface="Poppins"/>
                <a:ea typeface="Poppins"/>
                <a:cs typeface="Poppins"/>
                <a:sym typeface="Poppins"/>
              </a:rPr>
              <a:t> El proceso de ensamblaje es el mismo, pero el resultado final varía según el tipo de muñeco solicitado.</a:t>
            </a:r>
          </a:p>
          <a:p>
            <a:pPr algn="l">
              <a:lnSpc>
                <a:spcPts val="2477"/>
              </a:lnSpc>
            </a:pPr>
            <a:r>
              <a:rPr lang="en-US" sz="1769">
                <a:solidFill>
                  <a:srgbClr val="FFFFFF"/>
                </a:solidFill>
                <a:latin typeface="Poppins"/>
                <a:ea typeface="Poppins"/>
                <a:cs typeface="Poppins"/>
                <a:sym typeface="Poppins"/>
              </a:rPr>
              <a:t>Ejemplos de muñecos:</a:t>
            </a:r>
          </a:p>
          <a:p>
            <a:pPr algn="l">
              <a:lnSpc>
                <a:spcPts val="2477"/>
              </a:lnSpc>
            </a:pPr>
          </a:p>
          <a:p>
            <a:pPr algn="l" marL="381996" indent="-190998" lvl="1">
              <a:lnSpc>
                <a:spcPts val="2477"/>
              </a:lnSpc>
              <a:buFont typeface="Arial"/>
              <a:buChar char="•"/>
            </a:pPr>
            <a:r>
              <a:rPr lang="en-US" sz="1769">
                <a:solidFill>
                  <a:srgbClr val="FFFFFF"/>
                </a:solidFill>
                <a:latin typeface="Poppins"/>
                <a:ea typeface="Poppins"/>
                <a:cs typeface="Poppins"/>
                <a:sym typeface="Poppins"/>
              </a:rPr>
              <a:t>Muñeco de acción</a:t>
            </a:r>
          </a:p>
          <a:p>
            <a:pPr algn="l" marL="381996" indent="-190998" lvl="1">
              <a:lnSpc>
                <a:spcPts val="2477"/>
              </a:lnSpc>
              <a:buFont typeface="Arial"/>
              <a:buChar char="•"/>
            </a:pPr>
            <a:r>
              <a:rPr lang="en-US" sz="1769">
                <a:solidFill>
                  <a:srgbClr val="FFFFFF"/>
                </a:solidFill>
                <a:latin typeface="Poppins"/>
                <a:ea typeface="Poppins"/>
                <a:cs typeface="Poppins"/>
                <a:sym typeface="Poppins"/>
              </a:rPr>
              <a:t>Muñeca clásica</a:t>
            </a:r>
          </a:p>
          <a:p>
            <a:pPr algn="l">
              <a:lnSpc>
                <a:spcPts val="2477"/>
              </a:lnSpc>
            </a:pPr>
          </a:p>
          <a:p>
            <a:pPr algn="l">
              <a:lnSpc>
                <a:spcPts val="2477"/>
              </a:lnSpc>
            </a:pPr>
            <a:r>
              <a:rPr lang="en-US" sz="1769">
                <a:solidFill>
                  <a:srgbClr val="FFFFFF"/>
                </a:solidFill>
                <a:latin typeface="Poppins"/>
                <a:ea typeface="Poppins"/>
                <a:cs typeface="Poppins"/>
                <a:sym typeface="Poppins"/>
              </a:rPr>
              <a:t>La fábrica quiere separar el proceso de construcción del objeto final.</a:t>
            </a:r>
          </a:p>
          <a:p>
            <a:pPr algn="l">
              <a:lnSpc>
                <a:spcPts val="2477"/>
              </a:lnSpc>
            </a:pPr>
          </a:p>
          <a:p>
            <a:pPr algn="l">
              <a:lnSpc>
                <a:spcPts val="2477"/>
              </a:lnSpc>
            </a:pPr>
            <a:r>
              <a:rPr lang="en-US" sz="1769">
                <a:solidFill>
                  <a:srgbClr val="FFFFFF"/>
                </a:solidFill>
                <a:latin typeface="Poppins"/>
                <a:ea typeface="Poppins"/>
                <a:cs typeface="Poppins"/>
                <a:sym typeface="Poppins"/>
              </a:rPr>
              <a:t>Cada muñeco esta conformado de cabeza, cuerpo, brazos, piernas y puede o no tener accesorios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#3</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9144000" y="4266723"/>
            <a:ext cx="7367363" cy="5083841"/>
          </a:xfrm>
          <a:custGeom>
            <a:avLst/>
            <a:gdLst/>
            <a:ahLst/>
            <a:cxnLst/>
            <a:rect r="r" b="b" t="t" l="l"/>
            <a:pathLst>
              <a:path h="5083841" w="7367363">
                <a:moveTo>
                  <a:pt x="0" y="0"/>
                </a:moveTo>
                <a:lnTo>
                  <a:pt x="7367363" y="0"/>
                </a:lnTo>
                <a:lnTo>
                  <a:pt x="7367363" y="5083842"/>
                </a:lnTo>
                <a:lnTo>
                  <a:pt x="0" y="5083842"/>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81153" y="1850399"/>
            <a:ext cx="10944428"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ESTRUCTURAL - ADAPTER</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331953"/>
            <a:ext cx="884789" cy="885324"/>
          </a:xfrm>
          <a:prstGeom prst="rect">
            <a:avLst/>
          </a:prstGeom>
        </p:spPr>
      </p:pic>
      <p:pic>
        <p:nvPicPr>
          <p:cNvPr name="Picture 9" id="9"/>
          <p:cNvPicPr>
            <a:picLocks noChangeAspect="true"/>
          </p:cNvPicPr>
          <p:nvPr/>
        </p:nvPicPr>
        <p:blipFill>
          <a:blip r:embed="rId5"/>
          <a:stretch>
            <a:fillRect/>
          </a:stretch>
        </p:blipFill>
        <p:spPr>
          <a:xfrm rot="0">
            <a:off x="8332988" y="6204350"/>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sp>
        <p:nvSpPr>
          <p:cNvPr name="Freeform 11" id="11"/>
          <p:cNvSpPr/>
          <p:nvPr/>
        </p:nvSpPr>
        <p:spPr>
          <a:xfrm flipH="false" flipV="false" rot="0">
            <a:off x="721403" y="4405730"/>
            <a:ext cx="7185997" cy="4643951"/>
          </a:xfrm>
          <a:custGeom>
            <a:avLst/>
            <a:gdLst/>
            <a:ahLst/>
            <a:cxnLst/>
            <a:rect r="r" b="b" t="t" l="l"/>
            <a:pathLst>
              <a:path h="4643951" w="7185997">
                <a:moveTo>
                  <a:pt x="0" y="0"/>
                </a:moveTo>
                <a:lnTo>
                  <a:pt x="7185997" y="0"/>
                </a:lnTo>
                <a:lnTo>
                  <a:pt x="7185997" y="4643950"/>
                </a:lnTo>
                <a:lnTo>
                  <a:pt x="0" y="4643950"/>
                </a:lnTo>
                <a:lnTo>
                  <a:pt x="0" y="0"/>
                </a:lnTo>
                <a:close/>
              </a:path>
            </a:pathLst>
          </a:custGeom>
          <a:blipFill>
            <a:blip r:embed="rId7"/>
            <a:stretch>
              <a:fillRect l="0" t="0" r="0" b="0"/>
            </a:stretch>
          </a:blipFill>
        </p:spPr>
      </p:sp>
      <p:sp>
        <p:nvSpPr>
          <p:cNvPr name="TextBox 12" id="12"/>
          <p:cNvSpPr txBox="true"/>
          <p:nvPr/>
        </p:nvSpPr>
        <p:spPr>
          <a:xfrm rot="0">
            <a:off x="2683892" y="3092128"/>
            <a:ext cx="12920216"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estructural que permite la colaboración entre objetos con interfaces incompatibles.</a:t>
            </a:r>
          </a:p>
        </p:txBody>
      </p:sp>
      <p:sp>
        <p:nvSpPr>
          <p:cNvPr name="TextBox 13" id="13"/>
          <p:cNvSpPr txBox="true"/>
          <p:nvPr/>
        </p:nvSpPr>
        <p:spPr>
          <a:xfrm rot="0">
            <a:off x="9253367" y="6482814"/>
            <a:ext cx="8790698"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utiliza el SINGLE RESPONSABILITY ya que p</a:t>
            </a:r>
            <a:r>
              <a:rPr lang="en-US" sz="1899">
                <a:solidFill>
                  <a:srgbClr val="FFFFFF"/>
                </a:solidFill>
                <a:latin typeface="Poppins"/>
                <a:ea typeface="Poppins"/>
                <a:cs typeface="Poppins"/>
                <a:sym typeface="Poppins"/>
              </a:rPr>
              <a:t>uedes separar la interfaz o el código de conversión de datos de la lógica de negocio primaria del programa.</a:t>
            </a:r>
          </a:p>
        </p:txBody>
      </p:sp>
      <p:sp>
        <p:nvSpPr>
          <p:cNvPr name="TextBox 14" id="14"/>
          <p:cNvSpPr txBox="true"/>
          <p:nvPr/>
        </p:nvSpPr>
        <p:spPr>
          <a:xfrm rot="0">
            <a:off x="9253367" y="8349910"/>
            <a:ext cx="8790698"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Se aplica principio de OPEN/CLOSE, ya que p</a:t>
            </a:r>
            <a:r>
              <a:rPr lang="en-US" sz="1899">
                <a:solidFill>
                  <a:srgbClr val="FFFFFF"/>
                </a:solidFill>
                <a:latin typeface="Poppins"/>
                <a:ea typeface="Poppins"/>
                <a:cs typeface="Poppins"/>
                <a:sym typeface="Poppins"/>
              </a:rPr>
              <a:t>uedes introducir nuevos tipos de adaptadores al programa sin descomponer el código cliente existente, siempre y cuando trabajen con los adaptadores a través de la interfaz con el cliente.</a:t>
            </a:r>
          </a:p>
        </p:txBody>
      </p:sp>
      <p:sp>
        <p:nvSpPr>
          <p:cNvPr name="TextBox 15" id="15"/>
          <p:cNvSpPr txBox="true"/>
          <p:nvPr/>
        </p:nvSpPr>
        <p:spPr>
          <a:xfrm rot="0">
            <a:off x="9253367" y="4348580"/>
            <a:ext cx="8549616"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patrón Adapter te permite crear una clase intermedia que sirva como traductora entre tu código y una clase heredada, una clase de un tercero o cualquier otra clase con una interfaz extraña.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4701681" y="3316495"/>
            <a:ext cx="9979772" cy="5501350"/>
          </a:xfrm>
          <a:custGeom>
            <a:avLst/>
            <a:gdLst/>
            <a:ahLst/>
            <a:cxnLst/>
            <a:rect r="r" b="b" t="t" l="l"/>
            <a:pathLst>
              <a:path h="5501350" w="9979772">
                <a:moveTo>
                  <a:pt x="0" y="0"/>
                </a:moveTo>
                <a:lnTo>
                  <a:pt x="9979772" y="0"/>
                </a:lnTo>
                <a:lnTo>
                  <a:pt x="9979772" y="5501350"/>
                </a:lnTo>
                <a:lnTo>
                  <a:pt x="0" y="5501350"/>
                </a:lnTo>
                <a:lnTo>
                  <a:pt x="0" y="0"/>
                </a:lnTo>
                <a:close/>
              </a:path>
            </a:pathLst>
          </a:custGeom>
          <a:blipFill>
            <a:blip r:embed="rId4"/>
            <a:stretch>
              <a:fillRect l="0" t="0" r="0" b="0"/>
            </a:stretch>
          </a:blipFill>
        </p:spPr>
      </p:sp>
      <p:sp>
        <p:nvSpPr>
          <p:cNvPr name="TextBox 9" id="9"/>
          <p:cNvSpPr txBox="true"/>
          <p:nvPr/>
        </p:nvSpPr>
        <p:spPr>
          <a:xfrm rot="0">
            <a:off x="710567" y="3971847"/>
            <a:ext cx="3792469" cy="524983"/>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Esta clase contiene la logica del negocio existente en el programa</a:t>
            </a:r>
          </a:p>
        </p:txBody>
      </p:sp>
      <p:sp>
        <p:nvSpPr>
          <p:cNvPr name="TextBox 10" id="10"/>
          <p:cNvSpPr txBox="true"/>
          <p:nvPr/>
        </p:nvSpPr>
        <p:spPr>
          <a:xfrm rot="0">
            <a:off x="10157154" y="3709410"/>
            <a:ext cx="3792469" cy="1049858"/>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 La interfaz con el cliente describe un protocolo que otras clases deben seguir para poder colaborar con el codigo del cliente</a:t>
            </a:r>
          </a:p>
        </p:txBody>
      </p:sp>
      <p:sp>
        <p:nvSpPr>
          <p:cNvPr name="TextBox 11" id="11"/>
          <p:cNvSpPr txBox="true"/>
          <p:nvPr/>
        </p:nvSpPr>
        <p:spPr>
          <a:xfrm rot="0">
            <a:off x="14681453" y="5902179"/>
            <a:ext cx="3162556" cy="1574732"/>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Servicio es alguna clase util (de parte de terceros o heredada), el cliente no puede utilizar directamente esta clase porque su interfaz es incompatible</a:t>
            </a:r>
          </a:p>
        </p:txBody>
      </p:sp>
      <p:sp>
        <p:nvSpPr>
          <p:cNvPr name="TextBox 12" id="12"/>
          <p:cNvSpPr txBox="true"/>
          <p:nvPr/>
        </p:nvSpPr>
        <p:spPr>
          <a:xfrm rot="0">
            <a:off x="2482093" y="5902179"/>
            <a:ext cx="4518237" cy="1312295"/>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Adapter es capaz de trabajar tanto con la clase cliente como con la clase de servicio, implementado la interfaz con el cliente y traduce los llamados de la clase servicios envueltos en un formato que si comprenda</a:t>
            </a:r>
          </a:p>
        </p:txBody>
      </p:sp>
      <p:sp>
        <p:nvSpPr>
          <p:cNvPr name="TextBox 13" id="13"/>
          <p:cNvSpPr txBox="true"/>
          <p:nvPr/>
        </p:nvSpPr>
        <p:spPr>
          <a:xfrm rot="0">
            <a:off x="6421560" y="8845540"/>
            <a:ext cx="4518237" cy="787421"/>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SE PUEDE INTRODUCTIR NUEVOS TIPOS DE ADAPTADORES SIN DESCOMPONER EL CODIGO EXISTENTE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#4</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444064" y="1425534"/>
            <a:ext cx="4722730" cy="2514854"/>
          </a:xfrm>
          <a:custGeom>
            <a:avLst/>
            <a:gdLst/>
            <a:ahLst/>
            <a:cxnLst/>
            <a:rect r="r" b="b" t="t" l="l"/>
            <a:pathLst>
              <a:path h="2514854" w="4722730">
                <a:moveTo>
                  <a:pt x="0" y="0"/>
                </a:moveTo>
                <a:lnTo>
                  <a:pt x="4722730" y="0"/>
                </a:lnTo>
                <a:lnTo>
                  <a:pt x="4722730" y="2514854"/>
                </a:lnTo>
                <a:lnTo>
                  <a:pt x="0" y="2514854"/>
                </a:lnTo>
                <a:lnTo>
                  <a:pt x="0" y="0"/>
                </a:lnTo>
                <a:close/>
              </a:path>
            </a:pathLst>
          </a:custGeom>
          <a:blipFill>
            <a:blip r:embed="rId4"/>
            <a:stretch>
              <a:fillRect l="0" t="0" r="0" b="0"/>
            </a:stretch>
          </a:blipFill>
        </p:spPr>
      </p:sp>
      <p:sp>
        <p:nvSpPr>
          <p:cNvPr name="Freeform 9" id="9"/>
          <p:cNvSpPr/>
          <p:nvPr/>
        </p:nvSpPr>
        <p:spPr>
          <a:xfrm flipH="false" flipV="false" rot="0">
            <a:off x="8179967" y="3315147"/>
            <a:ext cx="8099697" cy="5943153"/>
          </a:xfrm>
          <a:custGeom>
            <a:avLst/>
            <a:gdLst/>
            <a:ahLst/>
            <a:cxnLst/>
            <a:rect r="r" b="b" t="t" l="l"/>
            <a:pathLst>
              <a:path h="5943153" w="8099697">
                <a:moveTo>
                  <a:pt x="0" y="0"/>
                </a:moveTo>
                <a:lnTo>
                  <a:pt x="8099698" y="0"/>
                </a:lnTo>
                <a:lnTo>
                  <a:pt x="8099698" y="5943153"/>
                </a:lnTo>
                <a:lnTo>
                  <a:pt x="0" y="5943153"/>
                </a:lnTo>
                <a:lnTo>
                  <a:pt x="0" y="0"/>
                </a:lnTo>
                <a:close/>
              </a:path>
            </a:pathLst>
          </a:custGeom>
          <a:blipFill>
            <a:blip r:embed="rId5"/>
            <a:stretch>
              <a:fillRect l="0" t="0" r="0" b="0"/>
            </a:stretch>
          </a:blipFill>
        </p:spPr>
      </p:sp>
      <p:sp>
        <p:nvSpPr>
          <p:cNvPr name="TextBox 10" id="10"/>
          <p:cNvSpPr txBox="true"/>
          <p:nvPr/>
        </p:nvSpPr>
        <p:spPr>
          <a:xfrm rot="0">
            <a:off x="1245663" y="4550666"/>
            <a:ext cx="5283855" cy="5489597"/>
          </a:xfrm>
          <a:prstGeom prst="rect">
            <a:avLst/>
          </a:prstGeom>
        </p:spPr>
        <p:txBody>
          <a:bodyPr anchor="t" rtlCol="false" tIns="0" lIns="0" bIns="0" rIns="0">
            <a:spAutoFit/>
          </a:bodyPr>
          <a:lstStyle/>
          <a:p>
            <a:pPr algn="l" marL="377641" indent="-188821" lvl="1">
              <a:lnSpc>
                <a:spcPts val="2448"/>
              </a:lnSpc>
              <a:buFont typeface="Arial"/>
              <a:buChar char="•"/>
            </a:pPr>
            <a:r>
              <a:rPr lang="en-US" sz="1749">
                <a:solidFill>
                  <a:srgbClr val="FFFFFF"/>
                </a:solidFill>
                <a:latin typeface="Poppins"/>
                <a:ea typeface="Poppins"/>
                <a:cs typeface="Poppins"/>
                <a:sym typeface="Poppins"/>
              </a:rPr>
              <a:t>Una gasolinería inteligente fue diseñada para atender vehículos a combustión usando un sistema estándar interno.</a:t>
            </a:r>
          </a:p>
          <a:p>
            <a:pPr algn="l" marL="377641" indent="-188821" lvl="1">
              <a:lnSpc>
                <a:spcPts val="2448"/>
              </a:lnSpc>
              <a:buFont typeface="Arial"/>
              <a:buChar char="•"/>
            </a:pPr>
            <a:r>
              <a:rPr lang="en-US" sz="1749">
                <a:solidFill>
                  <a:srgbClr val="FFFFFF"/>
                </a:solidFill>
                <a:latin typeface="Poppins"/>
                <a:ea typeface="Poppins"/>
                <a:cs typeface="Poppins"/>
                <a:sym typeface="Poppins"/>
              </a:rPr>
              <a:t>Con la llegada de vehículos eléctricos e híbridos, la estación incorpora cargadores eléctricos de distintos proveedores, cada uno con interfaces incompatibles que no pueden modificarse.</a:t>
            </a:r>
          </a:p>
          <a:p>
            <a:pPr algn="l" marL="377641" indent="-188821" lvl="1">
              <a:lnSpc>
                <a:spcPts val="2448"/>
              </a:lnSpc>
              <a:buFont typeface="Arial"/>
              <a:buChar char="•"/>
            </a:pPr>
            <a:r>
              <a:rPr lang="en-US" sz="1749">
                <a:solidFill>
                  <a:srgbClr val="FFFFFF"/>
                </a:solidFill>
                <a:latin typeface="Poppins"/>
                <a:ea typeface="Poppins"/>
                <a:cs typeface="Poppins"/>
                <a:sym typeface="Poppins"/>
              </a:rPr>
              <a:t>El sistema central de la gasolinería no debe cambiar.</a:t>
            </a:r>
          </a:p>
          <a:p>
            <a:pPr algn="l" marL="377641" indent="-188821" lvl="1">
              <a:lnSpc>
                <a:spcPts val="2448"/>
              </a:lnSpc>
              <a:buFont typeface="Arial"/>
              <a:buChar char="•"/>
            </a:pPr>
            <a:r>
              <a:rPr lang="en-US" sz="1749">
                <a:solidFill>
                  <a:srgbClr val="FFFFFF"/>
                </a:solidFill>
                <a:latin typeface="Poppins"/>
                <a:ea typeface="Poppins"/>
                <a:cs typeface="Poppins"/>
                <a:sym typeface="Poppins"/>
              </a:rPr>
              <a:t>Unificar el proceso de abastecimiento para todos los vehículos, permitiendo que el sistema use una sola interfaz, aplicando el patrón Adapter.</a:t>
            </a:r>
          </a:p>
          <a:p>
            <a:pPr algn="l">
              <a:lnSpc>
                <a:spcPts val="2448"/>
              </a:lnSpc>
            </a:pPr>
          </a:p>
          <a:p>
            <a:pPr algn="l">
              <a:lnSpc>
                <a:spcPts val="2448"/>
              </a:lnSpc>
            </a:pPr>
            <a:r>
              <a:rPr lang="en-US" sz="1749">
                <a:solidFill>
                  <a:srgbClr val="FFFFFF"/>
                </a:solidFill>
                <a:latin typeface="Poppins"/>
                <a:ea typeface="Poppins"/>
                <a:cs typeface="Poppins"/>
                <a:sym typeface="Poppins"/>
              </a:rPr>
              <a:t>Para convertir litros en KWh en el modelo Rapido se multiplica los litros * 8.0, en el modelo lento se multiplica los litros por * 7,0</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#4</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8638887" y="4092830"/>
            <a:ext cx="7911874" cy="5564685"/>
          </a:xfrm>
          <a:custGeom>
            <a:avLst/>
            <a:gdLst/>
            <a:ahLst/>
            <a:cxnLst/>
            <a:rect r="r" b="b" t="t" l="l"/>
            <a:pathLst>
              <a:path h="5564685" w="7911874">
                <a:moveTo>
                  <a:pt x="0" y="0"/>
                </a:moveTo>
                <a:lnTo>
                  <a:pt x="7911874" y="0"/>
                </a:lnTo>
                <a:lnTo>
                  <a:pt x="7911874" y="5564685"/>
                </a:lnTo>
                <a:lnTo>
                  <a:pt x="0" y="5564685"/>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81153" y="1850399"/>
            <a:ext cx="10944428"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ESTRUCTURAL - BRIDGE</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833672"/>
            <a:ext cx="884789" cy="885324"/>
          </a:xfrm>
          <a:prstGeom prst="rect">
            <a:avLst/>
          </a:prstGeom>
        </p:spPr>
      </p:pic>
      <p:pic>
        <p:nvPicPr>
          <p:cNvPr name="Picture 9" id="9"/>
          <p:cNvPicPr>
            <a:picLocks noChangeAspect="true"/>
          </p:cNvPicPr>
          <p:nvPr/>
        </p:nvPicPr>
        <p:blipFill>
          <a:blip r:embed="rId5"/>
          <a:stretch>
            <a:fillRect/>
          </a:stretch>
        </p:blipFill>
        <p:spPr>
          <a:xfrm rot="0">
            <a:off x="8442355" y="7569079"/>
            <a:ext cx="884789" cy="885324"/>
          </a:xfrm>
          <a:prstGeom prst="rect">
            <a:avLst/>
          </a:prstGeom>
        </p:spPr>
      </p:pic>
      <p:sp>
        <p:nvSpPr>
          <p:cNvPr name="Freeform 10" id="10"/>
          <p:cNvSpPr/>
          <p:nvPr/>
        </p:nvSpPr>
        <p:spPr>
          <a:xfrm flipH="false" flipV="false" rot="0">
            <a:off x="778979" y="4625978"/>
            <a:ext cx="6737682" cy="4421604"/>
          </a:xfrm>
          <a:custGeom>
            <a:avLst/>
            <a:gdLst/>
            <a:ahLst/>
            <a:cxnLst/>
            <a:rect r="r" b="b" t="t" l="l"/>
            <a:pathLst>
              <a:path h="4421604" w="6737682">
                <a:moveTo>
                  <a:pt x="0" y="0"/>
                </a:moveTo>
                <a:lnTo>
                  <a:pt x="6737682" y="0"/>
                </a:lnTo>
                <a:lnTo>
                  <a:pt x="6737682" y="4421604"/>
                </a:lnTo>
                <a:lnTo>
                  <a:pt x="0" y="4421604"/>
                </a:lnTo>
                <a:lnTo>
                  <a:pt x="0" y="0"/>
                </a:lnTo>
                <a:close/>
              </a:path>
            </a:pathLst>
          </a:custGeom>
          <a:blipFill>
            <a:blip r:embed="rId6"/>
            <a:stretch>
              <a:fillRect l="0" t="0" r="0" b="0"/>
            </a:stretch>
          </a:blipFill>
        </p:spPr>
      </p:sp>
      <p:sp>
        <p:nvSpPr>
          <p:cNvPr name="TextBox 11" id="11"/>
          <p:cNvSpPr txBox="true"/>
          <p:nvPr/>
        </p:nvSpPr>
        <p:spPr>
          <a:xfrm rot="0">
            <a:off x="1404371" y="3150901"/>
            <a:ext cx="16001144"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estructural que te permite dividir una clase grande, o un grupo de clases estrechamente relacionadas, en dos jerarquías separadas (abstracción e implementación) que pueden desarrollarse independientemente la una de la otra.</a:t>
            </a:r>
          </a:p>
        </p:txBody>
      </p:sp>
      <p:sp>
        <p:nvSpPr>
          <p:cNvPr name="TextBox 12" id="12"/>
          <p:cNvSpPr txBox="true"/>
          <p:nvPr/>
        </p:nvSpPr>
        <p:spPr>
          <a:xfrm rot="0">
            <a:off x="9253367" y="4850299"/>
            <a:ext cx="8865992"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 Abstracción (también llamada interfaz) es una capa de control de alto nivel para una entidad. Esta capa no tiene que hacer ningún trabajo real por su cuenta, sino que debe delegar el trabajo a la capa de implementación (también llamada plataforma).</a:t>
            </a:r>
          </a:p>
        </p:txBody>
      </p:sp>
      <p:sp>
        <p:nvSpPr>
          <p:cNvPr name="TextBox 13" id="13"/>
          <p:cNvSpPr txBox="true"/>
          <p:nvPr/>
        </p:nvSpPr>
        <p:spPr>
          <a:xfrm rot="0">
            <a:off x="9559882" y="7704987"/>
            <a:ext cx="8364274"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código cliente funciona con abstracciones de alto nivel. No está expuesto a los detalles de la plataforma.</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4575686" y="3231239"/>
            <a:ext cx="8615302" cy="5847636"/>
          </a:xfrm>
          <a:custGeom>
            <a:avLst/>
            <a:gdLst/>
            <a:ahLst/>
            <a:cxnLst/>
            <a:rect r="r" b="b" t="t" l="l"/>
            <a:pathLst>
              <a:path h="5847636" w="8615302">
                <a:moveTo>
                  <a:pt x="0" y="0"/>
                </a:moveTo>
                <a:lnTo>
                  <a:pt x="8615302" y="0"/>
                </a:lnTo>
                <a:lnTo>
                  <a:pt x="8615302" y="5847637"/>
                </a:lnTo>
                <a:lnTo>
                  <a:pt x="0" y="5847637"/>
                </a:lnTo>
                <a:lnTo>
                  <a:pt x="0" y="0"/>
                </a:lnTo>
                <a:close/>
              </a:path>
            </a:pathLst>
          </a:custGeom>
          <a:blipFill>
            <a:blip r:embed="rId4"/>
            <a:stretch>
              <a:fillRect l="0" t="0" r="0" b="0"/>
            </a:stretch>
          </a:blipFill>
        </p:spPr>
      </p:sp>
      <p:sp>
        <p:nvSpPr>
          <p:cNvPr name="TextBox 9" id="9"/>
          <p:cNvSpPr txBox="true"/>
          <p:nvPr/>
        </p:nvSpPr>
        <p:spPr>
          <a:xfrm rot="0">
            <a:off x="2365412" y="4174998"/>
            <a:ext cx="3792469" cy="524983"/>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abstraccion ofrece logica de control de alto nivel</a:t>
            </a:r>
          </a:p>
        </p:txBody>
      </p:sp>
      <p:sp>
        <p:nvSpPr>
          <p:cNvPr name="TextBox 10" id="10"/>
          <p:cNvSpPr txBox="true"/>
          <p:nvPr/>
        </p:nvSpPr>
        <p:spPr>
          <a:xfrm rot="0">
            <a:off x="13466831" y="4174998"/>
            <a:ext cx="3792469" cy="1837169"/>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implementacion declara la interfaz comun a todas las implementaciones concretas. Una abstraccion solo se puede comunicar con un objeto de implementacion a traves de los metodos que se declaran</a:t>
            </a:r>
          </a:p>
        </p:txBody>
      </p:sp>
      <p:sp>
        <p:nvSpPr>
          <p:cNvPr name="TextBox 11" id="11"/>
          <p:cNvSpPr txBox="true"/>
          <p:nvPr/>
        </p:nvSpPr>
        <p:spPr>
          <a:xfrm rot="0">
            <a:off x="10428588" y="8666115"/>
            <a:ext cx="3792469" cy="787421"/>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implementaciones concretas contienen codigo especifico de plataforma</a:t>
            </a:r>
          </a:p>
        </p:txBody>
      </p:sp>
      <p:sp>
        <p:nvSpPr>
          <p:cNvPr name="TextBox 12" id="12"/>
          <p:cNvSpPr txBox="true"/>
          <p:nvPr/>
        </p:nvSpPr>
        <p:spPr>
          <a:xfrm rot="0">
            <a:off x="2898796" y="9133472"/>
            <a:ext cx="3792469" cy="787421"/>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Las abstracciones refinadas proporcionan variantes de logica de control.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#5</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461675" y="3346589"/>
            <a:ext cx="5514379" cy="3906018"/>
          </a:xfrm>
          <a:custGeom>
            <a:avLst/>
            <a:gdLst/>
            <a:ahLst/>
            <a:cxnLst/>
            <a:rect r="r" b="b" t="t" l="l"/>
            <a:pathLst>
              <a:path h="3906018" w="5514379">
                <a:moveTo>
                  <a:pt x="0" y="0"/>
                </a:moveTo>
                <a:lnTo>
                  <a:pt x="5514379" y="0"/>
                </a:lnTo>
                <a:lnTo>
                  <a:pt x="5514379" y="3906018"/>
                </a:lnTo>
                <a:lnTo>
                  <a:pt x="0" y="3906018"/>
                </a:lnTo>
                <a:lnTo>
                  <a:pt x="0" y="0"/>
                </a:lnTo>
                <a:close/>
              </a:path>
            </a:pathLst>
          </a:custGeom>
          <a:blipFill>
            <a:blip r:embed="rId4"/>
            <a:stretch>
              <a:fillRect l="0" t="0" r="0" b="0"/>
            </a:stretch>
          </a:blipFill>
        </p:spPr>
      </p:sp>
      <p:sp>
        <p:nvSpPr>
          <p:cNvPr name="Freeform 9" id="9"/>
          <p:cNvSpPr/>
          <p:nvPr/>
        </p:nvSpPr>
        <p:spPr>
          <a:xfrm flipH="false" flipV="false" rot="0">
            <a:off x="10387368" y="3898713"/>
            <a:ext cx="7372349" cy="3205369"/>
          </a:xfrm>
          <a:custGeom>
            <a:avLst/>
            <a:gdLst/>
            <a:ahLst/>
            <a:cxnLst/>
            <a:rect r="r" b="b" t="t" l="l"/>
            <a:pathLst>
              <a:path h="3205369" w="7372349">
                <a:moveTo>
                  <a:pt x="0" y="0"/>
                </a:moveTo>
                <a:lnTo>
                  <a:pt x="7372349" y="0"/>
                </a:lnTo>
                <a:lnTo>
                  <a:pt x="7372349" y="3205369"/>
                </a:lnTo>
                <a:lnTo>
                  <a:pt x="0" y="3205369"/>
                </a:lnTo>
                <a:lnTo>
                  <a:pt x="0" y="0"/>
                </a:lnTo>
                <a:close/>
              </a:path>
            </a:pathLst>
          </a:custGeom>
          <a:blipFill>
            <a:blip r:embed="rId5"/>
            <a:stretch>
              <a:fillRect l="0" t="0" r="0" b="0"/>
            </a:stretch>
          </a:blipFill>
        </p:spPr>
      </p:sp>
      <p:sp>
        <p:nvSpPr>
          <p:cNvPr name="Freeform 10" id="10"/>
          <p:cNvSpPr/>
          <p:nvPr/>
        </p:nvSpPr>
        <p:spPr>
          <a:xfrm flipH="false" flipV="false" rot="0">
            <a:off x="8179967" y="4785603"/>
            <a:ext cx="1622197" cy="715795"/>
          </a:xfrm>
          <a:custGeom>
            <a:avLst/>
            <a:gdLst/>
            <a:ahLst/>
            <a:cxnLst/>
            <a:rect r="r" b="b" t="t" l="l"/>
            <a:pathLst>
              <a:path h="715795" w="1622197">
                <a:moveTo>
                  <a:pt x="0" y="0"/>
                </a:moveTo>
                <a:lnTo>
                  <a:pt x="1622198" y="0"/>
                </a:lnTo>
                <a:lnTo>
                  <a:pt x="1622198" y="715794"/>
                </a:lnTo>
                <a:lnTo>
                  <a:pt x="0" y="715794"/>
                </a:lnTo>
                <a:lnTo>
                  <a:pt x="0" y="0"/>
                </a:lnTo>
                <a:close/>
              </a:path>
            </a:pathLst>
          </a:custGeom>
          <a:blipFill>
            <a:blip r:embed="rId6"/>
            <a:stretch>
              <a:fillRect l="0" t="0" r="0" b="0"/>
            </a:stretch>
          </a:blipFill>
        </p:spPr>
      </p:sp>
      <p:sp>
        <p:nvSpPr>
          <p:cNvPr name="Freeform 11" id="11"/>
          <p:cNvSpPr/>
          <p:nvPr/>
        </p:nvSpPr>
        <p:spPr>
          <a:xfrm flipH="false" flipV="false" rot="0">
            <a:off x="6261534" y="8349566"/>
            <a:ext cx="1045615" cy="908734"/>
          </a:xfrm>
          <a:custGeom>
            <a:avLst/>
            <a:gdLst/>
            <a:ahLst/>
            <a:cxnLst/>
            <a:rect r="r" b="b" t="t" l="l"/>
            <a:pathLst>
              <a:path h="908734" w="1045615">
                <a:moveTo>
                  <a:pt x="0" y="0"/>
                </a:moveTo>
                <a:lnTo>
                  <a:pt x="1045615" y="0"/>
                </a:lnTo>
                <a:lnTo>
                  <a:pt x="1045615" y="908734"/>
                </a:lnTo>
                <a:lnTo>
                  <a:pt x="0" y="9087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5315746" y="8349566"/>
            <a:ext cx="728461" cy="742380"/>
          </a:xfrm>
          <a:custGeom>
            <a:avLst/>
            <a:gdLst/>
            <a:ahLst/>
            <a:cxnLst/>
            <a:rect r="r" b="b" t="t" l="l"/>
            <a:pathLst>
              <a:path h="742380" w="728461">
                <a:moveTo>
                  <a:pt x="0" y="0"/>
                </a:moveTo>
                <a:lnTo>
                  <a:pt x="728461" y="0"/>
                </a:lnTo>
                <a:lnTo>
                  <a:pt x="728461" y="742380"/>
                </a:lnTo>
                <a:lnTo>
                  <a:pt x="0" y="742380"/>
                </a:lnTo>
                <a:lnTo>
                  <a:pt x="0" y="0"/>
                </a:lnTo>
                <a:close/>
              </a:path>
            </a:pathLst>
          </a:custGeom>
          <a:blipFill>
            <a:blip r:embed="rId9"/>
            <a:stretch>
              <a:fillRect l="0" t="0" r="0" b="0"/>
            </a:stretch>
          </a:blipFill>
        </p:spPr>
      </p:sp>
      <p:sp>
        <p:nvSpPr>
          <p:cNvPr name="TextBox 13" id="13"/>
          <p:cNvSpPr txBox="true"/>
          <p:nvPr/>
        </p:nvSpPr>
        <p:spPr>
          <a:xfrm rot="0">
            <a:off x="1028700" y="8050328"/>
            <a:ext cx="3792469" cy="1574732"/>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Se tiene una clase geometrica Forma con un par de subclases Circulo y Cuadrado, al extender esa jerarquia para que incorpore colores, toca crear las combinaciones de clases, lo que hace que aumente exponencialmente</a:t>
            </a:r>
          </a:p>
        </p:txBody>
      </p:sp>
      <p:sp>
        <p:nvSpPr>
          <p:cNvPr name="TextBox 14" id="14"/>
          <p:cNvSpPr txBox="true"/>
          <p:nvPr/>
        </p:nvSpPr>
        <p:spPr>
          <a:xfrm rot="0">
            <a:off x="10753030" y="7946005"/>
            <a:ext cx="6859868" cy="1312295"/>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El patrón Bridge intenta resolver este problema pasando de la herencia a la composición del objeto. Esto quiere decir que se extrae una de las dimensiones a una jerarquía de clases separada, de modo que las clases originales referencian un objeto de la nueva jerarquía, en lugar de tener todo su estado y sus funcionalidades dentro de una clase.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#5</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9144000" y="4047461"/>
            <a:ext cx="6790464" cy="5522365"/>
          </a:xfrm>
          <a:custGeom>
            <a:avLst/>
            <a:gdLst/>
            <a:ahLst/>
            <a:cxnLst/>
            <a:rect r="r" b="b" t="t" l="l"/>
            <a:pathLst>
              <a:path h="5522365" w="6790464">
                <a:moveTo>
                  <a:pt x="0" y="0"/>
                </a:moveTo>
                <a:lnTo>
                  <a:pt x="6790464" y="0"/>
                </a:lnTo>
                <a:lnTo>
                  <a:pt x="6790464" y="5522366"/>
                </a:lnTo>
                <a:lnTo>
                  <a:pt x="0" y="5522366"/>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35773" y="1932099"/>
            <a:ext cx="12416455"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ESTRUCTURAL - COMPOSITE</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106190" y="4331953"/>
            <a:ext cx="884789" cy="885324"/>
          </a:xfrm>
          <a:prstGeom prst="rect">
            <a:avLst/>
          </a:prstGeom>
        </p:spPr>
      </p:pic>
      <p:pic>
        <p:nvPicPr>
          <p:cNvPr name="Picture 9" id="9"/>
          <p:cNvPicPr>
            <a:picLocks noChangeAspect="true"/>
          </p:cNvPicPr>
          <p:nvPr/>
        </p:nvPicPr>
        <p:blipFill>
          <a:blip r:embed="rId5"/>
          <a:stretch>
            <a:fillRect/>
          </a:stretch>
        </p:blipFill>
        <p:spPr>
          <a:xfrm rot="0">
            <a:off x="8106190" y="6245431"/>
            <a:ext cx="884789" cy="885324"/>
          </a:xfrm>
          <a:prstGeom prst="rect">
            <a:avLst/>
          </a:prstGeom>
        </p:spPr>
      </p:pic>
      <p:pic>
        <p:nvPicPr>
          <p:cNvPr name="Picture 10" id="10"/>
          <p:cNvPicPr>
            <a:picLocks noChangeAspect="true"/>
          </p:cNvPicPr>
          <p:nvPr/>
        </p:nvPicPr>
        <p:blipFill>
          <a:blip r:embed="rId6"/>
          <a:stretch>
            <a:fillRect/>
          </a:stretch>
        </p:blipFill>
        <p:spPr>
          <a:xfrm rot="0">
            <a:off x="8106190" y="8018227"/>
            <a:ext cx="884789" cy="885324"/>
          </a:xfrm>
          <a:prstGeom prst="rect">
            <a:avLst/>
          </a:prstGeom>
        </p:spPr>
      </p:pic>
      <p:sp>
        <p:nvSpPr>
          <p:cNvPr name="Freeform 11" id="11"/>
          <p:cNvSpPr/>
          <p:nvPr/>
        </p:nvSpPr>
        <p:spPr>
          <a:xfrm flipH="false" flipV="false" rot="0">
            <a:off x="1976191" y="4079974"/>
            <a:ext cx="5193449" cy="5431424"/>
          </a:xfrm>
          <a:custGeom>
            <a:avLst/>
            <a:gdLst/>
            <a:ahLst/>
            <a:cxnLst/>
            <a:rect r="r" b="b" t="t" l="l"/>
            <a:pathLst>
              <a:path h="5431424" w="5193449">
                <a:moveTo>
                  <a:pt x="0" y="0"/>
                </a:moveTo>
                <a:lnTo>
                  <a:pt x="5193449" y="0"/>
                </a:lnTo>
                <a:lnTo>
                  <a:pt x="5193449" y="5431423"/>
                </a:lnTo>
                <a:lnTo>
                  <a:pt x="0" y="5431423"/>
                </a:lnTo>
                <a:lnTo>
                  <a:pt x="0" y="0"/>
                </a:lnTo>
                <a:close/>
              </a:path>
            </a:pathLst>
          </a:custGeom>
          <a:blipFill>
            <a:blip r:embed="rId7"/>
            <a:stretch>
              <a:fillRect l="0" t="0" r="0" b="0"/>
            </a:stretch>
          </a:blipFill>
        </p:spPr>
      </p:sp>
      <p:sp>
        <p:nvSpPr>
          <p:cNvPr name="TextBox 12" id="12"/>
          <p:cNvSpPr txBox="true"/>
          <p:nvPr/>
        </p:nvSpPr>
        <p:spPr>
          <a:xfrm rot="0">
            <a:off x="1150092" y="3068532"/>
            <a:ext cx="16206550"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estructural que te permite componer objetos en estructuras de árbol y trabajar con esas estructuras como si fueran objetos individuales.</a:t>
            </a:r>
          </a:p>
        </p:txBody>
      </p:sp>
      <p:sp>
        <p:nvSpPr>
          <p:cNvPr name="TextBox 13" id="13"/>
          <p:cNvSpPr txBox="true"/>
          <p:nvPr/>
        </p:nvSpPr>
        <p:spPr>
          <a:xfrm rot="0">
            <a:off x="9082195" y="6466418"/>
            <a:ext cx="8859597"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Puedes trabajar con estructuras de árbol complejas con mayor comodidad: utiliza el polimorfismo y la recursión en tu favor.</a:t>
            </a:r>
          </a:p>
        </p:txBody>
      </p:sp>
      <p:sp>
        <p:nvSpPr>
          <p:cNvPr name="TextBox 14" id="14"/>
          <p:cNvSpPr txBox="true"/>
          <p:nvPr/>
        </p:nvSpPr>
        <p:spPr>
          <a:xfrm rot="0">
            <a:off x="9253367" y="4285828"/>
            <a:ext cx="8517253" cy="16567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El patrón Composite te proporciona dos tipos de elementos básicos que comparten una interfaz común: hojas simples y contenedores complejos. Un contenedor puede estar compuesto por hojas y por otros contenedores. Esto te permite construir una estructura de objetos recursivos anidados parecida a un árbol.</a:t>
            </a:r>
          </a:p>
        </p:txBody>
      </p:sp>
      <p:sp>
        <p:nvSpPr>
          <p:cNvPr name="TextBox 15" id="15"/>
          <p:cNvSpPr txBox="true"/>
          <p:nvPr/>
        </p:nvSpPr>
        <p:spPr>
          <a:xfrm rot="0">
            <a:off x="9082195" y="8154134"/>
            <a:ext cx="8859597"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Todos los elementos definidos por el patrón Composite comparten una interfaz común. Utilizando esta interfaz, el cliente no tiene que preocuparse por la clase concreta de los objetos con los que funciona.</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957502" y="2901342"/>
            <a:ext cx="5204760" cy="6356958"/>
          </a:xfrm>
          <a:custGeom>
            <a:avLst/>
            <a:gdLst/>
            <a:ahLst/>
            <a:cxnLst/>
            <a:rect r="r" b="b" t="t" l="l"/>
            <a:pathLst>
              <a:path h="6356958" w="5204760">
                <a:moveTo>
                  <a:pt x="0" y="0"/>
                </a:moveTo>
                <a:lnTo>
                  <a:pt x="5204760" y="0"/>
                </a:lnTo>
                <a:lnTo>
                  <a:pt x="5204760" y="6356958"/>
                </a:lnTo>
                <a:lnTo>
                  <a:pt x="0" y="6356958"/>
                </a:lnTo>
                <a:lnTo>
                  <a:pt x="0" y="0"/>
                </a:lnTo>
                <a:close/>
              </a:path>
            </a:pathLst>
          </a:custGeom>
          <a:blipFill>
            <a:blip r:embed="rId4"/>
            <a:stretch>
              <a:fillRect l="0" t="0" r="0" b="0"/>
            </a:stretch>
          </a:blipFill>
        </p:spPr>
      </p:sp>
      <p:sp>
        <p:nvSpPr>
          <p:cNvPr name="TextBox 9" id="9"/>
          <p:cNvSpPr txBox="true"/>
          <p:nvPr/>
        </p:nvSpPr>
        <p:spPr>
          <a:xfrm rot="0">
            <a:off x="2621383" y="4311935"/>
            <a:ext cx="3792469" cy="1049858"/>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interfaz componente describe operaciones que son comunes a elementos simples y complejos del arbol</a:t>
            </a:r>
          </a:p>
        </p:txBody>
      </p:sp>
      <p:sp>
        <p:nvSpPr>
          <p:cNvPr name="TextBox 10" id="10"/>
          <p:cNvSpPr txBox="true"/>
          <p:nvPr/>
        </p:nvSpPr>
        <p:spPr>
          <a:xfrm rot="0">
            <a:off x="2621383" y="6466227"/>
            <a:ext cx="3792469" cy="524983"/>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hoja es un elemento basico de un arbol que no tiene subelementos</a:t>
            </a:r>
          </a:p>
        </p:txBody>
      </p:sp>
      <p:sp>
        <p:nvSpPr>
          <p:cNvPr name="TextBox 11" id="11"/>
          <p:cNvSpPr txBox="true"/>
          <p:nvPr/>
        </p:nvSpPr>
        <p:spPr>
          <a:xfrm rot="0">
            <a:off x="12866075" y="6041721"/>
            <a:ext cx="3792469" cy="1312295"/>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El contenedor es un elemento que tiene subelementos: hojas u otros contenedores. Un contenedor no conoce las clases concretas de sus hijos.</a:t>
            </a:r>
          </a:p>
        </p:txBody>
      </p:sp>
      <p:sp>
        <p:nvSpPr>
          <p:cNvPr name="TextBox 12" id="12"/>
          <p:cNvSpPr txBox="true"/>
          <p:nvPr/>
        </p:nvSpPr>
        <p:spPr>
          <a:xfrm rot="0">
            <a:off x="12162262" y="8727464"/>
            <a:ext cx="5764368" cy="787421"/>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AL RECIBIR UNA SOLICITUD UN CONTENEDOR DELEGA EL TRABAJO A SUS SUBELEMENTOS, PROCESA LOS RESULTADOS INTERMEDIOS Y DEVUELVE EL RESULTADO FINAL AL CLIENTE</a:t>
            </a:r>
          </a:p>
        </p:txBody>
      </p:sp>
      <p:sp>
        <p:nvSpPr>
          <p:cNvPr name="TextBox 13" id="13"/>
          <p:cNvSpPr txBox="true"/>
          <p:nvPr/>
        </p:nvSpPr>
        <p:spPr>
          <a:xfrm rot="0">
            <a:off x="9144000" y="3037740"/>
            <a:ext cx="3792469" cy="1837169"/>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El cliente funciona con todos los elementos a traves de la interfaz componente. Como resultado el cliente puede funcionar de la misma manera tanto con elementos simples como complejos del arbol</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#6</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5263560" y="4513009"/>
            <a:ext cx="2241485" cy="2313791"/>
          </a:xfrm>
          <a:custGeom>
            <a:avLst/>
            <a:gdLst/>
            <a:ahLst/>
            <a:cxnLst/>
            <a:rect r="r" b="b" t="t" l="l"/>
            <a:pathLst>
              <a:path h="2313791" w="2241485">
                <a:moveTo>
                  <a:pt x="0" y="0"/>
                </a:moveTo>
                <a:lnTo>
                  <a:pt x="2241485" y="0"/>
                </a:lnTo>
                <a:lnTo>
                  <a:pt x="2241485" y="2313791"/>
                </a:lnTo>
                <a:lnTo>
                  <a:pt x="0" y="2313791"/>
                </a:lnTo>
                <a:lnTo>
                  <a:pt x="0" y="0"/>
                </a:lnTo>
                <a:close/>
              </a:path>
            </a:pathLst>
          </a:custGeom>
          <a:blipFill>
            <a:blip r:embed="rId4"/>
            <a:stretch>
              <a:fillRect l="0" t="0" r="0" b="0"/>
            </a:stretch>
          </a:blipFill>
        </p:spPr>
      </p:sp>
      <p:sp>
        <p:nvSpPr>
          <p:cNvPr name="TextBox 9" id="9"/>
          <p:cNvSpPr txBox="true"/>
          <p:nvPr/>
        </p:nvSpPr>
        <p:spPr>
          <a:xfrm rot="0">
            <a:off x="8818747" y="3488718"/>
            <a:ext cx="5596259" cy="4892871"/>
          </a:xfrm>
          <a:prstGeom prst="rect">
            <a:avLst/>
          </a:prstGeom>
        </p:spPr>
        <p:txBody>
          <a:bodyPr anchor="t" rtlCol="false" tIns="0" lIns="0" bIns="0" rIns="0">
            <a:spAutoFit/>
          </a:bodyPr>
          <a:lstStyle/>
          <a:p>
            <a:pPr algn="l">
              <a:lnSpc>
                <a:spcPts val="3052"/>
              </a:lnSpc>
              <a:spcBef>
                <a:spcPct val="0"/>
              </a:spcBef>
            </a:pPr>
            <a:r>
              <a:rPr lang="en-US" sz="2180">
                <a:solidFill>
                  <a:srgbClr val="FFFFFF"/>
                </a:solidFill>
                <a:latin typeface="Canva Sans"/>
                <a:ea typeface="Canva Sans"/>
                <a:cs typeface="Canva Sans"/>
                <a:sym typeface="Canva Sans"/>
              </a:rPr>
              <a:t>Una bodega maneja productos individuales y cajas que pueden contener:</a:t>
            </a:r>
          </a:p>
          <a:p>
            <a:pPr algn="l">
              <a:lnSpc>
                <a:spcPts val="3052"/>
              </a:lnSpc>
              <a:spcBef>
                <a:spcPct val="0"/>
              </a:spcBef>
            </a:pPr>
            <a:r>
              <a:rPr lang="en-US" sz="2180">
                <a:solidFill>
                  <a:srgbClr val="FFFFFF"/>
                </a:solidFill>
                <a:latin typeface="Canva Sans"/>
                <a:ea typeface="Canva Sans"/>
                <a:cs typeface="Canva Sans"/>
                <a:sym typeface="Canva Sans"/>
              </a:rPr>
              <a:t>Productos</a:t>
            </a:r>
          </a:p>
          <a:p>
            <a:pPr algn="l">
              <a:lnSpc>
                <a:spcPts val="3052"/>
              </a:lnSpc>
              <a:spcBef>
                <a:spcPct val="0"/>
              </a:spcBef>
            </a:pPr>
            <a:r>
              <a:rPr lang="en-US" sz="2180">
                <a:solidFill>
                  <a:srgbClr val="FFFFFF"/>
                </a:solidFill>
                <a:latin typeface="Canva Sans"/>
                <a:ea typeface="Canva Sans"/>
                <a:cs typeface="Canva Sans"/>
                <a:sym typeface="Canva Sans"/>
              </a:rPr>
              <a:t>Otras cajas (cajas dentro de cajas)</a:t>
            </a:r>
          </a:p>
          <a:p>
            <a:pPr algn="l">
              <a:lnSpc>
                <a:spcPts val="3052"/>
              </a:lnSpc>
              <a:spcBef>
                <a:spcPct val="0"/>
              </a:spcBef>
            </a:pPr>
            <a:r>
              <a:rPr lang="en-US" sz="2180">
                <a:solidFill>
                  <a:srgbClr val="FFFFFF"/>
                </a:solidFill>
                <a:latin typeface="Canva Sans"/>
                <a:ea typeface="Canva Sans"/>
                <a:cs typeface="Canva Sans"/>
                <a:sym typeface="Canva Sans"/>
              </a:rPr>
              <a:t>El sistema debe poder calcular el precio total de cualquier elemento, sin importar si es un producto simple o una caja compuesta.</a:t>
            </a:r>
          </a:p>
          <a:p>
            <a:pPr algn="l">
              <a:lnSpc>
                <a:spcPts val="3052"/>
              </a:lnSpc>
              <a:spcBef>
                <a:spcPct val="0"/>
              </a:spcBef>
            </a:pPr>
          </a:p>
          <a:p>
            <a:pPr algn="l">
              <a:lnSpc>
                <a:spcPts val="3052"/>
              </a:lnSpc>
              <a:spcBef>
                <a:spcPct val="0"/>
              </a:spcBef>
            </a:pPr>
            <a:r>
              <a:rPr lang="en-US" sz="2180">
                <a:solidFill>
                  <a:srgbClr val="FFFFFF"/>
                </a:solidFill>
                <a:latin typeface="Canva Sans"/>
                <a:ea typeface="Canva Sans"/>
                <a:cs typeface="Canva Sans"/>
                <a:sym typeface="Canva Sans"/>
              </a:rPr>
              <a:t>Para obtener el valor del precio total es necesario recorrer todos los items y obtener el precio</a:t>
            </a:r>
          </a:p>
          <a:p>
            <a:pPr algn="l">
              <a:lnSpc>
                <a:spcPts val="3052"/>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218159" y="4707333"/>
            <a:ext cx="11486914" cy="2267723"/>
          </a:xfrm>
          <a:prstGeom prst="rect">
            <a:avLst/>
          </a:prstGeom>
        </p:spPr>
        <p:txBody>
          <a:bodyPr anchor="t" rtlCol="false" tIns="0" lIns="0" bIns="0" rIns="0">
            <a:spAutoFit/>
          </a:bodyPr>
          <a:lstStyle/>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TENGAN AL DIA SU BITACORA</a:t>
            </a:r>
            <a:r>
              <a:rPr lang="en-US" sz="3236">
                <a:solidFill>
                  <a:srgbClr val="FFFFFF"/>
                </a:solidFill>
                <a:latin typeface="HK Modular"/>
                <a:ea typeface="HK Modular"/>
                <a:cs typeface="HK Modular"/>
                <a:sym typeface="HK Modular"/>
              </a:rPr>
              <a:t> </a:t>
            </a:r>
          </a:p>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COMPARTANME EL LINK POR CORREO</a:t>
            </a:r>
          </a:p>
          <a:p>
            <a:pPr algn="ctr" marL="698667" indent="-349334" lvl="1">
              <a:lnSpc>
                <a:spcPts val="4530"/>
              </a:lnSpc>
              <a:buAutoNum type="arabicPeriod" startAt="1"/>
            </a:pPr>
            <a:r>
              <a:rPr lang="en-US" sz="3236">
                <a:solidFill>
                  <a:srgbClr val="FFFFFF"/>
                </a:solidFill>
                <a:latin typeface="HK Modular"/>
                <a:ea typeface="HK Modular"/>
                <a:cs typeface="HK Modular"/>
                <a:sym typeface="HK Modular"/>
              </a:rPr>
              <a:t>ESTUDIEN PATRONES DE DISEÑO Y SOLID PARA EL VIERNES</a:t>
            </a:r>
          </a:p>
        </p:txBody>
      </p:sp>
      <p:sp>
        <p:nvSpPr>
          <p:cNvPr name="TextBox 13" id="13"/>
          <p:cNvSpPr txBox="true"/>
          <p:nvPr/>
        </p:nvSpPr>
        <p:spPr>
          <a:xfrm rot="0">
            <a:off x="2365746" y="2967237"/>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TAREA</a:t>
            </a:r>
          </a:p>
        </p:txBody>
      </p:sp>
      <p:sp>
        <p:nvSpPr>
          <p:cNvPr name="Freeform 14" id="14"/>
          <p:cNvSpPr/>
          <p:nvPr/>
        </p:nvSpPr>
        <p:spPr>
          <a:xfrm flipH="false" flipV="false" rot="0">
            <a:off x="7250871" y="-342121"/>
            <a:ext cx="3786259" cy="3786259"/>
          </a:xfrm>
          <a:custGeom>
            <a:avLst/>
            <a:gdLst/>
            <a:ahLst/>
            <a:cxnLst/>
            <a:rect r="r" b="b" t="t" l="l"/>
            <a:pathLst>
              <a:path h="3786259" w="3786259">
                <a:moveTo>
                  <a:pt x="0" y="0"/>
                </a:moveTo>
                <a:lnTo>
                  <a:pt x="3786258" y="0"/>
                </a:lnTo>
                <a:lnTo>
                  <a:pt x="3786258" y="3786259"/>
                </a:lnTo>
                <a:lnTo>
                  <a:pt x="0" y="3786259"/>
                </a:lnTo>
                <a:lnTo>
                  <a:pt x="0" y="0"/>
                </a:lnTo>
                <a:close/>
              </a:path>
            </a:pathLst>
          </a:custGeom>
          <a:blipFill>
            <a:blip r:embed="rId3"/>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30359" y="4247215"/>
            <a:ext cx="4699740" cy="1482358"/>
          </a:xfrm>
          <a:prstGeom prst="rect">
            <a:avLst/>
          </a:prstGeom>
        </p:spPr>
        <p:txBody>
          <a:bodyPr anchor="t" rtlCol="false" tIns="0" lIns="0" bIns="0" rIns="0">
            <a:spAutoFit/>
          </a:bodyPr>
          <a:lstStyle/>
          <a:p>
            <a:pPr algn="ctr">
              <a:lnSpc>
                <a:spcPts val="5927"/>
              </a:lnSpc>
              <a:spcBef>
                <a:spcPct val="0"/>
              </a:spcBef>
            </a:pPr>
            <a:r>
              <a:rPr lang="en-US" sz="4233">
                <a:solidFill>
                  <a:srgbClr val="99C5FF"/>
                </a:solidFill>
                <a:latin typeface="HK Modular"/>
                <a:ea typeface="HK Modular"/>
                <a:cs typeface="HK Modular"/>
                <a:sym typeface="HK Modular"/>
              </a:rPr>
              <a:t>NOS VEMOS EN LA </a:t>
            </a:r>
          </a:p>
        </p:txBody>
      </p:sp>
      <p:sp>
        <p:nvSpPr>
          <p:cNvPr name="Freeform 13" id="13"/>
          <p:cNvSpPr/>
          <p:nvPr/>
        </p:nvSpPr>
        <p:spPr>
          <a:xfrm flipH="false" flipV="false" rot="0">
            <a:off x="7439153" y="-342121"/>
            <a:ext cx="3409694" cy="3409694"/>
          </a:xfrm>
          <a:custGeom>
            <a:avLst/>
            <a:gdLst/>
            <a:ahLst/>
            <a:cxnLst/>
            <a:rect r="r" b="b" t="t" l="l"/>
            <a:pathLst>
              <a:path h="3409694" w="3409694">
                <a:moveTo>
                  <a:pt x="0" y="0"/>
                </a:moveTo>
                <a:lnTo>
                  <a:pt x="3409694" y="0"/>
                </a:lnTo>
                <a:lnTo>
                  <a:pt x="3409694" y="3409694"/>
                </a:lnTo>
                <a:lnTo>
                  <a:pt x="0" y="3409694"/>
                </a:lnTo>
                <a:lnTo>
                  <a:pt x="0" y="0"/>
                </a:lnTo>
                <a:close/>
              </a:path>
            </a:pathLst>
          </a:custGeom>
          <a:blipFill>
            <a:blip r:embed="rId3"/>
            <a:stretch>
              <a:fillRect l="0" t="0" r="0" b="0"/>
            </a:stretch>
          </a:blipFill>
        </p:spPr>
      </p:sp>
      <p:sp>
        <p:nvSpPr>
          <p:cNvPr name="Freeform 14" id="14"/>
          <p:cNvSpPr/>
          <p:nvPr/>
        </p:nvSpPr>
        <p:spPr>
          <a:xfrm flipH="false" flipV="false" rot="0">
            <a:off x="6870381" y="2843798"/>
            <a:ext cx="10983074" cy="6139897"/>
          </a:xfrm>
          <a:custGeom>
            <a:avLst/>
            <a:gdLst/>
            <a:ahLst/>
            <a:cxnLst/>
            <a:rect r="r" b="b" t="t" l="l"/>
            <a:pathLst>
              <a:path h="6139897" w="10983074">
                <a:moveTo>
                  <a:pt x="0" y="0"/>
                </a:moveTo>
                <a:lnTo>
                  <a:pt x="10983074" y="0"/>
                </a:lnTo>
                <a:lnTo>
                  <a:pt x="10983074" y="6139897"/>
                </a:lnTo>
                <a:lnTo>
                  <a:pt x="0" y="6139897"/>
                </a:lnTo>
                <a:lnTo>
                  <a:pt x="0" y="0"/>
                </a:lnTo>
                <a:close/>
              </a:path>
            </a:pathLst>
          </a:custGeom>
          <a:blipFill>
            <a:blip r:embed="rId4"/>
            <a:stretch>
              <a:fillRect l="0" t="0" r="0" b="0"/>
            </a:stretch>
          </a:blipFill>
        </p:spPr>
      </p:sp>
      <p:sp>
        <p:nvSpPr>
          <p:cNvPr name="TextBox 15" id="15"/>
          <p:cNvSpPr txBox="true"/>
          <p:nvPr/>
        </p:nvSpPr>
        <p:spPr>
          <a:xfrm rot="0">
            <a:off x="267561" y="6022095"/>
            <a:ext cx="6825335" cy="1017488"/>
          </a:xfrm>
          <a:prstGeom prst="rect">
            <a:avLst/>
          </a:prstGeom>
        </p:spPr>
        <p:txBody>
          <a:bodyPr anchor="t" rtlCol="false" tIns="0" lIns="0" bIns="0" rIns="0">
            <a:spAutoFit/>
          </a:bodyPr>
          <a:lstStyle/>
          <a:p>
            <a:pPr algn="ctr">
              <a:lnSpc>
                <a:spcPts val="4035"/>
              </a:lnSpc>
              <a:spcBef>
                <a:spcPct val="0"/>
              </a:spcBef>
            </a:pPr>
            <a:r>
              <a:rPr lang="en-US" sz="2882">
                <a:solidFill>
                  <a:srgbClr val="7B640E"/>
                </a:solidFill>
                <a:latin typeface="HK Modular"/>
                <a:ea typeface="HK Modular"/>
                <a:cs typeface="HK Modular"/>
                <a:sym typeface="HK Modular"/>
              </a:rPr>
              <a:t>PROXIMA SESION DE LABORATORIO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DAHAIQ6cZs8</dc:identifier>
  <dcterms:modified xsi:type="dcterms:W3CDTF">2011-08-01T06:04:30Z</dcterms:modified>
  <cp:revision>1</cp:revision>
  <dc:title>DOSW 2 - S03</dc:title>
</cp:coreProperties>
</file>