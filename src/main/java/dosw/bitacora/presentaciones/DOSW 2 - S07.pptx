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Lst>
  <p:sldSz cx="18288000" cy="10287000"/>
  <p:notesSz cx="6858000" cy="9144000"/>
  <p:embeddedFontLst>
    <p:embeddedFont>
      <p:font typeface="HK Modular" charset="1" panose="00000800000000000000"/>
      <p:regular r:id="rId79"/>
    </p:embeddedFont>
    <p:embeddedFont>
      <p:font typeface="RQND Pro" charset="1" panose="00000500000000000000"/>
      <p:regular r:id="rId80"/>
    </p:embeddedFont>
    <p:embeddedFont>
      <p:font typeface="Poppins" charset="1" panose="00000500000000000000"/>
      <p:regular r:id="rId81"/>
    </p:embeddedFont>
    <p:embeddedFont>
      <p:font typeface="Canva Sans" charset="1" panose="020B0503030501040103"/>
      <p:regular r:id="rId82"/>
    </p:embeddedFont>
    <p:embeddedFont>
      <p:font typeface="Poppins Bold" charset="1" panose="00000800000000000000"/>
      <p:regular r:id="rId8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fonts/font79.fntdata" Type="http://schemas.openxmlformats.org/officeDocument/2006/relationships/font"/><Relationship Id="rId8" Target="slides/slide3.xml" Type="http://schemas.openxmlformats.org/officeDocument/2006/relationships/slide"/><Relationship Id="rId80" Target="fonts/font80.fntdata" Type="http://schemas.openxmlformats.org/officeDocument/2006/relationships/font"/><Relationship Id="rId81" Target="fonts/font81.fntdata" Type="http://schemas.openxmlformats.org/officeDocument/2006/relationships/font"/><Relationship Id="rId82" Target="fonts/font82.fntdata" Type="http://schemas.openxmlformats.org/officeDocument/2006/relationships/font"/><Relationship Id="rId83" Target="fonts/font83.fntdata" Type="http://schemas.openxmlformats.org/officeDocument/2006/relationships/font"/><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 Id="rId4"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pn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6.png" Type="http://schemas.openxmlformats.org/officeDocument/2006/relationships/image"/><Relationship Id="rId2" Target="../media/image7.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6.png" Type="http://schemas.openxmlformats.org/officeDocument/2006/relationships/image"/><Relationship Id="rId2" Target="../media/image7.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2.png" Type="http://schemas.openxmlformats.org/officeDocument/2006/relationships/image"/><Relationship Id="rId4"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2.png" Type="http://schemas.openxmlformats.org/officeDocument/2006/relationships/image"/><Relationship Id="rId4"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4.png" Type="http://schemas.openxmlformats.org/officeDocument/2006/relationships/image"/><Relationship Id="rId6" Target="../media/image2.png" Type="http://schemas.openxmlformats.org/officeDocument/2006/relationships/image"/><Relationship Id="rId7"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media/image2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2" Target="../media/image7.jpe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7.png" Type="http://schemas.openxmlformats.org/officeDocument/2006/relationships/image"/><Relationship Id="rId4" Target="../media/image48.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0.png" Type="http://schemas.openxmlformats.org/officeDocument/2006/relationships/image"/><Relationship Id="rId4" Target="../media/image5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9.png" Type="http://schemas.openxmlformats.org/officeDocument/2006/relationships/image"/><Relationship Id="rId4" Target="../media/image40.sv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media/image43.png" Type="http://schemas.openxmlformats.org/officeDocument/2006/relationships/image"/><Relationship Id="rId8" Target="../media/image44.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2.png" Type="http://schemas.openxmlformats.org/officeDocument/2006/relationships/image"/><Relationship Id="rId4" Target="../media/image53.png" Type="http://schemas.openxmlformats.org/officeDocument/2006/relationships/image"/><Relationship Id="rId5" Target="../media/image54.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5.png" Type="http://schemas.openxmlformats.org/officeDocument/2006/relationships/image"/><Relationship Id="rId4" Target="../media/image56.png" Type="http://schemas.openxmlformats.org/officeDocument/2006/relationships/image"/><Relationship Id="rId5" Target="../media/image57.png" Type="http://schemas.openxmlformats.org/officeDocument/2006/relationships/image"/><Relationship Id="rId6" Target="../media/image58.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9.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0.png" Type="http://schemas.openxmlformats.org/officeDocument/2006/relationships/image"/><Relationship Id="rId4" Target="../media/image61.png" Type="http://schemas.openxmlformats.org/officeDocument/2006/relationships/image"/><Relationship Id="rId5" Target="../media/image62.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3.png" Type="http://schemas.openxmlformats.org/officeDocument/2006/relationships/image"/><Relationship Id="rId4" Target="../media/image64.png" Type="http://schemas.openxmlformats.org/officeDocument/2006/relationships/image"/><Relationship Id="rId5" Target="../media/image65.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6.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7.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8.png" Type="http://schemas.openxmlformats.org/officeDocument/2006/relationships/image"/><Relationship Id="rId4" Target="../media/image69.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70.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7.svg" Type="http://schemas.openxmlformats.org/officeDocument/2006/relationships/image"/><Relationship Id="rId11" Target="../media/image78.png" Type="http://schemas.openxmlformats.org/officeDocument/2006/relationships/image"/><Relationship Id="rId12" Target="../media/image79.svg" Type="http://schemas.openxmlformats.org/officeDocument/2006/relationships/image"/><Relationship Id="rId13" Target="../media/image80.png" Type="http://schemas.openxmlformats.org/officeDocument/2006/relationships/image"/><Relationship Id="rId14" Target="../media/image81.svg" Type="http://schemas.openxmlformats.org/officeDocument/2006/relationships/image"/><Relationship Id="rId15" Target="../media/image82.png" Type="http://schemas.openxmlformats.org/officeDocument/2006/relationships/image"/><Relationship Id="rId16" Target="../media/image83.svg" Type="http://schemas.openxmlformats.org/officeDocument/2006/relationships/image"/><Relationship Id="rId17" Target="../media/image84.png" Type="http://schemas.openxmlformats.org/officeDocument/2006/relationships/image"/><Relationship Id="rId18" Target="../media/image85.svg" Type="http://schemas.openxmlformats.org/officeDocument/2006/relationships/image"/><Relationship Id="rId19" Target="../media/image86.png" Type="http://schemas.openxmlformats.org/officeDocument/2006/relationships/image"/><Relationship Id="rId2" Target="../media/image7.jpeg" Type="http://schemas.openxmlformats.org/officeDocument/2006/relationships/image"/><Relationship Id="rId20" Target="../media/image87.svg" Type="http://schemas.openxmlformats.org/officeDocument/2006/relationships/image"/><Relationship Id="rId3" Target="https://spring.io/guides/gs/spring-boot" TargetMode="External" Type="http://schemas.openxmlformats.org/officeDocument/2006/relationships/hyperlink"/><Relationship Id="rId4" Target="../media/image71.png" Type="http://schemas.openxmlformats.org/officeDocument/2006/relationships/image"/><Relationship Id="rId5" Target="../media/image72.png" Type="http://schemas.openxmlformats.org/officeDocument/2006/relationships/image"/><Relationship Id="rId6" Target="../media/image73.svg" Type="http://schemas.openxmlformats.org/officeDocument/2006/relationships/image"/><Relationship Id="rId7" Target="../media/image74.png" Type="http://schemas.openxmlformats.org/officeDocument/2006/relationships/image"/><Relationship Id="rId8" Target="../media/image75.svg" Type="http://schemas.openxmlformats.org/officeDocument/2006/relationships/image"/><Relationship Id="rId9" Target="../media/image76.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8.png" Type="http://schemas.openxmlformats.org/officeDocument/2006/relationships/image"/><Relationship Id="rId4" Target="../media/image89.png" Type="http://schemas.openxmlformats.org/officeDocument/2006/relationships/image"/><Relationship Id="rId5" Target="../media/image90.png" Type="http://schemas.openxmlformats.org/officeDocument/2006/relationships/image"/><Relationship Id="rId6" Target="../media/image91.png" Type="http://schemas.openxmlformats.org/officeDocument/2006/relationships/image"/><Relationship Id="rId7" Target="../media/image92.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3.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4.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5.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6.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7.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8.png" Type="http://schemas.openxmlformats.org/officeDocument/2006/relationships/image"/><Relationship Id="rId4" Target="../media/image99.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0.png" Type="http://schemas.openxmlformats.org/officeDocument/2006/relationships/image"/><Relationship Id="rId4" Target="../media/image101.png" Type="http://schemas.openxmlformats.org/officeDocument/2006/relationships/image"/><Relationship Id="rId5" Target="../media/image102.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3.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4.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5.png" Type="http://schemas.openxmlformats.org/officeDocument/2006/relationships/image"/><Relationship Id="rId4" Target="../media/image106.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7.pn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8.png" Type="http://schemas.openxmlformats.org/officeDocument/2006/relationships/image"/><Relationship Id="rId4" Target="../media/image109.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10.pn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11.pn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12.png" Type="http://schemas.openxmlformats.org/officeDocument/2006/relationships/image"/><Relationship Id="rId4" Target="../media/image113.pn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14.pn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15.pn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15.png" Type="http://schemas.openxmlformats.org/officeDocument/2006/relationships/image"/><Relationship Id="rId4" Target="../media/image11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3"/>
            <a:stretch>
              <a:fillRect l="0" t="0" r="0" b="0"/>
            </a:stretch>
          </a:blipFill>
        </p:spPr>
      </p:sp>
      <p:sp>
        <p:nvSpPr>
          <p:cNvPr name="Freeform 7" id="7"/>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304904" y="2295809"/>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6"/>
            <a:stretch>
              <a:fillRect l="0" t="0" r="0" b="0"/>
            </a:stretch>
          </a:blipFill>
        </p:spPr>
      </p:sp>
      <p:sp>
        <p:nvSpPr>
          <p:cNvPr name="TextBox 9" id="9"/>
          <p:cNvSpPr txBox="true"/>
          <p:nvPr/>
        </p:nvSpPr>
        <p:spPr>
          <a:xfrm rot="0">
            <a:off x="8304904" y="4704340"/>
            <a:ext cx="8271372" cy="1115662"/>
          </a:xfrm>
          <a:prstGeom prst="rect">
            <a:avLst/>
          </a:prstGeom>
        </p:spPr>
        <p:txBody>
          <a:bodyPr anchor="t" rtlCol="false" tIns="0" lIns="0" bIns="0" rIns="0">
            <a:spAutoFit/>
          </a:bodyPr>
          <a:lstStyle/>
          <a:p>
            <a:pPr algn="l">
              <a:lnSpc>
                <a:spcPts val="9165"/>
              </a:lnSpc>
              <a:spcBef>
                <a:spcPct val="0"/>
              </a:spcBef>
            </a:pPr>
            <a:r>
              <a:rPr lang="en-US" sz="6546">
                <a:solidFill>
                  <a:srgbClr val="99C5FF"/>
                </a:solidFill>
                <a:latin typeface="HK Modular"/>
                <a:ea typeface="HK Modular"/>
                <a:cs typeface="HK Modular"/>
                <a:sym typeface="HK Modular"/>
              </a:rPr>
              <a:t>SEMANA 7</a:t>
            </a:r>
          </a:p>
        </p:txBody>
      </p:sp>
      <p:sp>
        <p:nvSpPr>
          <p:cNvPr name="TextBox 10" id="10"/>
          <p:cNvSpPr txBox="true"/>
          <p:nvPr/>
        </p:nvSpPr>
        <p:spPr>
          <a:xfrm rot="0">
            <a:off x="7883622" y="6249727"/>
            <a:ext cx="4716234" cy="887321"/>
          </a:xfrm>
          <a:prstGeom prst="rect">
            <a:avLst/>
          </a:prstGeom>
        </p:spPr>
        <p:txBody>
          <a:bodyPr anchor="t" rtlCol="false" tIns="0" lIns="0" bIns="0" rIns="0">
            <a:spAutoFit/>
          </a:bodyPr>
          <a:lstStyle/>
          <a:p>
            <a:pPr algn="ctr">
              <a:lnSpc>
                <a:spcPts val="7267"/>
              </a:lnSpc>
              <a:spcBef>
                <a:spcPct val="0"/>
              </a:spcBef>
            </a:pPr>
            <a:r>
              <a:rPr lang="en-US" sz="5191">
                <a:solidFill>
                  <a:srgbClr val="7A6200"/>
                </a:solidFill>
                <a:latin typeface="HK Modular"/>
                <a:ea typeface="HK Modular"/>
                <a:cs typeface="HK Modular"/>
                <a:sym typeface="HK Modular"/>
              </a:rPr>
              <a:t>GRUPO 2</a:t>
            </a:r>
          </a:p>
        </p:txBody>
      </p:sp>
      <p:sp>
        <p:nvSpPr>
          <p:cNvPr name="TextBox 11" id="11"/>
          <p:cNvSpPr txBox="true"/>
          <p:nvPr/>
        </p:nvSpPr>
        <p:spPr>
          <a:xfrm rot="0">
            <a:off x="8906723" y="2356120"/>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12" id="12"/>
          <p:cNvSpPr/>
          <p:nvPr/>
        </p:nvSpPr>
        <p:spPr>
          <a:xfrm flipH="false" flipV="false" rot="0">
            <a:off x="1302528" y="1970590"/>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7813" y="1602125"/>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ANALISIS CORTE #1</a:t>
            </a:r>
          </a:p>
        </p:txBody>
      </p:sp>
      <p:sp>
        <p:nvSpPr>
          <p:cNvPr name="Freeform 13" id="13"/>
          <p:cNvSpPr/>
          <p:nvPr/>
        </p:nvSpPr>
        <p:spPr>
          <a:xfrm flipH="false" flipV="false" rot="0">
            <a:off x="4614565" y="4799565"/>
            <a:ext cx="8835743" cy="4962743"/>
          </a:xfrm>
          <a:custGeom>
            <a:avLst/>
            <a:gdLst/>
            <a:ahLst/>
            <a:cxnLst/>
            <a:rect r="r" b="b" t="t" l="l"/>
            <a:pathLst>
              <a:path h="4962743" w="8835743">
                <a:moveTo>
                  <a:pt x="0" y="0"/>
                </a:moveTo>
                <a:lnTo>
                  <a:pt x="8835744" y="0"/>
                </a:lnTo>
                <a:lnTo>
                  <a:pt x="8835744" y="4962742"/>
                </a:lnTo>
                <a:lnTo>
                  <a:pt x="0" y="4962742"/>
                </a:lnTo>
                <a:lnTo>
                  <a:pt x="0" y="0"/>
                </a:lnTo>
                <a:close/>
              </a:path>
            </a:pathLst>
          </a:custGeom>
          <a:blipFill>
            <a:blip r:embed="rId3"/>
            <a:stretch>
              <a:fillRect l="0" t="0" r="0" b="0"/>
            </a:stretch>
          </a:blipFill>
        </p:spPr>
      </p:sp>
      <p:sp>
        <p:nvSpPr>
          <p:cNvPr name="Freeform 14" id="14"/>
          <p:cNvSpPr/>
          <p:nvPr/>
        </p:nvSpPr>
        <p:spPr>
          <a:xfrm flipH="false" flipV="false" rot="0">
            <a:off x="7730528" y="-412022"/>
            <a:ext cx="2603818" cy="2603818"/>
          </a:xfrm>
          <a:custGeom>
            <a:avLst/>
            <a:gdLst/>
            <a:ahLst/>
            <a:cxnLst/>
            <a:rect r="r" b="b" t="t" l="l"/>
            <a:pathLst>
              <a:path h="2603818" w="2603818">
                <a:moveTo>
                  <a:pt x="0" y="0"/>
                </a:moveTo>
                <a:lnTo>
                  <a:pt x="2603818" y="0"/>
                </a:lnTo>
                <a:lnTo>
                  <a:pt x="2603818" y="2603818"/>
                </a:lnTo>
                <a:lnTo>
                  <a:pt x="0" y="2603818"/>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942087" y="3169451"/>
            <a:ext cx="6664366" cy="5026323"/>
          </a:xfrm>
          <a:custGeom>
            <a:avLst/>
            <a:gdLst/>
            <a:ahLst/>
            <a:cxnLst/>
            <a:rect r="r" b="b" t="t" l="l"/>
            <a:pathLst>
              <a:path h="5026323" w="6664366">
                <a:moveTo>
                  <a:pt x="0" y="0"/>
                </a:moveTo>
                <a:lnTo>
                  <a:pt x="6664366" y="0"/>
                </a:lnTo>
                <a:lnTo>
                  <a:pt x="6664366" y="5026324"/>
                </a:lnTo>
                <a:lnTo>
                  <a:pt x="0" y="5026324"/>
                </a:lnTo>
                <a:lnTo>
                  <a:pt x="0" y="0"/>
                </a:lnTo>
                <a:close/>
              </a:path>
            </a:pathLst>
          </a:custGeom>
          <a:blipFill>
            <a:blip r:embed="rId3"/>
            <a:stretch>
              <a:fillRect l="0" t="0" r="0" b="0"/>
            </a:stretch>
          </a:blipFill>
        </p:spPr>
      </p:sp>
      <p:sp>
        <p:nvSpPr>
          <p:cNvPr name="TextBox 7" id="7"/>
          <p:cNvSpPr txBox="true"/>
          <p:nvPr/>
        </p:nvSpPr>
        <p:spPr>
          <a:xfrm rot="0">
            <a:off x="-635997"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ANALISIS CORTE 1</a:t>
            </a:r>
          </a:p>
        </p:txBody>
      </p:sp>
      <p:sp>
        <p:nvSpPr>
          <p:cNvPr name="TextBox 8" id="8"/>
          <p:cNvSpPr txBox="true"/>
          <p:nvPr/>
        </p:nvSpPr>
        <p:spPr>
          <a:xfrm rot="0">
            <a:off x="1960569" y="3432884"/>
            <a:ext cx="7391400" cy="911004"/>
          </a:xfrm>
          <a:prstGeom prst="rect">
            <a:avLst/>
          </a:prstGeom>
        </p:spPr>
        <p:txBody>
          <a:bodyPr anchor="t" rtlCol="false" tIns="0" lIns="0" bIns="0" rIns="0">
            <a:spAutoFit/>
          </a:bodyPr>
          <a:lstStyle/>
          <a:p>
            <a:pPr algn="ctr">
              <a:lnSpc>
                <a:spcPts val="7012"/>
              </a:lnSpc>
              <a:spcBef>
                <a:spcPct val="0"/>
              </a:spcBef>
            </a:pPr>
            <a:r>
              <a:rPr lang="en-US" sz="5008">
                <a:solidFill>
                  <a:srgbClr val="FFFFFF"/>
                </a:solidFill>
                <a:latin typeface="Poppins"/>
                <a:ea typeface="Poppins"/>
                <a:cs typeface="Poppins"/>
                <a:sym typeface="Poppins"/>
              </a:rPr>
              <a:t>Rendimiento del Curso </a:t>
            </a:r>
          </a:p>
        </p:txBody>
      </p:sp>
      <p:sp>
        <p:nvSpPr>
          <p:cNvPr name="TextBox 9" id="9"/>
          <p:cNvSpPr txBox="true"/>
          <p:nvPr/>
        </p:nvSpPr>
        <p:spPr>
          <a:xfrm rot="0">
            <a:off x="3653858" y="4621919"/>
            <a:ext cx="3688342" cy="877715"/>
          </a:xfrm>
          <a:prstGeom prst="rect">
            <a:avLst/>
          </a:prstGeom>
        </p:spPr>
        <p:txBody>
          <a:bodyPr anchor="t" rtlCol="false" tIns="0" lIns="0" bIns="0" rIns="0">
            <a:spAutoFit/>
          </a:bodyPr>
          <a:lstStyle/>
          <a:p>
            <a:pPr algn="ctr">
              <a:lnSpc>
                <a:spcPts val="6792"/>
              </a:lnSpc>
              <a:spcBef>
                <a:spcPct val="0"/>
              </a:spcBef>
            </a:pPr>
            <a:r>
              <a:rPr lang="en-US" sz="4851">
                <a:solidFill>
                  <a:srgbClr val="FFFFFF"/>
                </a:solidFill>
                <a:latin typeface="Poppins"/>
                <a:ea typeface="Poppins"/>
                <a:cs typeface="Poppins"/>
                <a:sym typeface="Poppins"/>
              </a:rPr>
              <a:t>Uso de la I.A</a:t>
            </a:r>
          </a:p>
        </p:txBody>
      </p:sp>
      <p:sp>
        <p:nvSpPr>
          <p:cNvPr name="TextBox 10" id="10"/>
          <p:cNvSpPr txBox="true"/>
          <p:nvPr/>
        </p:nvSpPr>
        <p:spPr>
          <a:xfrm rot="0">
            <a:off x="1577705" y="5901854"/>
            <a:ext cx="7959923" cy="911004"/>
          </a:xfrm>
          <a:prstGeom prst="rect">
            <a:avLst/>
          </a:prstGeom>
        </p:spPr>
        <p:txBody>
          <a:bodyPr anchor="t" rtlCol="false" tIns="0" lIns="0" bIns="0" rIns="0">
            <a:spAutoFit/>
          </a:bodyPr>
          <a:lstStyle/>
          <a:p>
            <a:pPr algn="ctr">
              <a:lnSpc>
                <a:spcPts val="7012"/>
              </a:lnSpc>
              <a:spcBef>
                <a:spcPct val="0"/>
              </a:spcBef>
            </a:pPr>
            <a:r>
              <a:rPr lang="en-US" sz="5008">
                <a:solidFill>
                  <a:srgbClr val="FFFFFF"/>
                </a:solidFill>
                <a:latin typeface="Poppins"/>
                <a:ea typeface="Poppins"/>
                <a:cs typeface="Poppins"/>
                <a:sym typeface="Poppins"/>
              </a:rPr>
              <a:t>Parcial Teorico - Practico</a:t>
            </a:r>
          </a:p>
        </p:txBody>
      </p:sp>
      <p:sp>
        <p:nvSpPr>
          <p:cNvPr name="TextBox 11" id="11"/>
          <p:cNvSpPr txBox="true"/>
          <p:nvPr/>
        </p:nvSpPr>
        <p:spPr>
          <a:xfrm rot="0">
            <a:off x="1469210" y="7079557"/>
            <a:ext cx="8176915" cy="911004"/>
          </a:xfrm>
          <a:prstGeom prst="rect">
            <a:avLst/>
          </a:prstGeom>
        </p:spPr>
        <p:txBody>
          <a:bodyPr anchor="t" rtlCol="false" tIns="0" lIns="0" bIns="0" rIns="0">
            <a:spAutoFit/>
          </a:bodyPr>
          <a:lstStyle/>
          <a:p>
            <a:pPr algn="ctr">
              <a:lnSpc>
                <a:spcPts val="7012"/>
              </a:lnSpc>
              <a:spcBef>
                <a:spcPct val="0"/>
              </a:spcBef>
            </a:pPr>
            <a:r>
              <a:rPr lang="en-US" sz="5008">
                <a:solidFill>
                  <a:srgbClr val="FFFFFF"/>
                </a:solidFill>
                <a:latin typeface="Poppins"/>
                <a:ea typeface="Poppins"/>
                <a:cs typeface="Poppins"/>
                <a:sym typeface="Poppins"/>
              </a:rPr>
              <a:t>Rendimiento Laboratorios</a:t>
            </a:r>
          </a:p>
        </p:txBody>
      </p:sp>
      <p:sp>
        <p:nvSpPr>
          <p:cNvPr name="TextBox 12" id="12"/>
          <p:cNvSpPr txBox="true"/>
          <p:nvPr/>
        </p:nvSpPr>
        <p:spPr>
          <a:xfrm rot="0">
            <a:off x="1731594" y="8347296"/>
            <a:ext cx="7652147" cy="911004"/>
          </a:xfrm>
          <a:prstGeom prst="rect">
            <a:avLst/>
          </a:prstGeom>
        </p:spPr>
        <p:txBody>
          <a:bodyPr anchor="t" rtlCol="false" tIns="0" lIns="0" bIns="0" rIns="0">
            <a:spAutoFit/>
          </a:bodyPr>
          <a:lstStyle/>
          <a:p>
            <a:pPr algn="ctr">
              <a:lnSpc>
                <a:spcPts val="7012"/>
              </a:lnSpc>
              <a:spcBef>
                <a:spcPct val="0"/>
              </a:spcBef>
            </a:pPr>
            <a:r>
              <a:rPr lang="en-US" sz="5008">
                <a:solidFill>
                  <a:srgbClr val="FFFFFF"/>
                </a:solidFill>
                <a:latin typeface="Poppins"/>
                <a:ea typeface="Poppins"/>
                <a:cs typeface="Poppins"/>
                <a:sym typeface="Poppins"/>
              </a:rPr>
              <a:t>Argumentacion Tecnica</a:t>
            </a:r>
          </a:p>
        </p:txBody>
      </p:sp>
      <p:sp>
        <p:nvSpPr>
          <p:cNvPr name="Freeform 13" id="13"/>
          <p:cNvSpPr/>
          <p:nvPr/>
        </p:nvSpPr>
        <p:spPr>
          <a:xfrm flipH="false" flipV="false" rot="0">
            <a:off x="7730528" y="-412022"/>
            <a:ext cx="2603818" cy="2603818"/>
          </a:xfrm>
          <a:custGeom>
            <a:avLst/>
            <a:gdLst/>
            <a:ahLst/>
            <a:cxnLst/>
            <a:rect r="r" b="b" t="t" l="l"/>
            <a:pathLst>
              <a:path h="2603818" w="2603818">
                <a:moveTo>
                  <a:pt x="0" y="0"/>
                </a:moveTo>
                <a:lnTo>
                  <a:pt x="2603818" y="0"/>
                </a:lnTo>
                <a:lnTo>
                  <a:pt x="2603818" y="2603818"/>
                </a:lnTo>
                <a:lnTo>
                  <a:pt x="0" y="2603818"/>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2623" y="3169012"/>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NUEVAS REGLAS DEL CURSO</a:t>
            </a:r>
          </a:p>
        </p:txBody>
      </p:sp>
      <p:sp>
        <p:nvSpPr>
          <p:cNvPr name="Freeform 13" id="13"/>
          <p:cNvSpPr/>
          <p:nvPr/>
        </p:nvSpPr>
        <p:spPr>
          <a:xfrm flipH="false" flipV="false" rot="0">
            <a:off x="7730528" y="-412022"/>
            <a:ext cx="2603818" cy="2603818"/>
          </a:xfrm>
          <a:custGeom>
            <a:avLst/>
            <a:gdLst/>
            <a:ahLst/>
            <a:cxnLst/>
            <a:rect r="r" b="b" t="t" l="l"/>
            <a:pathLst>
              <a:path h="2603818" w="2603818">
                <a:moveTo>
                  <a:pt x="0" y="0"/>
                </a:moveTo>
                <a:lnTo>
                  <a:pt x="2603818" y="0"/>
                </a:lnTo>
                <a:lnTo>
                  <a:pt x="2603818" y="2603818"/>
                </a:lnTo>
                <a:lnTo>
                  <a:pt x="0" y="2603818"/>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645396"/>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REFUERZO</a:t>
            </a:r>
          </a:p>
        </p:txBody>
      </p:sp>
      <p:sp>
        <p:nvSpPr>
          <p:cNvPr name="Freeform 7" id="7"/>
          <p:cNvSpPr/>
          <p:nvPr/>
        </p:nvSpPr>
        <p:spPr>
          <a:xfrm flipH="false" flipV="false" rot="0">
            <a:off x="2290630" y="5984493"/>
            <a:ext cx="4757419" cy="2783090"/>
          </a:xfrm>
          <a:custGeom>
            <a:avLst/>
            <a:gdLst/>
            <a:ahLst/>
            <a:cxnLst/>
            <a:rect r="r" b="b" t="t" l="l"/>
            <a:pathLst>
              <a:path h="2783090" w="4757419">
                <a:moveTo>
                  <a:pt x="0" y="0"/>
                </a:moveTo>
                <a:lnTo>
                  <a:pt x="4757420" y="0"/>
                </a:lnTo>
                <a:lnTo>
                  <a:pt x="4757420" y="2783091"/>
                </a:lnTo>
                <a:lnTo>
                  <a:pt x="0" y="2783091"/>
                </a:lnTo>
                <a:lnTo>
                  <a:pt x="0" y="0"/>
                </a:lnTo>
                <a:close/>
              </a:path>
            </a:pathLst>
          </a:custGeom>
          <a:blipFill>
            <a:blip r:embed="rId3"/>
            <a:stretch>
              <a:fillRect l="0" t="0" r="0" b="0"/>
            </a:stretch>
          </a:blipFill>
        </p:spPr>
      </p:sp>
      <p:sp>
        <p:nvSpPr>
          <p:cNvPr name="Freeform 8" id="8"/>
          <p:cNvSpPr/>
          <p:nvPr/>
        </p:nvSpPr>
        <p:spPr>
          <a:xfrm flipH="false" flipV="false" rot="0">
            <a:off x="11863245" y="6123749"/>
            <a:ext cx="4097469" cy="2504578"/>
          </a:xfrm>
          <a:custGeom>
            <a:avLst/>
            <a:gdLst/>
            <a:ahLst/>
            <a:cxnLst/>
            <a:rect r="r" b="b" t="t" l="l"/>
            <a:pathLst>
              <a:path h="2504578" w="4097469">
                <a:moveTo>
                  <a:pt x="0" y="0"/>
                </a:moveTo>
                <a:lnTo>
                  <a:pt x="4097470" y="0"/>
                </a:lnTo>
                <a:lnTo>
                  <a:pt x="4097470" y="2504579"/>
                </a:lnTo>
                <a:lnTo>
                  <a:pt x="0" y="2504579"/>
                </a:lnTo>
                <a:lnTo>
                  <a:pt x="0" y="0"/>
                </a:lnTo>
                <a:close/>
              </a:path>
            </a:pathLst>
          </a:custGeom>
          <a:blipFill>
            <a:blip r:embed="rId4"/>
            <a:stretch>
              <a:fillRect l="0" t="0" r="0" b="0"/>
            </a:stretch>
          </a:blipFill>
        </p:spPr>
      </p:sp>
      <p:sp>
        <p:nvSpPr>
          <p:cNvPr name="TextBox 9" id="9"/>
          <p:cNvSpPr txBox="true"/>
          <p:nvPr/>
        </p:nvSpPr>
        <p:spPr>
          <a:xfrm rot="0">
            <a:off x="10689296" y="3806362"/>
            <a:ext cx="6657104"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EQUIPO AZUL</a:t>
            </a:r>
          </a:p>
        </p:txBody>
      </p:sp>
      <p:sp>
        <p:nvSpPr>
          <p:cNvPr name="TextBox 10" id="10"/>
          <p:cNvSpPr txBox="true"/>
          <p:nvPr/>
        </p:nvSpPr>
        <p:spPr>
          <a:xfrm rot="0">
            <a:off x="1340788" y="3713323"/>
            <a:ext cx="6657104" cy="1739679"/>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EQUIPO DORADO</a:t>
            </a:r>
          </a:p>
        </p:txBody>
      </p:sp>
      <p:sp>
        <p:nvSpPr>
          <p:cNvPr name="TextBox 11" id="11"/>
          <p:cNvSpPr txBox="true"/>
          <p:nvPr/>
        </p:nvSpPr>
        <p:spPr>
          <a:xfrm rot="0">
            <a:off x="2170173" y="2385075"/>
            <a:ext cx="14269492"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Canva Sans"/>
                <a:ea typeface="Canva Sans"/>
                <a:cs typeface="Canva Sans"/>
                <a:sym typeface="Canva Sans"/>
              </a:rPr>
              <a:t>Grupos de Refuerzo de temas del corte, ejercicios desde el primer tema hasta el tema de semana 6, se van a enciar semanal</a:t>
            </a:r>
          </a:p>
        </p:txBody>
      </p:sp>
      <p:sp>
        <p:nvSpPr>
          <p:cNvPr name="Freeform 12" id="12"/>
          <p:cNvSpPr/>
          <p:nvPr/>
        </p:nvSpPr>
        <p:spPr>
          <a:xfrm flipH="false" flipV="false" rot="0">
            <a:off x="5093176" y="225379"/>
            <a:ext cx="1789138" cy="1789138"/>
          </a:xfrm>
          <a:custGeom>
            <a:avLst/>
            <a:gdLst/>
            <a:ahLst/>
            <a:cxnLst/>
            <a:rect r="r" b="b" t="t" l="l"/>
            <a:pathLst>
              <a:path h="1789138" w="1789138">
                <a:moveTo>
                  <a:pt x="0" y="0"/>
                </a:moveTo>
                <a:lnTo>
                  <a:pt x="1789138" y="0"/>
                </a:lnTo>
                <a:lnTo>
                  <a:pt x="1789138" y="1789138"/>
                </a:lnTo>
                <a:lnTo>
                  <a:pt x="0" y="1789138"/>
                </a:lnTo>
                <a:lnTo>
                  <a:pt x="0" y="0"/>
                </a:lnTo>
                <a:close/>
              </a:path>
            </a:pathLst>
          </a:custGeom>
          <a:blipFill>
            <a:blip r:embed="rId5"/>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337942"/>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REFUERZO</a:t>
            </a:r>
          </a:p>
        </p:txBody>
      </p:sp>
      <p:sp>
        <p:nvSpPr>
          <p:cNvPr name="Freeform 7" id="7"/>
          <p:cNvSpPr/>
          <p:nvPr/>
        </p:nvSpPr>
        <p:spPr>
          <a:xfrm flipH="false" flipV="false" rot="0">
            <a:off x="1918889" y="4700824"/>
            <a:ext cx="708998" cy="1620566"/>
          </a:xfrm>
          <a:custGeom>
            <a:avLst/>
            <a:gdLst/>
            <a:ahLst/>
            <a:cxnLst/>
            <a:rect r="r" b="b" t="t" l="l"/>
            <a:pathLst>
              <a:path h="1620566" w="708998">
                <a:moveTo>
                  <a:pt x="0" y="0"/>
                </a:moveTo>
                <a:lnTo>
                  <a:pt x="708998" y="0"/>
                </a:lnTo>
                <a:lnTo>
                  <a:pt x="708998" y="1620566"/>
                </a:lnTo>
                <a:lnTo>
                  <a:pt x="0" y="16205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0924035" y="5036555"/>
            <a:ext cx="6657104"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+0,2</a:t>
            </a:r>
          </a:p>
        </p:txBody>
      </p:sp>
      <p:sp>
        <p:nvSpPr>
          <p:cNvPr name="Freeform 9" id="9"/>
          <p:cNvSpPr/>
          <p:nvPr/>
        </p:nvSpPr>
        <p:spPr>
          <a:xfrm flipH="false" flipV="false" rot="0">
            <a:off x="12125342" y="4562743"/>
            <a:ext cx="708998" cy="1620566"/>
          </a:xfrm>
          <a:custGeom>
            <a:avLst/>
            <a:gdLst/>
            <a:ahLst/>
            <a:cxnLst/>
            <a:rect r="r" b="b" t="t" l="l"/>
            <a:pathLst>
              <a:path h="1620566" w="708998">
                <a:moveTo>
                  <a:pt x="0" y="0"/>
                </a:moveTo>
                <a:lnTo>
                  <a:pt x="708997" y="0"/>
                </a:lnTo>
                <a:lnTo>
                  <a:pt x="708997" y="1620565"/>
                </a:lnTo>
                <a:lnTo>
                  <a:pt x="0" y="16205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6059582" y="7035620"/>
            <a:ext cx="2483256" cy="2324949"/>
          </a:xfrm>
          <a:custGeom>
            <a:avLst/>
            <a:gdLst/>
            <a:ahLst/>
            <a:cxnLst/>
            <a:rect r="r" b="b" t="t" l="l"/>
            <a:pathLst>
              <a:path h="2324949" w="2483256">
                <a:moveTo>
                  <a:pt x="0" y="0"/>
                </a:moveTo>
                <a:lnTo>
                  <a:pt x="2483256" y="0"/>
                </a:lnTo>
                <a:lnTo>
                  <a:pt x="2483256" y="2324949"/>
                </a:lnTo>
                <a:lnTo>
                  <a:pt x="0" y="23249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9960624" y="3600603"/>
            <a:ext cx="7929790" cy="731913"/>
          </a:xfrm>
          <a:prstGeom prst="rect">
            <a:avLst/>
          </a:prstGeom>
        </p:spPr>
        <p:txBody>
          <a:bodyPr anchor="t" rtlCol="false" tIns="0" lIns="0" bIns="0" rIns="0">
            <a:spAutoFit/>
          </a:bodyPr>
          <a:lstStyle/>
          <a:p>
            <a:pPr algn="ctr">
              <a:lnSpc>
                <a:spcPts val="5973"/>
              </a:lnSpc>
              <a:spcBef>
                <a:spcPct val="0"/>
              </a:spcBef>
            </a:pPr>
            <a:r>
              <a:rPr lang="en-US" sz="4266">
                <a:solidFill>
                  <a:srgbClr val="99C5FF"/>
                </a:solidFill>
                <a:latin typeface="HK Modular"/>
                <a:ea typeface="HK Modular"/>
                <a:cs typeface="HK Modular"/>
                <a:sym typeface="HK Modular"/>
              </a:rPr>
              <a:t>EQUIPO AZUL</a:t>
            </a:r>
          </a:p>
        </p:txBody>
      </p:sp>
      <p:sp>
        <p:nvSpPr>
          <p:cNvPr name="TextBox 12" id="12"/>
          <p:cNvSpPr txBox="true"/>
          <p:nvPr/>
        </p:nvSpPr>
        <p:spPr>
          <a:xfrm rot="0">
            <a:off x="281826" y="3534870"/>
            <a:ext cx="809539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EQUIPO DORADO</a:t>
            </a:r>
          </a:p>
        </p:txBody>
      </p:sp>
      <p:sp>
        <p:nvSpPr>
          <p:cNvPr name="TextBox 13" id="13"/>
          <p:cNvSpPr txBox="true"/>
          <p:nvPr/>
        </p:nvSpPr>
        <p:spPr>
          <a:xfrm rot="0">
            <a:off x="1028700" y="5036555"/>
            <a:ext cx="6657104"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+0,3</a:t>
            </a:r>
          </a:p>
        </p:txBody>
      </p:sp>
      <p:sp>
        <p:nvSpPr>
          <p:cNvPr name="TextBox 14" id="14"/>
          <p:cNvSpPr txBox="true"/>
          <p:nvPr/>
        </p:nvSpPr>
        <p:spPr>
          <a:xfrm rot="0">
            <a:off x="6632072" y="7723543"/>
            <a:ext cx="6657104" cy="853854"/>
          </a:xfrm>
          <a:prstGeom prst="rect">
            <a:avLst/>
          </a:prstGeom>
        </p:spPr>
        <p:txBody>
          <a:bodyPr anchor="t" rtlCol="false" tIns="0" lIns="0" bIns="0" rIns="0">
            <a:spAutoFit/>
          </a:bodyPr>
          <a:lstStyle/>
          <a:p>
            <a:pPr algn="ctr">
              <a:lnSpc>
                <a:spcPts val="7012"/>
              </a:lnSpc>
              <a:spcBef>
                <a:spcPct val="0"/>
              </a:spcBef>
            </a:pPr>
            <a:r>
              <a:rPr lang="en-US" sz="5008">
                <a:solidFill>
                  <a:srgbClr val="F05B3A"/>
                </a:solidFill>
                <a:latin typeface="HK Modular"/>
                <a:ea typeface="HK Modular"/>
                <a:cs typeface="HK Modular"/>
                <a:sym typeface="HK Modular"/>
              </a:rPr>
              <a:t>+0,5</a:t>
            </a:r>
          </a:p>
        </p:txBody>
      </p:sp>
      <p:sp>
        <p:nvSpPr>
          <p:cNvPr name="Freeform 15" id="15"/>
          <p:cNvSpPr/>
          <p:nvPr/>
        </p:nvSpPr>
        <p:spPr>
          <a:xfrm flipH="false" flipV="false" rot="0">
            <a:off x="11695273" y="7504962"/>
            <a:ext cx="1288804" cy="1288804"/>
          </a:xfrm>
          <a:custGeom>
            <a:avLst/>
            <a:gdLst/>
            <a:ahLst/>
            <a:cxnLst/>
            <a:rect r="r" b="b" t="t" l="l"/>
            <a:pathLst>
              <a:path h="1288804" w="1288804">
                <a:moveTo>
                  <a:pt x="0" y="0"/>
                </a:moveTo>
                <a:lnTo>
                  <a:pt x="1288803" y="0"/>
                </a:lnTo>
                <a:lnTo>
                  <a:pt x="1288803" y="1288803"/>
                </a:lnTo>
                <a:lnTo>
                  <a:pt x="0" y="128880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8145448" y="-398214"/>
            <a:ext cx="1997104" cy="1997104"/>
          </a:xfrm>
          <a:custGeom>
            <a:avLst/>
            <a:gdLst/>
            <a:ahLst/>
            <a:cxnLst/>
            <a:rect r="r" b="b" t="t" l="l"/>
            <a:pathLst>
              <a:path h="1997104" w="1997104">
                <a:moveTo>
                  <a:pt x="0" y="0"/>
                </a:moveTo>
                <a:lnTo>
                  <a:pt x="1997104" y="0"/>
                </a:lnTo>
                <a:lnTo>
                  <a:pt x="1997104" y="1997104"/>
                </a:lnTo>
                <a:lnTo>
                  <a:pt x="0" y="1997104"/>
                </a:lnTo>
                <a:lnTo>
                  <a:pt x="0" y="0"/>
                </a:lnTo>
                <a:close/>
              </a:path>
            </a:pathLst>
          </a:custGeom>
          <a:blipFill>
            <a:blip r:embed="rId11"/>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337942"/>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REFUERZO</a:t>
            </a:r>
          </a:p>
        </p:txBody>
      </p:sp>
      <p:sp>
        <p:nvSpPr>
          <p:cNvPr name="TextBox 7" id="7"/>
          <p:cNvSpPr txBox="true"/>
          <p:nvPr/>
        </p:nvSpPr>
        <p:spPr>
          <a:xfrm rot="0">
            <a:off x="10924035" y="5036555"/>
            <a:ext cx="6657104"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-0,05</a:t>
            </a:r>
          </a:p>
        </p:txBody>
      </p:sp>
      <p:sp>
        <p:nvSpPr>
          <p:cNvPr name="Freeform 8" id="8"/>
          <p:cNvSpPr/>
          <p:nvPr/>
        </p:nvSpPr>
        <p:spPr>
          <a:xfrm flipH="false" flipV="false" rot="0">
            <a:off x="6059582" y="7035620"/>
            <a:ext cx="2483256" cy="2324949"/>
          </a:xfrm>
          <a:custGeom>
            <a:avLst/>
            <a:gdLst/>
            <a:ahLst/>
            <a:cxnLst/>
            <a:rect r="r" b="b" t="t" l="l"/>
            <a:pathLst>
              <a:path h="2324949" w="2483256">
                <a:moveTo>
                  <a:pt x="0" y="0"/>
                </a:moveTo>
                <a:lnTo>
                  <a:pt x="2483256" y="0"/>
                </a:lnTo>
                <a:lnTo>
                  <a:pt x="2483256" y="2324949"/>
                </a:lnTo>
                <a:lnTo>
                  <a:pt x="0" y="23249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401406" y="4884666"/>
            <a:ext cx="6657104"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-0,1</a:t>
            </a:r>
          </a:p>
        </p:txBody>
      </p:sp>
      <p:sp>
        <p:nvSpPr>
          <p:cNvPr name="TextBox 10" id="10"/>
          <p:cNvSpPr txBox="true"/>
          <p:nvPr/>
        </p:nvSpPr>
        <p:spPr>
          <a:xfrm rot="0">
            <a:off x="6632072" y="7723543"/>
            <a:ext cx="6657104" cy="853854"/>
          </a:xfrm>
          <a:prstGeom prst="rect">
            <a:avLst/>
          </a:prstGeom>
        </p:spPr>
        <p:txBody>
          <a:bodyPr anchor="t" rtlCol="false" tIns="0" lIns="0" bIns="0" rIns="0">
            <a:spAutoFit/>
          </a:bodyPr>
          <a:lstStyle/>
          <a:p>
            <a:pPr algn="ctr">
              <a:lnSpc>
                <a:spcPts val="7012"/>
              </a:lnSpc>
              <a:spcBef>
                <a:spcPct val="0"/>
              </a:spcBef>
            </a:pPr>
            <a:r>
              <a:rPr lang="en-US" sz="5008">
                <a:solidFill>
                  <a:srgbClr val="F05B3A"/>
                </a:solidFill>
                <a:latin typeface="HK Modular"/>
                <a:ea typeface="HK Modular"/>
                <a:cs typeface="HK Modular"/>
                <a:sym typeface="HK Modular"/>
              </a:rPr>
              <a:t>-</a:t>
            </a:r>
            <a:r>
              <a:rPr lang="en-US" sz="5008">
                <a:solidFill>
                  <a:srgbClr val="F05B3A"/>
                </a:solidFill>
                <a:latin typeface="HK Modular"/>
                <a:ea typeface="HK Modular"/>
                <a:cs typeface="HK Modular"/>
                <a:sym typeface="HK Modular"/>
              </a:rPr>
              <a:t>0,5</a:t>
            </a:r>
          </a:p>
        </p:txBody>
      </p:sp>
      <p:sp>
        <p:nvSpPr>
          <p:cNvPr name="Freeform 11" id="11"/>
          <p:cNvSpPr/>
          <p:nvPr/>
        </p:nvSpPr>
        <p:spPr>
          <a:xfrm flipH="false" flipV="false" rot="0">
            <a:off x="11572564" y="7431471"/>
            <a:ext cx="1533248" cy="1533248"/>
          </a:xfrm>
          <a:custGeom>
            <a:avLst/>
            <a:gdLst/>
            <a:ahLst/>
            <a:cxnLst/>
            <a:rect r="r" b="b" t="t" l="l"/>
            <a:pathLst>
              <a:path h="1533248" w="1533248">
                <a:moveTo>
                  <a:pt x="0" y="0"/>
                </a:moveTo>
                <a:lnTo>
                  <a:pt x="1533248" y="0"/>
                </a:lnTo>
                <a:lnTo>
                  <a:pt x="1533248" y="1533248"/>
                </a:lnTo>
                <a:lnTo>
                  <a:pt x="0" y="15332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281826" y="3534870"/>
            <a:ext cx="809539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EQUIPO DORADO</a:t>
            </a:r>
          </a:p>
        </p:txBody>
      </p:sp>
      <p:sp>
        <p:nvSpPr>
          <p:cNvPr name="TextBox 13" id="13"/>
          <p:cNvSpPr txBox="true"/>
          <p:nvPr/>
        </p:nvSpPr>
        <p:spPr>
          <a:xfrm rot="0">
            <a:off x="9960624" y="3600603"/>
            <a:ext cx="7929790" cy="731913"/>
          </a:xfrm>
          <a:prstGeom prst="rect">
            <a:avLst/>
          </a:prstGeom>
        </p:spPr>
        <p:txBody>
          <a:bodyPr anchor="t" rtlCol="false" tIns="0" lIns="0" bIns="0" rIns="0">
            <a:spAutoFit/>
          </a:bodyPr>
          <a:lstStyle/>
          <a:p>
            <a:pPr algn="ctr">
              <a:lnSpc>
                <a:spcPts val="5973"/>
              </a:lnSpc>
              <a:spcBef>
                <a:spcPct val="0"/>
              </a:spcBef>
            </a:pPr>
            <a:r>
              <a:rPr lang="en-US" sz="4266">
                <a:solidFill>
                  <a:srgbClr val="99C5FF"/>
                </a:solidFill>
                <a:latin typeface="HK Modular"/>
                <a:ea typeface="HK Modular"/>
                <a:cs typeface="HK Modular"/>
                <a:sym typeface="HK Modular"/>
              </a:rPr>
              <a:t>EQUIPO AZUL</a:t>
            </a:r>
          </a:p>
        </p:txBody>
      </p:sp>
      <p:sp>
        <p:nvSpPr>
          <p:cNvPr name="Freeform 14" id="14"/>
          <p:cNvSpPr/>
          <p:nvPr/>
        </p:nvSpPr>
        <p:spPr>
          <a:xfrm flipH="false" flipV="false" rot="0">
            <a:off x="2747377" y="4700824"/>
            <a:ext cx="708998" cy="1620566"/>
          </a:xfrm>
          <a:custGeom>
            <a:avLst/>
            <a:gdLst/>
            <a:ahLst/>
            <a:cxnLst/>
            <a:rect r="r" b="b" t="t" l="l"/>
            <a:pathLst>
              <a:path h="1620566" w="708998">
                <a:moveTo>
                  <a:pt x="0" y="0"/>
                </a:moveTo>
                <a:lnTo>
                  <a:pt x="708998" y="0"/>
                </a:lnTo>
                <a:lnTo>
                  <a:pt x="708998" y="1620566"/>
                </a:lnTo>
                <a:lnTo>
                  <a:pt x="0" y="16205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12125342" y="4562743"/>
            <a:ext cx="708998" cy="1620566"/>
          </a:xfrm>
          <a:custGeom>
            <a:avLst/>
            <a:gdLst/>
            <a:ahLst/>
            <a:cxnLst/>
            <a:rect r="r" b="b" t="t" l="l"/>
            <a:pathLst>
              <a:path h="1620566" w="708998">
                <a:moveTo>
                  <a:pt x="0" y="0"/>
                </a:moveTo>
                <a:lnTo>
                  <a:pt x="708997" y="0"/>
                </a:lnTo>
                <a:lnTo>
                  <a:pt x="708997" y="1620565"/>
                </a:lnTo>
                <a:lnTo>
                  <a:pt x="0" y="162056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8322074" y="-342981"/>
            <a:ext cx="1965692" cy="1965692"/>
          </a:xfrm>
          <a:custGeom>
            <a:avLst/>
            <a:gdLst/>
            <a:ahLst/>
            <a:cxnLst/>
            <a:rect r="r" b="b" t="t" l="l"/>
            <a:pathLst>
              <a:path h="1965692" w="1965692">
                <a:moveTo>
                  <a:pt x="0" y="0"/>
                </a:moveTo>
                <a:lnTo>
                  <a:pt x="1965691" y="0"/>
                </a:lnTo>
                <a:lnTo>
                  <a:pt x="1965691" y="1965692"/>
                </a:lnTo>
                <a:lnTo>
                  <a:pt x="0" y="1965692"/>
                </a:lnTo>
                <a:lnTo>
                  <a:pt x="0" y="0"/>
                </a:lnTo>
                <a:close/>
              </a:path>
            </a:pathLst>
          </a:custGeom>
          <a:blipFill>
            <a:blip r:embed="rId11"/>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2623" y="3522010"/>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PLAN DE MEJORA</a:t>
            </a:r>
          </a:p>
        </p:txBody>
      </p:sp>
      <p:sp>
        <p:nvSpPr>
          <p:cNvPr name="Freeform 13" id="13"/>
          <p:cNvSpPr/>
          <p:nvPr/>
        </p:nvSpPr>
        <p:spPr>
          <a:xfrm flipH="false" flipV="false" rot="0">
            <a:off x="7842091" y="-412022"/>
            <a:ext cx="2603818" cy="2603818"/>
          </a:xfrm>
          <a:custGeom>
            <a:avLst/>
            <a:gdLst/>
            <a:ahLst/>
            <a:cxnLst/>
            <a:rect r="r" b="b" t="t" l="l"/>
            <a:pathLst>
              <a:path h="2603818" w="2603818">
                <a:moveTo>
                  <a:pt x="0" y="0"/>
                </a:moveTo>
                <a:lnTo>
                  <a:pt x="2603818" y="0"/>
                </a:lnTo>
                <a:lnTo>
                  <a:pt x="2603818" y="2603818"/>
                </a:lnTo>
                <a:lnTo>
                  <a:pt x="0" y="2603818"/>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313943" y="1202642"/>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PLAN DE MEJORA CURSO</a:t>
            </a:r>
          </a:p>
        </p:txBody>
      </p:sp>
      <p:sp>
        <p:nvSpPr>
          <p:cNvPr name="Freeform 7" id="7"/>
          <p:cNvSpPr/>
          <p:nvPr/>
        </p:nvSpPr>
        <p:spPr>
          <a:xfrm flipH="false" flipV="false" rot="0">
            <a:off x="1654461" y="2710552"/>
            <a:ext cx="5970671" cy="5970671"/>
          </a:xfrm>
          <a:custGeom>
            <a:avLst/>
            <a:gdLst/>
            <a:ahLst/>
            <a:cxnLst/>
            <a:rect r="r" b="b" t="t" l="l"/>
            <a:pathLst>
              <a:path h="5970671" w="5970671">
                <a:moveTo>
                  <a:pt x="0" y="0"/>
                </a:moveTo>
                <a:lnTo>
                  <a:pt x="5970671" y="0"/>
                </a:lnTo>
                <a:lnTo>
                  <a:pt x="5970671" y="5970671"/>
                </a:lnTo>
                <a:lnTo>
                  <a:pt x="0" y="5970671"/>
                </a:lnTo>
                <a:lnTo>
                  <a:pt x="0" y="0"/>
                </a:lnTo>
                <a:close/>
              </a:path>
            </a:pathLst>
          </a:custGeom>
          <a:blipFill>
            <a:blip r:embed="rId3"/>
            <a:stretch>
              <a:fillRect l="0" t="0" r="0" b="0"/>
            </a:stretch>
          </a:blipFill>
        </p:spPr>
      </p:sp>
      <p:sp>
        <p:nvSpPr>
          <p:cNvPr name="TextBox 8" id="8"/>
          <p:cNvSpPr txBox="true"/>
          <p:nvPr/>
        </p:nvSpPr>
        <p:spPr>
          <a:xfrm rot="0">
            <a:off x="8191481" y="3239953"/>
            <a:ext cx="8796712"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Sienten que hicieron bien en el corte pasado?</a:t>
            </a:r>
          </a:p>
        </p:txBody>
      </p:sp>
      <p:sp>
        <p:nvSpPr>
          <p:cNvPr name="TextBox 9" id="9"/>
          <p:cNvSpPr txBox="true"/>
          <p:nvPr/>
        </p:nvSpPr>
        <p:spPr>
          <a:xfrm rot="0">
            <a:off x="8191481" y="4161727"/>
            <a:ext cx="8796712"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sienten que se les dificulto el corte pasado?</a:t>
            </a:r>
          </a:p>
        </p:txBody>
      </p:sp>
      <p:sp>
        <p:nvSpPr>
          <p:cNvPr name="TextBox 10" id="10"/>
          <p:cNvSpPr txBox="true"/>
          <p:nvPr/>
        </p:nvSpPr>
        <p:spPr>
          <a:xfrm rot="0">
            <a:off x="8191481" y="5076825"/>
            <a:ext cx="8796712"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sienten que no hicieron el corte pasado?</a:t>
            </a:r>
          </a:p>
        </p:txBody>
      </p:sp>
      <p:sp>
        <p:nvSpPr>
          <p:cNvPr name="TextBox 11" id="11"/>
          <p:cNvSpPr txBox="true"/>
          <p:nvPr/>
        </p:nvSpPr>
        <p:spPr>
          <a:xfrm rot="0">
            <a:off x="8313216" y="6446557"/>
            <a:ext cx="8796712" cy="9150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Cuales son los compromisos para mejorar este corte</a:t>
            </a:r>
          </a:p>
          <a:p>
            <a:pPr algn="ctr">
              <a:lnSpc>
                <a:spcPts val="3639"/>
              </a:lnSpc>
              <a:spcBef>
                <a:spcPct val="0"/>
              </a:spcBef>
            </a:pPr>
            <a:r>
              <a:rPr lang="en-US" sz="2599">
                <a:solidFill>
                  <a:srgbClr val="FFFFFF"/>
                </a:solidFill>
                <a:latin typeface="Poppins"/>
                <a:ea typeface="Poppins"/>
                <a:cs typeface="Poppins"/>
                <a:sym typeface="Poppins"/>
              </a:rPr>
              <a:t>COMPROMISOS REALES, PLAN DE ACCION</a:t>
            </a:r>
          </a:p>
        </p:txBody>
      </p:sp>
      <p:sp>
        <p:nvSpPr>
          <p:cNvPr name="Freeform 12" id="12"/>
          <p:cNvSpPr/>
          <p:nvPr/>
        </p:nvSpPr>
        <p:spPr>
          <a:xfrm flipH="false" flipV="false" rot="0">
            <a:off x="7910034" y="-412022"/>
            <a:ext cx="2089216" cy="2089216"/>
          </a:xfrm>
          <a:custGeom>
            <a:avLst/>
            <a:gdLst/>
            <a:ahLst/>
            <a:cxnLst/>
            <a:rect r="r" b="b" t="t" l="l"/>
            <a:pathLst>
              <a:path h="2089216" w="2089216">
                <a:moveTo>
                  <a:pt x="0" y="0"/>
                </a:moveTo>
                <a:lnTo>
                  <a:pt x="2089215" y="0"/>
                </a:lnTo>
                <a:lnTo>
                  <a:pt x="2089215" y="2089216"/>
                </a:lnTo>
                <a:lnTo>
                  <a:pt x="0" y="2089216"/>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313943" y="1202642"/>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PLAN DE MEJORA INDIVIDUAL</a:t>
            </a:r>
          </a:p>
        </p:txBody>
      </p:sp>
      <p:sp>
        <p:nvSpPr>
          <p:cNvPr name="Freeform 7" id="7"/>
          <p:cNvSpPr/>
          <p:nvPr/>
        </p:nvSpPr>
        <p:spPr>
          <a:xfrm flipH="false" flipV="false" rot="0">
            <a:off x="1654461" y="2710552"/>
            <a:ext cx="5970671" cy="5970671"/>
          </a:xfrm>
          <a:custGeom>
            <a:avLst/>
            <a:gdLst/>
            <a:ahLst/>
            <a:cxnLst/>
            <a:rect r="r" b="b" t="t" l="l"/>
            <a:pathLst>
              <a:path h="5970671" w="5970671">
                <a:moveTo>
                  <a:pt x="0" y="0"/>
                </a:moveTo>
                <a:lnTo>
                  <a:pt x="5970671" y="0"/>
                </a:lnTo>
                <a:lnTo>
                  <a:pt x="5970671" y="5970671"/>
                </a:lnTo>
                <a:lnTo>
                  <a:pt x="0" y="5970671"/>
                </a:lnTo>
                <a:lnTo>
                  <a:pt x="0" y="0"/>
                </a:lnTo>
                <a:close/>
              </a:path>
            </a:pathLst>
          </a:custGeom>
          <a:blipFill>
            <a:blip r:embed="rId3"/>
            <a:stretch>
              <a:fillRect l="0" t="0" r="0" b="0"/>
            </a:stretch>
          </a:blipFill>
        </p:spPr>
      </p:sp>
      <p:sp>
        <p:nvSpPr>
          <p:cNvPr name="TextBox 8" id="8"/>
          <p:cNvSpPr txBox="true"/>
          <p:nvPr/>
        </p:nvSpPr>
        <p:spPr>
          <a:xfrm rot="0">
            <a:off x="8043889" y="2719193"/>
            <a:ext cx="8796712"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Cada uno en una hoja - con SINCERIDAD</a:t>
            </a:r>
          </a:p>
        </p:txBody>
      </p:sp>
      <p:sp>
        <p:nvSpPr>
          <p:cNvPr name="TextBox 9" id="9"/>
          <p:cNvSpPr txBox="true"/>
          <p:nvPr/>
        </p:nvSpPr>
        <p:spPr>
          <a:xfrm rot="0">
            <a:off x="8191481" y="4039669"/>
            <a:ext cx="8796712"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Siento que hice bien en el corte pasado?</a:t>
            </a:r>
          </a:p>
        </p:txBody>
      </p:sp>
      <p:sp>
        <p:nvSpPr>
          <p:cNvPr name="TextBox 10" id="10"/>
          <p:cNvSpPr txBox="true"/>
          <p:nvPr/>
        </p:nvSpPr>
        <p:spPr>
          <a:xfrm rot="0">
            <a:off x="8191481" y="4881245"/>
            <a:ext cx="8796712"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siento que se me dificulto el corte pasado?</a:t>
            </a:r>
          </a:p>
        </p:txBody>
      </p:sp>
      <p:sp>
        <p:nvSpPr>
          <p:cNvPr name="TextBox 11" id="11"/>
          <p:cNvSpPr txBox="true"/>
          <p:nvPr/>
        </p:nvSpPr>
        <p:spPr>
          <a:xfrm rot="0">
            <a:off x="8191481" y="5629212"/>
            <a:ext cx="8796712"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siento que no hice el corte pasado?</a:t>
            </a:r>
          </a:p>
        </p:txBody>
      </p:sp>
      <p:sp>
        <p:nvSpPr>
          <p:cNvPr name="TextBox 12" id="12"/>
          <p:cNvSpPr txBox="true"/>
          <p:nvPr/>
        </p:nvSpPr>
        <p:spPr>
          <a:xfrm rot="0">
            <a:off x="8191481" y="7096698"/>
            <a:ext cx="8796712" cy="13722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Cuales son mis compromisos para mejorar este corte</a:t>
            </a:r>
          </a:p>
          <a:p>
            <a:pPr algn="ctr">
              <a:lnSpc>
                <a:spcPts val="3639"/>
              </a:lnSpc>
              <a:spcBef>
                <a:spcPct val="0"/>
              </a:spcBef>
            </a:pPr>
            <a:r>
              <a:rPr lang="en-US" sz="2599">
                <a:solidFill>
                  <a:srgbClr val="FFFFFF"/>
                </a:solidFill>
                <a:latin typeface="Poppins"/>
                <a:ea typeface="Poppins"/>
                <a:cs typeface="Poppins"/>
                <a:sym typeface="Poppins"/>
              </a:rPr>
              <a:t>COMPROMISOS REALES, PLAN DE ACCION</a:t>
            </a:r>
          </a:p>
        </p:txBody>
      </p:sp>
      <p:sp>
        <p:nvSpPr>
          <p:cNvPr name="Freeform 13" id="13"/>
          <p:cNvSpPr/>
          <p:nvPr/>
        </p:nvSpPr>
        <p:spPr>
          <a:xfrm flipH="false" flipV="false" rot="0">
            <a:off x="8191481" y="-273917"/>
            <a:ext cx="1859635" cy="1859635"/>
          </a:xfrm>
          <a:custGeom>
            <a:avLst/>
            <a:gdLst/>
            <a:ahLst/>
            <a:cxnLst/>
            <a:rect r="r" b="b" t="t" l="l"/>
            <a:pathLst>
              <a:path h="1859635" w="1859635">
                <a:moveTo>
                  <a:pt x="0" y="0"/>
                </a:moveTo>
                <a:lnTo>
                  <a:pt x="1859635" y="0"/>
                </a:lnTo>
                <a:lnTo>
                  <a:pt x="1859635" y="1859635"/>
                </a:lnTo>
                <a:lnTo>
                  <a:pt x="0" y="1859635"/>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2196430"/>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CORTE #2</a:t>
            </a:r>
          </a:p>
        </p:txBody>
      </p:sp>
      <p:sp>
        <p:nvSpPr>
          <p:cNvPr name="TextBox 13" id="13"/>
          <p:cNvSpPr txBox="true"/>
          <p:nvPr/>
        </p:nvSpPr>
        <p:spPr>
          <a:xfrm rot="0">
            <a:off x="3577829" y="4919747"/>
            <a:ext cx="11132342" cy="2177364"/>
          </a:xfrm>
          <a:prstGeom prst="rect">
            <a:avLst/>
          </a:prstGeom>
        </p:spPr>
        <p:txBody>
          <a:bodyPr anchor="t" rtlCol="false" tIns="0" lIns="0" bIns="0" rIns="0">
            <a:spAutoFit/>
          </a:bodyPr>
          <a:lstStyle/>
          <a:p>
            <a:pPr algn="ctr">
              <a:lnSpc>
                <a:spcPts val="8747"/>
              </a:lnSpc>
              <a:spcBef>
                <a:spcPct val="0"/>
              </a:spcBef>
            </a:pPr>
            <a:r>
              <a:rPr lang="en-US" sz="6247">
                <a:solidFill>
                  <a:srgbClr val="99C5FF"/>
                </a:solidFill>
                <a:latin typeface="HK Modular"/>
                <a:ea typeface="HK Modular"/>
                <a:cs typeface="HK Modular"/>
                <a:sym typeface="HK Modular"/>
              </a:rPr>
              <a:t>ENGINEERING ASSIGNMENT</a:t>
            </a:r>
          </a:p>
        </p:txBody>
      </p:sp>
      <p:sp>
        <p:nvSpPr>
          <p:cNvPr name="Freeform 14" id="14"/>
          <p:cNvSpPr/>
          <p:nvPr/>
        </p:nvSpPr>
        <p:spPr>
          <a:xfrm flipH="false" flipV="false" rot="0">
            <a:off x="7730528" y="-412022"/>
            <a:ext cx="2603818" cy="2603818"/>
          </a:xfrm>
          <a:custGeom>
            <a:avLst/>
            <a:gdLst/>
            <a:ahLst/>
            <a:cxnLst/>
            <a:rect r="r" b="b" t="t" l="l"/>
            <a:pathLst>
              <a:path h="2603818" w="2603818">
                <a:moveTo>
                  <a:pt x="0" y="0"/>
                </a:moveTo>
                <a:lnTo>
                  <a:pt x="2603818" y="0"/>
                </a:lnTo>
                <a:lnTo>
                  <a:pt x="2603818" y="2603818"/>
                </a:lnTo>
                <a:lnTo>
                  <a:pt x="0" y="2603818"/>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085699" y="1809394"/>
            <a:ext cx="9389196" cy="1115662"/>
          </a:xfrm>
          <a:prstGeom prst="rect">
            <a:avLst/>
          </a:prstGeom>
        </p:spPr>
        <p:txBody>
          <a:bodyPr anchor="t" rtlCol="false" tIns="0" lIns="0" bIns="0" rIns="0">
            <a:spAutoFit/>
          </a:bodyPr>
          <a:lstStyle/>
          <a:p>
            <a:pPr algn="l">
              <a:lnSpc>
                <a:spcPts val="9165"/>
              </a:lnSpc>
              <a:spcBef>
                <a:spcPct val="0"/>
              </a:spcBef>
            </a:pPr>
            <a:r>
              <a:rPr lang="en-US" sz="6546">
                <a:solidFill>
                  <a:srgbClr val="99C5FF"/>
                </a:solidFill>
                <a:latin typeface="HK Modular"/>
                <a:ea typeface="HK Modular"/>
                <a:cs typeface="HK Modular"/>
                <a:sym typeface="HK Modular"/>
              </a:rPr>
              <a:t>ORDEN DEL DIA </a:t>
            </a:r>
          </a:p>
        </p:txBody>
      </p:sp>
      <p:sp>
        <p:nvSpPr>
          <p:cNvPr name="TextBox 8" id="8"/>
          <p:cNvSpPr txBox="true"/>
          <p:nvPr/>
        </p:nvSpPr>
        <p:spPr>
          <a:xfrm rot="0">
            <a:off x="8085699" y="3877556"/>
            <a:ext cx="6153200"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ROLES ROTATORIOS</a:t>
            </a:r>
          </a:p>
        </p:txBody>
      </p:sp>
      <p:sp>
        <p:nvSpPr>
          <p:cNvPr name="Freeform 9" id="9"/>
          <p:cNvSpPr/>
          <p:nvPr/>
        </p:nvSpPr>
        <p:spPr>
          <a:xfrm flipH="false" flipV="false" rot="0">
            <a:off x="8304904" y="437716"/>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5"/>
            <a:stretch>
              <a:fillRect l="0" t="0" r="0" b="0"/>
            </a:stretch>
          </a:blipFill>
        </p:spPr>
      </p:sp>
      <p:sp>
        <p:nvSpPr>
          <p:cNvPr name="TextBox 10" id="10"/>
          <p:cNvSpPr txBox="true"/>
          <p:nvPr/>
        </p:nvSpPr>
        <p:spPr>
          <a:xfrm rot="0">
            <a:off x="8906723" y="498026"/>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TextBox 11" id="11"/>
          <p:cNvSpPr txBox="true"/>
          <p:nvPr/>
        </p:nvSpPr>
        <p:spPr>
          <a:xfrm rot="0">
            <a:off x="8085699" y="4715653"/>
            <a:ext cx="8494588"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INVERSION DE DEPENDENCIAS</a:t>
            </a:r>
          </a:p>
        </p:txBody>
      </p:sp>
      <p:sp>
        <p:nvSpPr>
          <p:cNvPr name="TextBox 12" id="12"/>
          <p:cNvSpPr txBox="true"/>
          <p:nvPr/>
        </p:nvSpPr>
        <p:spPr>
          <a:xfrm rot="0">
            <a:off x="8085699" y="5553075"/>
            <a:ext cx="7778286"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INVERSION DE CONTROL - IOC</a:t>
            </a:r>
          </a:p>
        </p:txBody>
      </p:sp>
      <p:sp>
        <p:nvSpPr>
          <p:cNvPr name="TextBox 13" id="13"/>
          <p:cNvSpPr txBox="true"/>
          <p:nvPr/>
        </p:nvSpPr>
        <p:spPr>
          <a:xfrm rot="0">
            <a:off x="8085699" y="6390497"/>
            <a:ext cx="7778286"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SPRING FRAMEWORK</a:t>
            </a:r>
          </a:p>
        </p:txBody>
      </p:sp>
      <p:sp>
        <p:nvSpPr>
          <p:cNvPr name="TextBox 14" id="14"/>
          <p:cNvSpPr txBox="true"/>
          <p:nvPr/>
        </p:nvSpPr>
        <p:spPr>
          <a:xfrm rot="0">
            <a:off x="8085699" y="7262463"/>
            <a:ext cx="7778286"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DISEÑO DE APIS WEB PARTE 1</a:t>
            </a:r>
          </a:p>
        </p:txBody>
      </p:sp>
      <p:sp>
        <p:nvSpPr>
          <p:cNvPr name="Freeform 15" id="15"/>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6"/>
            <a:stretch>
              <a:fillRect l="0" t="0" r="0" b="0"/>
            </a:stretch>
          </a:blipFill>
        </p:spPr>
      </p:sp>
      <p:sp>
        <p:nvSpPr>
          <p:cNvPr name="Freeform 16" id="16"/>
          <p:cNvSpPr/>
          <p:nvPr/>
        </p:nvSpPr>
        <p:spPr>
          <a:xfrm flipH="false" flipV="false" rot="0">
            <a:off x="1302528" y="1970590"/>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7"/>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7813" y="3759506"/>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ROLES EN UN PROYECTO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972252" y="2340588"/>
            <a:ext cx="2158970" cy="2158970"/>
          </a:xfrm>
          <a:custGeom>
            <a:avLst/>
            <a:gdLst/>
            <a:ahLst/>
            <a:cxnLst/>
            <a:rect r="r" b="b" t="t" l="l"/>
            <a:pathLst>
              <a:path h="2158970" w="2158970">
                <a:moveTo>
                  <a:pt x="0" y="0"/>
                </a:moveTo>
                <a:lnTo>
                  <a:pt x="2158969" y="0"/>
                </a:lnTo>
                <a:lnTo>
                  <a:pt x="2158969" y="2158970"/>
                </a:lnTo>
                <a:lnTo>
                  <a:pt x="0" y="2158970"/>
                </a:lnTo>
                <a:lnTo>
                  <a:pt x="0" y="0"/>
                </a:lnTo>
                <a:close/>
              </a:path>
            </a:pathLst>
          </a:custGeom>
          <a:blipFill>
            <a:blip r:embed="rId3"/>
            <a:stretch>
              <a:fillRect l="0" t="0" r="0" b="0"/>
            </a:stretch>
          </a:blipFill>
        </p:spPr>
      </p:sp>
      <p:sp>
        <p:nvSpPr>
          <p:cNvPr name="TextBox 7" id="7"/>
          <p:cNvSpPr txBox="true"/>
          <p:nvPr/>
        </p:nvSpPr>
        <p:spPr>
          <a:xfrm rot="0">
            <a:off x="6661106" y="4679440"/>
            <a:ext cx="4781261" cy="464060"/>
          </a:xfrm>
          <a:prstGeom prst="rect">
            <a:avLst/>
          </a:prstGeom>
        </p:spPr>
        <p:txBody>
          <a:bodyPr anchor="t" rtlCol="false" tIns="0" lIns="0" bIns="0" rIns="0">
            <a:spAutoFit/>
          </a:bodyPr>
          <a:lstStyle/>
          <a:p>
            <a:pPr algn="ctr">
              <a:lnSpc>
                <a:spcPts val="3756"/>
              </a:lnSpc>
              <a:spcBef>
                <a:spcPct val="0"/>
              </a:spcBef>
            </a:pPr>
            <a:r>
              <a:rPr lang="en-US" sz="2683">
                <a:solidFill>
                  <a:srgbClr val="7A6200"/>
                </a:solidFill>
                <a:latin typeface="HK Modular"/>
                <a:ea typeface="HK Modular"/>
                <a:cs typeface="HK Modular"/>
                <a:sym typeface="HK Modular"/>
              </a:rPr>
              <a:t>LIDER TECNICO</a:t>
            </a:r>
          </a:p>
        </p:txBody>
      </p:sp>
      <p:sp>
        <p:nvSpPr>
          <p:cNvPr name="Freeform 8" id="8"/>
          <p:cNvSpPr/>
          <p:nvPr/>
        </p:nvSpPr>
        <p:spPr>
          <a:xfrm flipH="false" flipV="false" rot="0">
            <a:off x="2290578" y="3527640"/>
            <a:ext cx="3231719" cy="3231719"/>
          </a:xfrm>
          <a:custGeom>
            <a:avLst/>
            <a:gdLst/>
            <a:ahLst/>
            <a:cxnLst/>
            <a:rect r="r" b="b" t="t" l="l"/>
            <a:pathLst>
              <a:path h="3231719" w="3231719">
                <a:moveTo>
                  <a:pt x="0" y="0"/>
                </a:moveTo>
                <a:lnTo>
                  <a:pt x="3231719" y="0"/>
                </a:lnTo>
                <a:lnTo>
                  <a:pt x="3231719" y="3231720"/>
                </a:lnTo>
                <a:lnTo>
                  <a:pt x="0" y="3231720"/>
                </a:lnTo>
                <a:lnTo>
                  <a:pt x="0" y="0"/>
                </a:lnTo>
                <a:close/>
              </a:path>
            </a:pathLst>
          </a:custGeom>
          <a:blipFill>
            <a:blip r:embed="rId4"/>
            <a:stretch>
              <a:fillRect l="0" t="0" r="0" b="0"/>
            </a:stretch>
          </a:blipFill>
        </p:spPr>
      </p:sp>
      <p:sp>
        <p:nvSpPr>
          <p:cNvPr name="Freeform 9" id="9"/>
          <p:cNvSpPr/>
          <p:nvPr/>
        </p:nvSpPr>
        <p:spPr>
          <a:xfrm flipH="false" flipV="false" rot="0">
            <a:off x="7791536" y="5725134"/>
            <a:ext cx="2704928" cy="2567475"/>
          </a:xfrm>
          <a:custGeom>
            <a:avLst/>
            <a:gdLst/>
            <a:ahLst/>
            <a:cxnLst/>
            <a:rect r="r" b="b" t="t" l="l"/>
            <a:pathLst>
              <a:path h="2567475" w="2704928">
                <a:moveTo>
                  <a:pt x="0" y="0"/>
                </a:moveTo>
                <a:lnTo>
                  <a:pt x="2704928" y="0"/>
                </a:lnTo>
                <a:lnTo>
                  <a:pt x="2704928" y="2567476"/>
                </a:lnTo>
                <a:lnTo>
                  <a:pt x="0" y="2567476"/>
                </a:lnTo>
                <a:lnTo>
                  <a:pt x="0" y="0"/>
                </a:lnTo>
                <a:close/>
              </a:path>
            </a:pathLst>
          </a:custGeom>
          <a:blipFill>
            <a:blip r:embed="rId5"/>
            <a:stretch>
              <a:fillRect l="0" t="-2676" r="0" b="-2676"/>
            </a:stretch>
          </a:blipFill>
        </p:spPr>
      </p:sp>
      <p:sp>
        <p:nvSpPr>
          <p:cNvPr name="Freeform 10" id="10"/>
          <p:cNvSpPr/>
          <p:nvPr/>
        </p:nvSpPr>
        <p:spPr>
          <a:xfrm flipH="false" flipV="false" rot="0">
            <a:off x="12720533" y="3420073"/>
            <a:ext cx="4227955" cy="3336121"/>
          </a:xfrm>
          <a:custGeom>
            <a:avLst/>
            <a:gdLst/>
            <a:ahLst/>
            <a:cxnLst/>
            <a:rect r="r" b="b" t="t" l="l"/>
            <a:pathLst>
              <a:path h="3336121" w="4227955">
                <a:moveTo>
                  <a:pt x="0" y="0"/>
                </a:moveTo>
                <a:lnTo>
                  <a:pt x="4227955" y="0"/>
                </a:lnTo>
                <a:lnTo>
                  <a:pt x="4227955" y="3336120"/>
                </a:lnTo>
                <a:lnTo>
                  <a:pt x="0" y="3336120"/>
                </a:lnTo>
                <a:lnTo>
                  <a:pt x="0" y="0"/>
                </a:lnTo>
                <a:close/>
              </a:path>
            </a:pathLst>
          </a:custGeom>
          <a:blipFill>
            <a:blip r:embed="rId6"/>
            <a:stretch>
              <a:fillRect l="0" t="0" r="0" b="0"/>
            </a:stretch>
          </a:blipFill>
        </p:spPr>
      </p:sp>
      <p:sp>
        <p:nvSpPr>
          <p:cNvPr name="TextBox 11" id="11"/>
          <p:cNvSpPr txBox="true"/>
          <p:nvPr/>
        </p:nvSpPr>
        <p:spPr>
          <a:xfrm rot="0">
            <a:off x="1515807" y="6951722"/>
            <a:ext cx="4781261" cy="939130"/>
          </a:xfrm>
          <a:prstGeom prst="rect">
            <a:avLst/>
          </a:prstGeom>
        </p:spPr>
        <p:txBody>
          <a:bodyPr anchor="t" rtlCol="false" tIns="0" lIns="0" bIns="0" rIns="0">
            <a:spAutoFit/>
          </a:bodyPr>
          <a:lstStyle/>
          <a:p>
            <a:pPr algn="ctr">
              <a:lnSpc>
                <a:spcPts val="3756"/>
              </a:lnSpc>
              <a:spcBef>
                <a:spcPct val="0"/>
              </a:spcBef>
            </a:pPr>
            <a:r>
              <a:rPr lang="en-US" sz="2683">
                <a:solidFill>
                  <a:srgbClr val="7A6200"/>
                </a:solidFill>
                <a:latin typeface="HK Modular"/>
                <a:ea typeface="HK Modular"/>
                <a:cs typeface="HK Modular"/>
                <a:sym typeface="HK Modular"/>
              </a:rPr>
              <a:t>INGENIERO DE BACK (DEVOPS)</a:t>
            </a:r>
          </a:p>
        </p:txBody>
      </p:sp>
      <p:sp>
        <p:nvSpPr>
          <p:cNvPr name="TextBox 12" id="12"/>
          <p:cNvSpPr txBox="true"/>
          <p:nvPr/>
        </p:nvSpPr>
        <p:spPr>
          <a:xfrm rot="0">
            <a:off x="6753370" y="8473585"/>
            <a:ext cx="4781261" cy="1414200"/>
          </a:xfrm>
          <a:prstGeom prst="rect">
            <a:avLst/>
          </a:prstGeom>
        </p:spPr>
        <p:txBody>
          <a:bodyPr anchor="t" rtlCol="false" tIns="0" lIns="0" bIns="0" rIns="0">
            <a:spAutoFit/>
          </a:bodyPr>
          <a:lstStyle/>
          <a:p>
            <a:pPr algn="ctr">
              <a:lnSpc>
                <a:spcPts val="3756"/>
              </a:lnSpc>
              <a:spcBef>
                <a:spcPct val="0"/>
              </a:spcBef>
            </a:pPr>
            <a:r>
              <a:rPr lang="en-US" sz="2683">
                <a:solidFill>
                  <a:srgbClr val="7A6200"/>
                </a:solidFill>
                <a:latin typeface="HK Modular"/>
                <a:ea typeface="HK Modular"/>
                <a:cs typeface="HK Modular"/>
                <a:sym typeface="HK Modular"/>
              </a:rPr>
              <a:t>INGENIERO DE BACK (ARQUITECTURA)</a:t>
            </a:r>
          </a:p>
        </p:txBody>
      </p:sp>
      <p:sp>
        <p:nvSpPr>
          <p:cNvPr name="TextBox 13" id="13"/>
          <p:cNvSpPr txBox="true"/>
          <p:nvPr/>
        </p:nvSpPr>
        <p:spPr>
          <a:xfrm rot="0">
            <a:off x="12585523" y="6699043"/>
            <a:ext cx="4781261" cy="939130"/>
          </a:xfrm>
          <a:prstGeom prst="rect">
            <a:avLst/>
          </a:prstGeom>
        </p:spPr>
        <p:txBody>
          <a:bodyPr anchor="t" rtlCol="false" tIns="0" lIns="0" bIns="0" rIns="0">
            <a:spAutoFit/>
          </a:bodyPr>
          <a:lstStyle/>
          <a:p>
            <a:pPr algn="ctr">
              <a:lnSpc>
                <a:spcPts val="3756"/>
              </a:lnSpc>
              <a:spcBef>
                <a:spcPct val="0"/>
              </a:spcBef>
            </a:pPr>
            <a:r>
              <a:rPr lang="en-US" sz="2683">
                <a:solidFill>
                  <a:srgbClr val="7A6200"/>
                </a:solidFill>
                <a:latin typeface="HK Modular"/>
                <a:ea typeface="HK Modular"/>
                <a:cs typeface="HK Modular"/>
                <a:sym typeface="HK Modular"/>
              </a:rPr>
              <a:t>INGENIERO DE FRONT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929961" y="2748443"/>
            <a:ext cx="3850811" cy="3850811"/>
          </a:xfrm>
          <a:custGeom>
            <a:avLst/>
            <a:gdLst/>
            <a:ahLst/>
            <a:cxnLst/>
            <a:rect r="r" b="b" t="t" l="l"/>
            <a:pathLst>
              <a:path h="3850811" w="3850811">
                <a:moveTo>
                  <a:pt x="0" y="0"/>
                </a:moveTo>
                <a:lnTo>
                  <a:pt x="3850811" y="0"/>
                </a:lnTo>
                <a:lnTo>
                  <a:pt x="3850811" y="3850811"/>
                </a:lnTo>
                <a:lnTo>
                  <a:pt x="0" y="3850811"/>
                </a:lnTo>
                <a:lnTo>
                  <a:pt x="0" y="0"/>
                </a:lnTo>
                <a:close/>
              </a:path>
            </a:pathLst>
          </a:custGeom>
          <a:blipFill>
            <a:blip r:embed="rId3"/>
            <a:stretch>
              <a:fillRect l="0" t="0" r="0" b="0"/>
            </a:stretch>
          </a:blipFill>
        </p:spPr>
      </p:sp>
      <p:sp>
        <p:nvSpPr>
          <p:cNvPr name="TextBox 7" id="7"/>
          <p:cNvSpPr txBox="true"/>
          <p:nvPr/>
        </p:nvSpPr>
        <p:spPr>
          <a:xfrm rot="0">
            <a:off x="1464736" y="6779586"/>
            <a:ext cx="4781261" cy="464060"/>
          </a:xfrm>
          <a:prstGeom prst="rect">
            <a:avLst/>
          </a:prstGeom>
        </p:spPr>
        <p:txBody>
          <a:bodyPr anchor="t" rtlCol="false" tIns="0" lIns="0" bIns="0" rIns="0">
            <a:spAutoFit/>
          </a:bodyPr>
          <a:lstStyle/>
          <a:p>
            <a:pPr algn="ctr">
              <a:lnSpc>
                <a:spcPts val="3756"/>
              </a:lnSpc>
              <a:spcBef>
                <a:spcPct val="0"/>
              </a:spcBef>
            </a:pPr>
            <a:r>
              <a:rPr lang="en-US" sz="2683">
                <a:solidFill>
                  <a:srgbClr val="7A6200"/>
                </a:solidFill>
                <a:latin typeface="HK Modular"/>
                <a:ea typeface="HK Modular"/>
                <a:cs typeface="HK Modular"/>
                <a:sym typeface="HK Modular"/>
              </a:rPr>
              <a:t>LIDER TECNICO</a:t>
            </a:r>
          </a:p>
        </p:txBody>
      </p:sp>
      <p:sp>
        <p:nvSpPr>
          <p:cNvPr name="TextBox 8" id="8"/>
          <p:cNvSpPr txBox="true"/>
          <p:nvPr/>
        </p:nvSpPr>
        <p:spPr>
          <a:xfrm rot="0">
            <a:off x="7010286" y="2710343"/>
            <a:ext cx="10626658" cy="6990715"/>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Encargado de recopilar los requerimientos funcionales del aplicativo</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Unificar la información entre el back y el front siendo un mediador del trabajo</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Hacer un grooming de lo que se quiere hacer, como va a funcionar y como se quiere desarrollar</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Responsable semana a semana de la organizacion de las tareas de su equipo, tiene que generar las Épicas y Tareas que correspondan al modulo asignado.</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Establecer el objetivo del sprint.</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Establece el contexto del sistema y realiza la creacion y gestion junto a su equipo de los casos de uso.</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Priorización del backlog y del sprint backlog.</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Nuevas tareas que surjan tienen que crearlas y asignarlas en su sprint</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Encargado de tener la documentación de requerimientos y de arquitectura de su modulo actualizada, al igual que de el README de su aplicación.</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Presentar Semana a semana con una exposición al inicio de la clase lo que se hizo el sprint pasado, que deuda técnica tienen como equipo y con los demás equipos, al igual que un demo de la funcionalidad – SPRINT REVIEW</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Apoyar y solucionar la deuda técnica de su equipo</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Gestionar que todos los integrantes del equipo cumplan con su Daily.</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Identificar las falencias del equipo y gestionar la organización interna para solventarlas.</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UN LIDER ES DIFERENTE A UN JEFE</a:t>
            </a:r>
          </a:p>
          <a:p>
            <a:pPr algn="ctr">
              <a:lnSpc>
                <a:spcPts val="265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028687" y="2389941"/>
            <a:ext cx="2188865" cy="2188865"/>
          </a:xfrm>
          <a:custGeom>
            <a:avLst/>
            <a:gdLst/>
            <a:ahLst/>
            <a:cxnLst/>
            <a:rect r="r" b="b" t="t" l="l"/>
            <a:pathLst>
              <a:path h="2188865" w="2188865">
                <a:moveTo>
                  <a:pt x="0" y="0"/>
                </a:moveTo>
                <a:lnTo>
                  <a:pt x="2188865" y="0"/>
                </a:lnTo>
                <a:lnTo>
                  <a:pt x="2188865" y="2188865"/>
                </a:lnTo>
                <a:lnTo>
                  <a:pt x="0" y="2188865"/>
                </a:lnTo>
                <a:lnTo>
                  <a:pt x="0" y="0"/>
                </a:lnTo>
                <a:close/>
              </a:path>
            </a:pathLst>
          </a:custGeom>
          <a:blipFill>
            <a:blip r:embed="rId3"/>
            <a:stretch>
              <a:fillRect l="0" t="0" r="0" b="0"/>
            </a:stretch>
          </a:blipFill>
        </p:spPr>
      </p:sp>
      <p:sp>
        <p:nvSpPr>
          <p:cNvPr name="TextBox 7" id="7"/>
          <p:cNvSpPr txBox="true"/>
          <p:nvPr/>
        </p:nvSpPr>
        <p:spPr>
          <a:xfrm rot="0">
            <a:off x="1456042" y="4788356"/>
            <a:ext cx="3334155" cy="662663"/>
          </a:xfrm>
          <a:prstGeom prst="rect">
            <a:avLst/>
          </a:prstGeom>
        </p:spPr>
        <p:txBody>
          <a:bodyPr anchor="t" rtlCol="false" tIns="0" lIns="0" bIns="0" rIns="0">
            <a:spAutoFit/>
          </a:bodyPr>
          <a:lstStyle/>
          <a:p>
            <a:pPr algn="ctr">
              <a:lnSpc>
                <a:spcPts val="2619"/>
              </a:lnSpc>
              <a:spcBef>
                <a:spcPct val="0"/>
              </a:spcBef>
            </a:pPr>
            <a:r>
              <a:rPr lang="en-US" sz="1871">
                <a:solidFill>
                  <a:srgbClr val="7A6200"/>
                </a:solidFill>
                <a:latin typeface="HK Modular"/>
                <a:ea typeface="HK Modular"/>
                <a:cs typeface="HK Modular"/>
                <a:sym typeface="HK Modular"/>
              </a:rPr>
              <a:t>INGENIERO BACKEND (DEVOPS)</a:t>
            </a:r>
          </a:p>
        </p:txBody>
      </p:sp>
      <p:sp>
        <p:nvSpPr>
          <p:cNvPr name="TextBox 8" id="8"/>
          <p:cNvSpPr txBox="true"/>
          <p:nvPr/>
        </p:nvSpPr>
        <p:spPr>
          <a:xfrm rot="0">
            <a:off x="7010286" y="3014575"/>
            <a:ext cx="10434012" cy="6027210"/>
          </a:xfrm>
          <a:prstGeom prst="rect">
            <a:avLst/>
          </a:prstGeom>
        </p:spPr>
        <p:txBody>
          <a:bodyPr anchor="t" rtlCol="false" tIns="0" lIns="0" bIns="0" rIns="0">
            <a:spAutoFit/>
          </a:bodyPr>
          <a:lstStyle/>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Encargados de diseñar la arquitectura de su sistema Estableciendo que funcionalidades van a tener </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Generando los modelos de diagramacion necesarios para explicar la arquitectura de su aplicacion</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Estableciendo las relaciones entre funcionalidades de su aplicacion</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Establecien que información necesitan de entrada y de salida por funcionalidad.</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Como van a realizar el manejo de Errores en cada uno de los módulos.</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Encargados junto a sus pares de establecer la arquitectura general de la aplicación:</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Establecer como van a ser las entidades en sus bases de datos (Propiedades)</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Gestionar el despliegue e infraestructura de su aplicación, automatizando el despliegue en ambientes de desarrollo o produccion</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Desarrollar y gestionan que las respuestas sean rápidas, seguras y correctas.</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Asegurar la integridad, rendimiento y seguridad de los datos</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Codificar las reglas de negocio (validaciones, cálculos y procesos)</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Coordinar flujos</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Implementación de la seguridad y autenticación</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Monitoreo y Observabilidad de su sistema</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Escribir Pruebas unitarias y de integración para asegurar su estabilidad</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Establecer procesos de CI/CD del backend</a:t>
            </a:r>
          </a:p>
          <a:p>
            <a:pPr algn="ctr">
              <a:lnSpc>
                <a:spcPts val="2408"/>
              </a:lnSpc>
              <a:spcBef>
                <a:spcPct val="0"/>
              </a:spcBef>
            </a:pPr>
          </a:p>
        </p:txBody>
      </p:sp>
      <p:sp>
        <p:nvSpPr>
          <p:cNvPr name="Freeform 9" id="9"/>
          <p:cNvSpPr/>
          <p:nvPr/>
        </p:nvSpPr>
        <p:spPr>
          <a:xfrm flipH="false" flipV="false" rot="0">
            <a:off x="2125407" y="5889361"/>
            <a:ext cx="2103798" cy="2103798"/>
          </a:xfrm>
          <a:custGeom>
            <a:avLst/>
            <a:gdLst/>
            <a:ahLst/>
            <a:cxnLst/>
            <a:rect r="r" b="b" t="t" l="l"/>
            <a:pathLst>
              <a:path h="2103798" w="2103798">
                <a:moveTo>
                  <a:pt x="0" y="0"/>
                </a:moveTo>
                <a:lnTo>
                  <a:pt x="2103798" y="0"/>
                </a:lnTo>
                <a:lnTo>
                  <a:pt x="2103798" y="2103797"/>
                </a:lnTo>
                <a:lnTo>
                  <a:pt x="0" y="2103797"/>
                </a:lnTo>
                <a:lnTo>
                  <a:pt x="0" y="0"/>
                </a:lnTo>
                <a:close/>
              </a:path>
            </a:pathLst>
          </a:custGeom>
          <a:blipFill>
            <a:blip r:embed="rId4"/>
            <a:stretch>
              <a:fillRect l="0" t="0" r="0" b="0"/>
            </a:stretch>
          </a:blipFill>
        </p:spPr>
      </p:sp>
      <p:sp>
        <p:nvSpPr>
          <p:cNvPr name="TextBox 10" id="10"/>
          <p:cNvSpPr txBox="true"/>
          <p:nvPr/>
        </p:nvSpPr>
        <p:spPr>
          <a:xfrm rot="0">
            <a:off x="1456042" y="8199405"/>
            <a:ext cx="3442529" cy="1024707"/>
          </a:xfrm>
          <a:prstGeom prst="rect">
            <a:avLst/>
          </a:prstGeom>
        </p:spPr>
        <p:txBody>
          <a:bodyPr anchor="t" rtlCol="false" tIns="0" lIns="0" bIns="0" rIns="0">
            <a:spAutoFit/>
          </a:bodyPr>
          <a:lstStyle/>
          <a:p>
            <a:pPr algn="ctr">
              <a:lnSpc>
                <a:spcPts val="2704"/>
              </a:lnSpc>
              <a:spcBef>
                <a:spcPct val="0"/>
              </a:spcBef>
            </a:pPr>
            <a:r>
              <a:rPr lang="en-US" sz="1932">
                <a:solidFill>
                  <a:srgbClr val="7A6200"/>
                </a:solidFill>
                <a:latin typeface="HK Modular"/>
                <a:ea typeface="HK Modular"/>
                <a:cs typeface="HK Modular"/>
                <a:sym typeface="HK Modular"/>
              </a:rPr>
              <a:t>INGENIERO BACK END (ARQUITECTURA)</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47431" y="2616733"/>
            <a:ext cx="6404480" cy="5053535"/>
          </a:xfrm>
          <a:custGeom>
            <a:avLst/>
            <a:gdLst/>
            <a:ahLst/>
            <a:cxnLst/>
            <a:rect r="r" b="b" t="t" l="l"/>
            <a:pathLst>
              <a:path h="5053535" w="6404480">
                <a:moveTo>
                  <a:pt x="0" y="0"/>
                </a:moveTo>
                <a:lnTo>
                  <a:pt x="6404480" y="0"/>
                </a:lnTo>
                <a:lnTo>
                  <a:pt x="6404480" y="5053534"/>
                </a:lnTo>
                <a:lnTo>
                  <a:pt x="0" y="5053534"/>
                </a:lnTo>
                <a:lnTo>
                  <a:pt x="0" y="0"/>
                </a:lnTo>
                <a:close/>
              </a:path>
            </a:pathLst>
          </a:custGeom>
          <a:blipFill>
            <a:blip r:embed="rId3"/>
            <a:stretch>
              <a:fillRect l="0" t="0" r="0" b="0"/>
            </a:stretch>
          </a:blipFill>
        </p:spPr>
      </p:sp>
      <p:sp>
        <p:nvSpPr>
          <p:cNvPr name="TextBox 7" id="7"/>
          <p:cNvSpPr txBox="true"/>
          <p:nvPr/>
        </p:nvSpPr>
        <p:spPr>
          <a:xfrm rot="0">
            <a:off x="1847635" y="7708376"/>
            <a:ext cx="4781261" cy="939130"/>
          </a:xfrm>
          <a:prstGeom prst="rect">
            <a:avLst/>
          </a:prstGeom>
        </p:spPr>
        <p:txBody>
          <a:bodyPr anchor="t" rtlCol="false" tIns="0" lIns="0" bIns="0" rIns="0">
            <a:spAutoFit/>
          </a:bodyPr>
          <a:lstStyle/>
          <a:p>
            <a:pPr algn="ctr">
              <a:lnSpc>
                <a:spcPts val="3756"/>
              </a:lnSpc>
              <a:spcBef>
                <a:spcPct val="0"/>
              </a:spcBef>
            </a:pPr>
            <a:r>
              <a:rPr lang="en-US" sz="2683">
                <a:solidFill>
                  <a:srgbClr val="7A6200"/>
                </a:solidFill>
                <a:latin typeface="HK Modular"/>
                <a:ea typeface="HK Modular"/>
                <a:cs typeface="HK Modular"/>
                <a:sym typeface="HK Modular"/>
              </a:rPr>
              <a:t>INGENIERO DE FRONT</a:t>
            </a:r>
          </a:p>
        </p:txBody>
      </p:sp>
      <p:sp>
        <p:nvSpPr>
          <p:cNvPr name="TextBox 8" id="8"/>
          <p:cNvSpPr txBox="true"/>
          <p:nvPr/>
        </p:nvSpPr>
        <p:spPr>
          <a:xfrm rot="0">
            <a:off x="7540879" y="2916751"/>
            <a:ext cx="9718421" cy="5657215"/>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Encargado de Diseñar y desarrollar las pantallas correspondientes a sus módulos</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Establecer modelos de UX con Material Design</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Designar Colores y Estilos dentro de la aplicación (Logos, Lettering, Wording, componentes visuales)</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Realizar los Mocks de la aplicación, teniendo en cuenta la navegación entre componentes y pantallas</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Revisión del Manejo de errores en los componentes visuales</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UX del Aplicativo teniendo en cuenta: Usabilidad, Seguridad y Mantenibilidad</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Asegurar que la interfaz de usuario sea atractiva, intuitiva y responsive</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Establecer la conexión y sincronización con los servicios de Backend.</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Mostrar datos dinámicos y manejar interacciones del usuario.</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Manejar correctamente los datos en memoria y minimizar los tiempos de carga y mejorar la experiencia.</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Asegurar que la aplicación sea accesible para todo el publico independiente la edad.</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Participar en procesos de CI/CD y despliegue del front.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INVERSION DE DEPENDENCIAS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619759" y="2096546"/>
            <a:ext cx="15906948" cy="1747534"/>
          </a:xfrm>
          <a:prstGeom prst="rect">
            <a:avLst/>
          </a:prstGeom>
        </p:spPr>
        <p:txBody>
          <a:bodyPr anchor="t" rtlCol="false" tIns="0" lIns="0" bIns="0" rIns="0">
            <a:spAutoFit/>
          </a:bodyPr>
          <a:lstStyle/>
          <a:p>
            <a:pPr algn="ctr">
              <a:lnSpc>
                <a:spcPts val="7012"/>
              </a:lnSpc>
            </a:pPr>
            <a:r>
              <a:rPr lang="en-US" sz="5008">
                <a:solidFill>
                  <a:srgbClr val="7A6200"/>
                </a:solidFill>
                <a:latin typeface="HK Modular"/>
                <a:ea typeface="HK Modular"/>
                <a:cs typeface="HK Modular"/>
                <a:sym typeface="HK Modular"/>
              </a:rPr>
              <a:t>INVERSION DE DEPENDENCIAS</a:t>
            </a:r>
          </a:p>
          <a:p>
            <a:pPr algn="ctr">
              <a:lnSpc>
                <a:spcPts val="7012"/>
              </a:lnSpc>
              <a:spcBef>
                <a:spcPct val="0"/>
              </a:spcBef>
            </a:pPr>
          </a:p>
        </p:txBody>
      </p:sp>
      <p:sp>
        <p:nvSpPr>
          <p:cNvPr name="TextBox 7" id="7"/>
          <p:cNvSpPr txBox="true"/>
          <p:nvPr/>
        </p:nvSpPr>
        <p:spPr>
          <a:xfrm rot="0">
            <a:off x="2850208" y="3662160"/>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Establece que las dependencias deben estar en las abstracciones, no en los detalles de la implementacion</a:t>
            </a:r>
          </a:p>
        </p:txBody>
      </p:sp>
      <p:sp>
        <p:nvSpPr>
          <p:cNvPr name="TextBox 8" id="8"/>
          <p:cNvSpPr txBox="true"/>
          <p:nvPr/>
        </p:nvSpPr>
        <p:spPr>
          <a:xfrm rot="0">
            <a:off x="2850208" y="5076825"/>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Los modulos de alto nivel no deberian depender de modulos de bajo nivel</a:t>
            </a:r>
          </a:p>
        </p:txBody>
      </p:sp>
      <p:sp>
        <p:nvSpPr>
          <p:cNvPr name="TextBox 9" id="9"/>
          <p:cNvSpPr txBox="true"/>
          <p:nvPr/>
        </p:nvSpPr>
        <p:spPr>
          <a:xfrm rot="0">
            <a:off x="2961101" y="5865063"/>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En lugar de depender directamente de clases concretas, las clases deben depender de interfaces o abstracciones para mayor flexibilidad</a:t>
            </a:r>
          </a:p>
        </p:txBody>
      </p:sp>
      <p:sp>
        <p:nvSpPr>
          <p:cNvPr name="TextBox 10" id="10"/>
          <p:cNvSpPr txBox="true"/>
          <p:nvPr/>
        </p:nvSpPr>
        <p:spPr>
          <a:xfrm rot="0">
            <a:off x="5115512" y="7364096"/>
            <a:ext cx="8056975" cy="599701"/>
          </a:xfrm>
          <a:prstGeom prst="rect">
            <a:avLst/>
          </a:prstGeom>
        </p:spPr>
        <p:txBody>
          <a:bodyPr anchor="t" rtlCol="false" tIns="0" lIns="0" bIns="0" rIns="0">
            <a:spAutoFit/>
          </a:bodyPr>
          <a:lstStyle/>
          <a:p>
            <a:pPr algn="ctr">
              <a:lnSpc>
                <a:spcPts val="4927"/>
              </a:lnSpc>
              <a:spcBef>
                <a:spcPct val="0"/>
              </a:spcBef>
            </a:pPr>
            <a:r>
              <a:rPr lang="en-US" sz="3519">
                <a:solidFill>
                  <a:srgbClr val="99C5FF"/>
                </a:solidFill>
                <a:latin typeface="HK Modular"/>
                <a:ea typeface="HK Modular"/>
                <a:cs typeface="HK Modular"/>
                <a:sym typeface="HK Modular"/>
              </a:rPr>
              <a:t>CONSEJO DE APLICACION</a:t>
            </a:r>
          </a:p>
        </p:txBody>
      </p:sp>
      <p:sp>
        <p:nvSpPr>
          <p:cNvPr name="TextBox 11" id="11"/>
          <p:cNvSpPr txBox="true"/>
          <p:nvPr/>
        </p:nvSpPr>
        <p:spPr>
          <a:xfrm rot="0">
            <a:off x="3417705" y="8225191"/>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Definido mediante interfaces lo que ayuda a que la aplicacion nucleo no tendra que conocer la implementacion real para funcionar</a:t>
            </a:r>
          </a:p>
        </p:txBody>
      </p:sp>
      <p:sp>
        <p:nvSpPr>
          <p:cNvPr name="TextBox 12" id="12"/>
          <p:cNvSpPr txBox="true"/>
          <p:nvPr/>
        </p:nvSpPr>
        <p:spPr>
          <a:xfrm rot="0">
            <a:off x="2961101" y="9404733"/>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Permite tener bajo ACOPLAMIENTO y alta COHESION</a:t>
            </a:r>
          </a:p>
        </p:txBody>
      </p:sp>
      <p:sp>
        <p:nvSpPr>
          <p:cNvPr name="Freeform 13" id="13"/>
          <p:cNvSpPr/>
          <p:nvPr/>
        </p:nvSpPr>
        <p:spPr>
          <a:xfrm flipH="false" flipV="false" rot="0">
            <a:off x="1831342" y="8036885"/>
            <a:ext cx="1586363" cy="1358323"/>
          </a:xfrm>
          <a:custGeom>
            <a:avLst/>
            <a:gdLst/>
            <a:ahLst/>
            <a:cxnLst/>
            <a:rect r="r" b="b" t="t" l="l"/>
            <a:pathLst>
              <a:path h="1358323" w="1586363">
                <a:moveTo>
                  <a:pt x="0" y="0"/>
                </a:moveTo>
                <a:lnTo>
                  <a:pt x="1586363" y="0"/>
                </a:lnTo>
                <a:lnTo>
                  <a:pt x="1586363" y="1358323"/>
                </a:lnTo>
                <a:lnTo>
                  <a:pt x="0" y="13583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041637" y="2431656"/>
            <a:ext cx="6399873" cy="7031737"/>
          </a:xfrm>
          <a:custGeom>
            <a:avLst/>
            <a:gdLst/>
            <a:ahLst/>
            <a:cxnLst/>
            <a:rect r="r" b="b" t="t" l="l"/>
            <a:pathLst>
              <a:path h="7031737" w="6399873">
                <a:moveTo>
                  <a:pt x="0" y="0"/>
                </a:moveTo>
                <a:lnTo>
                  <a:pt x="6399873" y="0"/>
                </a:lnTo>
                <a:lnTo>
                  <a:pt x="6399873" y="7031736"/>
                </a:lnTo>
                <a:lnTo>
                  <a:pt x="0" y="7031736"/>
                </a:lnTo>
                <a:lnTo>
                  <a:pt x="0" y="0"/>
                </a:lnTo>
                <a:close/>
              </a:path>
            </a:pathLst>
          </a:custGeom>
          <a:blipFill>
            <a:blip r:embed="rId3"/>
            <a:stretch>
              <a:fillRect l="0" t="0" r="0" b="0"/>
            </a:stretch>
          </a:blipFill>
        </p:spPr>
      </p:sp>
      <p:sp>
        <p:nvSpPr>
          <p:cNvPr name="Freeform 7" id="7"/>
          <p:cNvSpPr/>
          <p:nvPr/>
        </p:nvSpPr>
        <p:spPr>
          <a:xfrm flipH="false" flipV="false" rot="0">
            <a:off x="12818925" y="3401651"/>
            <a:ext cx="2525711" cy="2861995"/>
          </a:xfrm>
          <a:custGeom>
            <a:avLst/>
            <a:gdLst/>
            <a:ahLst/>
            <a:cxnLst/>
            <a:rect r="r" b="b" t="t" l="l"/>
            <a:pathLst>
              <a:path h="2861995" w="2525711">
                <a:moveTo>
                  <a:pt x="0" y="0"/>
                </a:moveTo>
                <a:lnTo>
                  <a:pt x="2525711" y="0"/>
                </a:lnTo>
                <a:lnTo>
                  <a:pt x="2525711" y="2861995"/>
                </a:lnTo>
                <a:lnTo>
                  <a:pt x="0" y="28619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779921" y="4408829"/>
            <a:ext cx="1479379" cy="1753338"/>
          </a:xfrm>
          <a:custGeom>
            <a:avLst/>
            <a:gdLst/>
            <a:ahLst/>
            <a:cxnLst/>
            <a:rect r="r" b="b" t="t" l="l"/>
            <a:pathLst>
              <a:path h="1753338" w="1479379">
                <a:moveTo>
                  <a:pt x="0" y="0"/>
                </a:moveTo>
                <a:lnTo>
                  <a:pt x="1479379" y="0"/>
                </a:lnTo>
                <a:lnTo>
                  <a:pt x="1479379" y="1753338"/>
                </a:lnTo>
                <a:lnTo>
                  <a:pt x="0" y="17533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415659" y="4128355"/>
            <a:ext cx="1819169" cy="1819169"/>
          </a:xfrm>
          <a:custGeom>
            <a:avLst/>
            <a:gdLst/>
            <a:ahLst/>
            <a:cxnLst/>
            <a:rect r="r" b="b" t="t" l="l"/>
            <a:pathLst>
              <a:path h="1819169" w="1819169">
                <a:moveTo>
                  <a:pt x="0" y="0"/>
                </a:moveTo>
                <a:lnTo>
                  <a:pt x="1819169" y="0"/>
                </a:lnTo>
                <a:lnTo>
                  <a:pt x="1819169" y="1819169"/>
                </a:lnTo>
                <a:lnTo>
                  <a:pt x="0" y="18191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28700" y="3253399"/>
            <a:ext cx="4176973" cy="5226922"/>
          </a:xfrm>
          <a:custGeom>
            <a:avLst/>
            <a:gdLst/>
            <a:ahLst/>
            <a:cxnLst/>
            <a:rect r="r" b="b" t="t" l="l"/>
            <a:pathLst>
              <a:path h="5226922" w="4176973">
                <a:moveTo>
                  <a:pt x="0" y="0"/>
                </a:moveTo>
                <a:lnTo>
                  <a:pt x="4176973" y="0"/>
                </a:lnTo>
                <a:lnTo>
                  <a:pt x="4176973" y="5226922"/>
                </a:lnTo>
                <a:lnTo>
                  <a:pt x="0" y="5226922"/>
                </a:lnTo>
                <a:lnTo>
                  <a:pt x="0" y="0"/>
                </a:lnTo>
                <a:close/>
              </a:path>
            </a:pathLst>
          </a:custGeom>
          <a:blipFill>
            <a:blip r:embed="rId3"/>
            <a:stretch>
              <a:fillRect l="0" t="0" r="0" b="0"/>
            </a:stretch>
          </a:blipFill>
        </p:spPr>
      </p:sp>
      <p:sp>
        <p:nvSpPr>
          <p:cNvPr name="Freeform 7" id="7"/>
          <p:cNvSpPr/>
          <p:nvPr/>
        </p:nvSpPr>
        <p:spPr>
          <a:xfrm flipH="false" flipV="false" rot="0">
            <a:off x="6171063" y="3942496"/>
            <a:ext cx="5394145" cy="3411771"/>
          </a:xfrm>
          <a:custGeom>
            <a:avLst/>
            <a:gdLst/>
            <a:ahLst/>
            <a:cxnLst/>
            <a:rect r="r" b="b" t="t" l="l"/>
            <a:pathLst>
              <a:path h="3411771" w="5394145">
                <a:moveTo>
                  <a:pt x="0" y="0"/>
                </a:moveTo>
                <a:lnTo>
                  <a:pt x="5394145" y="0"/>
                </a:lnTo>
                <a:lnTo>
                  <a:pt x="5394145" y="3411770"/>
                </a:lnTo>
                <a:lnTo>
                  <a:pt x="0" y="3411770"/>
                </a:lnTo>
                <a:lnTo>
                  <a:pt x="0" y="0"/>
                </a:lnTo>
                <a:close/>
              </a:path>
            </a:pathLst>
          </a:custGeom>
          <a:blipFill>
            <a:blip r:embed="rId4"/>
            <a:stretch>
              <a:fillRect l="0" t="0" r="0" b="0"/>
            </a:stretch>
          </a:blipFill>
        </p:spPr>
      </p:sp>
      <p:sp>
        <p:nvSpPr>
          <p:cNvPr name="Freeform 8" id="8"/>
          <p:cNvSpPr/>
          <p:nvPr/>
        </p:nvSpPr>
        <p:spPr>
          <a:xfrm flipH="false" flipV="false" rot="0">
            <a:off x="12527233" y="3942496"/>
            <a:ext cx="4839144" cy="3411771"/>
          </a:xfrm>
          <a:custGeom>
            <a:avLst/>
            <a:gdLst/>
            <a:ahLst/>
            <a:cxnLst/>
            <a:rect r="r" b="b" t="t" l="l"/>
            <a:pathLst>
              <a:path h="3411771" w="4839144">
                <a:moveTo>
                  <a:pt x="0" y="0"/>
                </a:moveTo>
                <a:lnTo>
                  <a:pt x="4839144" y="0"/>
                </a:lnTo>
                <a:lnTo>
                  <a:pt x="4839144" y="3411770"/>
                </a:lnTo>
                <a:lnTo>
                  <a:pt x="0" y="3411770"/>
                </a:lnTo>
                <a:lnTo>
                  <a:pt x="0" y="0"/>
                </a:lnTo>
                <a:close/>
              </a:path>
            </a:pathLst>
          </a:custGeom>
          <a:blipFill>
            <a:blip r:embed="rId5"/>
            <a:stretch>
              <a:fillRect l="0" t="0" r="0" b="0"/>
            </a:stretch>
          </a:blipFill>
        </p:spPr>
      </p:sp>
      <p:sp>
        <p:nvSpPr>
          <p:cNvPr name="Freeform 9" id="9"/>
          <p:cNvSpPr/>
          <p:nvPr/>
        </p:nvSpPr>
        <p:spPr>
          <a:xfrm flipH="false" flipV="false" rot="0">
            <a:off x="4578414" y="2852878"/>
            <a:ext cx="832596" cy="832596"/>
          </a:xfrm>
          <a:custGeom>
            <a:avLst/>
            <a:gdLst/>
            <a:ahLst/>
            <a:cxnLst/>
            <a:rect r="r" b="b" t="t" l="l"/>
            <a:pathLst>
              <a:path h="832596" w="832596">
                <a:moveTo>
                  <a:pt x="0" y="0"/>
                </a:moveTo>
                <a:lnTo>
                  <a:pt x="832597" y="0"/>
                </a:lnTo>
                <a:lnTo>
                  <a:pt x="832597" y="832597"/>
                </a:lnTo>
                <a:lnTo>
                  <a:pt x="0" y="8325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0987195" y="3485911"/>
            <a:ext cx="867044" cy="867044"/>
          </a:xfrm>
          <a:custGeom>
            <a:avLst/>
            <a:gdLst/>
            <a:ahLst/>
            <a:cxnLst/>
            <a:rect r="r" b="b" t="t" l="l"/>
            <a:pathLst>
              <a:path h="867044" w="867044">
                <a:moveTo>
                  <a:pt x="0" y="0"/>
                </a:moveTo>
                <a:lnTo>
                  <a:pt x="867044" y="0"/>
                </a:lnTo>
                <a:lnTo>
                  <a:pt x="867044" y="867045"/>
                </a:lnTo>
                <a:lnTo>
                  <a:pt x="0" y="8670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6909793" y="3485911"/>
            <a:ext cx="913169" cy="913169"/>
          </a:xfrm>
          <a:custGeom>
            <a:avLst/>
            <a:gdLst/>
            <a:ahLst/>
            <a:cxnLst/>
            <a:rect r="r" b="b" t="t" l="l"/>
            <a:pathLst>
              <a:path h="913169" w="913169">
                <a:moveTo>
                  <a:pt x="0" y="0"/>
                </a:moveTo>
                <a:lnTo>
                  <a:pt x="913169" y="0"/>
                </a:lnTo>
                <a:lnTo>
                  <a:pt x="913169" y="913169"/>
                </a:lnTo>
                <a:lnTo>
                  <a:pt x="0" y="9131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INVERSION DE CONTROL - IOC</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329178" y="5484407"/>
            <a:ext cx="6943436" cy="2890898"/>
          </a:xfrm>
          <a:custGeom>
            <a:avLst/>
            <a:gdLst/>
            <a:ahLst/>
            <a:cxnLst/>
            <a:rect r="r" b="b" t="t" l="l"/>
            <a:pathLst>
              <a:path h="2890898" w="6943436">
                <a:moveTo>
                  <a:pt x="0" y="0"/>
                </a:moveTo>
                <a:lnTo>
                  <a:pt x="6943436" y="0"/>
                </a:lnTo>
                <a:lnTo>
                  <a:pt x="6943436" y="2890898"/>
                </a:lnTo>
                <a:lnTo>
                  <a:pt x="0" y="2890898"/>
                </a:lnTo>
                <a:lnTo>
                  <a:pt x="0" y="0"/>
                </a:lnTo>
                <a:close/>
              </a:path>
            </a:pathLst>
          </a:custGeom>
          <a:blipFill>
            <a:blip r:embed="rId3"/>
            <a:stretch>
              <a:fillRect l="0" t="0" r="0" b="0"/>
            </a:stretch>
          </a:blipFill>
        </p:spPr>
      </p:sp>
      <p:sp>
        <p:nvSpPr>
          <p:cNvPr name="Freeform 7" id="7"/>
          <p:cNvSpPr/>
          <p:nvPr/>
        </p:nvSpPr>
        <p:spPr>
          <a:xfrm flipH="false" flipV="false" rot="0">
            <a:off x="9819488" y="5484407"/>
            <a:ext cx="7439812" cy="2890898"/>
          </a:xfrm>
          <a:custGeom>
            <a:avLst/>
            <a:gdLst/>
            <a:ahLst/>
            <a:cxnLst/>
            <a:rect r="r" b="b" t="t" l="l"/>
            <a:pathLst>
              <a:path h="2890898" w="7439812">
                <a:moveTo>
                  <a:pt x="0" y="0"/>
                </a:moveTo>
                <a:lnTo>
                  <a:pt x="7439812" y="0"/>
                </a:lnTo>
                <a:lnTo>
                  <a:pt x="7439812" y="2890898"/>
                </a:lnTo>
                <a:lnTo>
                  <a:pt x="0" y="2890898"/>
                </a:lnTo>
                <a:lnTo>
                  <a:pt x="0" y="0"/>
                </a:lnTo>
                <a:close/>
              </a:path>
            </a:pathLst>
          </a:custGeom>
          <a:blipFill>
            <a:blip r:embed="rId4"/>
            <a:stretch>
              <a:fillRect l="0" t="0" r="0" b="0"/>
            </a:stretch>
          </a:blipFill>
        </p:spPr>
      </p:sp>
      <p:sp>
        <p:nvSpPr>
          <p:cNvPr name="TextBox 8" id="8"/>
          <p:cNvSpPr txBox="true"/>
          <p:nvPr/>
        </p:nvSpPr>
        <p:spPr>
          <a:xfrm rot="0">
            <a:off x="2787859" y="2106071"/>
            <a:ext cx="12712281" cy="785454"/>
          </a:xfrm>
          <a:prstGeom prst="rect">
            <a:avLst/>
          </a:prstGeom>
        </p:spPr>
        <p:txBody>
          <a:bodyPr anchor="t" rtlCol="false" tIns="0" lIns="0" bIns="0" rIns="0">
            <a:spAutoFit/>
          </a:bodyPr>
          <a:lstStyle/>
          <a:p>
            <a:pPr algn="ctr">
              <a:lnSpc>
                <a:spcPts val="6467"/>
              </a:lnSpc>
              <a:spcBef>
                <a:spcPct val="0"/>
              </a:spcBef>
            </a:pPr>
            <a:r>
              <a:rPr lang="en-US" sz="4619">
                <a:solidFill>
                  <a:srgbClr val="7A6200"/>
                </a:solidFill>
                <a:latin typeface="HK Modular"/>
                <a:ea typeface="HK Modular"/>
                <a:cs typeface="HK Modular"/>
                <a:sym typeface="HK Modular"/>
              </a:rPr>
              <a:t>INVERSION DE CONTROL - IOC</a:t>
            </a:r>
          </a:p>
        </p:txBody>
      </p:sp>
      <p:sp>
        <p:nvSpPr>
          <p:cNvPr name="TextBox 9" id="9"/>
          <p:cNvSpPr txBox="true"/>
          <p:nvPr/>
        </p:nvSpPr>
        <p:spPr>
          <a:xfrm rot="0">
            <a:off x="2787859" y="3329145"/>
            <a:ext cx="1258758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una forma de trabajar que rompe con el formato tradicional, en donde el programar es el encargado de definir la secuencia de operaciones que se deben de realizar para llegar a un resultado.</a:t>
            </a:r>
          </a:p>
        </p:txBody>
      </p:sp>
      <p:sp>
        <p:nvSpPr>
          <p:cNvPr name="TextBox 10" id="10"/>
          <p:cNvSpPr txBox="true"/>
          <p:nvPr/>
        </p:nvSpPr>
        <p:spPr>
          <a:xfrm rot="0">
            <a:off x="3474217" y="8800464"/>
            <a:ext cx="2537297"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Flujo Normal</a:t>
            </a:r>
          </a:p>
        </p:txBody>
      </p:sp>
      <p:sp>
        <p:nvSpPr>
          <p:cNvPr name="TextBox 11" id="11"/>
          <p:cNvSpPr txBox="true"/>
          <p:nvPr/>
        </p:nvSpPr>
        <p:spPr>
          <a:xfrm rot="0">
            <a:off x="12130707" y="8800464"/>
            <a:ext cx="2537297"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IOC</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654220" y="3278283"/>
            <a:ext cx="7439812" cy="2890898"/>
          </a:xfrm>
          <a:custGeom>
            <a:avLst/>
            <a:gdLst/>
            <a:ahLst/>
            <a:cxnLst/>
            <a:rect r="r" b="b" t="t" l="l"/>
            <a:pathLst>
              <a:path h="2890898" w="7439812">
                <a:moveTo>
                  <a:pt x="0" y="0"/>
                </a:moveTo>
                <a:lnTo>
                  <a:pt x="7439812" y="0"/>
                </a:lnTo>
                <a:lnTo>
                  <a:pt x="7439812" y="2890899"/>
                </a:lnTo>
                <a:lnTo>
                  <a:pt x="0" y="2890899"/>
                </a:lnTo>
                <a:lnTo>
                  <a:pt x="0" y="0"/>
                </a:lnTo>
                <a:close/>
              </a:path>
            </a:pathLst>
          </a:custGeom>
          <a:blipFill>
            <a:blip r:embed="rId3"/>
            <a:stretch>
              <a:fillRect l="0" t="0" r="0" b="0"/>
            </a:stretch>
          </a:blipFill>
        </p:spPr>
      </p:sp>
      <p:sp>
        <p:nvSpPr>
          <p:cNvPr name="TextBox 7" id="7"/>
          <p:cNvSpPr txBox="true"/>
          <p:nvPr/>
        </p:nvSpPr>
        <p:spPr>
          <a:xfrm rot="0">
            <a:off x="2787859" y="2106071"/>
            <a:ext cx="12712281" cy="785454"/>
          </a:xfrm>
          <a:prstGeom prst="rect">
            <a:avLst/>
          </a:prstGeom>
        </p:spPr>
        <p:txBody>
          <a:bodyPr anchor="t" rtlCol="false" tIns="0" lIns="0" bIns="0" rIns="0">
            <a:spAutoFit/>
          </a:bodyPr>
          <a:lstStyle/>
          <a:p>
            <a:pPr algn="ctr">
              <a:lnSpc>
                <a:spcPts val="6467"/>
              </a:lnSpc>
              <a:spcBef>
                <a:spcPct val="0"/>
              </a:spcBef>
            </a:pPr>
            <a:r>
              <a:rPr lang="en-US" sz="4619">
                <a:solidFill>
                  <a:srgbClr val="7A6200"/>
                </a:solidFill>
                <a:latin typeface="HK Modular"/>
                <a:ea typeface="HK Modular"/>
                <a:cs typeface="HK Modular"/>
                <a:sym typeface="HK Modular"/>
              </a:rPr>
              <a:t>INVERSION DE CONTROL - IOC</a:t>
            </a:r>
          </a:p>
        </p:txBody>
      </p:sp>
      <p:sp>
        <p:nvSpPr>
          <p:cNvPr name="TextBox 8" id="8"/>
          <p:cNvSpPr txBox="true"/>
          <p:nvPr/>
        </p:nvSpPr>
        <p:spPr>
          <a:xfrm rot="0">
            <a:off x="2850208" y="7014106"/>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Las llamadas se invirtieron, ahora es el Framework es el realiza operaciones sobre nuestra App.</a:t>
            </a:r>
          </a:p>
        </p:txBody>
      </p:sp>
      <p:sp>
        <p:nvSpPr>
          <p:cNvPr name="TextBox 9" id="9"/>
          <p:cNvSpPr txBox="true"/>
          <p:nvPr/>
        </p:nvSpPr>
        <p:spPr>
          <a:xfrm rot="0">
            <a:off x="8105477" y="6245382"/>
            <a:ext cx="2537297"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IOC</a:t>
            </a:r>
          </a:p>
        </p:txBody>
      </p:sp>
      <p:sp>
        <p:nvSpPr>
          <p:cNvPr name="TextBox 10" id="10"/>
          <p:cNvSpPr txBox="true"/>
          <p:nvPr/>
        </p:nvSpPr>
        <p:spPr>
          <a:xfrm rot="0">
            <a:off x="2850208" y="8252992"/>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IoC se basa en la introspección (en Java llamado Reflection)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787859" y="2106071"/>
            <a:ext cx="12712281" cy="785454"/>
          </a:xfrm>
          <a:prstGeom prst="rect">
            <a:avLst/>
          </a:prstGeom>
        </p:spPr>
        <p:txBody>
          <a:bodyPr anchor="t" rtlCol="false" tIns="0" lIns="0" bIns="0" rIns="0">
            <a:spAutoFit/>
          </a:bodyPr>
          <a:lstStyle/>
          <a:p>
            <a:pPr algn="ctr">
              <a:lnSpc>
                <a:spcPts val="6467"/>
              </a:lnSpc>
              <a:spcBef>
                <a:spcPct val="0"/>
              </a:spcBef>
            </a:pPr>
            <a:r>
              <a:rPr lang="en-US" sz="4619">
                <a:solidFill>
                  <a:srgbClr val="7A6200"/>
                </a:solidFill>
                <a:latin typeface="HK Modular"/>
                <a:ea typeface="HK Modular"/>
                <a:cs typeface="HK Modular"/>
                <a:sym typeface="HK Modular"/>
              </a:rPr>
              <a:t>INVERSION DE CONTROL - IOC</a:t>
            </a:r>
          </a:p>
        </p:txBody>
      </p:sp>
      <p:sp>
        <p:nvSpPr>
          <p:cNvPr name="TextBox 7" id="7"/>
          <p:cNvSpPr txBox="true"/>
          <p:nvPr/>
        </p:nvSpPr>
        <p:spPr>
          <a:xfrm rot="0">
            <a:off x="3019954" y="4195445"/>
            <a:ext cx="12587585"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La introspección (REFLECTION) son técnicas para analizar clases en tiempo de ejecución, mediante esta es posible saber las propiedades, métodos, clases que extiende e implementa, ejecutar operaciones, settear u obtener valores, etc. y todo esto sin saber absolutamente nada de la clase.</a:t>
            </a:r>
          </a:p>
        </p:txBody>
      </p:sp>
      <p:sp>
        <p:nvSpPr>
          <p:cNvPr name="TextBox 8" id="8"/>
          <p:cNvSpPr txBox="true"/>
          <p:nvPr/>
        </p:nvSpPr>
        <p:spPr>
          <a:xfrm rot="0">
            <a:off x="2959575" y="7329805"/>
            <a:ext cx="12708343"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un procedimiento por el cual leemos metadatos de la App que nos permita entender cómo funciona</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635" y="6555394"/>
            <a:ext cx="8713592" cy="2581402"/>
          </a:xfrm>
          <a:custGeom>
            <a:avLst/>
            <a:gdLst/>
            <a:ahLst/>
            <a:cxnLst/>
            <a:rect r="r" b="b" t="t" l="l"/>
            <a:pathLst>
              <a:path h="2581402" w="8713592">
                <a:moveTo>
                  <a:pt x="0" y="0"/>
                </a:moveTo>
                <a:lnTo>
                  <a:pt x="8713592" y="0"/>
                </a:lnTo>
                <a:lnTo>
                  <a:pt x="8713592" y="2581402"/>
                </a:lnTo>
                <a:lnTo>
                  <a:pt x="0" y="2581402"/>
                </a:lnTo>
                <a:lnTo>
                  <a:pt x="0" y="0"/>
                </a:lnTo>
                <a:close/>
              </a:path>
            </a:pathLst>
          </a:custGeom>
          <a:blipFill>
            <a:blip r:embed="rId3"/>
            <a:stretch>
              <a:fillRect l="0" t="0" r="0" b="0"/>
            </a:stretch>
          </a:blipFill>
        </p:spPr>
      </p:sp>
      <p:sp>
        <p:nvSpPr>
          <p:cNvPr name="Freeform 7" id="7"/>
          <p:cNvSpPr/>
          <p:nvPr/>
        </p:nvSpPr>
        <p:spPr>
          <a:xfrm flipH="false" flipV="false" rot="0">
            <a:off x="11603057" y="6465399"/>
            <a:ext cx="4892197" cy="2671397"/>
          </a:xfrm>
          <a:custGeom>
            <a:avLst/>
            <a:gdLst/>
            <a:ahLst/>
            <a:cxnLst/>
            <a:rect r="r" b="b" t="t" l="l"/>
            <a:pathLst>
              <a:path h="2671397" w="4892197">
                <a:moveTo>
                  <a:pt x="0" y="0"/>
                </a:moveTo>
                <a:lnTo>
                  <a:pt x="4892197" y="0"/>
                </a:lnTo>
                <a:lnTo>
                  <a:pt x="4892197" y="2671397"/>
                </a:lnTo>
                <a:lnTo>
                  <a:pt x="0" y="2671397"/>
                </a:lnTo>
                <a:lnTo>
                  <a:pt x="0" y="0"/>
                </a:lnTo>
                <a:close/>
              </a:path>
            </a:pathLst>
          </a:custGeom>
          <a:blipFill>
            <a:blip r:embed="rId4"/>
            <a:stretch>
              <a:fillRect l="0" t="0" r="0" b="0"/>
            </a:stretch>
          </a:blipFill>
        </p:spPr>
      </p:sp>
      <p:sp>
        <p:nvSpPr>
          <p:cNvPr name="TextBox 8" id="8"/>
          <p:cNvSpPr txBox="true"/>
          <p:nvPr/>
        </p:nvSpPr>
        <p:spPr>
          <a:xfrm rot="0">
            <a:off x="2787859" y="2106071"/>
            <a:ext cx="12712281" cy="785454"/>
          </a:xfrm>
          <a:prstGeom prst="rect">
            <a:avLst/>
          </a:prstGeom>
        </p:spPr>
        <p:txBody>
          <a:bodyPr anchor="t" rtlCol="false" tIns="0" lIns="0" bIns="0" rIns="0">
            <a:spAutoFit/>
          </a:bodyPr>
          <a:lstStyle/>
          <a:p>
            <a:pPr algn="ctr">
              <a:lnSpc>
                <a:spcPts val="6467"/>
              </a:lnSpc>
              <a:spcBef>
                <a:spcPct val="0"/>
              </a:spcBef>
            </a:pPr>
            <a:r>
              <a:rPr lang="en-US" sz="4619">
                <a:solidFill>
                  <a:srgbClr val="7A6200"/>
                </a:solidFill>
                <a:latin typeface="HK Modular"/>
                <a:ea typeface="HK Modular"/>
                <a:cs typeface="HK Modular"/>
                <a:sym typeface="HK Modular"/>
              </a:rPr>
              <a:t>INVERSION DE CONTROL - IOC</a:t>
            </a:r>
          </a:p>
        </p:txBody>
      </p:sp>
      <p:sp>
        <p:nvSpPr>
          <p:cNvPr name="TextBox 9" id="9"/>
          <p:cNvSpPr txBox="true"/>
          <p:nvPr/>
        </p:nvSpPr>
        <p:spPr>
          <a:xfrm rot="0">
            <a:off x="1650536" y="3385635"/>
            <a:ext cx="15426547" cy="2286635"/>
          </a:xfrm>
          <a:prstGeom prst="rect">
            <a:avLst/>
          </a:prstGeom>
        </p:spPr>
        <p:txBody>
          <a:bodyPr anchor="t" rtlCol="false" tIns="0" lIns="0" bIns="0" rIns="0">
            <a:spAutoFit/>
          </a:bodyPr>
          <a:lstStyle/>
          <a:p>
            <a:pPr algn="ctr">
              <a:lnSpc>
                <a:spcPts val="3640"/>
              </a:lnSpc>
              <a:spcBef>
                <a:spcPct val="0"/>
              </a:spcBef>
            </a:pPr>
            <a:r>
              <a:rPr lang="en-US" sz="2600">
                <a:solidFill>
                  <a:srgbClr val="FFFFFF"/>
                </a:solidFill>
                <a:latin typeface="Poppins"/>
                <a:ea typeface="Poppins"/>
                <a:cs typeface="Poppins"/>
                <a:sym typeface="Poppins"/>
              </a:rPr>
              <a:t>los metadatos pueden estar expresados principalmente de dos formas, la primera es mediante archivos de configuración como XML o con metadados directamente definidos sobre las clases de nuestro programa, en Java estos metadatos son las @Annotations o anotaciones y es por medio de estos metadatos y con técnicas de introspección que es posible entender el funcionamiento de la App.</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040910" y="3436464"/>
            <a:ext cx="6964601" cy="6107216"/>
          </a:xfrm>
          <a:custGeom>
            <a:avLst/>
            <a:gdLst/>
            <a:ahLst/>
            <a:cxnLst/>
            <a:rect r="r" b="b" t="t" l="l"/>
            <a:pathLst>
              <a:path h="6107216" w="6964601">
                <a:moveTo>
                  <a:pt x="0" y="0"/>
                </a:moveTo>
                <a:lnTo>
                  <a:pt x="6964600" y="0"/>
                </a:lnTo>
                <a:lnTo>
                  <a:pt x="6964600" y="6107216"/>
                </a:lnTo>
                <a:lnTo>
                  <a:pt x="0" y="6107216"/>
                </a:lnTo>
                <a:lnTo>
                  <a:pt x="0" y="0"/>
                </a:lnTo>
                <a:close/>
              </a:path>
            </a:pathLst>
          </a:custGeom>
          <a:blipFill>
            <a:blip r:embed="rId3"/>
            <a:stretch>
              <a:fillRect l="0" t="0" r="0" b="0"/>
            </a:stretch>
          </a:blipFill>
        </p:spPr>
      </p:sp>
      <p:sp>
        <p:nvSpPr>
          <p:cNvPr name="TextBox 7" id="7"/>
          <p:cNvSpPr txBox="true"/>
          <p:nvPr/>
        </p:nvSpPr>
        <p:spPr>
          <a:xfrm rot="0">
            <a:off x="2787859" y="2106071"/>
            <a:ext cx="12712281" cy="785454"/>
          </a:xfrm>
          <a:prstGeom prst="rect">
            <a:avLst/>
          </a:prstGeom>
        </p:spPr>
        <p:txBody>
          <a:bodyPr anchor="t" rtlCol="false" tIns="0" lIns="0" bIns="0" rIns="0">
            <a:spAutoFit/>
          </a:bodyPr>
          <a:lstStyle/>
          <a:p>
            <a:pPr algn="ctr">
              <a:lnSpc>
                <a:spcPts val="6467"/>
              </a:lnSpc>
              <a:spcBef>
                <a:spcPct val="0"/>
              </a:spcBef>
            </a:pPr>
            <a:r>
              <a:rPr lang="en-US" sz="4619">
                <a:solidFill>
                  <a:srgbClr val="7A6200"/>
                </a:solidFill>
                <a:latin typeface="HK Modular"/>
                <a:ea typeface="HK Modular"/>
                <a:cs typeface="HK Modular"/>
                <a:sym typeface="HK Modular"/>
              </a:rPr>
              <a:t>INVERSION DE CONTROL - IOC</a:t>
            </a:r>
          </a:p>
        </p:txBody>
      </p:sp>
      <p:sp>
        <p:nvSpPr>
          <p:cNvPr name="TextBox 8" id="8"/>
          <p:cNvSpPr txBox="true"/>
          <p:nvPr/>
        </p:nvSpPr>
        <p:spPr>
          <a:xfrm rot="0">
            <a:off x="1909552" y="4083449"/>
            <a:ext cx="5920504" cy="3894839"/>
          </a:xfrm>
          <a:prstGeom prst="rect">
            <a:avLst/>
          </a:prstGeom>
        </p:spPr>
        <p:txBody>
          <a:bodyPr anchor="t" rtlCol="false" tIns="0" lIns="0" bIns="0" rIns="0">
            <a:spAutoFit/>
          </a:bodyPr>
          <a:lstStyle/>
          <a:p>
            <a:pPr algn="ctr">
              <a:lnSpc>
                <a:spcPts val="3860"/>
              </a:lnSpc>
              <a:spcBef>
                <a:spcPct val="0"/>
              </a:spcBef>
            </a:pPr>
            <a:r>
              <a:rPr lang="en-US" sz="2757">
                <a:solidFill>
                  <a:srgbClr val="FFFFFF"/>
                </a:solidFill>
                <a:latin typeface="Poppins"/>
                <a:ea typeface="Poppins"/>
                <a:cs typeface="Poppins"/>
                <a:sym typeface="Poppins"/>
              </a:rPr>
              <a:t> IoC evita utilizar el operador new para crear clases clave o que son gestionadas por el Framework. En su lugar el Framework creará estos objetos por nosotros y nos podrá a disposición por medio de inyección de dependencias.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225152" y="5143500"/>
            <a:ext cx="5299115" cy="2980752"/>
          </a:xfrm>
          <a:custGeom>
            <a:avLst/>
            <a:gdLst/>
            <a:ahLst/>
            <a:cxnLst/>
            <a:rect r="r" b="b" t="t" l="l"/>
            <a:pathLst>
              <a:path h="2980752" w="5299115">
                <a:moveTo>
                  <a:pt x="0" y="0"/>
                </a:moveTo>
                <a:lnTo>
                  <a:pt x="5299116" y="0"/>
                </a:lnTo>
                <a:lnTo>
                  <a:pt x="5299116" y="2980752"/>
                </a:lnTo>
                <a:lnTo>
                  <a:pt x="0" y="2980752"/>
                </a:lnTo>
                <a:lnTo>
                  <a:pt x="0" y="0"/>
                </a:lnTo>
                <a:close/>
              </a:path>
            </a:pathLst>
          </a:custGeom>
          <a:blipFill>
            <a:blip r:embed="rId3"/>
            <a:stretch>
              <a:fillRect l="0" t="0" r="0" b="0"/>
            </a:stretch>
          </a:blipFill>
        </p:spPr>
      </p:sp>
      <p:sp>
        <p:nvSpPr>
          <p:cNvPr name="TextBox 7" id="7"/>
          <p:cNvSpPr txBox="true"/>
          <p:nvPr/>
        </p:nvSpPr>
        <p:spPr>
          <a:xfrm rot="0">
            <a:off x="2787859" y="2626730"/>
            <a:ext cx="12712281" cy="785454"/>
          </a:xfrm>
          <a:prstGeom prst="rect">
            <a:avLst/>
          </a:prstGeom>
        </p:spPr>
        <p:txBody>
          <a:bodyPr anchor="t" rtlCol="false" tIns="0" lIns="0" bIns="0" rIns="0">
            <a:spAutoFit/>
          </a:bodyPr>
          <a:lstStyle/>
          <a:p>
            <a:pPr algn="ctr">
              <a:lnSpc>
                <a:spcPts val="6467"/>
              </a:lnSpc>
              <a:spcBef>
                <a:spcPct val="0"/>
              </a:spcBef>
            </a:pPr>
            <a:r>
              <a:rPr lang="en-US" sz="4619">
                <a:solidFill>
                  <a:srgbClr val="7A6200"/>
                </a:solidFill>
                <a:latin typeface="HK Modular"/>
                <a:ea typeface="HK Modular"/>
                <a:cs typeface="HK Modular"/>
                <a:sym typeface="HK Modular"/>
              </a:rPr>
              <a:t>INVERSION DE CONTROL - IOC</a:t>
            </a:r>
          </a:p>
        </p:txBody>
      </p:sp>
      <p:sp>
        <p:nvSpPr>
          <p:cNvPr name="Freeform 8" id="8"/>
          <p:cNvSpPr/>
          <p:nvPr/>
        </p:nvSpPr>
        <p:spPr>
          <a:xfrm flipH="false" flipV="false" rot="0">
            <a:off x="10671634" y="5280235"/>
            <a:ext cx="3969927" cy="2496092"/>
          </a:xfrm>
          <a:custGeom>
            <a:avLst/>
            <a:gdLst/>
            <a:ahLst/>
            <a:cxnLst/>
            <a:rect r="r" b="b" t="t" l="l"/>
            <a:pathLst>
              <a:path h="2496092" w="3969927">
                <a:moveTo>
                  <a:pt x="0" y="0"/>
                </a:moveTo>
                <a:lnTo>
                  <a:pt x="3969927" y="0"/>
                </a:lnTo>
                <a:lnTo>
                  <a:pt x="3969927" y="2496092"/>
                </a:lnTo>
                <a:lnTo>
                  <a:pt x="0" y="2496092"/>
                </a:lnTo>
                <a:lnTo>
                  <a:pt x="0" y="0"/>
                </a:lnTo>
                <a:close/>
              </a:path>
            </a:pathLst>
          </a:custGeom>
          <a:blipFill>
            <a:blip r:embed="rId4"/>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684456" y="3528929"/>
            <a:ext cx="3969927" cy="2496092"/>
          </a:xfrm>
          <a:custGeom>
            <a:avLst/>
            <a:gdLst/>
            <a:ahLst/>
            <a:cxnLst/>
            <a:rect r="r" b="b" t="t" l="l"/>
            <a:pathLst>
              <a:path h="2496092" w="3969927">
                <a:moveTo>
                  <a:pt x="0" y="0"/>
                </a:moveTo>
                <a:lnTo>
                  <a:pt x="3969927" y="0"/>
                </a:lnTo>
                <a:lnTo>
                  <a:pt x="3969927" y="2496092"/>
                </a:lnTo>
                <a:lnTo>
                  <a:pt x="0" y="2496092"/>
                </a:lnTo>
                <a:lnTo>
                  <a:pt x="0" y="0"/>
                </a:lnTo>
                <a:close/>
              </a:path>
            </a:pathLst>
          </a:custGeom>
          <a:blipFill>
            <a:blip r:embed="rId3"/>
            <a:stretch>
              <a:fillRect l="0" t="0" r="0" b="0"/>
            </a:stretch>
          </a:blipFill>
        </p:spPr>
      </p:sp>
      <p:sp>
        <p:nvSpPr>
          <p:cNvPr name="TextBox 13" id="13"/>
          <p:cNvSpPr txBox="true"/>
          <p:nvPr/>
        </p:nvSpPr>
        <p:spPr>
          <a:xfrm rot="0">
            <a:off x="1742920" y="4046977"/>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SPRING BOOT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SPRING BOOT</a:t>
            </a:r>
          </a:p>
        </p:txBody>
      </p:sp>
      <p:sp>
        <p:nvSpPr>
          <p:cNvPr name="TextBox 7" id="7"/>
          <p:cNvSpPr txBox="true"/>
          <p:nvPr/>
        </p:nvSpPr>
        <p:spPr>
          <a:xfrm rot="0">
            <a:off x="5723419" y="3251968"/>
            <a:ext cx="6841163" cy="513039"/>
          </a:xfrm>
          <a:prstGeom prst="rect">
            <a:avLst/>
          </a:prstGeom>
        </p:spPr>
        <p:txBody>
          <a:bodyPr anchor="t" rtlCol="false" tIns="0" lIns="0" bIns="0" rIns="0">
            <a:spAutoFit/>
          </a:bodyPr>
          <a:lstStyle/>
          <a:p>
            <a:pPr algn="ctr">
              <a:lnSpc>
                <a:spcPts val="4114"/>
              </a:lnSpc>
              <a:spcBef>
                <a:spcPct val="0"/>
              </a:spcBef>
            </a:pPr>
            <a:r>
              <a:rPr lang="en-US" sz="2939">
                <a:solidFill>
                  <a:srgbClr val="99C5FF"/>
                </a:solidFill>
                <a:latin typeface="HK Modular"/>
                <a:ea typeface="HK Modular"/>
                <a:cs typeface="HK Modular"/>
                <a:sym typeface="HK Modular"/>
              </a:rPr>
              <a:t>¿QUE ES?</a:t>
            </a:r>
          </a:p>
        </p:txBody>
      </p:sp>
      <p:sp>
        <p:nvSpPr>
          <p:cNvPr name="TextBox 8" id="8"/>
          <p:cNvSpPr txBox="true"/>
          <p:nvPr/>
        </p:nvSpPr>
        <p:spPr>
          <a:xfrm rot="0">
            <a:off x="3597277" y="4325809"/>
            <a:ext cx="10720018" cy="1184704"/>
          </a:xfrm>
          <a:prstGeom prst="rect">
            <a:avLst/>
          </a:prstGeom>
        </p:spPr>
        <p:txBody>
          <a:bodyPr anchor="t" rtlCol="false" tIns="0" lIns="0" bIns="0" rIns="0">
            <a:spAutoFit/>
          </a:bodyPr>
          <a:lstStyle/>
          <a:p>
            <a:pPr algn="ctr">
              <a:lnSpc>
                <a:spcPts val="3124"/>
              </a:lnSpc>
              <a:spcBef>
                <a:spcPct val="0"/>
              </a:spcBef>
            </a:pPr>
            <a:r>
              <a:rPr lang="en-US" sz="2231">
                <a:solidFill>
                  <a:srgbClr val="FFFFFF"/>
                </a:solidFill>
                <a:latin typeface="Poppins"/>
                <a:ea typeface="Poppins"/>
                <a:cs typeface="Poppins"/>
                <a:sym typeface="Poppins"/>
              </a:rPr>
              <a:t>E</a:t>
            </a:r>
            <a:r>
              <a:rPr lang="en-US" sz="2231">
                <a:solidFill>
                  <a:srgbClr val="FFFFFF"/>
                </a:solidFill>
                <a:latin typeface="Poppins"/>
                <a:ea typeface="Poppins"/>
                <a:cs typeface="Poppins"/>
                <a:sym typeface="Poppins"/>
              </a:rPr>
              <a:t>s una popular estructura empresarial de código abierto para crear aplicaciones independientes de nivel de producción que se ejecutan en la máquina virtual Java (JVM).</a:t>
            </a:r>
          </a:p>
        </p:txBody>
      </p:sp>
      <p:sp>
        <p:nvSpPr>
          <p:cNvPr name="TextBox 9" id="9"/>
          <p:cNvSpPr txBox="true"/>
          <p:nvPr/>
        </p:nvSpPr>
        <p:spPr>
          <a:xfrm rot="0">
            <a:off x="3290140" y="5815313"/>
            <a:ext cx="11334292" cy="1184277"/>
          </a:xfrm>
          <a:prstGeom prst="rect">
            <a:avLst/>
          </a:prstGeom>
        </p:spPr>
        <p:txBody>
          <a:bodyPr anchor="t" rtlCol="false" tIns="0" lIns="0" bIns="0" rIns="0">
            <a:spAutoFit/>
          </a:bodyPr>
          <a:lstStyle/>
          <a:p>
            <a:pPr algn="ctr">
              <a:lnSpc>
                <a:spcPts val="3123"/>
              </a:lnSpc>
              <a:spcBef>
                <a:spcPct val="0"/>
              </a:spcBef>
            </a:pPr>
            <a:r>
              <a:rPr lang="en-US" sz="2230">
                <a:solidFill>
                  <a:srgbClr val="FFFFFF"/>
                </a:solidFill>
                <a:latin typeface="Poppins"/>
                <a:ea typeface="Poppins"/>
                <a:cs typeface="Poppins"/>
                <a:sym typeface="Poppins"/>
              </a:rPr>
              <a:t>E</a:t>
            </a:r>
            <a:r>
              <a:rPr lang="en-US" sz="2230">
                <a:solidFill>
                  <a:srgbClr val="FFFFFF"/>
                </a:solidFill>
                <a:latin typeface="Poppins"/>
                <a:ea typeface="Poppins"/>
                <a:cs typeface="Poppins"/>
                <a:sym typeface="Poppins"/>
              </a:rPr>
              <a:t>s una herramienta que hace que el desarrollo de aplicaciones web y microservicios con Spring Framework sea más rápido y fácil a través de tres funcionalidades principales:</a:t>
            </a:r>
          </a:p>
        </p:txBody>
      </p:sp>
      <p:sp>
        <p:nvSpPr>
          <p:cNvPr name="Freeform 10" id="10"/>
          <p:cNvSpPr/>
          <p:nvPr/>
        </p:nvSpPr>
        <p:spPr>
          <a:xfrm flipH="false" flipV="false" rot="0">
            <a:off x="3597277" y="8943237"/>
            <a:ext cx="832596" cy="832596"/>
          </a:xfrm>
          <a:custGeom>
            <a:avLst/>
            <a:gdLst/>
            <a:ahLst/>
            <a:cxnLst/>
            <a:rect r="r" b="b" t="t" l="l"/>
            <a:pathLst>
              <a:path h="832596" w="832596">
                <a:moveTo>
                  <a:pt x="0" y="0"/>
                </a:moveTo>
                <a:lnTo>
                  <a:pt x="832596" y="0"/>
                </a:lnTo>
                <a:lnTo>
                  <a:pt x="832596" y="832596"/>
                </a:lnTo>
                <a:lnTo>
                  <a:pt x="0" y="8325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8693261" y="8943237"/>
            <a:ext cx="867044" cy="867044"/>
          </a:xfrm>
          <a:custGeom>
            <a:avLst/>
            <a:gdLst/>
            <a:ahLst/>
            <a:cxnLst/>
            <a:rect r="r" b="b" t="t" l="l"/>
            <a:pathLst>
              <a:path h="867044" w="867044">
                <a:moveTo>
                  <a:pt x="0" y="0"/>
                </a:moveTo>
                <a:lnTo>
                  <a:pt x="867045" y="0"/>
                </a:lnTo>
                <a:lnTo>
                  <a:pt x="867045" y="867044"/>
                </a:lnTo>
                <a:lnTo>
                  <a:pt x="0" y="8670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4624432" y="8862664"/>
            <a:ext cx="913169" cy="913169"/>
          </a:xfrm>
          <a:custGeom>
            <a:avLst/>
            <a:gdLst/>
            <a:ahLst/>
            <a:cxnLst/>
            <a:rect r="r" b="b" t="t" l="l"/>
            <a:pathLst>
              <a:path h="913169" w="913169">
                <a:moveTo>
                  <a:pt x="0" y="0"/>
                </a:moveTo>
                <a:lnTo>
                  <a:pt x="913169" y="0"/>
                </a:lnTo>
                <a:lnTo>
                  <a:pt x="913169" y="913169"/>
                </a:lnTo>
                <a:lnTo>
                  <a:pt x="0" y="9131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1978769" y="7959766"/>
            <a:ext cx="3502954" cy="776677"/>
          </a:xfrm>
          <a:prstGeom prst="rect">
            <a:avLst/>
          </a:prstGeom>
        </p:spPr>
        <p:txBody>
          <a:bodyPr anchor="t" rtlCol="false" tIns="0" lIns="0" bIns="0" rIns="0">
            <a:spAutoFit/>
          </a:bodyPr>
          <a:lstStyle/>
          <a:p>
            <a:pPr algn="ctr">
              <a:lnSpc>
                <a:spcPts val="3101"/>
              </a:lnSpc>
              <a:spcBef>
                <a:spcPct val="0"/>
              </a:spcBef>
            </a:pPr>
            <a:r>
              <a:rPr lang="en-US" sz="2215">
                <a:solidFill>
                  <a:srgbClr val="99C5FF"/>
                </a:solidFill>
                <a:latin typeface="HK Modular"/>
                <a:ea typeface="HK Modular"/>
                <a:cs typeface="HK Modular"/>
                <a:sym typeface="HK Modular"/>
              </a:rPr>
              <a:t>CONFIGURACION AUTOMATICA</a:t>
            </a:r>
          </a:p>
        </p:txBody>
      </p:sp>
      <p:sp>
        <p:nvSpPr>
          <p:cNvPr name="TextBox 14" id="14"/>
          <p:cNvSpPr txBox="true"/>
          <p:nvPr/>
        </p:nvSpPr>
        <p:spPr>
          <a:xfrm rot="0">
            <a:off x="7375307" y="7615619"/>
            <a:ext cx="3502954" cy="1169335"/>
          </a:xfrm>
          <a:prstGeom prst="rect">
            <a:avLst/>
          </a:prstGeom>
        </p:spPr>
        <p:txBody>
          <a:bodyPr anchor="t" rtlCol="false" tIns="0" lIns="0" bIns="0" rIns="0">
            <a:spAutoFit/>
          </a:bodyPr>
          <a:lstStyle/>
          <a:p>
            <a:pPr algn="ctr">
              <a:lnSpc>
                <a:spcPts val="3101"/>
              </a:lnSpc>
              <a:spcBef>
                <a:spcPct val="0"/>
              </a:spcBef>
            </a:pPr>
            <a:r>
              <a:rPr lang="en-US" sz="2215">
                <a:solidFill>
                  <a:srgbClr val="99C5FF"/>
                </a:solidFill>
                <a:latin typeface="HK Modular"/>
                <a:ea typeface="HK Modular"/>
                <a:cs typeface="HK Modular"/>
                <a:sym typeface="HK Modular"/>
              </a:rPr>
              <a:t>ENFOQUE OBSTINADO DE LA CONFIGURACION</a:t>
            </a:r>
          </a:p>
        </p:txBody>
      </p:sp>
      <p:sp>
        <p:nvSpPr>
          <p:cNvPr name="TextBox 15" id="15"/>
          <p:cNvSpPr txBox="true"/>
          <p:nvPr/>
        </p:nvSpPr>
        <p:spPr>
          <a:xfrm rot="0">
            <a:off x="13329540" y="7567109"/>
            <a:ext cx="3502954" cy="1169335"/>
          </a:xfrm>
          <a:prstGeom prst="rect">
            <a:avLst/>
          </a:prstGeom>
        </p:spPr>
        <p:txBody>
          <a:bodyPr anchor="t" rtlCol="false" tIns="0" lIns="0" bIns="0" rIns="0">
            <a:spAutoFit/>
          </a:bodyPr>
          <a:lstStyle/>
          <a:p>
            <a:pPr algn="ctr">
              <a:lnSpc>
                <a:spcPts val="3101"/>
              </a:lnSpc>
              <a:spcBef>
                <a:spcPct val="0"/>
              </a:spcBef>
            </a:pPr>
            <a:r>
              <a:rPr lang="en-US" sz="2215">
                <a:solidFill>
                  <a:srgbClr val="99C5FF"/>
                </a:solidFill>
                <a:latin typeface="HK Modular"/>
                <a:ea typeface="HK Modular"/>
                <a:cs typeface="HK Modular"/>
                <a:sym typeface="HK Modular"/>
              </a:rPr>
              <a:t>CREAR APLICACIONES INDEPENDIENTES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SPRING BOOT</a:t>
            </a:r>
          </a:p>
        </p:txBody>
      </p:sp>
      <p:sp>
        <p:nvSpPr>
          <p:cNvPr name="TextBox 7" id="7"/>
          <p:cNvSpPr txBox="true"/>
          <p:nvPr/>
        </p:nvSpPr>
        <p:spPr>
          <a:xfrm rot="0">
            <a:off x="2834518" y="3665784"/>
            <a:ext cx="12527075" cy="1508271"/>
          </a:xfrm>
          <a:prstGeom prst="rect">
            <a:avLst/>
          </a:prstGeom>
        </p:spPr>
        <p:txBody>
          <a:bodyPr anchor="t" rtlCol="false" tIns="0" lIns="0" bIns="0" rIns="0">
            <a:spAutoFit/>
          </a:bodyPr>
          <a:lstStyle/>
          <a:p>
            <a:pPr algn="ctr">
              <a:lnSpc>
                <a:spcPts val="3975"/>
              </a:lnSpc>
              <a:spcBef>
                <a:spcPct val="0"/>
              </a:spcBef>
            </a:pPr>
            <a:r>
              <a:rPr lang="en-US" sz="2839">
                <a:solidFill>
                  <a:srgbClr val="FFFFFF"/>
                </a:solidFill>
                <a:latin typeface="Poppins"/>
                <a:ea typeface="Poppins"/>
                <a:cs typeface="Poppins"/>
                <a:sym typeface="Poppins"/>
              </a:rPr>
              <a:t>O</a:t>
            </a:r>
            <a:r>
              <a:rPr lang="en-US" sz="2839">
                <a:solidFill>
                  <a:srgbClr val="FFFFFF"/>
                </a:solidFill>
                <a:latin typeface="Poppins"/>
                <a:ea typeface="Poppins"/>
                <a:cs typeface="Poppins"/>
                <a:sym typeface="Poppins"/>
              </a:rPr>
              <a:t>frece una función de inyección de dependencias que permite que los objetos definan sus propias dependencias que el contenedor de Spring luego inyecta en ellos.</a:t>
            </a:r>
          </a:p>
        </p:txBody>
      </p:sp>
      <p:sp>
        <p:nvSpPr>
          <p:cNvPr name="TextBox 8" id="8"/>
          <p:cNvSpPr txBox="true"/>
          <p:nvPr/>
        </p:nvSpPr>
        <p:spPr>
          <a:xfrm rot="0">
            <a:off x="4296405" y="6006135"/>
            <a:ext cx="9603300" cy="1625047"/>
          </a:xfrm>
          <a:prstGeom prst="rect">
            <a:avLst/>
          </a:prstGeom>
        </p:spPr>
        <p:txBody>
          <a:bodyPr anchor="t" rtlCol="false" tIns="0" lIns="0" bIns="0" rIns="0">
            <a:spAutoFit/>
          </a:bodyPr>
          <a:lstStyle/>
          <a:p>
            <a:pPr algn="ctr">
              <a:lnSpc>
                <a:spcPts val="4225"/>
              </a:lnSpc>
              <a:spcBef>
                <a:spcPct val="0"/>
              </a:spcBef>
            </a:pPr>
            <a:r>
              <a:rPr lang="en-US" sz="3018">
                <a:solidFill>
                  <a:srgbClr val="FFFFFF"/>
                </a:solidFill>
                <a:latin typeface="Poppins"/>
                <a:ea typeface="Poppins"/>
                <a:cs typeface="Poppins"/>
                <a:sym typeface="Poppins"/>
              </a:rPr>
              <a:t>Esto permite a los desarrolladores crear aplicaciones modulares que constan de componentes poco acoplados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188759" y="4542816"/>
            <a:ext cx="14301484" cy="2790538"/>
          </a:xfrm>
          <a:prstGeom prst="rect">
            <a:avLst/>
          </a:prstGeom>
        </p:spPr>
        <p:txBody>
          <a:bodyPr anchor="t" rtlCol="false" tIns="0" lIns="0" bIns="0" rIns="0">
            <a:spAutoFit/>
          </a:bodyPr>
          <a:lstStyle/>
          <a:p>
            <a:pPr algn="ctr">
              <a:lnSpc>
                <a:spcPts val="11237"/>
              </a:lnSpc>
              <a:spcBef>
                <a:spcPct val="0"/>
              </a:spcBef>
            </a:pPr>
            <a:r>
              <a:rPr lang="en-US" sz="8026">
                <a:solidFill>
                  <a:srgbClr val="99C5FF"/>
                </a:solidFill>
                <a:latin typeface="HK Modular"/>
                <a:ea typeface="HK Modular"/>
                <a:cs typeface="HK Modular"/>
                <a:sym typeface="HK Modular"/>
              </a:rPr>
              <a:t>DISEÑO DE APIS WEB</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API Y API REST</a:t>
            </a:r>
          </a:p>
        </p:txBody>
      </p:sp>
      <p:sp>
        <p:nvSpPr>
          <p:cNvPr name="TextBox 7" id="7"/>
          <p:cNvSpPr txBox="true"/>
          <p:nvPr/>
        </p:nvSpPr>
        <p:spPr>
          <a:xfrm rot="0">
            <a:off x="2103376" y="3633073"/>
            <a:ext cx="5132149" cy="1866087"/>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API (Application Programming Interface) representando un conjunto de proceduras que sirven para comunicar 2 o mas aplicaciones entre ellas</a:t>
            </a:r>
          </a:p>
        </p:txBody>
      </p:sp>
      <p:sp>
        <p:nvSpPr>
          <p:cNvPr name="TextBox 8" id="8"/>
          <p:cNvSpPr txBox="true"/>
          <p:nvPr/>
        </p:nvSpPr>
        <p:spPr>
          <a:xfrm rot="0">
            <a:off x="2103376" y="6181834"/>
            <a:ext cx="5132149" cy="1493513"/>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Intermediario a travez del cual podemos utilizar otros productos o servicios sin saber nada de su implementacion</a:t>
            </a:r>
          </a:p>
        </p:txBody>
      </p:sp>
      <p:sp>
        <p:nvSpPr>
          <p:cNvPr name="TextBox 9" id="9"/>
          <p:cNvSpPr txBox="true"/>
          <p:nvPr/>
        </p:nvSpPr>
        <p:spPr>
          <a:xfrm rot="0">
            <a:off x="5921948" y="8751836"/>
            <a:ext cx="6409670" cy="936729"/>
          </a:xfrm>
          <a:prstGeom prst="rect">
            <a:avLst/>
          </a:prstGeom>
        </p:spPr>
        <p:txBody>
          <a:bodyPr anchor="t" rtlCol="false" tIns="0" lIns="0" bIns="0" rIns="0">
            <a:spAutoFit/>
          </a:bodyPr>
          <a:lstStyle/>
          <a:p>
            <a:pPr algn="ctr">
              <a:lnSpc>
                <a:spcPts val="3712"/>
              </a:lnSpc>
              <a:spcBef>
                <a:spcPct val="0"/>
              </a:spcBef>
            </a:pPr>
            <a:r>
              <a:rPr lang="en-US" b="true" sz="2651">
                <a:solidFill>
                  <a:srgbClr val="FFFFFF"/>
                </a:solidFill>
                <a:latin typeface="Poppins Bold"/>
                <a:ea typeface="Poppins Bold"/>
                <a:cs typeface="Poppins Bold"/>
                <a:sym typeface="Poppins Bold"/>
              </a:rPr>
              <a:t>NO TODAS LAS API SON REST, PERO TODOS LOS SERVICIOS REST SON API</a:t>
            </a:r>
          </a:p>
        </p:txBody>
      </p:sp>
      <p:sp>
        <p:nvSpPr>
          <p:cNvPr name="TextBox 10" id="10"/>
          <p:cNvSpPr txBox="true"/>
          <p:nvPr/>
        </p:nvSpPr>
        <p:spPr>
          <a:xfrm rot="0">
            <a:off x="10954571" y="3582372"/>
            <a:ext cx="5132149" cy="2238661"/>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REST (Representational State Transfer), es una forma sencilla de organizar interacciones entre sistemas independientes e indica un conjunto de principios arquitectonicos</a:t>
            </a:r>
          </a:p>
        </p:txBody>
      </p:sp>
      <p:sp>
        <p:nvSpPr>
          <p:cNvPr name="TextBox 11" id="11"/>
          <p:cNvSpPr txBox="true"/>
          <p:nvPr/>
        </p:nvSpPr>
        <p:spPr>
          <a:xfrm rot="0">
            <a:off x="11334342" y="6032046"/>
            <a:ext cx="4084708" cy="2083837"/>
          </a:xfrm>
          <a:prstGeom prst="rect">
            <a:avLst/>
          </a:prstGeom>
        </p:spPr>
        <p:txBody>
          <a:bodyPr anchor="t" rtlCol="false" tIns="0" lIns="0" bIns="0" rIns="0">
            <a:spAutoFit/>
          </a:bodyPr>
          <a:lstStyle/>
          <a:p>
            <a:pPr algn="ctr" marL="364878" indent="-182439" lvl="1">
              <a:lnSpc>
                <a:spcPts val="2366"/>
              </a:lnSpc>
              <a:buFont typeface="Arial"/>
              <a:buChar char="•"/>
            </a:pPr>
            <a:r>
              <a:rPr lang="en-US" sz="1690">
                <a:solidFill>
                  <a:srgbClr val="FFFFFF"/>
                </a:solidFill>
                <a:latin typeface="Poppins"/>
                <a:ea typeface="Poppins"/>
                <a:cs typeface="Poppins"/>
                <a:sym typeface="Poppins"/>
              </a:rPr>
              <a:t>Arquitectura Cliente-Servidor</a:t>
            </a:r>
          </a:p>
          <a:p>
            <a:pPr algn="ctr" marL="364878" indent="-182439" lvl="1">
              <a:lnSpc>
                <a:spcPts val="2366"/>
              </a:lnSpc>
              <a:buFont typeface="Arial"/>
              <a:buChar char="•"/>
            </a:pPr>
            <a:r>
              <a:rPr lang="en-US" sz="1690">
                <a:solidFill>
                  <a:srgbClr val="FFFFFF"/>
                </a:solidFill>
                <a:latin typeface="Poppins"/>
                <a:ea typeface="Poppins"/>
                <a:cs typeface="Poppins"/>
                <a:sym typeface="Poppins"/>
              </a:rPr>
              <a:t>Comunicacion Stateless</a:t>
            </a:r>
          </a:p>
          <a:p>
            <a:pPr algn="ctr" marL="364878" indent="-182439" lvl="1">
              <a:lnSpc>
                <a:spcPts val="2366"/>
              </a:lnSpc>
              <a:buFont typeface="Arial"/>
              <a:buChar char="•"/>
            </a:pPr>
            <a:r>
              <a:rPr lang="en-US" sz="1690">
                <a:solidFill>
                  <a:srgbClr val="FFFFFF"/>
                </a:solidFill>
                <a:latin typeface="Poppins"/>
                <a:ea typeface="Poppins"/>
                <a:cs typeface="Poppins"/>
                <a:sym typeface="Poppins"/>
              </a:rPr>
              <a:t>Caching</a:t>
            </a:r>
          </a:p>
          <a:p>
            <a:pPr algn="ctr" marL="364878" indent="-182439" lvl="1">
              <a:lnSpc>
                <a:spcPts val="2366"/>
              </a:lnSpc>
              <a:buFont typeface="Arial"/>
              <a:buChar char="•"/>
            </a:pPr>
            <a:r>
              <a:rPr lang="en-US" sz="1690">
                <a:solidFill>
                  <a:srgbClr val="FFFFFF"/>
                </a:solidFill>
                <a:latin typeface="Poppins"/>
                <a:ea typeface="Poppins"/>
                <a:cs typeface="Poppins"/>
                <a:sym typeface="Poppins"/>
              </a:rPr>
              <a:t>Sistema a Niveles</a:t>
            </a:r>
          </a:p>
          <a:p>
            <a:pPr algn="ctr" marL="364878" indent="-182439" lvl="1">
              <a:lnSpc>
                <a:spcPts val="2366"/>
              </a:lnSpc>
              <a:buFont typeface="Arial"/>
              <a:buChar char="•"/>
            </a:pPr>
            <a:r>
              <a:rPr lang="en-US" sz="1690">
                <a:solidFill>
                  <a:srgbClr val="FFFFFF"/>
                </a:solidFill>
                <a:latin typeface="Poppins"/>
                <a:ea typeface="Poppins"/>
                <a:cs typeface="Poppins"/>
                <a:sym typeface="Poppins"/>
              </a:rPr>
              <a:t>Interfaz uniforme para los componentes</a:t>
            </a:r>
          </a:p>
          <a:p>
            <a:pPr algn="ctr" marL="364878" indent="-182439" lvl="1">
              <a:lnSpc>
                <a:spcPts val="2366"/>
              </a:lnSpc>
              <a:buFont typeface="Arial"/>
              <a:buChar char="•"/>
            </a:pPr>
            <a:r>
              <a:rPr lang="en-US" sz="1690">
                <a:solidFill>
                  <a:srgbClr val="FFFFFF"/>
                </a:solidFill>
                <a:latin typeface="Poppins"/>
                <a:ea typeface="Poppins"/>
                <a:cs typeface="Poppins"/>
                <a:sym typeface="Poppins"/>
              </a:rPr>
              <a:t>Codigo on Demand</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VERBOS HTTP</a:t>
            </a:r>
          </a:p>
        </p:txBody>
      </p:sp>
      <p:sp>
        <p:nvSpPr>
          <p:cNvPr name="TextBox 7" id="7"/>
          <p:cNvSpPr txBox="true"/>
          <p:nvPr/>
        </p:nvSpPr>
        <p:spPr>
          <a:xfrm rot="0">
            <a:off x="1468068" y="3309385"/>
            <a:ext cx="15351863" cy="1075924"/>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Pero más allá de estos principios, el elemento fundamental del enfoque REST son los recursos. Por recursos se entiende cualquier dato o información recuperable de manera única. En el ámbito Web el mecanismo utilizado para recuperar los recursos es el uso de URI que se basan en llamadas HTTP. </a:t>
            </a:r>
          </a:p>
        </p:txBody>
      </p:sp>
      <p:sp>
        <p:nvSpPr>
          <p:cNvPr name="TextBox 8" id="8"/>
          <p:cNvSpPr txBox="true"/>
          <p:nvPr/>
        </p:nvSpPr>
        <p:spPr>
          <a:xfrm rot="0">
            <a:off x="3777407" y="5709284"/>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POST</a:t>
            </a:r>
          </a:p>
        </p:txBody>
      </p:sp>
      <p:sp>
        <p:nvSpPr>
          <p:cNvPr name="TextBox 9" id="9"/>
          <p:cNvSpPr txBox="true"/>
          <p:nvPr/>
        </p:nvSpPr>
        <p:spPr>
          <a:xfrm rot="0">
            <a:off x="3777407" y="6583310"/>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GET</a:t>
            </a:r>
          </a:p>
        </p:txBody>
      </p:sp>
      <p:sp>
        <p:nvSpPr>
          <p:cNvPr name="TextBox 10" id="10"/>
          <p:cNvSpPr txBox="true"/>
          <p:nvPr/>
        </p:nvSpPr>
        <p:spPr>
          <a:xfrm rot="0">
            <a:off x="3777407" y="7459983"/>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PUT</a:t>
            </a:r>
          </a:p>
        </p:txBody>
      </p:sp>
      <p:sp>
        <p:nvSpPr>
          <p:cNvPr name="TextBox 11" id="11"/>
          <p:cNvSpPr txBox="true"/>
          <p:nvPr/>
        </p:nvSpPr>
        <p:spPr>
          <a:xfrm rot="0">
            <a:off x="3777407" y="8339303"/>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DELETE</a:t>
            </a:r>
          </a:p>
        </p:txBody>
      </p:sp>
      <p:sp>
        <p:nvSpPr>
          <p:cNvPr name="TextBox 12" id="12"/>
          <p:cNvSpPr txBox="true"/>
          <p:nvPr/>
        </p:nvSpPr>
        <p:spPr>
          <a:xfrm rot="0">
            <a:off x="10998141" y="6751508"/>
            <a:ext cx="3502954" cy="1169335"/>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CRUD:  CREATE, READ, UPDATE, DELETE</a:t>
            </a:r>
          </a:p>
        </p:txBody>
      </p:sp>
      <p:sp>
        <p:nvSpPr>
          <p:cNvPr name="AutoShape 13" id="13"/>
          <p:cNvSpPr/>
          <p:nvPr/>
        </p:nvSpPr>
        <p:spPr>
          <a:xfrm>
            <a:off x="6183950" y="5964309"/>
            <a:ext cx="4814191" cy="1031090"/>
          </a:xfrm>
          <a:prstGeom prst="line">
            <a:avLst/>
          </a:prstGeom>
          <a:ln cap="flat" w="38100">
            <a:solidFill>
              <a:srgbClr val="99C5FF"/>
            </a:solidFill>
            <a:prstDash val="solid"/>
            <a:headEnd type="none" len="sm" w="sm"/>
            <a:tailEnd type="triangle" len="med" w="lg"/>
          </a:ln>
        </p:spPr>
      </p:sp>
      <p:sp>
        <p:nvSpPr>
          <p:cNvPr name="AutoShape 14" id="14"/>
          <p:cNvSpPr/>
          <p:nvPr/>
        </p:nvSpPr>
        <p:spPr>
          <a:xfrm>
            <a:off x="6183950" y="6799133"/>
            <a:ext cx="4982368" cy="542227"/>
          </a:xfrm>
          <a:prstGeom prst="line">
            <a:avLst/>
          </a:prstGeom>
          <a:ln cap="flat" w="38100">
            <a:solidFill>
              <a:srgbClr val="99C5FF"/>
            </a:solidFill>
            <a:prstDash val="solid"/>
            <a:headEnd type="none" len="sm" w="sm"/>
            <a:tailEnd type="triangle" len="med" w="lg"/>
          </a:ln>
        </p:spPr>
      </p:sp>
      <p:sp>
        <p:nvSpPr>
          <p:cNvPr name="AutoShape 15" id="15"/>
          <p:cNvSpPr/>
          <p:nvPr/>
        </p:nvSpPr>
        <p:spPr>
          <a:xfrm flipV="true">
            <a:off x="6183950" y="7510943"/>
            <a:ext cx="4978379" cy="164863"/>
          </a:xfrm>
          <a:prstGeom prst="line">
            <a:avLst/>
          </a:prstGeom>
          <a:ln cap="flat" w="38100">
            <a:solidFill>
              <a:srgbClr val="99C5FF"/>
            </a:solidFill>
            <a:prstDash val="solid"/>
            <a:headEnd type="none" len="sm" w="sm"/>
            <a:tailEnd type="triangle" len="med" w="lg"/>
          </a:ln>
        </p:spPr>
      </p:sp>
      <p:sp>
        <p:nvSpPr>
          <p:cNvPr name="AutoShape 16" id="16"/>
          <p:cNvSpPr/>
          <p:nvPr/>
        </p:nvSpPr>
        <p:spPr>
          <a:xfrm flipV="true">
            <a:off x="6553246" y="7755661"/>
            <a:ext cx="4609083" cy="799465"/>
          </a:xfrm>
          <a:prstGeom prst="line">
            <a:avLst/>
          </a:prstGeom>
          <a:ln cap="flat" w="38100">
            <a:solidFill>
              <a:srgbClr val="99C5FF"/>
            </a:solidFill>
            <a:prstDash val="solid"/>
            <a:headEnd type="none" len="sm" w="sm"/>
            <a:tailEnd type="triangle" len="med" w="lg"/>
          </a:ln>
        </p:spPr>
      </p:sp>
      <p:sp>
        <p:nvSpPr>
          <p:cNvPr name="TextBox 17" id="17"/>
          <p:cNvSpPr txBox="true"/>
          <p:nvPr/>
        </p:nvSpPr>
        <p:spPr>
          <a:xfrm rot="0">
            <a:off x="666908" y="9447223"/>
            <a:ext cx="17621092" cy="666115"/>
          </a:xfrm>
          <a:prstGeom prst="rect">
            <a:avLst/>
          </a:prstGeom>
        </p:spPr>
        <p:txBody>
          <a:bodyPr anchor="t" rtlCol="false" tIns="0" lIns="0" bIns="0" rIns="0">
            <a:spAutoFit/>
          </a:bodyPr>
          <a:lstStyle/>
          <a:p>
            <a:pPr algn="ctr">
              <a:lnSpc>
                <a:spcPts val="2659"/>
              </a:lnSpc>
              <a:spcBef>
                <a:spcPct val="0"/>
              </a:spcBef>
            </a:pPr>
            <a:r>
              <a:rPr lang="en-US" sz="1899">
                <a:solidFill>
                  <a:srgbClr val="7A6200"/>
                </a:solidFill>
                <a:latin typeface="HK Modular"/>
                <a:ea typeface="HK Modular"/>
                <a:cs typeface="HK Modular"/>
                <a:sym typeface="HK Modular"/>
              </a:rPr>
              <a:t>el HTTP sin embargo es el protocolo que permite el envío concreto de estos datos de un lado a otro en la web.</a:t>
            </a:r>
          </a:p>
        </p:txBody>
      </p:sp>
      <p:sp>
        <p:nvSpPr>
          <p:cNvPr name="TextBox 18" id="18"/>
          <p:cNvSpPr txBox="true"/>
          <p:nvPr/>
        </p:nvSpPr>
        <p:spPr>
          <a:xfrm rot="0">
            <a:off x="3777407" y="4877589"/>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PATCH</a:t>
            </a:r>
          </a:p>
        </p:txBody>
      </p:sp>
      <p:sp>
        <p:nvSpPr>
          <p:cNvPr name="AutoShape 19" id="19"/>
          <p:cNvSpPr/>
          <p:nvPr/>
        </p:nvSpPr>
        <p:spPr>
          <a:xfrm>
            <a:off x="6367905" y="5093412"/>
            <a:ext cx="4766858" cy="1612615"/>
          </a:xfrm>
          <a:prstGeom prst="line">
            <a:avLst/>
          </a:prstGeom>
          <a:ln cap="flat" w="38100">
            <a:solidFill>
              <a:srgbClr val="99C5FF"/>
            </a:solidFill>
            <a:prstDash val="solid"/>
            <a:headEnd type="none" len="sm" w="sm"/>
            <a:tailEnd type="triangle" len="med" w="lg"/>
          </a:ln>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VERBOS HTTP</a:t>
            </a:r>
          </a:p>
        </p:txBody>
      </p:sp>
      <p:sp>
        <p:nvSpPr>
          <p:cNvPr name="TextBox 7" id="7"/>
          <p:cNvSpPr txBox="true"/>
          <p:nvPr/>
        </p:nvSpPr>
        <p:spPr>
          <a:xfrm rot="0">
            <a:off x="1468068" y="3787117"/>
            <a:ext cx="15351863" cy="362306"/>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Se utilizan para comunicar al servidor que hacer con ese recurso en especifico</a:t>
            </a:r>
          </a:p>
        </p:txBody>
      </p:sp>
      <p:sp>
        <p:nvSpPr>
          <p:cNvPr name="TextBox 8" id="8"/>
          <p:cNvSpPr txBox="true"/>
          <p:nvPr/>
        </p:nvSpPr>
        <p:spPr>
          <a:xfrm rot="0">
            <a:off x="3777407" y="4927678"/>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POST</a:t>
            </a:r>
          </a:p>
        </p:txBody>
      </p:sp>
      <p:sp>
        <p:nvSpPr>
          <p:cNvPr name="TextBox 9" id="9"/>
          <p:cNvSpPr txBox="true"/>
          <p:nvPr/>
        </p:nvSpPr>
        <p:spPr>
          <a:xfrm rot="0">
            <a:off x="3777407" y="6159422"/>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GET</a:t>
            </a:r>
          </a:p>
        </p:txBody>
      </p:sp>
      <p:sp>
        <p:nvSpPr>
          <p:cNvPr name="TextBox 10" id="10"/>
          <p:cNvSpPr txBox="true"/>
          <p:nvPr/>
        </p:nvSpPr>
        <p:spPr>
          <a:xfrm rot="0">
            <a:off x="3777407" y="7231383"/>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PUT</a:t>
            </a:r>
          </a:p>
        </p:txBody>
      </p:sp>
      <p:sp>
        <p:nvSpPr>
          <p:cNvPr name="TextBox 11" id="11"/>
          <p:cNvSpPr txBox="true"/>
          <p:nvPr/>
        </p:nvSpPr>
        <p:spPr>
          <a:xfrm rot="0">
            <a:off x="3777407" y="8339303"/>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DELETE</a:t>
            </a:r>
          </a:p>
        </p:txBody>
      </p:sp>
      <p:sp>
        <p:nvSpPr>
          <p:cNvPr name="TextBox 12" id="12"/>
          <p:cNvSpPr txBox="true"/>
          <p:nvPr/>
        </p:nvSpPr>
        <p:spPr>
          <a:xfrm rot="0">
            <a:off x="8716931" y="4918153"/>
            <a:ext cx="7652428" cy="1075924"/>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Se utiliza para comunicar al servidor que se debe causar el procesamiento del cuerpo de la solicitud, generando nuevos recursos</a:t>
            </a:r>
          </a:p>
        </p:txBody>
      </p:sp>
      <p:sp>
        <p:nvSpPr>
          <p:cNvPr name="TextBox 13" id="13"/>
          <p:cNvSpPr txBox="true"/>
          <p:nvPr/>
        </p:nvSpPr>
        <p:spPr>
          <a:xfrm rot="0">
            <a:off x="8716931" y="6118659"/>
            <a:ext cx="7652428" cy="1075924"/>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Permite Indicar al servidor que transmita los datos identificados al cliente, es solo de lectura y obtencion de la informacion</a:t>
            </a:r>
          </a:p>
        </p:txBody>
      </p:sp>
      <p:sp>
        <p:nvSpPr>
          <p:cNvPr name="TextBox 14" id="14"/>
          <p:cNvSpPr txBox="true"/>
          <p:nvPr/>
        </p:nvSpPr>
        <p:spPr>
          <a:xfrm rot="0">
            <a:off x="8716931" y="7390056"/>
            <a:ext cx="7652428" cy="719115"/>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Se realiza cuando se desea crear o actualizar en totalidad el recurso identificado en la URL</a:t>
            </a:r>
          </a:p>
        </p:txBody>
      </p:sp>
      <p:sp>
        <p:nvSpPr>
          <p:cNvPr name="TextBox 15" id="15"/>
          <p:cNvSpPr txBox="true"/>
          <p:nvPr/>
        </p:nvSpPr>
        <p:spPr>
          <a:xfrm rot="0">
            <a:off x="8716931" y="8329778"/>
            <a:ext cx="7652428" cy="719115"/>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Debe utilizarse cuando se desee eliminar el recurso identificado por la URL de la solicitud</a:t>
            </a:r>
          </a:p>
        </p:txBody>
      </p:sp>
      <p:sp>
        <p:nvSpPr>
          <p:cNvPr name="TextBox 16" id="16"/>
          <p:cNvSpPr txBox="true"/>
          <p:nvPr/>
        </p:nvSpPr>
        <p:spPr>
          <a:xfrm rot="0">
            <a:off x="3777407" y="9504373"/>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PATCH</a:t>
            </a:r>
          </a:p>
        </p:txBody>
      </p:sp>
      <p:sp>
        <p:nvSpPr>
          <p:cNvPr name="TextBox 17" id="17"/>
          <p:cNvSpPr txBox="true"/>
          <p:nvPr/>
        </p:nvSpPr>
        <p:spPr>
          <a:xfrm rot="0">
            <a:off x="8716931" y="9332063"/>
            <a:ext cx="7652428" cy="719115"/>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Se usa para aplicar modificaciones parciales a un recurso existente, es decir solo algunas de sus propiedades</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VERBOS HTTP</a:t>
            </a:r>
          </a:p>
        </p:txBody>
      </p:sp>
      <p:sp>
        <p:nvSpPr>
          <p:cNvPr name="TextBox 7" id="7"/>
          <p:cNvSpPr txBox="true"/>
          <p:nvPr/>
        </p:nvSpPr>
        <p:spPr>
          <a:xfrm rot="0">
            <a:off x="1577435" y="3476088"/>
            <a:ext cx="15351863" cy="719115"/>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Los metodos pueden ser seguros o inseguros, los seguros son aquellos que nunca modifican un recurso, los inseguros son los que su resultado permite la modificacion de los recursos</a:t>
            </a:r>
          </a:p>
        </p:txBody>
      </p:sp>
      <p:sp>
        <p:nvSpPr>
          <p:cNvPr name="TextBox 8" id="8"/>
          <p:cNvSpPr txBox="true"/>
          <p:nvPr/>
        </p:nvSpPr>
        <p:spPr>
          <a:xfrm rot="0">
            <a:off x="3524967" y="6007972"/>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POST</a:t>
            </a:r>
          </a:p>
        </p:txBody>
      </p:sp>
      <p:sp>
        <p:nvSpPr>
          <p:cNvPr name="TextBox 9" id="9"/>
          <p:cNvSpPr txBox="true"/>
          <p:nvPr/>
        </p:nvSpPr>
        <p:spPr>
          <a:xfrm rot="0">
            <a:off x="3777407" y="8339303"/>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GET</a:t>
            </a:r>
          </a:p>
        </p:txBody>
      </p:sp>
      <p:sp>
        <p:nvSpPr>
          <p:cNvPr name="TextBox 10" id="10"/>
          <p:cNvSpPr txBox="true"/>
          <p:nvPr/>
        </p:nvSpPr>
        <p:spPr>
          <a:xfrm rot="0">
            <a:off x="3524967" y="6880267"/>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PUT</a:t>
            </a:r>
          </a:p>
        </p:txBody>
      </p:sp>
      <p:sp>
        <p:nvSpPr>
          <p:cNvPr name="TextBox 11" id="11"/>
          <p:cNvSpPr txBox="true"/>
          <p:nvPr/>
        </p:nvSpPr>
        <p:spPr>
          <a:xfrm rot="0">
            <a:off x="3524967" y="7733562"/>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DELETE</a:t>
            </a:r>
          </a:p>
        </p:txBody>
      </p:sp>
      <p:sp>
        <p:nvSpPr>
          <p:cNvPr name="AutoShape 12" id="12"/>
          <p:cNvSpPr/>
          <p:nvPr/>
        </p:nvSpPr>
        <p:spPr>
          <a:xfrm>
            <a:off x="6044013" y="6223795"/>
            <a:ext cx="6604224" cy="168197"/>
          </a:xfrm>
          <a:prstGeom prst="line">
            <a:avLst/>
          </a:prstGeom>
          <a:ln cap="flat" w="38100">
            <a:solidFill>
              <a:srgbClr val="99C5FF"/>
            </a:solidFill>
            <a:prstDash val="solid"/>
            <a:headEnd type="none" len="sm" w="sm"/>
            <a:tailEnd type="triangle" len="med" w="lg"/>
          </a:ln>
        </p:spPr>
      </p:sp>
      <p:sp>
        <p:nvSpPr>
          <p:cNvPr name="AutoShape 13" id="13"/>
          <p:cNvSpPr/>
          <p:nvPr/>
        </p:nvSpPr>
        <p:spPr>
          <a:xfrm flipV="true">
            <a:off x="6044013" y="6543442"/>
            <a:ext cx="6604224" cy="552648"/>
          </a:xfrm>
          <a:prstGeom prst="line">
            <a:avLst/>
          </a:prstGeom>
          <a:ln cap="flat" w="38100">
            <a:solidFill>
              <a:srgbClr val="99C5FF"/>
            </a:solidFill>
            <a:prstDash val="solid"/>
            <a:headEnd type="none" len="sm" w="sm"/>
            <a:tailEnd type="triangle" len="med" w="lg"/>
          </a:ln>
        </p:spPr>
      </p:sp>
      <p:sp>
        <p:nvSpPr>
          <p:cNvPr name="AutoShape 14" id="14"/>
          <p:cNvSpPr/>
          <p:nvPr/>
        </p:nvSpPr>
        <p:spPr>
          <a:xfrm flipV="true">
            <a:off x="6186011" y="6571573"/>
            <a:ext cx="6462226" cy="1405508"/>
          </a:xfrm>
          <a:prstGeom prst="line">
            <a:avLst/>
          </a:prstGeom>
          <a:ln cap="flat" w="38100">
            <a:solidFill>
              <a:srgbClr val="99C5FF"/>
            </a:solidFill>
            <a:prstDash val="solid"/>
            <a:headEnd type="none" len="sm" w="sm"/>
            <a:tailEnd type="triangle" len="med" w="lg"/>
          </a:ln>
        </p:spPr>
      </p:sp>
      <p:sp>
        <p:nvSpPr>
          <p:cNvPr name="AutoShape 15" id="15"/>
          <p:cNvSpPr/>
          <p:nvPr/>
        </p:nvSpPr>
        <p:spPr>
          <a:xfrm flipV="true">
            <a:off x="6183950" y="8386928"/>
            <a:ext cx="6464287" cy="168197"/>
          </a:xfrm>
          <a:prstGeom prst="line">
            <a:avLst/>
          </a:prstGeom>
          <a:ln cap="flat" w="38100">
            <a:solidFill>
              <a:srgbClr val="99C5FF"/>
            </a:solidFill>
            <a:prstDash val="solid"/>
            <a:headEnd type="none" len="sm" w="sm"/>
            <a:tailEnd type="triangle" len="med" w="lg"/>
          </a:ln>
        </p:spPr>
      </p:sp>
      <p:sp>
        <p:nvSpPr>
          <p:cNvPr name="TextBox 16" id="16"/>
          <p:cNvSpPr txBox="true"/>
          <p:nvPr/>
        </p:nvSpPr>
        <p:spPr>
          <a:xfrm rot="0">
            <a:off x="12134123" y="6131291"/>
            <a:ext cx="3502954" cy="776677"/>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METODO INSEGURO</a:t>
            </a:r>
          </a:p>
        </p:txBody>
      </p:sp>
      <p:sp>
        <p:nvSpPr>
          <p:cNvPr name="TextBox 17" id="17"/>
          <p:cNvSpPr txBox="true"/>
          <p:nvPr/>
        </p:nvSpPr>
        <p:spPr>
          <a:xfrm rot="0">
            <a:off x="12648237" y="8171106"/>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METODO SEGURO</a:t>
            </a:r>
          </a:p>
        </p:txBody>
      </p:sp>
      <p:sp>
        <p:nvSpPr>
          <p:cNvPr name="TextBox 18" id="18"/>
          <p:cNvSpPr txBox="true"/>
          <p:nvPr/>
        </p:nvSpPr>
        <p:spPr>
          <a:xfrm rot="0">
            <a:off x="3524967" y="5157228"/>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PATCH</a:t>
            </a:r>
          </a:p>
        </p:txBody>
      </p:sp>
      <p:sp>
        <p:nvSpPr>
          <p:cNvPr name="AutoShape 19" id="19"/>
          <p:cNvSpPr/>
          <p:nvPr/>
        </p:nvSpPr>
        <p:spPr>
          <a:xfrm>
            <a:off x="6043528" y="5354006"/>
            <a:ext cx="6462226" cy="941296"/>
          </a:xfrm>
          <a:prstGeom prst="line">
            <a:avLst/>
          </a:prstGeom>
          <a:ln cap="flat" w="38100">
            <a:solidFill>
              <a:srgbClr val="99C5FF"/>
            </a:solidFill>
            <a:prstDash val="solid"/>
            <a:headEnd type="none" len="sm" w="sm"/>
            <a:tailEnd type="triangle" len="med" w="lg"/>
          </a:ln>
        </p:spPr>
      </p:sp>
      <p:sp>
        <p:nvSpPr>
          <p:cNvPr name="TextBox 20" id="20"/>
          <p:cNvSpPr txBox="true"/>
          <p:nvPr/>
        </p:nvSpPr>
        <p:spPr>
          <a:xfrm rot="0">
            <a:off x="1577435" y="9056698"/>
            <a:ext cx="15351863" cy="362306"/>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Se relacionan al CRUD pero no es el mismo CRUD que se establece en BASE DE DATOS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60709" y="5478680"/>
            <a:ext cx="5352646" cy="2569951"/>
          </a:xfrm>
          <a:custGeom>
            <a:avLst/>
            <a:gdLst/>
            <a:ahLst/>
            <a:cxnLst/>
            <a:rect r="r" b="b" t="t" l="l"/>
            <a:pathLst>
              <a:path h="2569951" w="5352646">
                <a:moveTo>
                  <a:pt x="0" y="0"/>
                </a:moveTo>
                <a:lnTo>
                  <a:pt x="5352646" y="0"/>
                </a:lnTo>
                <a:lnTo>
                  <a:pt x="5352646" y="2569951"/>
                </a:lnTo>
                <a:lnTo>
                  <a:pt x="0" y="2569951"/>
                </a:lnTo>
                <a:lnTo>
                  <a:pt x="0" y="0"/>
                </a:lnTo>
                <a:close/>
              </a:path>
            </a:pathLst>
          </a:custGeom>
          <a:blipFill>
            <a:blip r:embed="rId3"/>
            <a:stretch>
              <a:fillRect l="0" t="0" r="0" b="0"/>
            </a:stretch>
          </a:blipFill>
        </p:spPr>
      </p:sp>
      <p:sp>
        <p:nvSpPr>
          <p:cNvPr name="Freeform 7" id="7"/>
          <p:cNvSpPr/>
          <p:nvPr/>
        </p:nvSpPr>
        <p:spPr>
          <a:xfrm flipH="false" flipV="false" rot="0">
            <a:off x="6081005" y="5437623"/>
            <a:ext cx="5633414" cy="2652066"/>
          </a:xfrm>
          <a:custGeom>
            <a:avLst/>
            <a:gdLst/>
            <a:ahLst/>
            <a:cxnLst/>
            <a:rect r="r" b="b" t="t" l="l"/>
            <a:pathLst>
              <a:path h="2652066" w="5633414">
                <a:moveTo>
                  <a:pt x="0" y="0"/>
                </a:moveTo>
                <a:lnTo>
                  <a:pt x="5633414" y="0"/>
                </a:lnTo>
                <a:lnTo>
                  <a:pt x="5633414" y="2652066"/>
                </a:lnTo>
                <a:lnTo>
                  <a:pt x="0" y="2652066"/>
                </a:lnTo>
                <a:lnTo>
                  <a:pt x="0" y="0"/>
                </a:lnTo>
                <a:close/>
              </a:path>
            </a:pathLst>
          </a:custGeom>
          <a:blipFill>
            <a:blip r:embed="rId4"/>
            <a:stretch>
              <a:fillRect l="0" t="0" r="0" b="0"/>
            </a:stretch>
          </a:blipFill>
        </p:spPr>
      </p:sp>
      <p:sp>
        <p:nvSpPr>
          <p:cNvPr name="Freeform 8" id="8"/>
          <p:cNvSpPr/>
          <p:nvPr/>
        </p:nvSpPr>
        <p:spPr>
          <a:xfrm flipH="false" flipV="false" rot="0">
            <a:off x="11981119" y="5437623"/>
            <a:ext cx="5692018" cy="2652066"/>
          </a:xfrm>
          <a:custGeom>
            <a:avLst/>
            <a:gdLst/>
            <a:ahLst/>
            <a:cxnLst/>
            <a:rect r="r" b="b" t="t" l="l"/>
            <a:pathLst>
              <a:path h="2652066" w="5692018">
                <a:moveTo>
                  <a:pt x="0" y="0"/>
                </a:moveTo>
                <a:lnTo>
                  <a:pt x="5692018" y="0"/>
                </a:lnTo>
                <a:lnTo>
                  <a:pt x="5692018" y="2652066"/>
                </a:lnTo>
                <a:lnTo>
                  <a:pt x="0" y="2652066"/>
                </a:lnTo>
                <a:lnTo>
                  <a:pt x="0" y="0"/>
                </a:lnTo>
                <a:close/>
              </a:path>
            </a:pathLst>
          </a:custGeom>
          <a:blipFill>
            <a:blip r:embed="rId5"/>
            <a:stretch>
              <a:fillRect l="0" t="0" r="0" b="0"/>
            </a:stretch>
          </a:blipFill>
        </p:spPr>
      </p:sp>
      <p:sp>
        <p:nvSpPr>
          <p:cNvPr name="TextBox 9" id="9"/>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IDEMPOTENCIA</a:t>
            </a:r>
          </a:p>
        </p:txBody>
      </p:sp>
      <p:sp>
        <p:nvSpPr>
          <p:cNvPr name="TextBox 10" id="10"/>
          <p:cNvSpPr txBox="true"/>
          <p:nvPr/>
        </p:nvSpPr>
        <p:spPr>
          <a:xfrm rot="0">
            <a:off x="1577435" y="3476088"/>
            <a:ext cx="15351863" cy="719115"/>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Principio que establece que la ejecucion repetida de una peticion con los mismo parametros sobre un mismo recurso tendra el mismo efecto en el estado de nuestro recurso en el sistema si se ejecuta 1 o N veces</a:t>
            </a:r>
          </a:p>
        </p:txBody>
      </p:sp>
      <p:sp>
        <p:nvSpPr>
          <p:cNvPr name="TextBox 11" id="11"/>
          <p:cNvSpPr txBox="true"/>
          <p:nvPr/>
        </p:nvSpPr>
        <p:spPr>
          <a:xfrm rot="0">
            <a:off x="1028700" y="8848281"/>
            <a:ext cx="16230600" cy="772412"/>
          </a:xfrm>
          <a:prstGeom prst="rect">
            <a:avLst/>
          </a:prstGeom>
        </p:spPr>
        <p:txBody>
          <a:bodyPr anchor="t" rtlCol="false" tIns="0" lIns="0" bIns="0" rIns="0">
            <a:spAutoFit/>
          </a:bodyPr>
          <a:lstStyle/>
          <a:p>
            <a:pPr algn="ctr">
              <a:lnSpc>
                <a:spcPts val="3101"/>
              </a:lnSpc>
              <a:spcBef>
                <a:spcPct val="0"/>
              </a:spcBef>
            </a:pPr>
            <a:r>
              <a:rPr lang="en-US" b="true" sz="2215">
                <a:solidFill>
                  <a:srgbClr val="FFFFFF"/>
                </a:solidFill>
                <a:latin typeface="HK Modular"/>
                <a:ea typeface="HK Modular"/>
                <a:cs typeface="HK Modular"/>
                <a:sym typeface="HK Modular"/>
              </a:rPr>
              <a:t>EL ESTADO DEL SISTEMA CAMBIA SIEMPRE AUNQUE SE APLIQUEN LOS MISMOS PARÁMETROS AL MISMO RECURSO.</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97372" y="3661966"/>
            <a:ext cx="5198399" cy="2485458"/>
          </a:xfrm>
          <a:custGeom>
            <a:avLst/>
            <a:gdLst/>
            <a:ahLst/>
            <a:cxnLst/>
            <a:rect r="r" b="b" t="t" l="l"/>
            <a:pathLst>
              <a:path h="2485458" w="5198399">
                <a:moveTo>
                  <a:pt x="0" y="0"/>
                </a:moveTo>
                <a:lnTo>
                  <a:pt x="5198399" y="0"/>
                </a:lnTo>
                <a:lnTo>
                  <a:pt x="5198399" y="2485459"/>
                </a:lnTo>
                <a:lnTo>
                  <a:pt x="0" y="2485459"/>
                </a:lnTo>
                <a:lnTo>
                  <a:pt x="0" y="0"/>
                </a:lnTo>
                <a:close/>
              </a:path>
            </a:pathLst>
          </a:custGeom>
          <a:blipFill>
            <a:blip r:embed="rId3"/>
            <a:stretch>
              <a:fillRect l="0" t="0" r="0" b="0"/>
            </a:stretch>
          </a:blipFill>
        </p:spPr>
      </p:sp>
      <p:sp>
        <p:nvSpPr>
          <p:cNvPr name="Freeform 7" id="7"/>
          <p:cNvSpPr/>
          <p:nvPr/>
        </p:nvSpPr>
        <p:spPr>
          <a:xfrm flipH="false" flipV="false" rot="0">
            <a:off x="6579354" y="3661966"/>
            <a:ext cx="5348027" cy="2510649"/>
          </a:xfrm>
          <a:custGeom>
            <a:avLst/>
            <a:gdLst/>
            <a:ahLst/>
            <a:cxnLst/>
            <a:rect r="r" b="b" t="t" l="l"/>
            <a:pathLst>
              <a:path h="2510649" w="5348027">
                <a:moveTo>
                  <a:pt x="0" y="0"/>
                </a:moveTo>
                <a:lnTo>
                  <a:pt x="5348026" y="0"/>
                </a:lnTo>
                <a:lnTo>
                  <a:pt x="5348026" y="2510650"/>
                </a:lnTo>
                <a:lnTo>
                  <a:pt x="0" y="2510650"/>
                </a:lnTo>
                <a:lnTo>
                  <a:pt x="0" y="0"/>
                </a:lnTo>
                <a:close/>
              </a:path>
            </a:pathLst>
          </a:custGeom>
          <a:blipFill>
            <a:blip r:embed="rId4"/>
            <a:stretch>
              <a:fillRect l="0" t="0" r="0" b="0"/>
            </a:stretch>
          </a:blipFill>
        </p:spPr>
      </p:sp>
      <p:sp>
        <p:nvSpPr>
          <p:cNvPr name="Freeform 8" id="8"/>
          <p:cNvSpPr/>
          <p:nvPr/>
        </p:nvSpPr>
        <p:spPr>
          <a:xfrm flipH="false" flipV="false" rot="0">
            <a:off x="12388146" y="3701037"/>
            <a:ext cx="5186951" cy="2471578"/>
          </a:xfrm>
          <a:custGeom>
            <a:avLst/>
            <a:gdLst/>
            <a:ahLst/>
            <a:cxnLst/>
            <a:rect r="r" b="b" t="t" l="l"/>
            <a:pathLst>
              <a:path h="2471578" w="5186951">
                <a:moveTo>
                  <a:pt x="0" y="0"/>
                </a:moveTo>
                <a:lnTo>
                  <a:pt x="5186951" y="0"/>
                </a:lnTo>
                <a:lnTo>
                  <a:pt x="5186951" y="2471579"/>
                </a:lnTo>
                <a:lnTo>
                  <a:pt x="0" y="2471579"/>
                </a:lnTo>
                <a:lnTo>
                  <a:pt x="0" y="0"/>
                </a:lnTo>
                <a:close/>
              </a:path>
            </a:pathLst>
          </a:custGeom>
          <a:blipFill>
            <a:blip r:embed="rId5"/>
            <a:stretch>
              <a:fillRect l="0" t="0" r="0" b="0"/>
            </a:stretch>
          </a:blipFill>
        </p:spPr>
      </p:sp>
      <p:sp>
        <p:nvSpPr>
          <p:cNvPr name="Freeform 9" id="9"/>
          <p:cNvSpPr/>
          <p:nvPr/>
        </p:nvSpPr>
        <p:spPr>
          <a:xfrm flipH="false" flipV="false" rot="0">
            <a:off x="10683219" y="6883103"/>
            <a:ext cx="3764058" cy="2719835"/>
          </a:xfrm>
          <a:custGeom>
            <a:avLst/>
            <a:gdLst/>
            <a:ahLst/>
            <a:cxnLst/>
            <a:rect r="r" b="b" t="t" l="l"/>
            <a:pathLst>
              <a:path h="2719835" w="3764058">
                <a:moveTo>
                  <a:pt x="0" y="0"/>
                </a:moveTo>
                <a:lnTo>
                  <a:pt x="3764057" y="0"/>
                </a:lnTo>
                <a:lnTo>
                  <a:pt x="3764057" y="2719835"/>
                </a:lnTo>
                <a:lnTo>
                  <a:pt x="0" y="2719835"/>
                </a:lnTo>
                <a:lnTo>
                  <a:pt x="0" y="0"/>
                </a:lnTo>
                <a:close/>
              </a:path>
            </a:pathLst>
          </a:custGeom>
          <a:blipFill>
            <a:blip r:embed="rId6"/>
            <a:stretch>
              <a:fillRect l="0" t="0" r="0" b="0"/>
            </a:stretch>
          </a:blipFill>
        </p:spPr>
      </p:sp>
      <p:sp>
        <p:nvSpPr>
          <p:cNvPr name="TextBox 10" id="10"/>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IDEMPOTENCIA</a:t>
            </a:r>
          </a:p>
        </p:txBody>
      </p:sp>
      <p:sp>
        <p:nvSpPr>
          <p:cNvPr name="TextBox 11" id="11"/>
          <p:cNvSpPr txBox="true"/>
          <p:nvPr/>
        </p:nvSpPr>
        <p:spPr>
          <a:xfrm rot="0">
            <a:off x="3110958" y="6661427"/>
            <a:ext cx="5186951" cy="3115562"/>
          </a:xfrm>
          <a:prstGeom prst="rect">
            <a:avLst/>
          </a:prstGeom>
        </p:spPr>
        <p:txBody>
          <a:bodyPr anchor="t" rtlCol="false" tIns="0" lIns="0" bIns="0" rIns="0">
            <a:spAutoFit/>
          </a:bodyPr>
          <a:lstStyle/>
          <a:p>
            <a:pPr algn="ctr">
              <a:lnSpc>
                <a:spcPts val="3101"/>
              </a:lnSpc>
              <a:spcBef>
                <a:spcPct val="0"/>
              </a:spcBef>
            </a:pPr>
            <a:r>
              <a:rPr lang="en-US" b="true" sz="2215">
                <a:solidFill>
                  <a:srgbClr val="FFFFFF"/>
                </a:solidFill>
                <a:latin typeface="HK Modular"/>
                <a:ea typeface="HK Modular"/>
                <a:cs typeface="HK Modular"/>
                <a:sym typeface="HK Modular"/>
              </a:rPr>
              <a:t>ESTE COMPORTAMIENTO NO SE PRODUCE POR «ARTE DE MAGIA» POR EL SIMPLE HECHO DE UTILIZAR UN VERBO IDEMPOTENTE. ES NECESARIO IMPLEMENTAR LA IDEMPOTENCIA EN NUESTRO SERVICIO.</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RECURSOS - URL</a:t>
            </a:r>
          </a:p>
        </p:txBody>
      </p:sp>
      <p:sp>
        <p:nvSpPr>
          <p:cNvPr name="TextBox 7" id="7"/>
          <p:cNvSpPr txBox="true"/>
          <p:nvPr/>
        </p:nvSpPr>
        <p:spPr>
          <a:xfrm rot="0">
            <a:off x="1784707" y="5416878"/>
            <a:ext cx="6409670" cy="472784"/>
          </a:xfrm>
          <a:prstGeom prst="rect">
            <a:avLst/>
          </a:prstGeom>
        </p:spPr>
        <p:txBody>
          <a:bodyPr anchor="t" rtlCol="false" tIns="0" lIns="0" bIns="0" rIns="0">
            <a:spAutoFit/>
          </a:bodyPr>
          <a:lstStyle/>
          <a:p>
            <a:pPr algn="ctr">
              <a:lnSpc>
                <a:spcPts val="3712"/>
              </a:lnSpc>
              <a:spcBef>
                <a:spcPct val="0"/>
              </a:spcBef>
            </a:pPr>
            <a:r>
              <a:rPr lang="en-US" b="true" sz="2651">
                <a:solidFill>
                  <a:srgbClr val="FFFFFF"/>
                </a:solidFill>
                <a:latin typeface="Poppins Bold"/>
                <a:ea typeface="Poppins Bold"/>
                <a:cs typeface="Poppins Bold"/>
                <a:sym typeface="Poppins Bold"/>
              </a:rPr>
              <a:t>/clients</a:t>
            </a:r>
          </a:p>
        </p:txBody>
      </p:sp>
      <p:sp>
        <p:nvSpPr>
          <p:cNvPr name="TextBox 8" id="8"/>
          <p:cNvSpPr txBox="true"/>
          <p:nvPr/>
        </p:nvSpPr>
        <p:spPr>
          <a:xfrm rot="0">
            <a:off x="3285009" y="3187934"/>
            <a:ext cx="11297831"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Su funcion es identificar las cosas en las que se desea operar</a:t>
            </a:r>
          </a:p>
        </p:txBody>
      </p:sp>
      <p:sp>
        <p:nvSpPr>
          <p:cNvPr name="TextBox 9" id="9"/>
          <p:cNvSpPr txBox="true"/>
          <p:nvPr/>
        </p:nvSpPr>
        <p:spPr>
          <a:xfrm rot="0">
            <a:off x="3285009" y="3687439"/>
            <a:ext cx="11297831" cy="748364"/>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Cada URL identifica un recurso, son las mismas URL que se asignan a las paginas web. De hecho, una pagina es un tipo de recurso</a:t>
            </a:r>
          </a:p>
        </p:txBody>
      </p:sp>
      <p:sp>
        <p:nvSpPr>
          <p:cNvPr name="TextBox 10" id="10"/>
          <p:cNvSpPr txBox="true"/>
          <p:nvPr/>
        </p:nvSpPr>
        <p:spPr>
          <a:xfrm rot="0">
            <a:off x="11350856" y="5513873"/>
            <a:ext cx="4450383"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identifica a todos los clientes</a:t>
            </a:r>
          </a:p>
        </p:txBody>
      </p:sp>
      <p:sp>
        <p:nvSpPr>
          <p:cNvPr name="TextBox 11" id="11"/>
          <p:cNvSpPr txBox="true"/>
          <p:nvPr/>
        </p:nvSpPr>
        <p:spPr>
          <a:xfrm rot="0">
            <a:off x="1784707" y="6452820"/>
            <a:ext cx="6409670" cy="472784"/>
          </a:xfrm>
          <a:prstGeom prst="rect">
            <a:avLst/>
          </a:prstGeom>
        </p:spPr>
        <p:txBody>
          <a:bodyPr anchor="t" rtlCol="false" tIns="0" lIns="0" bIns="0" rIns="0">
            <a:spAutoFit/>
          </a:bodyPr>
          <a:lstStyle/>
          <a:p>
            <a:pPr algn="ctr">
              <a:lnSpc>
                <a:spcPts val="3712"/>
              </a:lnSpc>
              <a:spcBef>
                <a:spcPct val="0"/>
              </a:spcBef>
            </a:pPr>
            <a:r>
              <a:rPr lang="en-US" b="true" sz="2651">
                <a:solidFill>
                  <a:srgbClr val="FFFFFF"/>
                </a:solidFill>
                <a:latin typeface="Poppins Bold"/>
                <a:ea typeface="Poppins Bold"/>
                <a:cs typeface="Poppins Bold"/>
                <a:sym typeface="Poppins Bold"/>
              </a:rPr>
              <a:t>/clients/jim</a:t>
            </a:r>
          </a:p>
        </p:txBody>
      </p:sp>
      <p:sp>
        <p:nvSpPr>
          <p:cNvPr name="TextBox 12" id="12"/>
          <p:cNvSpPr txBox="true"/>
          <p:nvPr/>
        </p:nvSpPr>
        <p:spPr>
          <a:xfrm rot="0">
            <a:off x="11350856" y="6471870"/>
            <a:ext cx="4450383"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identifica al cliente llamado JIM</a:t>
            </a:r>
          </a:p>
        </p:txBody>
      </p:sp>
      <p:sp>
        <p:nvSpPr>
          <p:cNvPr name="TextBox 13" id="13"/>
          <p:cNvSpPr txBox="true"/>
          <p:nvPr/>
        </p:nvSpPr>
        <p:spPr>
          <a:xfrm rot="0">
            <a:off x="3495084" y="7743087"/>
            <a:ext cx="11297831" cy="1120938"/>
          </a:xfrm>
          <a:prstGeom prst="rect">
            <a:avLst/>
          </a:prstGeom>
        </p:spPr>
        <p:txBody>
          <a:bodyPr anchor="t" rtlCol="false" tIns="0" lIns="0" bIns="0" rIns="0">
            <a:spAutoFit/>
          </a:bodyPr>
          <a:lstStyle/>
          <a:p>
            <a:pPr algn="ctr">
              <a:lnSpc>
                <a:spcPts val="2972"/>
              </a:lnSpc>
            </a:pPr>
            <a:r>
              <a:rPr lang="en-US" sz="2123">
                <a:solidFill>
                  <a:srgbClr val="FFFFFF"/>
                </a:solidFill>
                <a:latin typeface="Poppins"/>
                <a:ea typeface="Poppins"/>
                <a:cs typeface="Poppins"/>
                <a:sym typeface="Poppins"/>
              </a:rPr>
              <a:t>El host aunque es importante para identificar el recurso como unico en toda la web, lo antes mencionado son los PATH o la ruta de recursos</a:t>
            </a:r>
          </a:p>
          <a:p>
            <a:pPr algn="ctr">
              <a:lnSpc>
                <a:spcPts val="2972"/>
              </a:lnSpc>
              <a:spcBef>
                <a:spcPct val="0"/>
              </a:spcBef>
            </a:pPr>
          </a:p>
        </p:txBody>
      </p:sp>
      <p:sp>
        <p:nvSpPr>
          <p:cNvPr name="TextBox 14" id="14"/>
          <p:cNvSpPr txBox="true"/>
          <p:nvPr/>
        </p:nvSpPr>
        <p:spPr>
          <a:xfrm rot="0">
            <a:off x="3495084" y="8806875"/>
            <a:ext cx="11297831" cy="748364"/>
          </a:xfrm>
          <a:prstGeom prst="rect">
            <a:avLst/>
          </a:prstGeom>
        </p:spPr>
        <p:txBody>
          <a:bodyPr anchor="t" rtlCol="false" tIns="0" lIns="0" bIns="0" rIns="0">
            <a:spAutoFit/>
          </a:bodyPr>
          <a:lstStyle/>
          <a:p>
            <a:pPr algn="ctr">
              <a:lnSpc>
                <a:spcPts val="2972"/>
              </a:lnSpc>
            </a:pPr>
            <a:r>
              <a:rPr lang="en-US" sz="2123">
                <a:solidFill>
                  <a:srgbClr val="FFFFFF"/>
                </a:solidFill>
                <a:latin typeface="Poppins"/>
                <a:ea typeface="Poppins"/>
                <a:cs typeface="Poppins"/>
                <a:sym typeface="Poppins"/>
              </a:rPr>
              <a:t>los recursos se consideran mejor como sustantivos</a:t>
            </a:r>
          </a:p>
          <a:p>
            <a:pPr algn="ctr">
              <a:lnSpc>
                <a:spcPts val="2972"/>
              </a:lnSpc>
              <a:spcBef>
                <a:spcPct val="0"/>
              </a:spcBef>
            </a:pPr>
          </a:p>
        </p:txBody>
      </p:sp>
      <p:sp>
        <p:nvSpPr>
          <p:cNvPr name="AutoShape 15" id="15"/>
          <p:cNvSpPr/>
          <p:nvPr/>
        </p:nvSpPr>
        <p:spPr>
          <a:xfrm>
            <a:off x="6099687" y="5730343"/>
            <a:ext cx="5350815" cy="0"/>
          </a:xfrm>
          <a:prstGeom prst="line">
            <a:avLst/>
          </a:prstGeom>
          <a:ln cap="flat" w="38100">
            <a:solidFill>
              <a:srgbClr val="99C5FF"/>
            </a:solidFill>
            <a:prstDash val="solid"/>
            <a:headEnd type="none" len="sm" w="sm"/>
            <a:tailEnd type="triangle" len="med" w="lg"/>
          </a:ln>
        </p:spPr>
      </p:sp>
      <p:sp>
        <p:nvSpPr>
          <p:cNvPr name="AutoShape 16" id="16"/>
          <p:cNvSpPr/>
          <p:nvPr/>
        </p:nvSpPr>
        <p:spPr>
          <a:xfrm>
            <a:off x="6273239" y="6688340"/>
            <a:ext cx="4861525" cy="17687"/>
          </a:xfrm>
          <a:prstGeom prst="line">
            <a:avLst/>
          </a:prstGeom>
          <a:ln cap="flat" w="38100">
            <a:solidFill>
              <a:srgbClr val="99C5FF"/>
            </a:solidFill>
            <a:prstDash val="solid"/>
            <a:headEnd type="none" len="sm" w="sm"/>
            <a:tailEnd type="triangle" len="med" w="lg"/>
          </a:ln>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387099" y="4277204"/>
            <a:ext cx="9513803" cy="1038380"/>
          </a:xfrm>
          <a:custGeom>
            <a:avLst/>
            <a:gdLst/>
            <a:ahLst/>
            <a:cxnLst/>
            <a:rect r="r" b="b" t="t" l="l"/>
            <a:pathLst>
              <a:path h="1038380" w="9513803">
                <a:moveTo>
                  <a:pt x="0" y="0"/>
                </a:moveTo>
                <a:lnTo>
                  <a:pt x="9513802" y="0"/>
                </a:lnTo>
                <a:lnTo>
                  <a:pt x="9513802" y="1038380"/>
                </a:lnTo>
                <a:lnTo>
                  <a:pt x="0" y="1038380"/>
                </a:lnTo>
                <a:lnTo>
                  <a:pt x="0" y="0"/>
                </a:lnTo>
                <a:close/>
              </a:path>
            </a:pathLst>
          </a:custGeom>
          <a:blipFill>
            <a:blip r:embed="rId3"/>
            <a:stretch>
              <a:fillRect l="0" t="0" r="0" b="0"/>
            </a:stretch>
          </a:blipFill>
        </p:spPr>
      </p:sp>
      <p:sp>
        <p:nvSpPr>
          <p:cNvPr name="TextBox 7" id="7"/>
          <p:cNvSpPr txBox="true"/>
          <p:nvPr/>
        </p:nvSpPr>
        <p:spPr>
          <a:xfrm rot="0">
            <a:off x="2851734"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PATH REQUEST</a:t>
            </a:r>
          </a:p>
        </p:txBody>
      </p:sp>
      <p:sp>
        <p:nvSpPr>
          <p:cNvPr name="TextBox 8" id="8"/>
          <p:cNvSpPr txBox="true"/>
          <p:nvPr/>
        </p:nvSpPr>
        <p:spPr>
          <a:xfrm rot="0">
            <a:off x="3495084" y="8137362"/>
            <a:ext cx="11297831" cy="1120938"/>
          </a:xfrm>
          <a:prstGeom prst="rect">
            <a:avLst/>
          </a:prstGeom>
        </p:spPr>
        <p:txBody>
          <a:bodyPr anchor="t" rtlCol="false" tIns="0" lIns="0" bIns="0" rIns="0">
            <a:spAutoFit/>
          </a:bodyPr>
          <a:lstStyle/>
          <a:p>
            <a:pPr algn="ctr">
              <a:lnSpc>
                <a:spcPts val="2972"/>
              </a:lnSpc>
            </a:pPr>
            <a:r>
              <a:rPr lang="en-US" sz="2123">
                <a:solidFill>
                  <a:srgbClr val="FFFFFF"/>
                </a:solidFill>
                <a:latin typeface="Poppins"/>
                <a:ea typeface="Poppins"/>
                <a:cs typeface="Poppins"/>
                <a:sym typeface="Poppins"/>
              </a:rPr>
              <a:t>Es la parte de la URL o ENDPOINT que define el recurso al que se quiere acceder o manipular</a:t>
            </a:r>
          </a:p>
          <a:p>
            <a:pPr algn="ctr">
              <a:lnSpc>
                <a:spcPts val="2972"/>
              </a:lnSpc>
              <a:spcBef>
                <a:spcPct val="0"/>
              </a:spcBef>
            </a:pPr>
          </a:p>
        </p:txBody>
      </p:sp>
      <p:sp>
        <p:nvSpPr>
          <p:cNvPr name="TextBox 9" id="9"/>
          <p:cNvSpPr txBox="true"/>
          <p:nvPr/>
        </p:nvSpPr>
        <p:spPr>
          <a:xfrm rot="0">
            <a:off x="5572343" y="6176177"/>
            <a:ext cx="3345394" cy="673768"/>
          </a:xfrm>
          <a:prstGeom prst="rect">
            <a:avLst/>
          </a:prstGeom>
        </p:spPr>
        <p:txBody>
          <a:bodyPr anchor="t" rtlCol="false" tIns="0" lIns="0" bIns="0" rIns="0">
            <a:spAutoFit/>
          </a:bodyPr>
          <a:lstStyle/>
          <a:p>
            <a:pPr algn="ctr">
              <a:lnSpc>
                <a:spcPts val="2692"/>
              </a:lnSpc>
            </a:pPr>
            <a:r>
              <a:rPr lang="en-US" sz="1923">
                <a:solidFill>
                  <a:srgbClr val="FFFFFF"/>
                </a:solidFill>
                <a:latin typeface="Poppins"/>
                <a:ea typeface="Poppins"/>
                <a:cs typeface="Poppins"/>
                <a:sym typeface="Poppins"/>
              </a:rPr>
              <a:t>DOMINIO o base de la API</a:t>
            </a:r>
          </a:p>
          <a:p>
            <a:pPr algn="ctr">
              <a:lnSpc>
                <a:spcPts val="2692"/>
              </a:lnSpc>
              <a:spcBef>
                <a:spcPct val="0"/>
              </a:spcBef>
            </a:pPr>
          </a:p>
        </p:txBody>
      </p:sp>
      <p:sp>
        <p:nvSpPr>
          <p:cNvPr name="TextBox 10" id="10"/>
          <p:cNvSpPr txBox="true"/>
          <p:nvPr/>
        </p:nvSpPr>
        <p:spPr>
          <a:xfrm rot="0">
            <a:off x="11447521" y="6176177"/>
            <a:ext cx="3345394" cy="673768"/>
          </a:xfrm>
          <a:prstGeom prst="rect">
            <a:avLst/>
          </a:prstGeom>
        </p:spPr>
        <p:txBody>
          <a:bodyPr anchor="t" rtlCol="false" tIns="0" lIns="0" bIns="0" rIns="0">
            <a:spAutoFit/>
          </a:bodyPr>
          <a:lstStyle/>
          <a:p>
            <a:pPr algn="ctr">
              <a:lnSpc>
                <a:spcPts val="2692"/>
              </a:lnSpc>
            </a:pPr>
            <a:r>
              <a:rPr lang="en-US" sz="1923">
                <a:solidFill>
                  <a:srgbClr val="FFFFFF"/>
                </a:solidFill>
                <a:latin typeface="Poppins"/>
                <a:ea typeface="Poppins"/>
                <a:cs typeface="Poppins"/>
                <a:sym typeface="Poppins"/>
              </a:rPr>
              <a:t>path que indica el acceso</a:t>
            </a:r>
          </a:p>
          <a:p>
            <a:pPr algn="ctr">
              <a:lnSpc>
                <a:spcPts val="2692"/>
              </a:lnSpc>
              <a:spcBef>
                <a:spcPct val="0"/>
              </a:spcBef>
            </a:pPr>
          </a:p>
        </p:txBody>
      </p:sp>
      <p:sp>
        <p:nvSpPr>
          <p:cNvPr name="TextBox 11" id="11"/>
          <p:cNvSpPr txBox="true"/>
          <p:nvPr/>
        </p:nvSpPr>
        <p:spPr>
          <a:xfrm rot="0">
            <a:off x="1028700" y="6176177"/>
            <a:ext cx="3345394" cy="673768"/>
          </a:xfrm>
          <a:prstGeom prst="rect">
            <a:avLst/>
          </a:prstGeom>
        </p:spPr>
        <p:txBody>
          <a:bodyPr anchor="t" rtlCol="false" tIns="0" lIns="0" bIns="0" rIns="0">
            <a:spAutoFit/>
          </a:bodyPr>
          <a:lstStyle/>
          <a:p>
            <a:pPr algn="ctr">
              <a:lnSpc>
                <a:spcPts val="2692"/>
              </a:lnSpc>
            </a:pPr>
            <a:r>
              <a:rPr lang="en-US" sz="1923">
                <a:solidFill>
                  <a:srgbClr val="FFFFFF"/>
                </a:solidFill>
                <a:latin typeface="Poppins"/>
                <a:ea typeface="Poppins"/>
                <a:cs typeface="Poppins"/>
                <a:sym typeface="Poppins"/>
              </a:rPr>
              <a:t>Metodo HTTP</a:t>
            </a:r>
          </a:p>
          <a:p>
            <a:pPr algn="ctr">
              <a:lnSpc>
                <a:spcPts val="2692"/>
              </a:lnSpc>
              <a:spcBef>
                <a:spcPct val="0"/>
              </a:spcBef>
            </a:pPr>
          </a:p>
        </p:txBody>
      </p:sp>
      <p:sp>
        <p:nvSpPr>
          <p:cNvPr name="AutoShape 12" id="12"/>
          <p:cNvSpPr/>
          <p:nvPr/>
        </p:nvSpPr>
        <p:spPr>
          <a:xfrm flipV="true">
            <a:off x="2701397" y="4943251"/>
            <a:ext cx="1872407" cy="1081035"/>
          </a:xfrm>
          <a:prstGeom prst="line">
            <a:avLst/>
          </a:prstGeom>
          <a:ln cap="flat" w="38100">
            <a:solidFill>
              <a:srgbClr val="99C5FF"/>
            </a:solidFill>
            <a:prstDash val="solid"/>
            <a:headEnd type="none" len="sm" w="sm"/>
            <a:tailEnd type="triangle" len="med" w="lg"/>
          </a:ln>
        </p:spPr>
      </p:sp>
      <p:sp>
        <p:nvSpPr>
          <p:cNvPr name="AutoShape 13" id="13"/>
          <p:cNvSpPr/>
          <p:nvPr/>
        </p:nvSpPr>
        <p:spPr>
          <a:xfrm flipV="true">
            <a:off x="6809676" y="5143500"/>
            <a:ext cx="2652669" cy="880786"/>
          </a:xfrm>
          <a:prstGeom prst="line">
            <a:avLst/>
          </a:prstGeom>
          <a:ln cap="flat" w="38100">
            <a:solidFill>
              <a:srgbClr val="99C5FF"/>
            </a:solidFill>
            <a:prstDash val="solid"/>
            <a:headEnd type="none" len="sm" w="sm"/>
            <a:tailEnd type="triangle" len="med" w="lg"/>
          </a:ln>
        </p:spPr>
      </p:sp>
      <p:sp>
        <p:nvSpPr>
          <p:cNvPr name="AutoShape 14" id="14"/>
          <p:cNvSpPr/>
          <p:nvPr/>
        </p:nvSpPr>
        <p:spPr>
          <a:xfrm flipH="true" flipV="true">
            <a:off x="11955195" y="5143500"/>
            <a:ext cx="1165023" cy="1080302"/>
          </a:xfrm>
          <a:prstGeom prst="line">
            <a:avLst/>
          </a:prstGeom>
          <a:ln cap="flat" w="38100">
            <a:solidFill>
              <a:srgbClr val="99C5FF"/>
            </a:solidFill>
            <a:prstDash val="solid"/>
            <a:headEnd type="none" len="sm" w="sm"/>
            <a:tailEnd type="triangle" len="med" w="lg"/>
          </a:ln>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BUENAS PRACTICAS</a:t>
            </a:r>
          </a:p>
        </p:txBody>
      </p:sp>
      <p:sp>
        <p:nvSpPr>
          <p:cNvPr name="TextBox 7" id="7"/>
          <p:cNvSpPr txBox="true"/>
          <p:nvPr/>
        </p:nvSpPr>
        <p:spPr>
          <a:xfrm rot="0">
            <a:off x="3285009" y="3687439"/>
            <a:ext cx="11297831"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Usar sustantivos en plural para recursos</a:t>
            </a:r>
          </a:p>
        </p:txBody>
      </p:sp>
      <p:sp>
        <p:nvSpPr>
          <p:cNvPr name="TextBox 8" id="8"/>
          <p:cNvSpPr txBox="true"/>
          <p:nvPr/>
        </p:nvSpPr>
        <p:spPr>
          <a:xfrm rot="0">
            <a:off x="3285009" y="5917628"/>
            <a:ext cx="11297831" cy="748364"/>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Usar jerarquias de logica en paths: Relacion padre - hijo es decir un recurso dentro de otro</a:t>
            </a:r>
          </a:p>
        </p:txBody>
      </p:sp>
      <p:sp>
        <p:nvSpPr>
          <p:cNvPr name="TextBox 9" id="9"/>
          <p:cNvSpPr txBox="true"/>
          <p:nvPr/>
        </p:nvSpPr>
        <p:spPr>
          <a:xfrm rot="0">
            <a:off x="3285009" y="7857735"/>
            <a:ext cx="11297831"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Mantener constancia en nombres: No mezclar singular/plural</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346032" y="4363759"/>
            <a:ext cx="5175785" cy="1107482"/>
          </a:xfrm>
          <a:custGeom>
            <a:avLst/>
            <a:gdLst/>
            <a:ahLst/>
            <a:cxnLst/>
            <a:rect r="r" b="b" t="t" l="l"/>
            <a:pathLst>
              <a:path h="1107482" w="5175785">
                <a:moveTo>
                  <a:pt x="0" y="0"/>
                </a:moveTo>
                <a:lnTo>
                  <a:pt x="5175785" y="0"/>
                </a:lnTo>
                <a:lnTo>
                  <a:pt x="5175785" y="1107482"/>
                </a:lnTo>
                <a:lnTo>
                  <a:pt x="0" y="1107482"/>
                </a:lnTo>
                <a:lnTo>
                  <a:pt x="0" y="0"/>
                </a:lnTo>
                <a:close/>
              </a:path>
            </a:pathLst>
          </a:custGeom>
          <a:blipFill>
            <a:blip r:embed="rId3"/>
            <a:stretch>
              <a:fillRect l="0" t="0" r="0" b="0"/>
            </a:stretch>
          </a:blipFill>
        </p:spPr>
      </p:sp>
      <p:sp>
        <p:nvSpPr>
          <p:cNvPr name="Freeform 7" id="7"/>
          <p:cNvSpPr/>
          <p:nvPr/>
        </p:nvSpPr>
        <p:spPr>
          <a:xfrm flipH="false" flipV="false" rot="0">
            <a:off x="6851691" y="6897564"/>
            <a:ext cx="4164467" cy="785749"/>
          </a:xfrm>
          <a:custGeom>
            <a:avLst/>
            <a:gdLst/>
            <a:ahLst/>
            <a:cxnLst/>
            <a:rect r="r" b="b" t="t" l="l"/>
            <a:pathLst>
              <a:path h="785749" w="4164467">
                <a:moveTo>
                  <a:pt x="0" y="0"/>
                </a:moveTo>
                <a:lnTo>
                  <a:pt x="4164467" y="0"/>
                </a:lnTo>
                <a:lnTo>
                  <a:pt x="4164467" y="785749"/>
                </a:lnTo>
                <a:lnTo>
                  <a:pt x="0" y="785749"/>
                </a:lnTo>
                <a:lnTo>
                  <a:pt x="0" y="0"/>
                </a:lnTo>
                <a:close/>
              </a:path>
            </a:pathLst>
          </a:custGeom>
          <a:blipFill>
            <a:blip r:embed="rId4"/>
            <a:stretch>
              <a:fillRect l="0" t="0" r="0" b="0"/>
            </a:stretch>
          </a:blipFill>
        </p:spPr>
      </p:sp>
      <p:sp>
        <p:nvSpPr>
          <p:cNvPr name="Freeform 8" id="8"/>
          <p:cNvSpPr/>
          <p:nvPr/>
        </p:nvSpPr>
        <p:spPr>
          <a:xfrm flipH="false" flipV="false" rot="0">
            <a:off x="6633396" y="8932474"/>
            <a:ext cx="4601058" cy="651652"/>
          </a:xfrm>
          <a:custGeom>
            <a:avLst/>
            <a:gdLst/>
            <a:ahLst/>
            <a:cxnLst/>
            <a:rect r="r" b="b" t="t" l="l"/>
            <a:pathLst>
              <a:path h="651652" w="4601058">
                <a:moveTo>
                  <a:pt x="0" y="0"/>
                </a:moveTo>
                <a:lnTo>
                  <a:pt x="4601058" y="0"/>
                </a:lnTo>
                <a:lnTo>
                  <a:pt x="4601058" y="651652"/>
                </a:lnTo>
                <a:lnTo>
                  <a:pt x="0" y="651652"/>
                </a:lnTo>
                <a:lnTo>
                  <a:pt x="0" y="0"/>
                </a:lnTo>
                <a:close/>
              </a:path>
            </a:pathLst>
          </a:custGeom>
          <a:blipFill>
            <a:blip r:embed="rId5"/>
            <a:stretch>
              <a:fillRect l="0" t="0" r="0" b="0"/>
            </a:stretch>
          </a:blipFill>
        </p:spPr>
      </p:sp>
      <p:sp>
        <p:nvSpPr>
          <p:cNvPr name="TextBox 9" id="9"/>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BUENAS PRACTICAS</a:t>
            </a:r>
          </a:p>
        </p:txBody>
      </p:sp>
      <p:sp>
        <p:nvSpPr>
          <p:cNvPr name="TextBox 10" id="10"/>
          <p:cNvSpPr txBox="true"/>
          <p:nvPr/>
        </p:nvSpPr>
        <p:spPr>
          <a:xfrm rot="0">
            <a:off x="3285009" y="3687439"/>
            <a:ext cx="11297831"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Usar sustantivos en plural para recursos</a:t>
            </a:r>
          </a:p>
        </p:txBody>
      </p:sp>
      <p:sp>
        <p:nvSpPr>
          <p:cNvPr name="TextBox 11" id="11"/>
          <p:cNvSpPr txBox="true"/>
          <p:nvPr/>
        </p:nvSpPr>
        <p:spPr>
          <a:xfrm rot="0">
            <a:off x="3285009" y="5917628"/>
            <a:ext cx="11297831" cy="748364"/>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Usar jerarquias de logica en paths: Relacion padre - hijo es decir un recurso dentro de otro</a:t>
            </a:r>
          </a:p>
        </p:txBody>
      </p:sp>
      <p:sp>
        <p:nvSpPr>
          <p:cNvPr name="TextBox 12" id="12"/>
          <p:cNvSpPr txBox="true"/>
          <p:nvPr/>
        </p:nvSpPr>
        <p:spPr>
          <a:xfrm rot="0">
            <a:off x="3285009" y="7857735"/>
            <a:ext cx="11297831" cy="748364"/>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Mantener constancia en nombres: No mezclar singular/plural y no mezclar snake case con kebab case</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200238" y="4298474"/>
            <a:ext cx="9853091" cy="1216725"/>
          </a:xfrm>
          <a:custGeom>
            <a:avLst/>
            <a:gdLst/>
            <a:ahLst/>
            <a:cxnLst/>
            <a:rect r="r" b="b" t="t" l="l"/>
            <a:pathLst>
              <a:path h="1216725" w="9853091">
                <a:moveTo>
                  <a:pt x="0" y="0"/>
                </a:moveTo>
                <a:lnTo>
                  <a:pt x="9853091" y="0"/>
                </a:lnTo>
                <a:lnTo>
                  <a:pt x="9853091" y="1216726"/>
                </a:lnTo>
                <a:lnTo>
                  <a:pt x="0" y="1216726"/>
                </a:lnTo>
                <a:lnTo>
                  <a:pt x="0" y="0"/>
                </a:lnTo>
                <a:close/>
              </a:path>
            </a:pathLst>
          </a:custGeom>
          <a:blipFill>
            <a:blip r:embed="rId3"/>
            <a:stretch>
              <a:fillRect l="0" t="0" r="0" b="0"/>
            </a:stretch>
          </a:blipFill>
        </p:spPr>
      </p:sp>
      <p:sp>
        <p:nvSpPr>
          <p:cNvPr name="Freeform 7" id="7"/>
          <p:cNvSpPr/>
          <p:nvPr/>
        </p:nvSpPr>
        <p:spPr>
          <a:xfrm flipH="false" flipV="false" rot="0">
            <a:off x="4000757" y="6609019"/>
            <a:ext cx="2798580" cy="973419"/>
          </a:xfrm>
          <a:custGeom>
            <a:avLst/>
            <a:gdLst/>
            <a:ahLst/>
            <a:cxnLst/>
            <a:rect r="r" b="b" t="t" l="l"/>
            <a:pathLst>
              <a:path h="973419" w="2798580">
                <a:moveTo>
                  <a:pt x="0" y="0"/>
                </a:moveTo>
                <a:lnTo>
                  <a:pt x="2798580" y="0"/>
                </a:lnTo>
                <a:lnTo>
                  <a:pt x="2798580" y="973419"/>
                </a:lnTo>
                <a:lnTo>
                  <a:pt x="0" y="973419"/>
                </a:lnTo>
                <a:lnTo>
                  <a:pt x="0" y="0"/>
                </a:lnTo>
                <a:close/>
              </a:path>
            </a:pathLst>
          </a:custGeom>
          <a:blipFill>
            <a:blip r:embed="rId4"/>
            <a:stretch>
              <a:fillRect l="0" t="0" r="0" b="0"/>
            </a:stretch>
          </a:blipFill>
        </p:spPr>
      </p:sp>
      <p:sp>
        <p:nvSpPr>
          <p:cNvPr name="Freeform 8" id="8"/>
          <p:cNvSpPr/>
          <p:nvPr/>
        </p:nvSpPr>
        <p:spPr>
          <a:xfrm flipH="false" flipV="false" rot="0">
            <a:off x="8428251" y="6686496"/>
            <a:ext cx="7894237" cy="818466"/>
          </a:xfrm>
          <a:custGeom>
            <a:avLst/>
            <a:gdLst/>
            <a:ahLst/>
            <a:cxnLst/>
            <a:rect r="r" b="b" t="t" l="l"/>
            <a:pathLst>
              <a:path h="818466" w="7894237">
                <a:moveTo>
                  <a:pt x="0" y="0"/>
                </a:moveTo>
                <a:lnTo>
                  <a:pt x="7894237" y="0"/>
                </a:lnTo>
                <a:lnTo>
                  <a:pt x="7894237" y="818466"/>
                </a:lnTo>
                <a:lnTo>
                  <a:pt x="0" y="818466"/>
                </a:lnTo>
                <a:lnTo>
                  <a:pt x="0" y="0"/>
                </a:lnTo>
                <a:close/>
              </a:path>
            </a:pathLst>
          </a:custGeom>
          <a:blipFill>
            <a:blip r:embed="rId5"/>
            <a:stretch>
              <a:fillRect l="0" t="0" r="0" b="0"/>
            </a:stretch>
          </a:blipFill>
        </p:spPr>
      </p:sp>
      <p:sp>
        <p:nvSpPr>
          <p:cNvPr name="TextBox 9" id="9"/>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BUENAS PRACTICAS</a:t>
            </a:r>
          </a:p>
        </p:txBody>
      </p:sp>
      <p:sp>
        <p:nvSpPr>
          <p:cNvPr name="TextBox 10" id="10"/>
          <p:cNvSpPr txBox="true"/>
          <p:nvPr/>
        </p:nvSpPr>
        <p:spPr>
          <a:xfrm rot="0">
            <a:off x="3285009" y="3687439"/>
            <a:ext cx="11297831"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Evitar profundidad innecesaria</a:t>
            </a:r>
          </a:p>
        </p:txBody>
      </p:sp>
      <p:sp>
        <p:nvSpPr>
          <p:cNvPr name="TextBox 11" id="11"/>
          <p:cNvSpPr txBox="true"/>
          <p:nvPr/>
        </p:nvSpPr>
        <p:spPr>
          <a:xfrm rot="0">
            <a:off x="3285009" y="5917628"/>
            <a:ext cx="11297831"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Usar query params para filtros, busquedas o paginacion no para identificar</a:t>
            </a:r>
          </a:p>
        </p:txBody>
      </p:sp>
      <p:sp>
        <p:nvSpPr>
          <p:cNvPr name="TextBox 12" id="12"/>
          <p:cNvSpPr txBox="true"/>
          <p:nvPr/>
        </p:nvSpPr>
        <p:spPr>
          <a:xfrm rot="0">
            <a:off x="3285009" y="7857735"/>
            <a:ext cx="11297831" cy="748364"/>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Mantener los paths predecibles: Si existe /users/{userId} deberia existir /users y /users/{userId}/additional-data</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680588" y="4157423"/>
            <a:ext cx="3574425" cy="5686586"/>
          </a:xfrm>
          <a:custGeom>
            <a:avLst/>
            <a:gdLst/>
            <a:ahLst/>
            <a:cxnLst/>
            <a:rect r="r" b="b" t="t" l="l"/>
            <a:pathLst>
              <a:path h="5686586" w="3574425">
                <a:moveTo>
                  <a:pt x="0" y="0"/>
                </a:moveTo>
                <a:lnTo>
                  <a:pt x="3574425" y="0"/>
                </a:lnTo>
                <a:lnTo>
                  <a:pt x="3574425" y="5686586"/>
                </a:lnTo>
                <a:lnTo>
                  <a:pt x="0" y="5686586"/>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DATOS DE ENTRADA DE APIS</a:t>
            </a:r>
          </a:p>
        </p:txBody>
      </p:sp>
      <p:sp>
        <p:nvSpPr>
          <p:cNvPr name="TextBox 8" id="8"/>
          <p:cNvSpPr txBox="true"/>
          <p:nvPr/>
        </p:nvSpPr>
        <p:spPr>
          <a:xfrm rot="0">
            <a:off x="1830078" y="3476047"/>
            <a:ext cx="14593412" cy="3746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Un request (solicitud) es el mensaje que envía el cliente hacia el servidor para pedir o manipular un recurso.</a:t>
            </a:r>
          </a:p>
        </p:txBody>
      </p:sp>
      <p:sp>
        <p:nvSpPr>
          <p:cNvPr name="TextBox 9" id="9"/>
          <p:cNvSpPr txBox="true"/>
          <p:nvPr/>
        </p:nvSpPr>
        <p:spPr>
          <a:xfrm rot="0">
            <a:off x="1830078" y="5136612"/>
            <a:ext cx="6796786" cy="746165"/>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HEADERS: Metadatos que sirven para configurar las solicitudes</a:t>
            </a:r>
          </a:p>
        </p:txBody>
      </p:sp>
      <p:sp>
        <p:nvSpPr>
          <p:cNvPr name="TextBox 10" id="10"/>
          <p:cNvSpPr txBox="true"/>
          <p:nvPr/>
        </p:nvSpPr>
        <p:spPr>
          <a:xfrm rot="0">
            <a:off x="1830078" y="7168653"/>
            <a:ext cx="6796786" cy="3746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BODY (OPCIONAL): Datos enviados al servidor </a:t>
            </a:r>
          </a:p>
        </p:txBody>
      </p:sp>
      <p:sp>
        <p:nvSpPr>
          <p:cNvPr name="AutoShape 11" id="11"/>
          <p:cNvSpPr/>
          <p:nvPr/>
        </p:nvSpPr>
        <p:spPr>
          <a:xfrm flipV="true">
            <a:off x="8626864" y="4499551"/>
            <a:ext cx="3053724" cy="1038719"/>
          </a:xfrm>
          <a:prstGeom prst="line">
            <a:avLst/>
          </a:prstGeom>
          <a:ln cap="flat" w="38100">
            <a:solidFill>
              <a:srgbClr val="99C5FF"/>
            </a:solidFill>
            <a:prstDash val="solid"/>
            <a:headEnd type="none" len="sm" w="sm"/>
            <a:tailEnd type="triangle" len="med" w="lg"/>
          </a:ln>
        </p:spPr>
      </p:sp>
      <p:sp>
        <p:nvSpPr>
          <p:cNvPr name="AutoShape 12" id="12"/>
          <p:cNvSpPr/>
          <p:nvPr/>
        </p:nvSpPr>
        <p:spPr>
          <a:xfrm>
            <a:off x="8353270" y="7366538"/>
            <a:ext cx="3243056" cy="18035"/>
          </a:xfrm>
          <a:prstGeom prst="line">
            <a:avLst/>
          </a:prstGeom>
          <a:ln cap="flat" w="38100">
            <a:solidFill>
              <a:srgbClr val="99C5FF"/>
            </a:solidFill>
            <a:prstDash val="solid"/>
            <a:headEnd type="none" len="sm" w="sm"/>
            <a:tailEnd type="triangle" len="med" w="lg"/>
          </a:ln>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457943" y="4908048"/>
            <a:ext cx="6414686" cy="4223755"/>
          </a:xfrm>
          <a:custGeom>
            <a:avLst/>
            <a:gdLst/>
            <a:ahLst/>
            <a:cxnLst/>
            <a:rect r="r" b="b" t="t" l="l"/>
            <a:pathLst>
              <a:path h="4223755" w="6414686">
                <a:moveTo>
                  <a:pt x="0" y="0"/>
                </a:moveTo>
                <a:lnTo>
                  <a:pt x="6414687" y="0"/>
                </a:lnTo>
                <a:lnTo>
                  <a:pt x="6414687" y="4223754"/>
                </a:lnTo>
                <a:lnTo>
                  <a:pt x="0" y="4223754"/>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DATOS DE SALIDA DE APIS</a:t>
            </a:r>
          </a:p>
        </p:txBody>
      </p:sp>
      <p:sp>
        <p:nvSpPr>
          <p:cNvPr name="TextBox 8" id="8"/>
          <p:cNvSpPr txBox="true"/>
          <p:nvPr/>
        </p:nvSpPr>
        <p:spPr>
          <a:xfrm rot="0">
            <a:off x="1971603" y="3428714"/>
            <a:ext cx="14310360" cy="3746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Un response (respuesta) es el mensaje que devuelve el servidor al cliente después de procesar el request.</a:t>
            </a:r>
          </a:p>
        </p:txBody>
      </p:sp>
      <p:sp>
        <p:nvSpPr>
          <p:cNvPr name="TextBox 9" id="9"/>
          <p:cNvSpPr txBox="true"/>
          <p:nvPr/>
        </p:nvSpPr>
        <p:spPr>
          <a:xfrm rot="0">
            <a:off x="1830078" y="6962775"/>
            <a:ext cx="6796786" cy="3746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HEADERS: Informacion adicional</a:t>
            </a:r>
          </a:p>
        </p:txBody>
      </p:sp>
      <p:sp>
        <p:nvSpPr>
          <p:cNvPr name="TextBox 10" id="10"/>
          <p:cNvSpPr txBox="true"/>
          <p:nvPr/>
        </p:nvSpPr>
        <p:spPr>
          <a:xfrm rot="0">
            <a:off x="1830078" y="8304635"/>
            <a:ext cx="6796786" cy="746165"/>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BODY (OPCIONAL): Datos recibidos del servidor (JSON, XML, etc)</a:t>
            </a:r>
          </a:p>
        </p:txBody>
      </p:sp>
      <p:sp>
        <p:nvSpPr>
          <p:cNvPr name="TextBox 11" id="11"/>
          <p:cNvSpPr txBox="true"/>
          <p:nvPr/>
        </p:nvSpPr>
        <p:spPr>
          <a:xfrm rot="0">
            <a:off x="1830078" y="5336801"/>
            <a:ext cx="6796786" cy="3746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STATUS CODE: Codigo HTTP del resultado</a:t>
            </a:r>
          </a:p>
        </p:txBody>
      </p:sp>
      <p:sp>
        <p:nvSpPr>
          <p:cNvPr name="AutoShape 12" id="12"/>
          <p:cNvSpPr/>
          <p:nvPr/>
        </p:nvSpPr>
        <p:spPr>
          <a:xfrm flipV="true">
            <a:off x="8169315" y="5393951"/>
            <a:ext cx="2375290" cy="140735"/>
          </a:xfrm>
          <a:prstGeom prst="line">
            <a:avLst/>
          </a:prstGeom>
          <a:ln cap="flat" w="38100">
            <a:solidFill>
              <a:srgbClr val="99C5FF"/>
            </a:solidFill>
            <a:prstDash val="solid"/>
            <a:headEnd type="none" len="sm" w="sm"/>
            <a:tailEnd type="triangle" len="med" w="lg"/>
          </a:ln>
        </p:spPr>
      </p:sp>
      <p:sp>
        <p:nvSpPr>
          <p:cNvPr name="AutoShape 13" id="13"/>
          <p:cNvSpPr/>
          <p:nvPr/>
        </p:nvSpPr>
        <p:spPr>
          <a:xfrm flipV="true">
            <a:off x="7398085" y="5901055"/>
            <a:ext cx="3148390" cy="1259605"/>
          </a:xfrm>
          <a:prstGeom prst="line">
            <a:avLst/>
          </a:prstGeom>
          <a:ln cap="flat" w="38100">
            <a:solidFill>
              <a:srgbClr val="99C5FF"/>
            </a:solidFill>
            <a:prstDash val="solid"/>
            <a:headEnd type="none" len="sm" w="sm"/>
            <a:tailEnd type="triangle" len="med" w="lg"/>
          </a:ln>
        </p:spPr>
      </p:sp>
      <p:sp>
        <p:nvSpPr>
          <p:cNvPr name="AutoShape 14" id="14"/>
          <p:cNvSpPr/>
          <p:nvPr/>
        </p:nvSpPr>
        <p:spPr>
          <a:xfrm flipV="true">
            <a:off x="8374423" y="7822770"/>
            <a:ext cx="2083520" cy="738946"/>
          </a:xfrm>
          <a:prstGeom prst="line">
            <a:avLst/>
          </a:prstGeom>
          <a:ln cap="flat" w="38100">
            <a:solidFill>
              <a:srgbClr val="99C5FF"/>
            </a:solidFill>
            <a:prstDash val="solid"/>
            <a:headEnd type="none" len="sm" w="sm"/>
            <a:tailEnd type="triangle" len="med" w="lg"/>
          </a:ln>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471703" y="5859696"/>
            <a:ext cx="2947347" cy="3805578"/>
          </a:xfrm>
          <a:custGeom>
            <a:avLst/>
            <a:gdLst/>
            <a:ahLst/>
            <a:cxnLst/>
            <a:rect r="r" b="b" t="t" l="l"/>
            <a:pathLst>
              <a:path h="3805578" w="2947347">
                <a:moveTo>
                  <a:pt x="0" y="0"/>
                </a:moveTo>
                <a:lnTo>
                  <a:pt x="2947347" y="0"/>
                </a:lnTo>
                <a:lnTo>
                  <a:pt x="2947347" y="3805578"/>
                </a:lnTo>
                <a:lnTo>
                  <a:pt x="0" y="3805578"/>
                </a:lnTo>
                <a:lnTo>
                  <a:pt x="0" y="0"/>
                </a:lnTo>
                <a:close/>
              </a:path>
            </a:pathLst>
          </a:custGeom>
          <a:blipFill>
            <a:blip r:embed="rId3"/>
            <a:stretch>
              <a:fillRect l="0" t="0" r="0" b="0"/>
            </a:stretch>
          </a:blipFill>
        </p:spPr>
      </p:sp>
      <p:sp>
        <p:nvSpPr>
          <p:cNvPr name="Freeform 7" id="7"/>
          <p:cNvSpPr/>
          <p:nvPr/>
        </p:nvSpPr>
        <p:spPr>
          <a:xfrm flipH="false" flipV="false" rot="0">
            <a:off x="2332044" y="5925221"/>
            <a:ext cx="4541754" cy="3159481"/>
          </a:xfrm>
          <a:custGeom>
            <a:avLst/>
            <a:gdLst/>
            <a:ahLst/>
            <a:cxnLst/>
            <a:rect r="r" b="b" t="t" l="l"/>
            <a:pathLst>
              <a:path h="3159481" w="4541754">
                <a:moveTo>
                  <a:pt x="0" y="0"/>
                </a:moveTo>
                <a:lnTo>
                  <a:pt x="4541754" y="0"/>
                </a:lnTo>
                <a:lnTo>
                  <a:pt x="4541754" y="3159481"/>
                </a:lnTo>
                <a:lnTo>
                  <a:pt x="0" y="3159481"/>
                </a:lnTo>
                <a:lnTo>
                  <a:pt x="0" y="0"/>
                </a:lnTo>
                <a:close/>
              </a:path>
            </a:pathLst>
          </a:custGeom>
          <a:blipFill>
            <a:blip r:embed="rId4"/>
            <a:stretch>
              <a:fillRect l="0" t="0" r="0" b="0"/>
            </a:stretch>
          </a:blipFill>
        </p:spPr>
      </p:sp>
      <p:sp>
        <p:nvSpPr>
          <p:cNvPr name="TextBox 8" id="8"/>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JSON VS XML</a:t>
            </a:r>
          </a:p>
        </p:txBody>
      </p:sp>
      <p:sp>
        <p:nvSpPr>
          <p:cNvPr name="TextBox 9" id="9"/>
          <p:cNvSpPr txBox="true"/>
          <p:nvPr/>
        </p:nvSpPr>
        <p:spPr>
          <a:xfrm rot="0">
            <a:off x="2660965" y="3318272"/>
            <a:ext cx="3883911" cy="1812915"/>
          </a:xfrm>
          <a:prstGeom prst="rect">
            <a:avLst/>
          </a:prstGeom>
        </p:spPr>
        <p:txBody>
          <a:bodyPr anchor="t" rtlCol="false" tIns="0" lIns="0" bIns="0" rIns="0">
            <a:spAutoFit/>
          </a:bodyPr>
          <a:lstStyle/>
          <a:p>
            <a:pPr algn="ctr">
              <a:lnSpc>
                <a:spcPts val="2399"/>
              </a:lnSpc>
              <a:spcBef>
                <a:spcPct val="0"/>
              </a:spcBef>
            </a:pPr>
            <a:r>
              <a:rPr lang="en-US" sz="1714">
                <a:solidFill>
                  <a:srgbClr val="FFFFFF"/>
                </a:solidFill>
                <a:latin typeface="Poppins"/>
                <a:ea typeface="Poppins"/>
                <a:cs typeface="Poppins"/>
                <a:sym typeface="Poppins"/>
              </a:rPr>
              <a:t>JSON - JavaScript Object Notation, tiene un formato mas ligero y mas soportable para leer y escribir , es mas eficiente para transmitir datos y es soportado nativamente en varios lenguajes modernos</a:t>
            </a:r>
          </a:p>
        </p:txBody>
      </p:sp>
      <p:sp>
        <p:nvSpPr>
          <p:cNvPr name="TextBox 10" id="10"/>
          <p:cNvSpPr txBox="true"/>
          <p:nvPr/>
        </p:nvSpPr>
        <p:spPr>
          <a:xfrm rot="0">
            <a:off x="11917000" y="3318272"/>
            <a:ext cx="3883911" cy="2112799"/>
          </a:xfrm>
          <a:prstGeom prst="rect">
            <a:avLst/>
          </a:prstGeom>
        </p:spPr>
        <p:txBody>
          <a:bodyPr anchor="t" rtlCol="false" tIns="0" lIns="0" bIns="0" rIns="0">
            <a:spAutoFit/>
          </a:bodyPr>
          <a:lstStyle/>
          <a:p>
            <a:pPr algn="ctr">
              <a:lnSpc>
                <a:spcPts val="2399"/>
              </a:lnSpc>
              <a:spcBef>
                <a:spcPct val="0"/>
              </a:spcBef>
            </a:pPr>
            <a:r>
              <a:rPr lang="en-US" sz="1714">
                <a:solidFill>
                  <a:srgbClr val="FFFFFF"/>
                </a:solidFill>
                <a:latin typeface="Poppins"/>
                <a:ea typeface="Poppins"/>
                <a:cs typeface="Poppins"/>
                <a:sym typeface="Poppins"/>
              </a:rPr>
              <a:t>XML - Extensible Markup Language, es un formato basado en etiquetas similar a HTML, es mas verbal y pesado al usar tags de apertura y cierre, permite definir atributos en etiquetas, es mas usado en sistemas legados como SOAP</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53751" y="5364217"/>
            <a:ext cx="7454388" cy="3894083"/>
          </a:xfrm>
          <a:custGeom>
            <a:avLst/>
            <a:gdLst/>
            <a:ahLst/>
            <a:cxnLst/>
            <a:rect r="r" b="b" t="t" l="l"/>
            <a:pathLst>
              <a:path h="3894083" w="7454388">
                <a:moveTo>
                  <a:pt x="0" y="0"/>
                </a:moveTo>
                <a:lnTo>
                  <a:pt x="7454388" y="0"/>
                </a:lnTo>
                <a:lnTo>
                  <a:pt x="7454388" y="3894083"/>
                </a:lnTo>
                <a:lnTo>
                  <a:pt x="0" y="3894083"/>
                </a:lnTo>
                <a:lnTo>
                  <a:pt x="0" y="0"/>
                </a:lnTo>
                <a:close/>
              </a:path>
            </a:pathLst>
          </a:custGeom>
          <a:blipFill>
            <a:blip r:embed="rId3"/>
            <a:stretch>
              <a:fillRect l="0" t="0" r="0" b="0"/>
            </a:stretch>
          </a:blipFill>
        </p:spPr>
      </p:sp>
      <p:sp>
        <p:nvSpPr>
          <p:cNvPr name="TextBox 7" id="7"/>
          <p:cNvSpPr txBox="true"/>
          <p:nvPr/>
        </p:nvSpPr>
        <p:spPr>
          <a:xfrm rot="0">
            <a:off x="283451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MODELO VISTA CONTROLADOR (MVC)</a:t>
            </a:r>
          </a:p>
        </p:txBody>
      </p:sp>
      <p:sp>
        <p:nvSpPr>
          <p:cNvPr name="TextBox 8" id="8"/>
          <p:cNvSpPr txBox="true"/>
          <p:nvPr/>
        </p:nvSpPr>
        <p:spPr>
          <a:xfrm rot="0">
            <a:off x="1735211" y="4328074"/>
            <a:ext cx="15351863" cy="362306"/>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Es un patron de software que divide una aplicacion en tres componentes interconectados</a:t>
            </a:r>
          </a:p>
        </p:txBody>
      </p:sp>
      <p:sp>
        <p:nvSpPr>
          <p:cNvPr name="TextBox 9" id="9"/>
          <p:cNvSpPr txBox="true"/>
          <p:nvPr/>
        </p:nvSpPr>
        <p:spPr>
          <a:xfrm rot="0">
            <a:off x="9687086" y="5411349"/>
            <a:ext cx="7399988" cy="1075924"/>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MODELO: Representa la informacion (datos) y las reglas de negocio de la aplicacion - Gestiona, almacena y manipula los datos</a:t>
            </a:r>
          </a:p>
        </p:txBody>
      </p:sp>
      <p:sp>
        <p:nvSpPr>
          <p:cNvPr name="TextBox 10" id="10"/>
          <p:cNvSpPr txBox="true"/>
          <p:nvPr/>
        </p:nvSpPr>
        <p:spPr>
          <a:xfrm rot="0">
            <a:off x="9687086" y="6841729"/>
            <a:ext cx="7399988" cy="719115"/>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VISTA: Capa de la presentacion de los datos al usuario  - Define como se muestra la informacion en pantalla</a:t>
            </a:r>
          </a:p>
        </p:txBody>
      </p:sp>
      <p:sp>
        <p:nvSpPr>
          <p:cNvPr name="TextBox 11" id="11"/>
          <p:cNvSpPr txBox="true"/>
          <p:nvPr/>
        </p:nvSpPr>
        <p:spPr>
          <a:xfrm rot="0">
            <a:off x="9859312" y="8056144"/>
            <a:ext cx="7399988" cy="1075924"/>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CONTROLADOR: Es el intermediario que gestiona la interaccion entre el usuario, el modelo y la vista - Invoca la logica de negocio</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a:hlinkClick r:id="rId3" tooltip="https://spring.io/guides/gs/spring-boot"/>
            </p:cNvPr>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20329" y="4054850"/>
            <a:ext cx="3306714" cy="5701231"/>
          </a:xfrm>
          <a:custGeom>
            <a:avLst/>
            <a:gdLst/>
            <a:ahLst/>
            <a:cxnLst/>
            <a:rect r="r" b="b" t="t" l="l"/>
            <a:pathLst>
              <a:path h="5701231" w="3306714">
                <a:moveTo>
                  <a:pt x="0" y="0"/>
                </a:moveTo>
                <a:lnTo>
                  <a:pt x="3306714" y="0"/>
                </a:lnTo>
                <a:lnTo>
                  <a:pt x="3306714" y="5701232"/>
                </a:lnTo>
                <a:lnTo>
                  <a:pt x="0" y="5701232"/>
                </a:lnTo>
                <a:lnTo>
                  <a:pt x="0" y="0"/>
                </a:lnTo>
                <a:close/>
              </a:path>
            </a:pathLst>
          </a:custGeom>
          <a:blipFill>
            <a:blip r:embed="rId4"/>
            <a:stretch>
              <a:fillRect l="0" t="0" r="0" b="0"/>
            </a:stretch>
          </a:blipFill>
        </p:spPr>
      </p:sp>
      <p:sp>
        <p:nvSpPr>
          <p:cNvPr name="Freeform 7" id="7"/>
          <p:cNvSpPr/>
          <p:nvPr/>
        </p:nvSpPr>
        <p:spPr>
          <a:xfrm flipH="false" flipV="false" rot="0">
            <a:off x="5291013" y="4396947"/>
            <a:ext cx="1798922" cy="1493106"/>
          </a:xfrm>
          <a:custGeom>
            <a:avLst/>
            <a:gdLst/>
            <a:ahLst/>
            <a:cxnLst/>
            <a:rect r="r" b="b" t="t" l="l"/>
            <a:pathLst>
              <a:path h="1493106" w="1798922">
                <a:moveTo>
                  <a:pt x="0" y="0"/>
                </a:moveTo>
                <a:lnTo>
                  <a:pt x="1798922" y="0"/>
                </a:lnTo>
                <a:lnTo>
                  <a:pt x="1798922" y="1493106"/>
                </a:lnTo>
                <a:lnTo>
                  <a:pt x="0" y="14931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83451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ARQUITECTURA EN CAPAS - ESTRUCTURA INICIAL</a:t>
            </a:r>
          </a:p>
        </p:txBody>
      </p:sp>
      <p:sp>
        <p:nvSpPr>
          <p:cNvPr name="Freeform 9" id="9"/>
          <p:cNvSpPr/>
          <p:nvPr/>
        </p:nvSpPr>
        <p:spPr>
          <a:xfrm flipH="false" flipV="false" rot="0">
            <a:off x="8351855" y="4560291"/>
            <a:ext cx="1798922" cy="1493106"/>
          </a:xfrm>
          <a:custGeom>
            <a:avLst/>
            <a:gdLst/>
            <a:ahLst/>
            <a:cxnLst/>
            <a:rect r="r" b="b" t="t" l="l"/>
            <a:pathLst>
              <a:path h="1493106" w="1798922">
                <a:moveTo>
                  <a:pt x="0" y="0"/>
                </a:moveTo>
                <a:lnTo>
                  <a:pt x="1798923" y="0"/>
                </a:lnTo>
                <a:lnTo>
                  <a:pt x="1798923" y="1493106"/>
                </a:lnTo>
                <a:lnTo>
                  <a:pt x="0" y="14931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5313804" y="4863590"/>
            <a:ext cx="1068082" cy="886508"/>
          </a:xfrm>
          <a:custGeom>
            <a:avLst/>
            <a:gdLst/>
            <a:ahLst/>
            <a:cxnLst/>
            <a:rect r="r" b="b" t="t" l="l"/>
            <a:pathLst>
              <a:path h="886508" w="1068082">
                <a:moveTo>
                  <a:pt x="0" y="0"/>
                </a:moveTo>
                <a:lnTo>
                  <a:pt x="1068081" y="0"/>
                </a:lnTo>
                <a:lnTo>
                  <a:pt x="1068081" y="886508"/>
                </a:lnTo>
                <a:lnTo>
                  <a:pt x="0" y="8865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1231519" y="4863590"/>
            <a:ext cx="1068082" cy="886508"/>
          </a:xfrm>
          <a:custGeom>
            <a:avLst/>
            <a:gdLst/>
            <a:ahLst/>
            <a:cxnLst/>
            <a:rect r="r" b="b" t="t" l="l"/>
            <a:pathLst>
              <a:path h="886508" w="1068082">
                <a:moveTo>
                  <a:pt x="0" y="0"/>
                </a:moveTo>
                <a:lnTo>
                  <a:pt x="1068082" y="0"/>
                </a:lnTo>
                <a:lnTo>
                  <a:pt x="1068082" y="886508"/>
                </a:lnTo>
                <a:lnTo>
                  <a:pt x="0" y="8865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3314822" y="4864494"/>
            <a:ext cx="1066993" cy="885604"/>
          </a:xfrm>
          <a:custGeom>
            <a:avLst/>
            <a:gdLst/>
            <a:ahLst/>
            <a:cxnLst/>
            <a:rect r="r" b="b" t="t" l="l"/>
            <a:pathLst>
              <a:path h="885604" w="1066993">
                <a:moveTo>
                  <a:pt x="0" y="0"/>
                </a:moveTo>
                <a:lnTo>
                  <a:pt x="1066993" y="0"/>
                </a:lnTo>
                <a:lnTo>
                  <a:pt x="1066993" y="885604"/>
                </a:lnTo>
                <a:lnTo>
                  <a:pt x="0" y="8856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4953018" y="5975712"/>
            <a:ext cx="2474912" cy="381887"/>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CONTROLLER</a:t>
            </a:r>
          </a:p>
        </p:txBody>
      </p:sp>
      <p:sp>
        <p:nvSpPr>
          <p:cNvPr name="TextBox 14" id="14"/>
          <p:cNvSpPr txBox="true"/>
          <p:nvPr/>
        </p:nvSpPr>
        <p:spPr>
          <a:xfrm rot="0">
            <a:off x="8634639" y="6142843"/>
            <a:ext cx="1237456" cy="381887"/>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MODEL</a:t>
            </a:r>
          </a:p>
        </p:txBody>
      </p:sp>
      <p:sp>
        <p:nvSpPr>
          <p:cNvPr name="TextBox 15" id="15"/>
          <p:cNvSpPr txBox="true"/>
          <p:nvPr/>
        </p:nvSpPr>
        <p:spPr>
          <a:xfrm rot="0">
            <a:off x="15249742" y="5928400"/>
            <a:ext cx="1419878" cy="277811"/>
          </a:xfrm>
          <a:prstGeom prst="rect">
            <a:avLst/>
          </a:prstGeom>
        </p:spPr>
        <p:txBody>
          <a:bodyPr anchor="t" rtlCol="false" tIns="0" lIns="0" bIns="0" rIns="0">
            <a:spAutoFit/>
          </a:bodyPr>
          <a:lstStyle/>
          <a:p>
            <a:pPr algn="ctr">
              <a:lnSpc>
                <a:spcPts val="2223"/>
              </a:lnSpc>
              <a:spcBef>
                <a:spcPct val="0"/>
              </a:spcBef>
            </a:pPr>
            <a:r>
              <a:rPr lang="en-US" sz="1588">
                <a:solidFill>
                  <a:srgbClr val="FFFFFF"/>
                </a:solidFill>
                <a:latin typeface="HK Modular"/>
                <a:ea typeface="HK Modular"/>
                <a:cs typeface="HK Modular"/>
                <a:sym typeface="HK Modular"/>
              </a:rPr>
              <a:t>SERVICES</a:t>
            </a:r>
          </a:p>
        </p:txBody>
      </p:sp>
      <p:sp>
        <p:nvSpPr>
          <p:cNvPr name="TextBox 16" id="16"/>
          <p:cNvSpPr txBox="true"/>
          <p:nvPr/>
        </p:nvSpPr>
        <p:spPr>
          <a:xfrm rot="0">
            <a:off x="12837419" y="5944142"/>
            <a:ext cx="2021798" cy="246326"/>
          </a:xfrm>
          <a:prstGeom prst="rect">
            <a:avLst/>
          </a:prstGeom>
        </p:spPr>
        <p:txBody>
          <a:bodyPr anchor="t" rtlCol="false" tIns="0" lIns="0" bIns="0" rIns="0">
            <a:spAutoFit/>
          </a:bodyPr>
          <a:lstStyle/>
          <a:p>
            <a:pPr algn="ctr">
              <a:lnSpc>
                <a:spcPts val="1931"/>
              </a:lnSpc>
              <a:spcBef>
                <a:spcPct val="0"/>
              </a:spcBef>
            </a:pPr>
            <a:r>
              <a:rPr lang="en-US" sz="1379">
                <a:solidFill>
                  <a:srgbClr val="FFFFFF"/>
                </a:solidFill>
                <a:latin typeface="HK Modular"/>
                <a:ea typeface="HK Modular"/>
                <a:cs typeface="HK Modular"/>
                <a:sym typeface="HK Modular"/>
              </a:rPr>
              <a:t>PERSISTENCE</a:t>
            </a:r>
          </a:p>
        </p:txBody>
      </p:sp>
      <p:sp>
        <p:nvSpPr>
          <p:cNvPr name="Freeform 17" id="17"/>
          <p:cNvSpPr/>
          <p:nvPr/>
        </p:nvSpPr>
        <p:spPr>
          <a:xfrm flipH="false" flipV="false" rot="0">
            <a:off x="15402400" y="6632624"/>
            <a:ext cx="890890" cy="739439"/>
          </a:xfrm>
          <a:custGeom>
            <a:avLst/>
            <a:gdLst/>
            <a:ahLst/>
            <a:cxnLst/>
            <a:rect r="r" b="b" t="t" l="l"/>
            <a:pathLst>
              <a:path h="739439" w="890890">
                <a:moveTo>
                  <a:pt x="0" y="0"/>
                </a:moveTo>
                <a:lnTo>
                  <a:pt x="890890" y="0"/>
                </a:lnTo>
                <a:lnTo>
                  <a:pt x="890890" y="739438"/>
                </a:lnTo>
                <a:lnTo>
                  <a:pt x="0" y="73943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false" flipV="false" rot="0">
            <a:off x="15402400" y="8006994"/>
            <a:ext cx="890890" cy="739439"/>
          </a:xfrm>
          <a:custGeom>
            <a:avLst/>
            <a:gdLst/>
            <a:ahLst/>
            <a:cxnLst/>
            <a:rect r="r" b="b" t="t" l="l"/>
            <a:pathLst>
              <a:path h="739439" w="890890">
                <a:moveTo>
                  <a:pt x="0" y="0"/>
                </a:moveTo>
                <a:lnTo>
                  <a:pt x="890890" y="0"/>
                </a:lnTo>
                <a:lnTo>
                  <a:pt x="890890" y="739439"/>
                </a:lnTo>
                <a:lnTo>
                  <a:pt x="0" y="73943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9" id="19"/>
          <p:cNvSpPr txBox="true"/>
          <p:nvPr/>
        </p:nvSpPr>
        <p:spPr>
          <a:xfrm rot="0">
            <a:off x="15334362" y="7457337"/>
            <a:ext cx="1047523" cy="330582"/>
          </a:xfrm>
          <a:prstGeom prst="rect">
            <a:avLst/>
          </a:prstGeom>
        </p:spPr>
        <p:txBody>
          <a:bodyPr anchor="t" rtlCol="false" tIns="0" lIns="0" bIns="0" rIns="0">
            <a:spAutoFit/>
          </a:bodyPr>
          <a:lstStyle/>
          <a:p>
            <a:pPr algn="ctr">
              <a:lnSpc>
                <a:spcPts val="2625"/>
              </a:lnSpc>
              <a:spcBef>
                <a:spcPct val="0"/>
              </a:spcBef>
            </a:pPr>
            <a:r>
              <a:rPr lang="en-US" sz="1875">
                <a:solidFill>
                  <a:srgbClr val="FFFFFF"/>
                </a:solidFill>
                <a:latin typeface="HK Modular"/>
                <a:ea typeface="HK Modular"/>
                <a:cs typeface="HK Modular"/>
                <a:sym typeface="HK Modular"/>
              </a:rPr>
              <a:t>UTILS</a:t>
            </a:r>
          </a:p>
        </p:txBody>
      </p:sp>
      <p:sp>
        <p:nvSpPr>
          <p:cNvPr name="TextBox 20" id="20"/>
          <p:cNvSpPr txBox="true"/>
          <p:nvPr/>
        </p:nvSpPr>
        <p:spPr>
          <a:xfrm rot="0">
            <a:off x="15157994" y="8917883"/>
            <a:ext cx="1400260" cy="317796"/>
          </a:xfrm>
          <a:prstGeom prst="rect">
            <a:avLst/>
          </a:prstGeom>
        </p:spPr>
        <p:txBody>
          <a:bodyPr anchor="t" rtlCol="false" tIns="0" lIns="0" bIns="0" rIns="0">
            <a:spAutoFit/>
          </a:bodyPr>
          <a:lstStyle/>
          <a:p>
            <a:pPr algn="ctr">
              <a:lnSpc>
                <a:spcPts val="2506"/>
              </a:lnSpc>
              <a:spcBef>
                <a:spcPct val="0"/>
              </a:spcBef>
            </a:pPr>
            <a:r>
              <a:rPr lang="en-US" sz="1790">
                <a:solidFill>
                  <a:srgbClr val="FFFFFF"/>
                </a:solidFill>
                <a:latin typeface="HK Modular"/>
                <a:ea typeface="HK Modular"/>
                <a:cs typeface="HK Modular"/>
                <a:sym typeface="HK Modular"/>
              </a:rPr>
              <a:t>CONFIGS</a:t>
            </a:r>
          </a:p>
        </p:txBody>
      </p:sp>
      <p:sp>
        <p:nvSpPr>
          <p:cNvPr name="TextBox 21" id="21"/>
          <p:cNvSpPr txBox="true"/>
          <p:nvPr/>
        </p:nvSpPr>
        <p:spPr>
          <a:xfrm rot="0">
            <a:off x="11414017" y="5914971"/>
            <a:ext cx="703086" cy="275497"/>
          </a:xfrm>
          <a:prstGeom prst="rect">
            <a:avLst/>
          </a:prstGeom>
        </p:spPr>
        <p:txBody>
          <a:bodyPr anchor="t" rtlCol="false" tIns="0" lIns="0" bIns="0" rIns="0">
            <a:spAutoFit/>
          </a:bodyPr>
          <a:lstStyle/>
          <a:p>
            <a:pPr algn="ctr">
              <a:lnSpc>
                <a:spcPts val="2202"/>
              </a:lnSpc>
              <a:spcBef>
                <a:spcPct val="0"/>
              </a:spcBef>
            </a:pPr>
            <a:r>
              <a:rPr lang="en-US" sz="1573">
                <a:solidFill>
                  <a:srgbClr val="FFFFFF"/>
                </a:solidFill>
                <a:latin typeface="HK Modular"/>
                <a:ea typeface="HK Modular"/>
                <a:cs typeface="HK Modular"/>
                <a:sym typeface="HK Modular"/>
              </a:rPr>
              <a:t>CORE</a:t>
            </a:r>
          </a:p>
        </p:txBody>
      </p:sp>
      <p:sp>
        <p:nvSpPr>
          <p:cNvPr name="Freeform 22" id="22"/>
          <p:cNvSpPr/>
          <p:nvPr/>
        </p:nvSpPr>
        <p:spPr>
          <a:xfrm flipH="false" flipV="false" rot="0">
            <a:off x="13402873" y="6632624"/>
            <a:ext cx="890890" cy="739439"/>
          </a:xfrm>
          <a:custGeom>
            <a:avLst/>
            <a:gdLst/>
            <a:ahLst/>
            <a:cxnLst/>
            <a:rect r="r" b="b" t="t" l="l"/>
            <a:pathLst>
              <a:path h="739439" w="890890">
                <a:moveTo>
                  <a:pt x="0" y="0"/>
                </a:moveTo>
                <a:lnTo>
                  <a:pt x="890890" y="0"/>
                </a:lnTo>
                <a:lnTo>
                  <a:pt x="890890" y="739438"/>
                </a:lnTo>
                <a:lnTo>
                  <a:pt x="0" y="73943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3" id="23"/>
          <p:cNvSpPr txBox="true"/>
          <p:nvPr/>
        </p:nvSpPr>
        <p:spPr>
          <a:xfrm rot="0">
            <a:off x="11163482" y="7457337"/>
            <a:ext cx="1257028" cy="330582"/>
          </a:xfrm>
          <a:prstGeom prst="rect">
            <a:avLst/>
          </a:prstGeom>
        </p:spPr>
        <p:txBody>
          <a:bodyPr anchor="t" rtlCol="false" tIns="0" lIns="0" bIns="0" rIns="0">
            <a:spAutoFit/>
          </a:bodyPr>
          <a:lstStyle/>
          <a:p>
            <a:pPr algn="ctr">
              <a:lnSpc>
                <a:spcPts val="2625"/>
              </a:lnSpc>
              <a:spcBef>
                <a:spcPct val="0"/>
              </a:spcBef>
            </a:pPr>
            <a:r>
              <a:rPr lang="en-US" sz="1875">
                <a:solidFill>
                  <a:srgbClr val="FFFFFF"/>
                </a:solidFill>
                <a:latin typeface="HK Modular"/>
                <a:ea typeface="HK Modular"/>
                <a:cs typeface="HK Modular"/>
                <a:sym typeface="HK Modular"/>
              </a:rPr>
              <a:t>MODELS</a:t>
            </a:r>
          </a:p>
        </p:txBody>
      </p:sp>
      <p:sp>
        <p:nvSpPr>
          <p:cNvPr name="Freeform 24" id="24"/>
          <p:cNvSpPr/>
          <p:nvPr/>
        </p:nvSpPr>
        <p:spPr>
          <a:xfrm flipH="false" flipV="false" rot="0">
            <a:off x="13402873" y="8016519"/>
            <a:ext cx="890890" cy="739439"/>
          </a:xfrm>
          <a:custGeom>
            <a:avLst/>
            <a:gdLst/>
            <a:ahLst/>
            <a:cxnLst/>
            <a:rect r="r" b="b" t="t" l="l"/>
            <a:pathLst>
              <a:path h="739439" w="890890">
                <a:moveTo>
                  <a:pt x="0" y="0"/>
                </a:moveTo>
                <a:lnTo>
                  <a:pt x="890890" y="0"/>
                </a:lnTo>
                <a:lnTo>
                  <a:pt x="890890" y="739439"/>
                </a:lnTo>
                <a:lnTo>
                  <a:pt x="0" y="73943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5" id="25"/>
          <p:cNvSpPr txBox="true"/>
          <p:nvPr/>
        </p:nvSpPr>
        <p:spPr>
          <a:xfrm rot="0">
            <a:off x="12791060" y="8917883"/>
            <a:ext cx="2095046" cy="330582"/>
          </a:xfrm>
          <a:prstGeom prst="rect">
            <a:avLst/>
          </a:prstGeom>
        </p:spPr>
        <p:txBody>
          <a:bodyPr anchor="t" rtlCol="false" tIns="0" lIns="0" bIns="0" rIns="0">
            <a:spAutoFit/>
          </a:bodyPr>
          <a:lstStyle/>
          <a:p>
            <a:pPr algn="ctr">
              <a:lnSpc>
                <a:spcPts val="2625"/>
              </a:lnSpc>
              <a:spcBef>
                <a:spcPct val="0"/>
              </a:spcBef>
            </a:pPr>
            <a:r>
              <a:rPr lang="en-US" sz="1875">
                <a:solidFill>
                  <a:srgbClr val="FFFFFF"/>
                </a:solidFill>
                <a:latin typeface="HK Modular"/>
                <a:ea typeface="HK Modular"/>
                <a:cs typeface="HK Modular"/>
                <a:sym typeface="HK Modular"/>
              </a:rPr>
              <a:t>REPOSITORY</a:t>
            </a:r>
          </a:p>
        </p:txBody>
      </p:sp>
      <p:sp>
        <p:nvSpPr>
          <p:cNvPr name="Freeform 26" id="26"/>
          <p:cNvSpPr/>
          <p:nvPr/>
        </p:nvSpPr>
        <p:spPr>
          <a:xfrm flipH="false" flipV="false" rot="0">
            <a:off x="11320115" y="6632624"/>
            <a:ext cx="890890" cy="739439"/>
          </a:xfrm>
          <a:custGeom>
            <a:avLst/>
            <a:gdLst/>
            <a:ahLst/>
            <a:cxnLst/>
            <a:rect r="r" b="b" t="t" l="l"/>
            <a:pathLst>
              <a:path h="739439" w="890890">
                <a:moveTo>
                  <a:pt x="0" y="0"/>
                </a:moveTo>
                <a:lnTo>
                  <a:pt x="890890" y="0"/>
                </a:lnTo>
                <a:lnTo>
                  <a:pt x="890890" y="739438"/>
                </a:lnTo>
                <a:lnTo>
                  <a:pt x="0" y="73943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7" id="27"/>
          <p:cNvSpPr txBox="true"/>
          <p:nvPr/>
        </p:nvSpPr>
        <p:spPr>
          <a:xfrm rot="0">
            <a:off x="13010300" y="7457337"/>
            <a:ext cx="1676037" cy="330582"/>
          </a:xfrm>
          <a:prstGeom prst="rect">
            <a:avLst/>
          </a:prstGeom>
        </p:spPr>
        <p:txBody>
          <a:bodyPr anchor="t" rtlCol="false" tIns="0" lIns="0" bIns="0" rIns="0">
            <a:spAutoFit/>
          </a:bodyPr>
          <a:lstStyle/>
          <a:p>
            <a:pPr algn="ctr">
              <a:lnSpc>
                <a:spcPts val="2625"/>
              </a:lnSpc>
              <a:spcBef>
                <a:spcPct val="0"/>
              </a:spcBef>
            </a:pPr>
            <a:r>
              <a:rPr lang="en-US" sz="1875">
                <a:solidFill>
                  <a:srgbClr val="FFFFFF"/>
                </a:solidFill>
                <a:latin typeface="HK Modular"/>
                <a:ea typeface="HK Modular"/>
                <a:cs typeface="HK Modular"/>
                <a:sym typeface="HK Modular"/>
              </a:rPr>
              <a:t>ENTITIES</a:t>
            </a:r>
          </a:p>
        </p:txBody>
      </p:sp>
      <p:sp>
        <p:nvSpPr>
          <p:cNvPr name="Freeform 28" id="28"/>
          <p:cNvSpPr/>
          <p:nvPr/>
        </p:nvSpPr>
        <p:spPr>
          <a:xfrm flipH="false" flipV="false" rot="0">
            <a:off x="5745029" y="6765523"/>
            <a:ext cx="890890" cy="739439"/>
          </a:xfrm>
          <a:custGeom>
            <a:avLst/>
            <a:gdLst/>
            <a:ahLst/>
            <a:cxnLst/>
            <a:rect r="r" b="b" t="t" l="l"/>
            <a:pathLst>
              <a:path h="739439" w="890890">
                <a:moveTo>
                  <a:pt x="0" y="0"/>
                </a:moveTo>
                <a:lnTo>
                  <a:pt x="890890" y="0"/>
                </a:lnTo>
                <a:lnTo>
                  <a:pt x="890890" y="739439"/>
                </a:lnTo>
                <a:lnTo>
                  <a:pt x="0" y="73943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9" id="29"/>
          <p:cNvSpPr txBox="true"/>
          <p:nvPr/>
        </p:nvSpPr>
        <p:spPr>
          <a:xfrm rot="0">
            <a:off x="5771465" y="7590687"/>
            <a:ext cx="838019" cy="330582"/>
          </a:xfrm>
          <a:prstGeom prst="rect">
            <a:avLst/>
          </a:prstGeom>
        </p:spPr>
        <p:txBody>
          <a:bodyPr anchor="t" rtlCol="false" tIns="0" lIns="0" bIns="0" rIns="0">
            <a:spAutoFit/>
          </a:bodyPr>
          <a:lstStyle/>
          <a:p>
            <a:pPr algn="ctr">
              <a:lnSpc>
                <a:spcPts val="2625"/>
              </a:lnSpc>
              <a:spcBef>
                <a:spcPct val="0"/>
              </a:spcBef>
            </a:pPr>
            <a:r>
              <a:rPr lang="en-US" sz="1875">
                <a:solidFill>
                  <a:srgbClr val="FFFFFF"/>
                </a:solidFill>
                <a:latin typeface="HK Modular"/>
                <a:ea typeface="HK Modular"/>
                <a:cs typeface="HK Modular"/>
                <a:sym typeface="HK Modular"/>
              </a:rPr>
              <a:t>DTOS</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087770" y="4331635"/>
            <a:ext cx="12112459" cy="2377212"/>
          </a:xfrm>
          <a:prstGeom prst="rect">
            <a:avLst/>
          </a:prstGeom>
        </p:spPr>
        <p:txBody>
          <a:bodyPr anchor="t" rtlCol="false" tIns="0" lIns="0" bIns="0" rIns="0">
            <a:spAutoFit/>
          </a:bodyPr>
          <a:lstStyle/>
          <a:p>
            <a:pPr algn="ctr">
              <a:lnSpc>
                <a:spcPts val="9517"/>
              </a:lnSpc>
              <a:spcBef>
                <a:spcPct val="0"/>
              </a:spcBef>
            </a:pPr>
            <a:r>
              <a:rPr lang="en-US" sz="6798">
                <a:solidFill>
                  <a:srgbClr val="99C5FF"/>
                </a:solidFill>
                <a:latin typeface="HK Modular"/>
                <a:ea typeface="HK Modular"/>
                <a:cs typeface="HK Modular"/>
                <a:sym typeface="HK Modular"/>
              </a:rPr>
              <a:t>SPRING BOOT ANOTACIONES</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95599" y="4005966"/>
            <a:ext cx="8457768" cy="2023723"/>
          </a:xfrm>
          <a:custGeom>
            <a:avLst/>
            <a:gdLst/>
            <a:ahLst/>
            <a:cxnLst/>
            <a:rect r="r" b="b" t="t" l="l"/>
            <a:pathLst>
              <a:path h="2023723" w="8457768">
                <a:moveTo>
                  <a:pt x="0" y="0"/>
                </a:moveTo>
                <a:lnTo>
                  <a:pt x="8457768" y="0"/>
                </a:lnTo>
                <a:lnTo>
                  <a:pt x="8457768" y="2023723"/>
                </a:lnTo>
                <a:lnTo>
                  <a:pt x="0" y="2023723"/>
                </a:lnTo>
                <a:lnTo>
                  <a:pt x="0" y="0"/>
                </a:lnTo>
                <a:close/>
              </a:path>
            </a:pathLst>
          </a:custGeom>
          <a:blipFill>
            <a:blip r:embed="rId3"/>
            <a:stretch>
              <a:fillRect l="0" t="0" r="0" b="0"/>
            </a:stretch>
          </a:blipFill>
        </p:spPr>
      </p:sp>
      <p:sp>
        <p:nvSpPr>
          <p:cNvPr name="Freeform 7" id="7"/>
          <p:cNvSpPr/>
          <p:nvPr/>
        </p:nvSpPr>
        <p:spPr>
          <a:xfrm flipH="false" flipV="false" rot="0">
            <a:off x="795599" y="6199431"/>
            <a:ext cx="8457768" cy="1677218"/>
          </a:xfrm>
          <a:custGeom>
            <a:avLst/>
            <a:gdLst/>
            <a:ahLst/>
            <a:cxnLst/>
            <a:rect r="r" b="b" t="t" l="l"/>
            <a:pathLst>
              <a:path h="1677218" w="8457768">
                <a:moveTo>
                  <a:pt x="0" y="0"/>
                </a:moveTo>
                <a:lnTo>
                  <a:pt x="8457768" y="0"/>
                </a:lnTo>
                <a:lnTo>
                  <a:pt x="8457768" y="1677218"/>
                </a:lnTo>
                <a:lnTo>
                  <a:pt x="0" y="1677218"/>
                </a:lnTo>
                <a:lnTo>
                  <a:pt x="0" y="0"/>
                </a:lnTo>
                <a:close/>
              </a:path>
            </a:pathLst>
          </a:custGeom>
          <a:blipFill>
            <a:blip r:embed="rId4"/>
            <a:stretch>
              <a:fillRect l="0" t="0" r="0" b="0"/>
            </a:stretch>
          </a:blipFill>
        </p:spPr>
      </p:sp>
      <p:sp>
        <p:nvSpPr>
          <p:cNvPr name="Freeform 8" id="8"/>
          <p:cNvSpPr/>
          <p:nvPr/>
        </p:nvSpPr>
        <p:spPr>
          <a:xfrm flipH="false" flipV="false" rot="0">
            <a:off x="795599" y="8279784"/>
            <a:ext cx="8457768" cy="1565685"/>
          </a:xfrm>
          <a:custGeom>
            <a:avLst/>
            <a:gdLst/>
            <a:ahLst/>
            <a:cxnLst/>
            <a:rect r="r" b="b" t="t" l="l"/>
            <a:pathLst>
              <a:path h="1565685" w="8457768">
                <a:moveTo>
                  <a:pt x="0" y="0"/>
                </a:moveTo>
                <a:lnTo>
                  <a:pt x="8457768" y="0"/>
                </a:lnTo>
                <a:lnTo>
                  <a:pt x="8457768" y="1565685"/>
                </a:lnTo>
                <a:lnTo>
                  <a:pt x="0" y="1565685"/>
                </a:lnTo>
                <a:lnTo>
                  <a:pt x="0" y="0"/>
                </a:lnTo>
                <a:close/>
              </a:path>
            </a:pathLst>
          </a:custGeom>
          <a:blipFill>
            <a:blip r:embed="rId5"/>
            <a:stretch>
              <a:fillRect l="0" t="0" r="0" b="0"/>
            </a:stretch>
          </a:blipFill>
        </p:spPr>
      </p:sp>
      <p:sp>
        <p:nvSpPr>
          <p:cNvPr name="Freeform 9" id="9"/>
          <p:cNvSpPr/>
          <p:nvPr/>
        </p:nvSpPr>
        <p:spPr>
          <a:xfrm flipH="false" flipV="false" rot="0">
            <a:off x="10027231" y="4661908"/>
            <a:ext cx="7467844" cy="2376132"/>
          </a:xfrm>
          <a:custGeom>
            <a:avLst/>
            <a:gdLst/>
            <a:ahLst/>
            <a:cxnLst/>
            <a:rect r="r" b="b" t="t" l="l"/>
            <a:pathLst>
              <a:path h="2376132" w="7467844">
                <a:moveTo>
                  <a:pt x="0" y="0"/>
                </a:moveTo>
                <a:lnTo>
                  <a:pt x="7467844" y="0"/>
                </a:lnTo>
                <a:lnTo>
                  <a:pt x="7467844" y="2376132"/>
                </a:lnTo>
                <a:lnTo>
                  <a:pt x="0" y="2376132"/>
                </a:lnTo>
                <a:lnTo>
                  <a:pt x="0" y="0"/>
                </a:lnTo>
                <a:close/>
              </a:path>
            </a:pathLst>
          </a:custGeom>
          <a:blipFill>
            <a:blip r:embed="rId6"/>
            <a:stretch>
              <a:fillRect l="0" t="0" r="0" b="0"/>
            </a:stretch>
          </a:blipFill>
        </p:spPr>
      </p:sp>
      <p:sp>
        <p:nvSpPr>
          <p:cNvPr name="Freeform 10" id="10"/>
          <p:cNvSpPr/>
          <p:nvPr/>
        </p:nvSpPr>
        <p:spPr>
          <a:xfrm flipH="false" flipV="false" rot="0">
            <a:off x="10142503" y="7504962"/>
            <a:ext cx="7352572" cy="1549645"/>
          </a:xfrm>
          <a:custGeom>
            <a:avLst/>
            <a:gdLst/>
            <a:ahLst/>
            <a:cxnLst/>
            <a:rect r="r" b="b" t="t" l="l"/>
            <a:pathLst>
              <a:path h="1549645" w="7352572">
                <a:moveTo>
                  <a:pt x="0" y="0"/>
                </a:moveTo>
                <a:lnTo>
                  <a:pt x="7352572" y="0"/>
                </a:lnTo>
                <a:lnTo>
                  <a:pt x="7352572" y="1549645"/>
                </a:lnTo>
                <a:lnTo>
                  <a:pt x="0" y="1549645"/>
                </a:lnTo>
                <a:lnTo>
                  <a:pt x="0" y="0"/>
                </a:lnTo>
                <a:close/>
              </a:path>
            </a:pathLst>
          </a:custGeom>
          <a:blipFill>
            <a:blip r:embed="rId7"/>
            <a:stretch>
              <a:fillRect l="0" t="0" r="0" b="0"/>
            </a:stretch>
          </a:blipFill>
        </p:spPr>
      </p:sp>
      <p:sp>
        <p:nvSpPr>
          <p:cNvPr name="TextBox 11" id="11"/>
          <p:cNvSpPr txBox="true"/>
          <p:nvPr/>
        </p:nvSpPr>
        <p:spPr>
          <a:xfrm rot="0">
            <a:off x="283451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ANOTACIONES INICIALES  EN SPRING BOOT</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8493" y="4161642"/>
            <a:ext cx="15211015" cy="1858941"/>
          </a:xfrm>
          <a:prstGeom prst="rect">
            <a:avLst/>
          </a:prstGeom>
        </p:spPr>
        <p:txBody>
          <a:bodyPr anchor="t" rtlCol="false" tIns="0" lIns="0" bIns="0" rIns="0">
            <a:spAutoFit/>
          </a:bodyPr>
          <a:lstStyle/>
          <a:p>
            <a:pPr algn="ctr">
              <a:lnSpc>
                <a:spcPts val="7471"/>
              </a:lnSpc>
              <a:spcBef>
                <a:spcPct val="0"/>
              </a:spcBef>
            </a:pPr>
            <a:r>
              <a:rPr lang="en-US" sz="5337">
                <a:solidFill>
                  <a:srgbClr val="99C5FF"/>
                </a:solidFill>
                <a:latin typeface="HK Modular"/>
                <a:ea typeface="HK Modular"/>
                <a:cs typeface="HK Modular"/>
                <a:sym typeface="HK Modular"/>
              </a:rPr>
              <a:t>COMPONENT VS SERVICE VS REPOSITORY VS CONTROLLER</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390745" y="3503063"/>
            <a:ext cx="5616114" cy="6482353"/>
          </a:xfrm>
          <a:custGeom>
            <a:avLst/>
            <a:gdLst/>
            <a:ahLst/>
            <a:cxnLst/>
            <a:rect r="r" b="b" t="t" l="l"/>
            <a:pathLst>
              <a:path h="6482353" w="5616114">
                <a:moveTo>
                  <a:pt x="0" y="0"/>
                </a:moveTo>
                <a:lnTo>
                  <a:pt x="5616114" y="0"/>
                </a:lnTo>
                <a:lnTo>
                  <a:pt x="5616114" y="6482353"/>
                </a:lnTo>
                <a:lnTo>
                  <a:pt x="0" y="6482353"/>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CONTROLLER</a:t>
            </a:r>
          </a:p>
        </p:txBody>
      </p:sp>
      <p:sp>
        <p:nvSpPr>
          <p:cNvPr name="TextBox 8" id="8"/>
          <p:cNvSpPr txBox="true"/>
          <p:nvPr/>
        </p:nvSpPr>
        <p:spPr>
          <a:xfrm rot="0">
            <a:off x="796182" y="6819187"/>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99C5FF"/>
                </a:solidFill>
                <a:latin typeface="HK Modular"/>
                <a:ea typeface="HK Modular"/>
                <a:cs typeface="HK Modular"/>
                <a:sym typeface="HK Modular"/>
              </a:rPr>
              <a:t>¿COMO SE GENERA?</a:t>
            </a:r>
          </a:p>
        </p:txBody>
      </p:sp>
      <p:sp>
        <p:nvSpPr>
          <p:cNvPr name="TextBox 9" id="9"/>
          <p:cNvSpPr txBox="true"/>
          <p:nvPr/>
        </p:nvSpPr>
        <p:spPr>
          <a:xfrm rot="0">
            <a:off x="1574587" y="4118671"/>
            <a:ext cx="8322944" cy="1551294"/>
          </a:xfrm>
          <a:prstGeom prst="rect">
            <a:avLst/>
          </a:prstGeom>
        </p:spPr>
        <p:txBody>
          <a:bodyPr anchor="t" rtlCol="false" tIns="0" lIns="0" bIns="0" rIns="0">
            <a:spAutoFit/>
          </a:bodyPr>
          <a:lstStyle/>
          <a:p>
            <a:pPr algn="ctr">
              <a:lnSpc>
                <a:spcPts val="3092"/>
              </a:lnSpc>
              <a:spcBef>
                <a:spcPct val="0"/>
              </a:spcBef>
            </a:pPr>
            <a:r>
              <a:rPr lang="en-US" sz="2208">
                <a:solidFill>
                  <a:srgbClr val="FFFFFF"/>
                </a:solidFill>
                <a:latin typeface="Poppins"/>
                <a:ea typeface="Poppins"/>
                <a:cs typeface="Poppins"/>
                <a:sym typeface="Poppins"/>
              </a:rPr>
              <a:t>Es la unidad de software que recibe las solicitudes HTTP (request) y devuelve las respuestas (response).</a:t>
            </a:r>
          </a:p>
          <a:p>
            <a:pPr algn="ctr">
              <a:lnSpc>
                <a:spcPts val="3092"/>
              </a:lnSpc>
              <a:spcBef>
                <a:spcPct val="0"/>
              </a:spcBef>
            </a:pPr>
            <a:r>
              <a:rPr lang="en-US" sz="2208">
                <a:solidFill>
                  <a:srgbClr val="FFFFFF"/>
                </a:solidFill>
                <a:latin typeface="Poppins"/>
                <a:ea typeface="Poppins"/>
                <a:cs typeface="Poppins"/>
                <a:sym typeface="Poppins"/>
              </a:rPr>
              <a:t> Se comunica con los services, nunca directamente con la base de datos.</a:t>
            </a:r>
          </a:p>
        </p:txBody>
      </p:sp>
      <p:sp>
        <p:nvSpPr>
          <p:cNvPr name="TextBox 10" id="10"/>
          <p:cNvSpPr txBox="true"/>
          <p:nvPr/>
        </p:nvSpPr>
        <p:spPr>
          <a:xfrm rot="0">
            <a:off x="796182" y="8168189"/>
            <a:ext cx="9879754" cy="776091"/>
          </a:xfrm>
          <a:prstGeom prst="rect">
            <a:avLst/>
          </a:prstGeom>
        </p:spPr>
        <p:txBody>
          <a:bodyPr anchor="t" rtlCol="false" tIns="0" lIns="0" bIns="0" rIns="0">
            <a:spAutoFit/>
          </a:bodyPr>
          <a:lstStyle/>
          <a:p>
            <a:pPr algn="ctr">
              <a:lnSpc>
                <a:spcPts val="3051"/>
              </a:lnSpc>
              <a:spcBef>
                <a:spcPct val="0"/>
              </a:spcBef>
            </a:pPr>
            <a:r>
              <a:rPr lang="en-US" sz="2179">
                <a:solidFill>
                  <a:srgbClr val="FFFFFF"/>
                </a:solidFill>
                <a:latin typeface="Poppins"/>
                <a:ea typeface="Poppins"/>
                <a:cs typeface="Poppins"/>
                <a:sym typeface="Poppins"/>
              </a:rPr>
              <a:t>Se anota con @RestController y se definen sus endpoints con @RequestMapping o @GetMapping o @PostMapping</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224495" y="4548738"/>
            <a:ext cx="8568779" cy="4006182"/>
          </a:xfrm>
          <a:custGeom>
            <a:avLst/>
            <a:gdLst/>
            <a:ahLst/>
            <a:cxnLst/>
            <a:rect r="r" b="b" t="t" l="l"/>
            <a:pathLst>
              <a:path h="4006182" w="8568779">
                <a:moveTo>
                  <a:pt x="0" y="0"/>
                </a:moveTo>
                <a:lnTo>
                  <a:pt x="8568779" y="0"/>
                </a:lnTo>
                <a:lnTo>
                  <a:pt x="8568779" y="4006183"/>
                </a:lnTo>
                <a:lnTo>
                  <a:pt x="0" y="4006183"/>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COMPONENT</a:t>
            </a:r>
          </a:p>
        </p:txBody>
      </p:sp>
      <p:sp>
        <p:nvSpPr>
          <p:cNvPr name="TextBox 8" id="8"/>
          <p:cNvSpPr txBox="true"/>
          <p:nvPr/>
        </p:nvSpPr>
        <p:spPr>
          <a:xfrm rot="0">
            <a:off x="441771" y="4824782"/>
            <a:ext cx="8398343" cy="572932"/>
          </a:xfrm>
          <a:prstGeom prst="rect">
            <a:avLst/>
          </a:prstGeom>
        </p:spPr>
        <p:txBody>
          <a:bodyPr anchor="t" rtlCol="false" tIns="0" lIns="0" bIns="0" rIns="0">
            <a:spAutoFit/>
          </a:bodyPr>
          <a:lstStyle/>
          <a:p>
            <a:pPr algn="ctr">
              <a:lnSpc>
                <a:spcPts val="4679"/>
              </a:lnSpc>
              <a:spcBef>
                <a:spcPct val="0"/>
              </a:spcBef>
            </a:pPr>
            <a:r>
              <a:rPr lang="en-US" sz="3342">
                <a:solidFill>
                  <a:srgbClr val="99C5FF"/>
                </a:solidFill>
                <a:latin typeface="HK Modular"/>
                <a:ea typeface="HK Modular"/>
                <a:cs typeface="HK Modular"/>
                <a:sym typeface="HK Modular"/>
              </a:rPr>
              <a:t>¿COMO SE GENERA?</a:t>
            </a:r>
          </a:p>
        </p:txBody>
      </p:sp>
      <p:sp>
        <p:nvSpPr>
          <p:cNvPr name="TextBox 9" id="9"/>
          <p:cNvSpPr txBox="true"/>
          <p:nvPr/>
        </p:nvSpPr>
        <p:spPr>
          <a:xfrm rot="0">
            <a:off x="3182451" y="3124686"/>
            <a:ext cx="11888666" cy="776170"/>
          </a:xfrm>
          <a:prstGeom prst="rect">
            <a:avLst/>
          </a:prstGeom>
        </p:spPr>
        <p:txBody>
          <a:bodyPr anchor="t" rtlCol="false" tIns="0" lIns="0" bIns="0" rIns="0">
            <a:spAutoFit/>
          </a:bodyPr>
          <a:lstStyle/>
          <a:p>
            <a:pPr algn="ctr">
              <a:lnSpc>
                <a:spcPts val="3092"/>
              </a:lnSpc>
              <a:spcBef>
                <a:spcPct val="0"/>
              </a:spcBef>
            </a:pPr>
            <a:r>
              <a:rPr lang="en-US" sz="2208">
                <a:solidFill>
                  <a:srgbClr val="FFFFFF"/>
                </a:solidFill>
                <a:latin typeface="Poppins"/>
                <a:ea typeface="Poppins"/>
                <a:cs typeface="Poppins"/>
                <a:sym typeface="Poppins"/>
              </a:rPr>
              <a:t>Es una unidad de software generica que establece que es una clase de utilidad para el aplicativo</a:t>
            </a:r>
          </a:p>
        </p:txBody>
      </p:sp>
      <p:sp>
        <p:nvSpPr>
          <p:cNvPr name="TextBox 10" id="10"/>
          <p:cNvSpPr txBox="true"/>
          <p:nvPr/>
        </p:nvSpPr>
        <p:spPr>
          <a:xfrm rot="0">
            <a:off x="2414801" y="6321639"/>
            <a:ext cx="4452283" cy="393705"/>
          </a:xfrm>
          <a:prstGeom prst="rect">
            <a:avLst/>
          </a:prstGeom>
        </p:spPr>
        <p:txBody>
          <a:bodyPr anchor="t" rtlCol="false" tIns="0" lIns="0" bIns="0" rIns="0">
            <a:spAutoFit/>
          </a:bodyPr>
          <a:lstStyle/>
          <a:p>
            <a:pPr algn="ctr">
              <a:lnSpc>
                <a:spcPts val="3051"/>
              </a:lnSpc>
              <a:spcBef>
                <a:spcPct val="0"/>
              </a:spcBef>
            </a:pPr>
            <a:r>
              <a:rPr lang="en-US" sz="2179">
                <a:solidFill>
                  <a:srgbClr val="FFFFFF"/>
                </a:solidFill>
                <a:latin typeface="Poppins"/>
                <a:ea typeface="Poppins"/>
                <a:cs typeface="Poppins"/>
                <a:sym typeface="Poppins"/>
              </a:rPr>
              <a:t>Se anota con @Component</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SERVICE</a:t>
            </a:r>
          </a:p>
        </p:txBody>
      </p:sp>
      <p:sp>
        <p:nvSpPr>
          <p:cNvPr name="TextBox 7" id="7"/>
          <p:cNvSpPr txBox="true"/>
          <p:nvPr/>
        </p:nvSpPr>
        <p:spPr>
          <a:xfrm rot="0">
            <a:off x="-146894" y="4831106"/>
            <a:ext cx="8152502" cy="558113"/>
          </a:xfrm>
          <a:prstGeom prst="rect">
            <a:avLst/>
          </a:prstGeom>
        </p:spPr>
        <p:txBody>
          <a:bodyPr anchor="t" rtlCol="false" tIns="0" lIns="0" bIns="0" rIns="0">
            <a:spAutoFit/>
          </a:bodyPr>
          <a:lstStyle/>
          <a:p>
            <a:pPr algn="ctr">
              <a:lnSpc>
                <a:spcPts val="4542"/>
              </a:lnSpc>
              <a:spcBef>
                <a:spcPct val="0"/>
              </a:spcBef>
            </a:pPr>
            <a:r>
              <a:rPr lang="en-US" sz="3244">
                <a:solidFill>
                  <a:srgbClr val="99C5FF"/>
                </a:solidFill>
                <a:latin typeface="HK Modular"/>
                <a:ea typeface="HK Modular"/>
                <a:cs typeface="HK Modular"/>
                <a:sym typeface="HK Modular"/>
              </a:rPr>
              <a:t>¿COMO SE GENERA?</a:t>
            </a:r>
          </a:p>
        </p:txBody>
      </p:sp>
      <p:sp>
        <p:nvSpPr>
          <p:cNvPr name="TextBox 8" id="8"/>
          <p:cNvSpPr txBox="true"/>
          <p:nvPr/>
        </p:nvSpPr>
        <p:spPr>
          <a:xfrm rot="0">
            <a:off x="3182451" y="3124686"/>
            <a:ext cx="11888666" cy="1163732"/>
          </a:xfrm>
          <a:prstGeom prst="rect">
            <a:avLst/>
          </a:prstGeom>
        </p:spPr>
        <p:txBody>
          <a:bodyPr anchor="t" rtlCol="false" tIns="0" lIns="0" bIns="0" rIns="0">
            <a:spAutoFit/>
          </a:bodyPr>
          <a:lstStyle/>
          <a:p>
            <a:pPr algn="ctr">
              <a:lnSpc>
                <a:spcPts val="3092"/>
              </a:lnSpc>
              <a:spcBef>
                <a:spcPct val="0"/>
              </a:spcBef>
            </a:pPr>
            <a:r>
              <a:rPr lang="en-US" sz="2208">
                <a:solidFill>
                  <a:srgbClr val="FFFFFF"/>
                </a:solidFill>
                <a:latin typeface="Poppins"/>
                <a:ea typeface="Poppins"/>
                <a:cs typeface="Poppins"/>
                <a:sym typeface="Poppins"/>
              </a:rPr>
              <a:t>Unidad de software que se encarga de tener reglas complejas y logica de negocio en la capa de servicios</a:t>
            </a:r>
          </a:p>
          <a:p>
            <a:pPr algn="ctr">
              <a:lnSpc>
                <a:spcPts val="3092"/>
              </a:lnSpc>
              <a:spcBef>
                <a:spcPct val="0"/>
              </a:spcBef>
            </a:pPr>
          </a:p>
        </p:txBody>
      </p:sp>
      <p:sp>
        <p:nvSpPr>
          <p:cNvPr name="TextBox 9" id="9"/>
          <p:cNvSpPr txBox="true"/>
          <p:nvPr/>
        </p:nvSpPr>
        <p:spPr>
          <a:xfrm rot="0">
            <a:off x="1831032" y="6100754"/>
            <a:ext cx="4452283" cy="1540861"/>
          </a:xfrm>
          <a:prstGeom prst="rect">
            <a:avLst/>
          </a:prstGeom>
        </p:spPr>
        <p:txBody>
          <a:bodyPr anchor="t" rtlCol="false" tIns="0" lIns="0" bIns="0" rIns="0">
            <a:spAutoFit/>
          </a:bodyPr>
          <a:lstStyle/>
          <a:p>
            <a:pPr algn="ctr">
              <a:lnSpc>
                <a:spcPts val="3051"/>
              </a:lnSpc>
              <a:spcBef>
                <a:spcPct val="0"/>
              </a:spcBef>
            </a:pPr>
            <a:r>
              <a:rPr lang="en-US" sz="2179">
                <a:solidFill>
                  <a:srgbClr val="FFFFFF"/>
                </a:solidFill>
                <a:latin typeface="Poppins"/>
                <a:ea typeface="Poppins"/>
                <a:cs typeface="Poppins"/>
                <a:sym typeface="Poppins"/>
              </a:rPr>
              <a:t>Se anota con @Service, se inyecta en el controlador y es el encargado de llamar al repository para el acceso a BD</a:t>
            </a:r>
          </a:p>
        </p:txBody>
      </p:sp>
      <p:sp>
        <p:nvSpPr>
          <p:cNvPr name="Freeform 10" id="10"/>
          <p:cNvSpPr/>
          <p:nvPr/>
        </p:nvSpPr>
        <p:spPr>
          <a:xfrm flipH="false" flipV="false" rot="0">
            <a:off x="10912945" y="4445636"/>
            <a:ext cx="5976680" cy="5063878"/>
          </a:xfrm>
          <a:custGeom>
            <a:avLst/>
            <a:gdLst/>
            <a:ahLst/>
            <a:cxnLst/>
            <a:rect r="r" b="b" t="t" l="l"/>
            <a:pathLst>
              <a:path h="5063878" w="5976680">
                <a:moveTo>
                  <a:pt x="0" y="0"/>
                </a:moveTo>
                <a:lnTo>
                  <a:pt x="5976681" y="0"/>
                </a:lnTo>
                <a:lnTo>
                  <a:pt x="5976681" y="5063878"/>
                </a:lnTo>
                <a:lnTo>
                  <a:pt x="0" y="5063878"/>
                </a:lnTo>
                <a:lnTo>
                  <a:pt x="0" y="0"/>
                </a:lnTo>
                <a:close/>
              </a:path>
            </a:pathLst>
          </a:custGeom>
          <a:blipFill>
            <a:blip r:embed="rId3"/>
            <a:stretch>
              <a:fillRect l="0" t="0" r="0" b="0"/>
            </a:stretch>
          </a:blipFill>
        </p:spPr>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643496" y="5372100"/>
            <a:ext cx="10111535" cy="2629427"/>
          </a:xfrm>
          <a:custGeom>
            <a:avLst/>
            <a:gdLst/>
            <a:ahLst/>
            <a:cxnLst/>
            <a:rect r="r" b="b" t="t" l="l"/>
            <a:pathLst>
              <a:path h="2629427" w="10111535">
                <a:moveTo>
                  <a:pt x="0" y="0"/>
                </a:moveTo>
                <a:lnTo>
                  <a:pt x="10111535" y="0"/>
                </a:lnTo>
                <a:lnTo>
                  <a:pt x="10111535" y="2629427"/>
                </a:lnTo>
                <a:lnTo>
                  <a:pt x="0" y="2629427"/>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REPOSITORY</a:t>
            </a:r>
          </a:p>
        </p:txBody>
      </p:sp>
      <p:sp>
        <p:nvSpPr>
          <p:cNvPr name="TextBox 8" id="8"/>
          <p:cNvSpPr txBox="true"/>
          <p:nvPr/>
        </p:nvSpPr>
        <p:spPr>
          <a:xfrm rot="0">
            <a:off x="490856" y="4655184"/>
            <a:ext cx="7152640" cy="488316"/>
          </a:xfrm>
          <a:prstGeom prst="rect">
            <a:avLst/>
          </a:prstGeom>
        </p:spPr>
        <p:txBody>
          <a:bodyPr anchor="t" rtlCol="false" tIns="0" lIns="0" bIns="0" rIns="0">
            <a:spAutoFit/>
          </a:bodyPr>
          <a:lstStyle/>
          <a:p>
            <a:pPr algn="ctr">
              <a:lnSpc>
                <a:spcPts val="3985"/>
              </a:lnSpc>
              <a:spcBef>
                <a:spcPct val="0"/>
              </a:spcBef>
            </a:pPr>
            <a:r>
              <a:rPr lang="en-US" sz="2846">
                <a:solidFill>
                  <a:srgbClr val="99C5FF"/>
                </a:solidFill>
                <a:latin typeface="HK Modular"/>
                <a:ea typeface="HK Modular"/>
                <a:cs typeface="HK Modular"/>
                <a:sym typeface="HK Modular"/>
              </a:rPr>
              <a:t>¿COMO SE GENERA?</a:t>
            </a:r>
          </a:p>
        </p:txBody>
      </p:sp>
      <p:sp>
        <p:nvSpPr>
          <p:cNvPr name="TextBox 9" id="9"/>
          <p:cNvSpPr txBox="true"/>
          <p:nvPr/>
        </p:nvSpPr>
        <p:spPr>
          <a:xfrm rot="0">
            <a:off x="3182451" y="3124686"/>
            <a:ext cx="11888666" cy="1163732"/>
          </a:xfrm>
          <a:prstGeom prst="rect">
            <a:avLst/>
          </a:prstGeom>
        </p:spPr>
        <p:txBody>
          <a:bodyPr anchor="t" rtlCol="false" tIns="0" lIns="0" bIns="0" rIns="0">
            <a:spAutoFit/>
          </a:bodyPr>
          <a:lstStyle/>
          <a:p>
            <a:pPr algn="ctr">
              <a:lnSpc>
                <a:spcPts val="3092"/>
              </a:lnSpc>
              <a:spcBef>
                <a:spcPct val="0"/>
              </a:spcBef>
            </a:pPr>
            <a:r>
              <a:rPr lang="en-US" sz="2208">
                <a:solidFill>
                  <a:srgbClr val="FFFFFF"/>
                </a:solidFill>
                <a:latin typeface="Poppins"/>
                <a:ea typeface="Poppins"/>
                <a:cs typeface="Poppins"/>
                <a:sym typeface="Poppins"/>
              </a:rPr>
              <a:t>Unidad de software que se encarga de gestionar las operaciones relacionadas a la capa de persistencia</a:t>
            </a:r>
          </a:p>
          <a:p>
            <a:pPr algn="ctr">
              <a:lnSpc>
                <a:spcPts val="3092"/>
              </a:lnSpc>
              <a:spcBef>
                <a:spcPct val="0"/>
              </a:spcBef>
            </a:pPr>
          </a:p>
        </p:txBody>
      </p:sp>
      <p:sp>
        <p:nvSpPr>
          <p:cNvPr name="TextBox 10" id="10"/>
          <p:cNvSpPr txBox="true"/>
          <p:nvPr/>
        </p:nvSpPr>
        <p:spPr>
          <a:xfrm rot="0">
            <a:off x="1028700" y="5314950"/>
            <a:ext cx="6066757" cy="3101543"/>
          </a:xfrm>
          <a:prstGeom prst="rect">
            <a:avLst/>
          </a:prstGeom>
        </p:spPr>
        <p:txBody>
          <a:bodyPr anchor="t" rtlCol="false" tIns="0" lIns="0" bIns="0" rIns="0">
            <a:spAutoFit/>
          </a:bodyPr>
          <a:lstStyle/>
          <a:p>
            <a:pPr algn="ctr">
              <a:lnSpc>
                <a:spcPts val="3092"/>
              </a:lnSpc>
              <a:spcBef>
                <a:spcPct val="0"/>
              </a:spcBef>
            </a:pPr>
            <a:r>
              <a:rPr lang="en-US" sz="2208">
                <a:solidFill>
                  <a:srgbClr val="FFFFFF"/>
                </a:solidFill>
                <a:latin typeface="Poppins"/>
                <a:ea typeface="Poppins"/>
                <a:cs typeface="Poppins"/>
                <a:sym typeface="Poppins"/>
              </a:rPr>
              <a:t>Es una interface que extiende una Implementacion que nos otorga metodos CRUD sin necesidad de implementarlos manualmente, cuando la consulta requiere de algo mas especializado se puede agregar dentro de la implementacion de esta interface</a:t>
            </a:r>
          </a:p>
          <a:p>
            <a:pPr algn="ctr">
              <a:lnSpc>
                <a:spcPts val="3092"/>
              </a:lnSpc>
              <a:spcBef>
                <a:spcPct val="0"/>
              </a:spcBef>
            </a:pPr>
          </a:p>
        </p:txBody>
      </p:sp>
      <p:sp>
        <p:nvSpPr>
          <p:cNvPr name="TextBox 11" id="11"/>
          <p:cNvSpPr txBox="true"/>
          <p:nvPr/>
        </p:nvSpPr>
        <p:spPr>
          <a:xfrm rot="0">
            <a:off x="1033798" y="9201150"/>
            <a:ext cx="6066757" cy="776170"/>
          </a:xfrm>
          <a:prstGeom prst="rect">
            <a:avLst/>
          </a:prstGeom>
        </p:spPr>
        <p:txBody>
          <a:bodyPr anchor="t" rtlCol="false" tIns="0" lIns="0" bIns="0" rIns="0">
            <a:spAutoFit/>
          </a:bodyPr>
          <a:lstStyle/>
          <a:p>
            <a:pPr algn="ctr">
              <a:lnSpc>
                <a:spcPts val="3092"/>
              </a:lnSpc>
              <a:spcBef>
                <a:spcPct val="0"/>
              </a:spcBef>
            </a:pPr>
            <a:r>
              <a:rPr lang="en-US" sz="2208">
                <a:solidFill>
                  <a:srgbClr val="FFFFFF"/>
                </a:solidFill>
                <a:latin typeface="Poppins"/>
                <a:ea typeface="Poppins"/>
                <a:cs typeface="Poppins"/>
                <a:sym typeface="Poppins"/>
              </a:rPr>
              <a:t>Se puede usar en relacional y no relacional</a:t>
            </a:r>
          </a:p>
          <a:p>
            <a:pPr algn="ctr">
              <a:lnSpc>
                <a:spcPts val="3092"/>
              </a:lnSpc>
              <a:spcBef>
                <a:spcPct val="0"/>
              </a:spcBef>
            </a:pP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747858" y="4133441"/>
            <a:ext cx="11183286" cy="1905817"/>
          </a:xfrm>
          <a:prstGeom prst="rect">
            <a:avLst/>
          </a:prstGeom>
        </p:spPr>
        <p:txBody>
          <a:bodyPr anchor="t" rtlCol="false" tIns="0" lIns="0" bIns="0" rIns="0">
            <a:spAutoFit/>
          </a:bodyPr>
          <a:lstStyle/>
          <a:p>
            <a:pPr algn="ctr">
              <a:lnSpc>
                <a:spcPts val="7631"/>
              </a:lnSpc>
              <a:spcBef>
                <a:spcPct val="0"/>
              </a:spcBef>
            </a:pPr>
            <a:r>
              <a:rPr lang="en-US" sz="5450">
                <a:solidFill>
                  <a:srgbClr val="99C5FF"/>
                </a:solidFill>
                <a:latin typeface="HK Modular"/>
                <a:ea typeface="HK Modular"/>
                <a:cs typeface="HK Modular"/>
                <a:sym typeface="HK Modular"/>
              </a:rPr>
              <a:t>DTOS - RECORDS Y ENUMERACIONES</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540387" y="4675981"/>
            <a:ext cx="7172794" cy="5223082"/>
          </a:xfrm>
          <a:custGeom>
            <a:avLst/>
            <a:gdLst/>
            <a:ahLst/>
            <a:cxnLst/>
            <a:rect r="r" b="b" t="t" l="l"/>
            <a:pathLst>
              <a:path h="5223082" w="7172794">
                <a:moveTo>
                  <a:pt x="0" y="0"/>
                </a:moveTo>
                <a:lnTo>
                  <a:pt x="7172794" y="0"/>
                </a:lnTo>
                <a:lnTo>
                  <a:pt x="7172794" y="5223082"/>
                </a:lnTo>
                <a:lnTo>
                  <a:pt x="0" y="5223082"/>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DTOS</a:t>
            </a:r>
          </a:p>
        </p:txBody>
      </p:sp>
      <p:sp>
        <p:nvSpPr>
          <p:cNvPr name="TextBox 8" id="8"/>
          <p:cNvSpPr txBox="true"/>
          <p:nvPr/>
        </p:nvSpPr>
        <p:spPr>
          <a:xfrm rot="0">
            <a:off x="3182451" y="3124686"/>
            <a:ext cx="11888666" cy="1551294"/>
          </a:xfrm>
          <a:prstGeom prst="rect">
            <a:avLst/>
          </a:prstGeom>
        </p:spPr>
        <p:txBody>
          <a:bodyPr anchor="t" rtlCol="false" tIns="0" lIns="0" bIns="0" rIns="0">
            <a:spAutoFit/>
          </a:bodyPr>
          <a:lstStyle/>
          <a:p>
            <a:pPr algn="ctr">
              <a:lnSpc>
                <a:spcPts val="3092"/>
              </a:lnSpc>
              <a:spcBef>
                <a:spcPct val="0"/>
              </a:spcBef>
            </a:pPr>
            <a:r>
              <a:rPr lang="en-US" sz="2208">
                <a:solidFill>
                  <a:srgbClr val="FFFFFF"/>
                </a:solidFill>
                <a:latin typeface="Poppins"/>
                <a:ea typeface="Poppins"/>
                <a:cs typeface="Poppins"/>
                <a:sym typeface="Poppins"/>
              </a:rPr>
              <a:t>Son objetos simples que sirven para transportar datos entre capas, no contienen logica de negocio, evitan exponer directamente las entidades de base de datos y permiten controlar que informacion se envia y se recibe de la API</a:t>
            </a:r>
          </a:p>
          <a:p>
            <a:pPr algn="ctr">
              <a:lnSpc>
                <a:spcPts val="3092"/>
              </a:lnSpc>
              <a:spcBef>
                <a:spcPct val="0"/>
              </a:spcBef>
            </a:pP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139070" y="5143500"/>
            <a:ext cx="10009860" cy="824866"/>
          </a:xfrm>
          <a:custGeom>
            <a:avLst/>
            <a:gdLst/>
            <a:ahLst/>
            <a:cxnLst/>
            <a:rect r="r" b="b" t="t" l="l"/>
            <a:pathLst>
              <a:path h="824866" w="10009860">
                <a:moveTo>
                  <a:pt x="0" y="0"/>
                </a:moveTo>
                <a:lnTo>
                  <a:pt x="10009860" y="0"/>
                </a:lnTo>
                <a:lnTo>
                  <a:pt x="10009860" y="824866"/>
                </a:lnTo>
                <a:lnTo>
                  <a:pt x="0" y="824866"/>
                </a:lnTo>
                <a:lnTo>
                  <a:pt x="0" y="0"/>
                </a:lnTo>
                <a:close/>
              </a:path>
            </a:pathLst>
          </a:custGeom>
          <a:blipFill>
            <a:blip r:embed="rId3"/>
            <a:stretch>
              <a:fillRect l="0" t="0" r="0" b="0"/>
            </a:stretch>
          </a:blipFill>
        </p:spPr>
      </p:sp>
      <p:sp>
        <p:nvSpPr>
          <p:cNvPr name="Freeform 7" id="7"/>
          <p:cNvSpPr/>
          <p:nvPr/>
        </p:nvSpPr>
        <p:spPr>
          <a:xfrm flipH="false" flipV="false" rot="0">
            <a:off x="4009968" y="6607236"/>
            <a:ext cx="10268064" cy="2089782"/>
          </a:xfrm>
          <a:custGeom>
            <a:avLst/>
            <a:gdLst/>
            <a:ahLst/>
            <a:cxnLst/>
            <a:rect r="r" b="b" t="t" l="l"/>
            <a:pathLst>
              <a:path h="2089782" w="10268064">
                <a:moveTo>
                  <a:pt x="0" y="0"/>
                </a:moveTo>
                <a:lnTo>
                  <a:pt x="10268064" y="0"/>
                </a:lnTo>
                <a:lnTo>
                  <a:pt x="10268064" y="2089782"/>
                </a:lnTo>
                <a:lnTo>
                  <a:pt x="0" y="2089782"/>
                </a:lnTo>
                <a:lnTo>
                  <a:pt x="0" y="0"/>
                </a:lnTo>
                <a:close/>
              </a:path>
            </a:pathLst>
          </a:custGeom>
          <a:blipFill>
            <a:blip r:embed="rId4"/>
            <a:stretch>
              <a:fillRect l="0" t="0" r="0" b="0"/>
            </a:stretch>
          </a:blipFill>
        </p:spPr>
      </p:sp>
      <p:sp>
        <p:nvSpPr>
          <p:cNvPr name="TextBox 8" id="8"/>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RECORDS</a:t>
            </a:r>
          </a:p>
        </p:txBody>
      </p:sp>
      <p:sp>
        <p:nvSpPr>
          <p:cNvPr name="TextBox 9" id="9"/>
          <p:cNvSpPr txBox="true"/>
          <p:nvPr/>
        </p:nvSpPr>
        <p:spPr>
          <a:xfrm rot="0">
            <a:off x="3182451" y="3124686"/>
            <a:ext cx="11888666" cy="1938857"/>
          </a:xfrm>
          <a:prstGeom prst="rect">
            <a:avLst/>
          </a:prstGeom>
        </p:spPr>
        <p:txBody>
          <a:bodyPr anchor="t" rtlCol="false" tIns="0" lIns="0" bIns="0" rIns="0">
            <a:spAutoFit/>
          </a:bodyPr>
          <a:lstStyle/>
          <a:p>
            <a:pPr algn="ctr">
              <a:lnSpc>
                <a:spcPts val="3092"/>
              </a:lnSpc>
            </a:pPr>
            <a:r>
              <a:rPr lang="en-US" sz="2208">
                <a:solidFill>
                  <a:srgbClr val="FFFFFF"/>
                </a:solidFill>
                <a:latin typeface="Poppins"/>
                <a:ea typeface="Poppins"/>
                <a:cs typeface="Poppins"/>
                <a:sym typeface="Poppins"/>
              </a:rPr>
              <a:t>Son una forma mas concisa de crear DTOS o clases inmutables, ya que automaticamente generan: constructor, getters, equals, hashCode y toString</a:t>
            </a:r>
          </a:p>
          <a:p>
            <a:pPr algn="ctr">
              <a:lnSpc>
                <a:spcPts val="3092"/>
              </a:lnSpc>
            </a:pPr>
          </a:p>
          <a:p>
            <a:pPr algn="ctr">
              <a:lnSpc>
                <a:spcPts val="3092"/>
              </a:lnSpc>
              <a:spcBef>
                <a:spcPct val="0"/>
              </a:spcBef>
            </a:pPr>
            <a:r>
              <a:rPr lang="en-US" sz="2208">
                <a:solidFill>
                  <a:srgbClr val="FFFFFF"/>
                </a:solidFill>
                <a:latin typeface="Poppins"/>
                <a:ea typeface="Poppins"/>
                <a:cs typeface="Poppins"/>
                <a:sym typeface="Poppins"/>
              </a:rPr>
              <a:t>Son ideales para DTOS y respuestas JSON en APIS</a:t>
            </a:r>
          </a:p>
          <a:p>
            <a:pPr algn="ctr">
              <a:lnSpc>
                <a:spcPts val="3092"/>
              </a:lnSpc>
              <a:spcBef>
                <a:spcPct val="0"/>
              </a:spcBef>
            </a:pP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137316" y="5461597"/>
            <a:ext cx="2854914" cy="2043365"/>
          </a:xfrm>
          <a:custGeom>
            <a:avLst/>
            <a:gdLst/>
            <a:ahLst/>
            <a:cxnLst/>
            <a:rect r="r" b="b" t="t" l="l"/>
            <a:pathLst>
              <a:path h="2043365" w="2854914">
                <a:moveTo>
                  <a:pt x="0" y="0"/>
                </a:moveTo>
                <a:lnTo>
                  <a:pt x="2854913" y="0"/>
                </a:lnTo>
                <a:lnTo>
                  <a:pt x="2854913" y="2043365"/>
                </a:lnTo>
                <a:lnTo>
                  <a:pt x="0" y="2043365"/>
                </a:lnTo>
                <a:lnTo>
                  <a:pt x="0" y="0"/>
                </a:lnTo>
                <a:close/>
              </a:path>
            </a:pathLst>
          </a:custGeom>
          <a:blipFill>
            <a:blip r:embed="rId3"/>
            <a:stretch>
              <a:fillRect l="0" t="0" r="0" b="0"/>
            </a:stretch>
          </a:blipFill>
        </p:spPr>
      </p:sp>
      <p:sp>
        <p:nvSpPr>
          <p:cNvPr name="Freeform 7" id="7"/>
          <p:cNvSpPr/>
          <p:nvPr/>
        </p:nvSpPr>
        <p:spPr>
          <a:xfrm flipH="false" flipV="false" rot="0">
            <a:off x="7127070" y="4682701"/>
            <a:ext cx="7944047" cy="2979017"/>
          </a:xfrm>
          <a:custGeom>
            <a:avLst/>
            <a:gdLst/>
            <a:ahLst/>
            <a:cxnLst/>
            <a:rect r="r" b="b" t="t" l="l"/>
            <a:pathLst>
              <a:path h="2979017" w="7944047">
                <a:moveTo>
                  <a:pt x="0" y="0"/>
                </a:moveTo>
                <a:lnTo>
                  <a:pt x="7944047" y="0"/>
                </a:lnTo>
                <a:lnTo>
                  <a:pt x="7944047" y="2979017"/>
                </a:lnTo>
                <a:lnTo>
                  <a:pt x="0" y="2979017"/>
                </a:lnTo>
                <a:lnTo>
                  <a:pt x="0" y="0"/>
                </a:lnTo>
                <a:close/>
              </a:path>
            </a:pathLst>
          </a:custGeom>
          <a:blipFill>
            <a:blip r:embed="rId4"/>
            <a:stretch>
              <a:fillRect l="0" t="0" r="0" b="0"/>
            </a:stretch>
          </a:blipFill>
        </p:spPr>
      </p:sp>
      <p:sp>
        <p:nvSpPr>
          <p:cNvPr name="Freeform 8" id="8"/>
          <p:cNvSpPr/>
          <p:nvPr/>
        </p:nvSpPr>
        <p:spPr>
          <a:xfrm flipH="false" flipV="false" rot="0">
            <a:off x="6609221" y="8219363"/>
            <a:ext cx="8979744" cy="632624"/>
          </a:xfrm>
          <a:custGeom>
            <a:avLst/>
            <a:gdLst/>
            <a:ahLst/>
            <a:cxnLst/>
            <a:rect r="r" b="b" t="t" l="l"/>
            <a:pathLst>
              <a:path h="632624" w="8979744">
                <a:moveTo>
                  <a:pt x="0" y="0"/>
                </a:moveTo>
                <a:lnTo>
                  <a:pt x="8979744" y="0"/>
                </a:lnTo>
                <a:lnTo>
                  <a:pt x="8979744" y="632624"/>
                </a:lnTo>
                <a:lnTo>
                  <a:pt x="0" y="632624"/>
                </a:lnTo>
                <a:lnTo>
                  <a:pt x="0" y="0"/>
                </a:lnTo>
                <a:close/>
              </a:path>
            </a:pathLst>
          </a:custGeom>
          <a:blipFill>
            <a:blip r:embed="rId5"/>
            <a:stretch>
              <a:fillRect l="0" t="0" r="0" b="0"/>
            </a:stretch>
          </a:blipFill>
        </p:spPr>
      </p:sp>
      <p:sp>
        <p:nvSpPr>
          <p:cNvPr name="TextBox 9" id="9"/>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ENUMERACIONES</a:t>
            </a:r>
          </a:p>
        </p:txBody>
      </p:sp>
      <p:sp>
        <p:nvSpPr>
          <p:cNvPr name="TextBox 10" id="10"/>
          <p:cNvSpPr txBox="true"/>
          <p:nvPr/>
        </p:nvSpPr>
        <p:spPr>
          <a:xfrm rot="0">
            <a:off x="3182451" y="3204643"/>
            <a:ext cx="11888666" cy="1163732"/>
          </a:xfrm>
          <a:prstGeom prst="rect">
            <a:avLst/>
          </a:prstGeom>
        </p:spPr>
        <p:txBody>
          <a:bodyPr anchor="t" rtlCol="false" tIns="0" lIns="0" bIns="0" rIns="0">
            <a:spAutoFit/>
          </a:bodyPr>
          <a:lstStyle/>
          <a:p>
            <a:pPr algn="ctr">
              <a:lnSpc>
                <a:spcPts val="3092"/>
              </a:lnSpc>
            </a:pPr>
            <a:r>
              <a:rPr lang="en-US" sz="2208">
                <a:solidFill>
                  <a:srgbClr val="FFFFFF"/>
                </a:solidFill>
                <a:latin typeface="Poppins"/>
                <a:ea typeface="Poppins"/>
                <a:cs typeface="Poppins"/>
                <a:sym typeface="Poppins"/>
              </a:rPr>
              <a:t>Son tipos especiales para representar un conjunto fijo de constantes.</a:t>
            </a:r>
          </a:p>
          <a:p>
            <a:pPr algn="ctr">
              <a:lnSpc>
                <a:spcPts val="3092"/>
              </a:lnSpc>
              <a:spcBef>
                <a:spcPct val="0"/>
              </a:spcBef>
            </a:pPr>
            <a:r>
              <a:rPr lang="en-US" sz="2208">
                <a:solidFill>
                  <a:srgbClr val="FFFFFF"/>
                </a:solidFill>
                <a:latin typeface="Poppins"/>
                <a:ea typeface="Poppins"/>
                <a:cs typeface="Poppins"/>
                <a:sym typeface="Poppins"/>
              </a:rPr>
              <a:t> Se usan mucho en APIs para definir estados, roles o categorías.</a:t>
            </a:r>
          </a:p>
          <a:p>
            <a:pPr algn="ctr">
              <a:lnSpc>
                <a:spcPts val="3092"/>
              </a:lnSpc>
              <a:spcBef>
                <a:spcPct val="0"/>
              </a:spcBef>
            </a:pP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923343" y="4158224"/>
            <a:ext cx="10832315" cy="3198327"/>
          </a:xfrm>
          <a:prstGeom prst="rect">
            <a:avLst/>
          </a:prstGeom>
        </p:spPr>
        <p:txBody>
          <a:bodyPr anchor="t" rtlCol="false" tIns="0" lIns="0" bIns="0" rIns="0">
            <a:spAutoFit/>
          </a:bodyPr>
          <a:lstStyle/>
          <a:p>
            <a:pPr algn="ctr">
              <a:lnSpc>
                <a:spcPts val="8511"/>
              </a:lnSpc>
              <a:spcBef>
                <a:spcPct val="0"/>
              </a:spcBef>
            </a:pPr>
            <a:r>
              <a:rPr lang="en-US" sz="6079">
                <a:solidFill>
                  <a:srgbClr val="99C5FF"/>
                </a:solidFill>
                <a:latin typeface="HK Modular"/>
                <a:ea typeface="HK Modular"/>
                <a:cs typeface="HK Modular"/>
                <a:sym typeface="HK Modular"/>
              </a:rPr>
              <a:t>ENTIDADES DE NEGOCIO VS MODELOS</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447989" y="4737219"/>
            <a:ext cx="7357590" cy="4725403"/>
          </a:xfrm>
          <a:custGeom>
            <a:avLst/>
            <a:gdLst/>
            <a:ahLst/>
            <a:cxnLst/>
            <a:rect r="r" b="b" t="t" l="l"/>
            <a:pathLst>
              <a:path h="4725403" w="7357590">
                <a:moveTo>
                  <a:pt x="0" y="0"/>
                </a:moveTo>
                <a:lnTo>
                  <a:pt x="7357590" y="0"/>
                </a:lnTo>
                <a:lnTo>
                  <a:pt x="7357590" y="4725403"/>
                </a:lnTo>
                <a:lnTo>
                  <a:pt x="0" y="4725403"/>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ENTIDADES DE NEGOCIO</a:t>
            </a:r>
          </a:p>
        </p:txBody>
      </p:sp>
      <p:sp>
        <p:nvSpPr>
          <p:cNvPr name="TextBox 8" id="8"/>
          <p:cNvSpPr txBox="true"/>
          <p:nvPr/>
        </p:nvSpPr>
        <p:spPr>
          <a:xfrm rot="0">
            <a:off x="3182451" y="3204643"/>
            <a:ext cx="11888666" cy="1938857"/>
          </a:xfrm>
          <a:prstGeom prst="rect">
            <a:avLst/>
          </a:prstGeom>
        </p:spPr>
        <p:txBody>
          <a:bodyPr anchor="t" rtlCol="false" tIns="0" lIns="0" bIns="0" rIns="0">
            <a:spAutoFit/>
          </a:bodyPr>
          <a:lstStyle/>
          <a:p>
            <a:pPr algn="ctr">
              <a:lnSpc>
                <a:spcPts val="3092"/>
              </a:lnSpc>
            </a:pPr>
            <a:r>
              <a:rPr lang="en-US" sz="2208">
                <a:solidFill>
                  <a:srgbClr val="FFFFFF"/>
                </a:solidFill>
                <a:latin typeface="Poppins"/>
                <a:ea typeface="Poppins"/>
                <a:cs typeface="Poppins"/>
                <a:sym typeface="Poppins"/>
              </a:rPr>
              <a:t>Representan los objetos centrales del dominio, son la fuente o insumo en la logica de negocio, tienen reglas de negocio y comportamiento, no dependen del almacenamiento de los datos</a:t>
            </a:r>
          </a:p>
          <a:p>
            <a:pPr algn="ctr">
              <a:lnSpc>
                <a:spcPts val="3092"/>
              </a:lnSpc>
              <a:spcBef>
                <a:spcPct val="0"/>
              </a:spcBef>
            </a:pPr>
          </a:p>
          <a:p>
            <a:pPr algn="ctr">
              <a:lnSpc>
                <a:spcPts val="3092"/>
              </a:lnSpc>
              <a:spcBef>
                <a:spcPct val="0"/>
              </a:spcBef>
            </a:pP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837154" y="5143500"/>
            <a:ext cx="6377790" cy="4213307"/>
          </a:xfrm>
          <a:custGeom>
            <a:avLst/>
            <a:gdLst/>
            <a:ahLst/>
            <a:cxnLst/>
            <a:rect r="r" b="b" t="t" l="l"/>
            <a:pathLst>
              <a:path h="4213307" w="6377790">
                <a:moveTo>
                  <a:pt x="0" y="0"/>
                </a:moveTo>
                <a:lnTo>
                  <a:pt x="6377790" y="0"/>
                </a:lnTo>
                <a:lnTo>
                  <a:pt x="6377790" y="4213307"/>
                </a:lnTo>
                <a:lnTo>
                  <a:pt x="0" y="4213307"/>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MODELOS</a:t>
            </a:r>
          </a:p>
        </p:txBody>
      </p:sp>
      <p:sp>
        <p:nvSpPr>
          <p:cNvPr name="TextBox 8" id="8"/>
          <p:cNvSpPr txBox="true"/>
          <p:nvPr/>
        </p:nvSpPr>
        <p:spPr>
          <a:xfrm rot="0">
            <a:off x="3182451" y="3204643"/>
            <a:ext cx="11888666" cy="1938857"/>
          </a:xfrm>
          <a:prstGeom prst="rect">
            <a:avLst/>
          </a:prstGeom>
        </p:spPr>
        <p:txBody>
          <a:bodyPr anchor="t" rtlCol="false" tIns="0" lIns="0" bIns="0" rIns="0">
            <a:spAutoFit/>
          </a:bodyPr>
          <a:lstStyle/>
          <a:p>
            <a:pPr algn="ctr">
              <a:lnSpc>
                <a:spcPts val="3092"/>
              </a:lnSpc>
            </a:pPr>
            <a:r>
              <a:rPr lang="en-US" sz="2208">
                <a:solidFill>
                  <a:srgbClr val="FFFFFF"/>
                </a:solidFill>
                <a:latin typeface="Poppins"/>
                <a:ea typeface="Poppins"/>
                <a:cs typeface="Poppins"/>
                <a:sym typeface="Poppins"/>
              </a:rPr>
              <a:t>Representan como se guardan los datos en la BD, si es relacional usan la anotacion @Entity, si no es relacional utilizan la anotacion @Document, No tiene logica de negocio ya que su fin es reflejar la estructura de la BD</a:t>
            </a:r>
          </a:p>
          <a:p>
            <a:pPr algn="ctr">
              <a:lnSpc>
                <a:spcPts val="3092"/>
              </a:lnSpc>
              <a:spcBef>
                <a:spcPct val="0"/>
              </a:spcBef>
            </a:pPr>
          </a:p>
          <a:p>
            <a:pPr algn="ctr">
              <a:lnSpc>
                <a:spcPts val="3092"/>
              </a:lnSpc>
              <a:spcBef>
                <a:spcPct val="0"/>
              </a:spcBef>
            </a:pP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550443" y="3978902"/>
            <a:ext cx="14078617" cy="3780848"/>
          </a:xfrm>
          <a:prstGeom prst="rect">
            <a:avLst/>
          </a:prstGeom>
        </p:spPr>
        <p:txBody>
          <a:bodyPr anchor="t" rtlCol="false" tIns="0" lIns="0" bIns="0" rIns="0">
            <a:spAutoFit/>
          </a:bodyPr>
          <a:lstStyle/>
          <a:p>
            <a:pPr algn="ctr">
              <a:lnSpc>
                <a:spcPts val="10097"/>
              </a:lnSpc>
              <a:spcBef>
                <a:spcPct val="0"/>
              </a:spcBef>
            </a:pPr>
            <a:r>
              <a:rPr lang="en-US" sz="7212">
                <a:solidFill>
                  <a:srgbClr val="99C5FF"/>
                </a:solidFill>
                <a:latin typeface="HK Modular"/>
                <a:ea typeface="HK Modular"/>
                <a:cs typeface="HK Modular"/>
                <a:sym typeface="HK Modular"/>
              </a:rPr>
              <a:t>VALIDADORES VS UTILIDADES VS MAPPERS</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835031" y="6619254"/>
            <a:ext cx="7190638" cy="1771416"/>
          </a:xfrm>
          <a:custGeom>
            <a:avLst/>
            <a:gdLst/>
            <a:ahLst/>
            <a:cxnLst/>
            <a:rect r="r" b="b" t="t" l="l"/>
            <a:pathLst>
              <a:path h="1771416" w="7190638">
                <a:moveTo>
                  <a:pt x="0" y="0"/>
                </a:moveTo>
                <a:lnTo>
                  <a:pt x="7190638" y="0"/>
                </a:lnTo>
                <a:lnTo>
                  <a:pt x="7190638" y="1771416"/>
                </a:lnTo>
                <a:lnTo>
                  <a:pt x="0" y="1771416"/>
                </a:lnTo>
                <a:lnTo>
                  <a:pt x="0" y="0"/>
                </a:lnTo>
                <a:close/>
              </a:path>
            </a:pathLst>
          </a:custGeom>
          <a:blipFill>
            <a:blip r:embed="rId3"/>
            <a:stretch>
              <a:fillRect l="0" t="0" r="0" b="0"/>
            </a:stretch>
          </a:blipFill>
        </p:spPr>
      </p:sp>
      <p:sp>
        <p:nvSpPr>
          <p:cNvPr name="Freeform 7" id="7"/>
          <p:cNvSpPr/>
          <p:nvPr/>
        </p:nvSpPr>
        <p:spPr>
          <a:xfrm flipH="false" flipV="false" rot="0">
            <a:off x="10189725" y="6379583"/>
            <a:ext cx="5880169" cy="2878717"/>
          </a:xfrm>
          <a:custGeom>
            <a:avLst/>
            <a:gdLst/>
            <a:ahLst/>
            <a:cxnLst/>
            <a:rect r="r" b="b" t="t" l="l"/>
            <a:pathLst>
              <a:path h="2878717" w="5880169">
                <a:moveTo>
                  <a:pt x="0" y="0"/>
                </a:moveTo>
                <a:lnTo>
                  <a:pt x="5880170" y="0"/>
                </a:lnTo>
                <a:lnTo>
                  <a:pt x="5880170" y="2878717"/>
                </a:lnTo>
                <a:lnTo>
                  <a:pt x="0" y="2878717"/>
                </a:lnTo>
                <a:lnTo>
                  <a:pt x="0" y="0"/>
                </a:lnTo>
                <a:close/>
              </a:path>
            </a:pathLst>
          </a:custGeom>
          <a:blipFill>
            <a:blip r:embed="rId4"/>
            <a:stretch>
              <a:fillRect l="0" t="0" r="0" b="0"/>
            </a:stretch>
          </a:blipFill>
        </p:spPr>
      </p:sp>
      <p:sp>
        <p:nvSpPr>
          <p:cNvPr name="TextBox 8" id="8"/>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VALIDADORES</a:t>
            </a:r>
          </a:p>
        </p:txBody>
      </p:sp>
      <p:sp>
        <p:nvSpPr>
          <p:cNvPr name="TextBox 9" id="9"/>
          <p:cNvSpPr txBox="true"/>
          <p:nvPr/>
        </p:nvSpPr>
        <p:spPr>
          <a:xfrm rot="0">
            <a:off x="4512374" y="3260415"/>
            <a:ext cx="9026589" cy="20091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Un validador es una clase o componente cuyo objetivo es verificar que los datos cumplen con ciertas reglas de negocio o de formato antes de ser procesados.</a:t>
            </a:r>
          </a:p>
          <a:p>
            <a:pPr algn="ctr">
              <a:lnSpc>
                <a:spcPts val="2659"/>
              </a:lnSpc>
              <a:spcBef>
                <a:spcPct val="0"/>
              </a:spcBef>
            </a:pPr>
            <a:r>
              <a:rPr lang="en-US" sz="1899">
                <a:solidFill>
                  <a:srgbClr val="FFFFFF"/>
                </a:solidFill>
                <a:latin typeface="Poppins"/>
                <a:ea typeface="Poppins"/>
                <a:cs typeface="Poppins"/>
                <a:sym typeface="Poppins"/>
              </a:rPr>
              <a:t>Se encargan de verificar entradas (Request DTOs, entidades, etc.).</a:t>
            </a:r>
          </a:p>
          <a:p>
            <a:pPr algn="ctr">
              <a:lnSpc>
                <a:spcPts val="2659"/>
              </a:lnSpc>
              <a:spcBef>
                <a:spcPct val="0"/>
              </a:spcBef>
            </a:pPr>
            <a:r>
              <a:rPr lang="en-US" sz="1899">
                <a:solidFill>
                  <a:srgbClr val="FFFFFF"/>
                </a:solidFill>
                <a:latin typeface="Poppins"/>
                <a:ea typeface="Poppins"/>
                <a:cs typeface="Poppins"/>
                <a:sym typeface="Poppins"/>
              </a:rPr>
              <a:t>Generalmente se usan con anotaciones (@NotNull, @Email, @Size, etc.) o con lógica personalizada.</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336762" y="6197181"/>
            <a:ext cx="7387005" cy="2925678"/>
          </a:xfrm>
          <a:custGeom>
            <a:avLst/>
            <a:gdLst/>
            <a:ahLst/>
            <a:cxnLst/>
            <a:rect r="r" b="b" t="t" l="l"/>
            <a:pathLst>
              <a:path h="2925678" w="7387005">
                <a:moveTo>
                  <a:pt x="0" y="0"/>
                </a:moveTo>
                <a:lnTo>
                  <a:pt x="7387005" y="0"/>
                </a:lnTo>
                <a:lnTo>
                  <a:pt x="7387005" y="2925678"/>
                </a:lnTo>
                <a:lnTo>
                  <a:pt x="0" y="2925678"/>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UTILIDADES</a:t>
            </a:r>
          </a:p>
        </p:txBody>
      </p:sp>
      <p:sp>
        <p:nvSpPr>
          <p:cNvPr name="TextBox 8" id="8"/>
          <p:cNvSpPr txBox="true"/>
          <p:nvPr/>
        </p:nvSpPr>
        <p:spPr>
          <a:xfrm rot="0">
            <a:off x="3944383" y="3219948"/>
            <a:ext cx="9847021" cy="23425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Las utilidades son clases estáticas que contienen funciones genéricas y reutilizables que no dependen directamente de reglas de negocio ni de un estado de la aplicación.</a:t>
            </a:r>
          </a:p>
          <a:p>
            <a:pPr algn="ctr">
              <a:lnSpc>
                <a:spcPts val="2659"/>
              </a:lnSpc>
              <a:spcBef>
                <a:spcPct val="0"/>
              </a:spcBef>
            </a:pPr>
            <a:r>
              <a:rPr lang="en-US" sz="1899">
                <a:solidFill>
                  <a:srgbClr val="FFFFFF"/>
                </a:solidFill>
                <a:latin typeface="Poppins"/>
                <a:ea typeface="Poppins"/>
                <a:cs typeface="Poppins"/>
                <a:sym typeface="Poppins"/>
              </a:rPr>
              <a:t>No manejan persistencia, ni lógica de negocio compleja.</a:t>
            </a:r>
          </a:p>
          <a:p>
            <a:pPr algn="ctr">
              <a:lnSpc>
                <a:spcPts val="2659"/>
              </a:lnSpc>
              <a:spcBef>
                <a:spcPct val="0"/>
              </a:spcBef>
            </a:pPr>
            <a:r>
              <a:rPr lang="en-US" sz="1899">
                <a:solidFill>
                  <a:srgbClr val="FFFFFF"/>
                </a:solidFill>
                <a:latin typeface="Poppins"/>
                <a:ea typeface="Poppins"/>
                <a:cs typeface="Poppins"/>
                <a:sym typeface="Poppins"/>
              </a:rPr>
              <a:t>Se utilizan para operaciones comunes como: formatear fechas, generar UUIDs, cifrar, etc.</a:t>
            </a:r>
          </a:p>
          <a:p>
            <a:pPr algn="ctr">
              <a:lnSpc>
                <a:spcPts val="2659"/>
              </a:lnSpc>
              <a:spcBef>
                <a:spcPct val="0"/>
              </a:spcBef>
            </a:pPr>
            <a:r>
              <a:rPr lang="en-US" sz="1899">
                <a:solidFill>
                  <a:srgbClr val="FFFFFF"/>
                </a:solidFill>
                <a:latin typeface="Poppins"/>
                <a:ea typeface="Poppins"/>
                <a:cs typeface="Poppins"/>
                <a:sym typeface="Poppins"/>
              </a:rPr>
              <a:t>Son estáticas, no necesitan inyección de dependencias.</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001342" y="6138510"/>
            <a:ext cx="6608471" cy="3371899"/>
          </a:xfrm>
          <a:custGeom>
            <a:avLst/>
            <a:gdLst/>
            <a:ahLst/>
            <a:cxnLst/>
            <a:rect r="r" b="b" t="t" l="l"/>
            <a:pathLst>
              <a:path h="3371899" w="6608471">
                <a:moveTo>
                  <a:pt x="0" y="0"/>
                </a:moveTo>
                <a:lnTo>
                  <a:pt x="6608471" y="0"/>
                </a:lnTo>
                <a:lnTo>
                  <a:pt x="6608471" y="3371899"/>
                </a:lnTo>
                <a:lnTo>
                  <a:pt x="0" y="3371899"/>
                </a:lnTo>
                <a:lnTo>
                  <a:pt x="0" y="0"/>
                </a:lnTo>
                <a:close/>
              </a:path>
            </a:pathLst>
          </a:custGeom>
          <a:blipFill>
            <a:blip r:embed="rId3"/>
            <a:stretch>
              <a:fillRect l="0" t="0" r="0" b="0"/>
            </a:stretch>
          </a:blipFill>
        </p:spPr>
      </p:sp>
      <p:sp>
        <p:nvSpPr>
          <p:cNvPr name="Freeform 7" id="7"/>
          <p:cNvSpPr/>
          <p:nvPr/>
        </p:nvSpPr>
        <p:spPr>
          <a:xfrm flipH="false" flipV="false" rot="0">
            <a:off x="10158170" y="6666750"/>
            <a:ext cx="6499422" cy="2315419"/>
          </a:xfrm>
          <a:custGeom>
            <a:avLst/>
            <a:gdLst/>
            <a:ahLst/>
            <a:cxnLst/>
            <a:rect r="r" b="b" t="t" l="l"/>
            <a:pathLst>
              <a:path h="2315419" w="6499422">
                <a:moveTo>
                  <a:pt x="0" y="0"/>
                </a:moveTo>
                <a:lnTo>
                  <a:pt x="6499422" y="0"/>
                </a:lnTo>
                <a:lnTo>
                  <a:pt x="6499422" y="2315419"/>
                </a:lnTo>
                <a:lnTo>
                  <a:pt x="0" y="2315419"/>
                </a:lnTo>
                <a:lnTo>
                  <a:pt x="0" y="0"/>
                </a:lnTo>
                <a:close/>
              </a:path>
            </a:pathLst>
          </a:custGeom>
          <a:blipFill>
            <a:blip r:embed="rId4"/>
            <a:stretch>
              <a:fillRect l="0" t="0" r="0" b="0"/>
            </a:stretch>
          </a:blipFill>
        </p:spPr>
      </p:sp>
      <p:sp>
        <p:nvSpPr>
          <p:cNvPr name="TextBox 8" id="8"/>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MAPPERS</a:t>
            </a:r>
          </a:p>
        </p:txBody>
      </p:sp>
      <p:sp>
        <p:nvSpPr>
          <p:cNvPr name="TextBox 9" id="9"/>
          <p:cNvSpPr txBox="true"/>
          <p:nvPr/>
        </p:nvSpPr>
        <p:spPr>
          <a:xfrm rot="0">
            <a:off x="4371159" y="3247910"/>
            <a:ext cx="9182799" cy="23234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Canva Sans"/>
                <a:ea typeface="Canva Sans"/>
                <a:cs typeface="Canva Sans"/>
                <a:sym typeface="Canva Sans"/>
              </a:rPr>
              <a:t>Los mappers se encargan de transformar datos entre diferentes capas o modelos.</a:t>
            </a:r>
          </a:p>
          <a:p>
            <a:pPr algn="ctr">
              <a:lnSpc>
                <a:spcPts val="2659"/>
              </a:lnSpc>
              <a:spcBef>
                <a:spcPct val="0"/>
              </a:spcBef>
            </a:pPr>
            <a:r>
              <a:rPr lang="en-US" sz="1899">
                <a:solidFill>
                  <a:srgbClr val="FFFFFF"/>
                </a:solidFill>
                <a:latin typeface="Canva Sans"/>
                <a:ea typeface="Canva Sans"/>
                <a:cs typeface="Canva Sans"/>
                <a:sym typeface="Canva Sans"/>
              </a:rPr>
              <a:t>Usados para convertir entre DTOs y Entidades.</a:t>
            </a:r>
          </a:p>
          <a:p>
            <a:pPr algn="ctr">
              <a:lnSpc>
                <a:spcPts val="2659"/>
              </a:lnSpc>
              <a:spcBef>
                <a:spcPct val="0"/>
              </a:spcBef>
            </a:pPr>
            <a:r>
              <a:rPr lang="en-US" sz="1899">
                <a:solidFill>
                  <a:srgbClr val="FFFFFF"/>
                </a:solidFill>
                <a:latin typeface="Canva Sans"/>
                <a:ea typeface="Canva Sans"/>
                <a:cs typeface="Canva Sans"/>
                <a:sym typeface="Canva Sans"/>
              </a:rPr>
              <a:t>Se pueden hacer manualmente o usando librerías como MapStruct o ModelMapper.</a:t>
            </a:r>
          </a:p>
          <a:p>
            <a:pPr algn="ctr">
              <a:lnSpc>
                <a:spcPts val="2659"/>
              </a:lnSpc>
              <a:spcBef>
                <a:spcPct val="0"/>
              </a:spcBef>
            </a:pPr>
            <a:r>
              <a:rPr lang="en-US" sz="1899">
                <a:solidFill>
                  <a:srgbClr val="FFFFFF"/>
                </a:solidFill>
                <a:latin typeface="Canva Sans"/>
                <a:ea typeface="Canva Sans"/>
                <a:cs typeface="Canva Sans"/>
                <a:sym typeface="Canva Sans"/>
              </a:rPr>
              <a:t>Mantienen limpio el código, evitando mezclar lógica de conversión dentro de los servicios o controladores.</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550443" y="3978902"/>
            <a:ext cx="14078617" cy="2503948"/>
          </a:xfrm>
          <a:prstGeom prst="rect">
            <a:avLst/>
          </a:prstGeom>
        </p:spPr>
        <p:txBody>
          <a:bodyPr anchor="t" rtlCol="false" tIns="0" lIns="0" bIns="0" rIns="0">
            <a:spAutoFit/>
          </a:bodyPr>
          <a:lstStyle/>
          <a:p>
            <a:pPr algn="ctr">
              <a:lnSpc>
                <a:spcPts val="10097"/>
              </a:lnSpc>
              <a:spcBef>
                <a:spcPct val="0"/>
              </a:spcBef>
            </a:pPr>
            <a:r>
              <a:rPr lang="en-US" sz="7212">
                <a:solidFill>
                  <a:srgbClr val="99C5FF"/>
                </a:solidFill>
                <a:latin typeface="HK Modular"/>
                <a:ea typeface="HK Modular"/>
                <a:cs typeface="HK Modular"/>
                <a:sym typeface="HK Modular"/>
              </a:rPr>
              <a:t>MODULO DE DIAGRAMACION # 3</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232800" y="4073520"/>
            <a:ext cx="5553390" cy="5579462"/>
          </a:xfrm>
          <a:custGeom>
            <a:avLst/>
            <a:gdLst/>
            <a:ahLst/>
            <a:cxnLst/>
            <a:rect r="r" b="b" t="t" l="l"/>
            <a:pathLst>
              <a:path h="5579462" w="5553390">
                <a:moveTo>
                  <a:pt x="0" y="0"/>
                </a:moveTo>
                <a:lnTo>
                  <a:pt x="5553390" y="0"/>
                </a:lnTo>
                <a:lnTo>
                  <a:pt x="5553390" y="5579462"/>
                </a:lnTo>
                <a:lnTo>
                  <a:pt x="0" y="5579462"/>
                </a:lnTo>
                <a:lnTo>
                  <a:pt x="0" y="0"/>
                </a:lnTo>
                <a:close/>
              </a:path>
            </a:pathLst>
          </a:custGeom>
          <a:blipFill>
            <a:blip r:embed="rId3"/>
            <a:stretch>
              <a:fillRect l="0" t="0" r="0" b="0"/>
            </a:stretch>
          </a:blipFill>
        </p:spPr>
      </p:sp>
      <p:sp>
        <p:nvSpPr>
          <p:cNvPr name="TextBox 7" id="7"/>
          <p:cNvSpPr txBox="true"/>
          <p:nvPr/>
        </p:nvSpPr>
        <p:spPr>
          <a:xfrm rot="0">
            <a:off x="283451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DIAGRAMA DE COMPONENTES GENERAL</a:t>
            </a:r>
          </a:p>
        </p:txBody>
      </p:sp>
      <p:sp>
        <p:nvSpPr>
          <p:cNvPr name="TextBox 8" id="8"/>
          <p:cNvSpPr txBox="true"/>
          <p:nvPr/>
        </p:nvSpPr>
        <p:spPr>
          <a:xfrm rot="0">
            <a:off x="2177299" y="4763486"/>
            <a:ext cx="6646742" cy="2939633"/>
          </a:xfrm>
          <a:prstGeom prst="rect">
            <a:avLst/>
          </a:prstGeom>
        </p:spPr>
        <p:txBody>
          <a:bodyPr anchor="t" rtlCol="false" tIns="0" lIns="0" bIns="0" rIns="0">
            <a:spAutoFit/>
          </a:bodyPr>
          <a:lstStyle/>
          <a:p>
            <a:pPr algn="l" marL="515679" indent="-257839" lvl="1">
              <a:lnSpc>
                <a:spcPts val="3343"/>
              </a:lnSpc>
              <a:buFont typeface="Arial"/>
              <a:buChar char="•"/>
            </a:pPr>
            <a:r>
              <a:rPr lang="en-US" sz="2388">
                <a:solidFill>
                  <a:srgbClr val="FFFFFF"/>
                </a:solidFill>
                <a:latin typeface="Poppins"/>
                <a:ea typeface="Poppins"/>
                <a:cs typeface="Poppins"/>
                <a:sym typeface="Poppins"/>
              </a:rPr>
              <a:t>Muestra la arquitectura global del sistema, como se conecta con otros sistemas externos que interactuan entre si</a:t>
            </a:r>
          </a:p>
          <a:p>
            <a:pPr algn="l" marL="515679" indent="-257839" lvl="1">
              <a:lnSpc>
                <a:spcPts val="3343"/>
              </a:lnSpc>
              <a:buFont typeface="Arial"/>
              <a:buChar char="•"/>
            </a:pPr>
            <a:r>
              <a:rPr lang="en-US" sz="2388">
                <a:solidFill>
                  <a:srgbClr val="FFFFFF"/>
                </a:solidFill>
                <a:latin typeface="Poppins"/>
                <a:ea typeface="Poppins"/>
                <a:cs typeface="Poppins"/>
                <a:sym typeface="Poppins"/>
              </a:rPr>
              <a:t>Define responsabilidades y relaciones</a:t>
            </a:r>
          </a:p>
          <a:p>
            <a:pPr algn="l" marL="515679" indent="-257839" lvl="1">
              <a:lnSpc>
                <a:spcPts val="3343"/>
              </a:lnSpc>
              <a:buFont typeface="Arial"/>
              <a:buChar char="•"/>
            </a:pPr>
            <a:r>
              <a:rPr lang="en-US" sz="2388">
                <a:solidFill>
                  <a:srgbClr val="FFFFFF"/>
                </a:solidFill>
                <a:latin typeface="Poppins"/>
                <a:ea typeface="Poppins"/>
                <a:cs typeface="Poppins"/>
                <a:sym typeface="Poppins"/>
              </a:rPr>
              <a:t>Agrega dependencias Externas</a:t>
            </a:r>
          </a:p>
          <a:p>
            <a:pPr algn="l" marL="515679" indent="-257839" lvl="1">
              <a:lnSpc>
                <a:spcPts val="3343"/>
              </a:lnSpc>
              <a:buFont typeface="Arial"/>
              <a:buChar char="•"/>
            </a:pPr>
            <a:r>
              <a:rPr lang="en-US" sz="2388">
                <a:solidFill>
                  <a:srgbClr val="FFFFFF"/>
                </a:solidFill>
                <a:latin typeface="Poppins"/>
                <a:ea typeface="Poppins"/>
                <a:cs typeface="Poppins"/>
                <a:sym typeface="Poppins"/>
              </a:rPr>
              <a:t>Agrupa por dominio si es necesario</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462199" y="4199060"/>
            <a:ext cx="6589711" cy="5250904"/>
          </a:xfrm>
          <a:custGeom>
            <a:avLst/>
            <a:gdLst/>
            <a:ahLst/>
            <a:cxnLst/>
            <a:rect r="r" b="b" t="t" l="l"/>
            <a:pathLst>
              <a:path h="5250904" w="6589711">
                <a:moveTo>
                  <a:pt x="0" y="0"/>
                </a:moveTo>
                <a:lnTo>
                  <a:pt x="6589711" y="0"/>
                </a:lnTo>
                <a:lnTo>
                  <a:pt x="6589711" y="5250904"/>
                </a:lnTo>
                <a:lnTo>
                  <a:pt x="0" y="5250904"/>
                </a:lnTo>
                <a:lnTo>
                  <a:pt x="0" y="0"/>
                </a:lnTo>
                <a:close/>
              </a:path>
            </a:pathLst>
          </a:custGeom>
          <a:blipFill>
            <a:blip r:embed="rId3"/>
            <a:stretch>
              <a:fillRect l="0" t="0" r="0" b="0"/>
            </a:stretch>
          </a:blipFill>
        </p:spPr>
      </p:sp>
      <p:sp>
        <p:nvSpPr>
          <p:cNvPr name="TextBox 7" id="7"/>
          <p:cNvSpPr txBox="true"/>
          <p:nvPr/>
        </p:nvSpPr>
        <p:spPr>
          <a:xfrm rot="0">
            <a:off x="283451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DIAGRAMA DE COMPONENTES ESPECIFICO</a:t>
            </a:r>
          </a:p>
        </p:txBody>
      </p:sp>
      <p:sp>
        <p:nvSpPr>
          <p:cNvPr name="TextBox 8" id="8"/>
          <p:cNvSpPr txBox="true"/>
          <p:nvPr/>
        </p:nvSpPr>
        <p:spPr>
          <a:xfrm rot="0">
            <a:off x="1467310" y="4132385"/>
            <a:ext cx="6646742" cy="5035080"/>
          </a:xfrm>
          <a:prstGeom prst="rect">
            <a:avLst/>
          </a:prstGeom>
        </p:spPr>
        <p:txBody>
          <a:bodyPr anchor="t" rtlCol="false" tIns="0" lIns="0" bIns="0" rIns="0">
            <a:spAutoFit/>
          </a:bodyPr>
          <a:lstStyle/>
          <a:p>
            <a:pPr algn="l" marL="515679" indent="-257839" lvl="1">
              <a:lnSpc>
                <a:spcPts val="3343"/>
              </a:lnSpc>
              <a:buFont typeface="Arial"/>
              <a:buChar char="•"/>
            </a:pPr>
            <a:r>
              <a:rPr lang="en-US" sz="2388">
                <a:solidFill>
                  <a:srgbClr val="FFFFFF"/>
                </a:solidFill>
                <a:latin typeface="Poppins"/>
                <a:ea typeface="Poppins"/>
                <a:cs typeface="Poppins"/>
                <a:sym typeface="Poppins"/>
              </a:rPr>
              <a:t>Muestra la arquitectura dentro de un aplicativo, es decir, cómo están organizados sus módulos principales.</a:t>
            </a:r>
          </a:p>
          <a:p>
            <a:pPr algn="l" marL="515679" indent="-257839" lvl="1">
              <a:lnSpc>
                <a:spcPts val="3343"/>
              </a:lnSpc>
              <a:buFont typeface="Arial"/>
              <a:buChar char="•"/>
            </a:pPr>
            <a:r>
              <a:rPr lang="en-US" sz="2388">
                <a:solidFill>
                  <a:srgbClr val="FFFFFF"/>
                </a:solidFill>
                <a:latin typeface="Poppins"/>
                <a:ea typeface="Poppins"/>
                <a:cs typeface="Poppins"/>
                <a:sym typeface="Poppins"/>
              </a:rPr>
              <a:t>Define el propósito del servicio especifico</a:t>
            </a:r>
          </a:p>
          <a:p>
            <a:pPr algn="l" marL="515679" indent="-257839" lvl="1">
              <a:lnSpc>
                <a:spcPts val="3343"/>
              </a:lnSpc>
              <a:buFont typeface="Arial"/>
              <a:buChar char="•"/>
            </a:pPr>
            <a:r>
              <a:rPr lang="en-US" sz="2388">
                <a:solidFill>
                  <a:srgbClr val="FFFFFF"/>
                </a:solidFill>
                <a:latin typeface="Poppins"/>
                <a:ea typeface="Poppins"/>
                <a:cs typeface="Poppins"/>
                <a:sym typeface="Poppins"/>
              </a:rPr>
              <a:t>Identifica los componentes internos:</a:t>
            </a:r>
          </a:p>
          <a:p>
            <a:pPr algn="l" marL="515679" indent="-257839" lvl="1">
              <a:lnSpc>
                <a:spcPts val="3343"/>
              </a:lnSpc>
              <a:buFont typeface="Arial"/>
              <a:buChar char="•"/>
            </a:pPr>
            <a:r>
              <a:rPr lang="en-US" sz="2388">
                <a:solidFill>
                  <a:srgbClr val="FFFFFF"/>
                </a:solidFill>
                <a:latin typeface="Poppins"/>
                <a:ea typeface="Poppins"/>
                <a:cs typeface="Poppins"/>
                <a:sym typeface="Poppins"/>
              </a:rPr>
              <a:t>Controladores, Servicios o lógica de negocio, repositorio o acceso a datos, modelos/Entidades, Base de datos o cliente externo, adaptadores o integraciones</a:t>
            </a:r>
          </a:p>
          <a:p>
            <a:pPr algn="l" marL="515679" indent="-257839" lvl="1">
              <a:lnSpc>
                <a:spcPts val="3343"/>
              </a:lnSpc>
              <a:buFont typeface="Arial"/>
              <a:buChar char="•"/>
            </a:pPr>
            <a:r>
              <a:rPr lang="en-US" sz="2388">
                <a:solidFill>
                  <a:srgbClr val="FFFFFF"/>
                </a:solidFill>
                <a:latin typeface="Poppins"/>
                <a:ea typeface="Poppins"/>
                <a:cs typeface="Poppins"/>
                <a:sym typeface="Poppins"/>
              </a:rPr>
              <a:t>Dibuja los módulos y relaciones</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434528" y="4446121"/>
            <a:ext cx="11140586" cy="2436075"/>
          </a:xfrm>
          <a:custGeom>
            <a:avLst/>
            <a:gdLst/>
            <a:ahLst/>
            <a:cxnLst/>
            <a:rect r="r" b="b" t="t" l="l"/>
            <a:pathLst>
              <a:path h="2436075" w="11140586">
                <a:moveTo>
                  <a:pt x="0" y="0"/>
                </a:moveTo>
                <a:lnTo>
                  <a:pt x="11140586" y="0"/>
                </a:lnTo>
                <a:lnTo>
                  <a:pt x="11140586" y="2436075"/>
                </a:lnTo>
                <a:lnTo>
                  <a:pt x="0" y="2436075"/>
                </a:lnTo>
                <a:lnTo>
                  <a:pt x="0" y="0"/>
                </a:lnTo>
                <a:close/>
              </a:path>
            </a:pathLst>
          </a:custGeom>
          <a:blipFill>
            <a:blip r:embed="rId3"/>
            <a:stretch>
              <a:fillRect l="0" t="0" r="0" b="0"/>
            </a:stretch>
          </a:blipFill>
        </p:spPr>
      </p:sp>
      <p:sp>
        <p:nvSpPr>
          <p:cNvPr name="AutoShape 7" id="7"/>
          <p:cNvSpPr/>
          <p:nvPr/>
        </p:nvSpPr>
        <p:spPr>
          <a:xfrm flipV="true">
            <a:off x="4670951" y="5990772"/>
            <a:ext cx="790920" cy="1496110"/>
          </a:xfrm>
          <a:prstGeom prst="line">
            <a:avLst/>
          </a:prstGeom>
          <a:ln cap="flat" w="38100">
            <a:solidFill>
              <a:srgbClr val="99C5FF"/>
            </a:solidFill>
            <a:prstDash val="solid"/>
            <a:headEnd type="none" len="sm" w="sm"/>
            <a:tailEnd type="triangle" len="med" w="lg"/>
          </a:ln>
        </p:spPr>
      </p:sp>
      <p:sp>
        <p:nvSpPr>
          <p:cNvPr name="AutoShape 8" id="8"/>
          <p:cNvSpPr/>
          <p:nvPr/>
        </p:nvSpPr>
        <p:spPr>
          <a:xfrm flipV="true">
            <a:off x="8068583" y="5981869"/>
            <a:ext cx="790920" cy="1496110"/>
          </a:xfrm>
          <a:prstGeom prst="line">
            <a:avLst/>
          </a:prstGeom>
          <a:ln cap="flat" w="38100">
            <a:solidFill>
              <a:srgbClr val="99C5FF"/>
            </a:solidFill>
            <a:prstDash val="solid"/>
            <a:headEnd type="none" len="sm" w="sm"/>
            <a:tailEnd type="triangle" len="med" w="lg"/>
          </a:ln>
        </p:spPr>
      </p:sp>
      <p:sp>
        <p:nvSpPr>
          <p:cNvPr name="AutoShape 9" id="9"/>
          <p:cNvSpPr/>
          <p:nvPr/>
        </p:nvSpPr>
        <p:spPr>
          <a:xfrm flipH="true" flipV="true">
            <a:off x="9493138" y="5981869"/>
            <a:ext cx="1828150" cy="1496110"/>
          </a:xfrm>
          <a:prstGeom prst="line">
            <a:avLst/>
          </a:prstGeom>
          <a:ln cap="flat" w="38100">
            <a:solidFill>
              <a:srgbClr val="99C5FF"/>
            </a:solidFill>
            <a:prstDash val="solid"/>
            <a:headEnd type="none" len="sm" w="sm"/>
            <a:tailEnd type="triangle" len="med" w="lg"/>
          </a:ln>
        </p:spPr>
      </p:sp>
      <p:sp>
        <p:nvSpPr>
          <p:cNvPr name="Freeform 10" id="10"/>
          <p:cNvSpPr/>
          <p:nvPr/>
        </p:nvSpPr>
        <p:spPr>
          <a:xfrm flipH="false" flipV="false" rot="0">
            <a:off x="15419050" y="4646592"/>
            <a:ext cx="2197059" cy="2235604"/>
          </a:xfrm>
          <a:custGeom>
            <a:avLst/>
            <a:gdLst/>
            <a:ahLst/>
            <a:cxnLst/>
            <a:rect r="r" b="b" t="t" l="l"/>
            <a:pathLst>
              <a:path h="2235604" w="2197059">
                <a:moveTo>
                  <a:pt x="0" y="0"/>
                </a:moveTo>
                <a:lnTo>
                  <a:pt x="2197059" y="0"/>
                </a:lnTo>
                <a:lnTo>
                  <a:pt x="2197059" y="2235604"/>
                </a:lnTo>
                <a:lnTo>
                  <a:pt x="0" y="2235604"/>
                </a:lnTo>
                <a:lnTo>
                  <a:pt x="0" y="0"/>
                </a:lnTo>
                <a:close/>
              </a:path>
            </a:pathLst>
          </a:custGeom>
          <a:blipFill>
            <a:blip r:embed="rId4"/>
            <a:stretch>
              <a:fillRect l="0" t="0" r="0" b="0"/>
            </a:stretch>
          </a:blipFill>
        </p:spPr>
      </p:sp>
      <p:sp>
        <p:nvSpPr>
          <p:cNvPr name="TextBox 11" id="11"/>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7A6200"/>
                </a:solidFill>
                <a:latin typeface="HK Modular"/>
                <a:ea typeface="HK Modular"/>
                <a:cs typeface="HK Modular"/>
                <a:sym typeface="HK Modular"/>
              </a:rPr>
              <a:t>SIMBOLOS DEL DIAGRAMA</a:t>
            </a:r>
          </a:p>
        </p:txBody>
      </p:sp>
      <p:sp>
        <p:nvSpPr>
          <p:cNvPr name="TextBox 12" id="12"/>
          <p:cNvSpPr txBox="true"/>
          <p:nvPr/>
        </p:nvSpPr>
        <p:spPr>
          <a:xfrm rot="0">
            <a:off x="3018473" y="7566246"/>
            <a:ext cx="3292950" cy="457259"/>
          </a:xfrm>
          <a:prstGeom prst="rect">
            <a:avLst/>
          </a:prstGeom>
        </p:spPr>
        <p:txBody>
          <a:bodyPr anchor="t" rtlCol="false" tIns="0" lIns="0" bIns="0" rIns="0">
            <a:spAutoFit/>
          </a:bodyPr>
          <a:lstStyle/>
          <a:p>
            <a:pPr algn="ctr">
              <a:lnSpc>
                <a:spcPts val="3786"/>
              </a:lnSpc>
              <a:spcBef>
                <a:spcPct val="0"/>
              </a:spcBef>
            </a:pPr>
            <a:r>
              <a:rPr lang="en-US" sz="2704">
                <a:solidFill>
                  <a:srgbClr val="99C5FF"/>
                </a:solidFill>
                <a:latin typeface="HK Modular"/>
                <a:ea typeface="HK Modular"/>
                <a:cs typeface="HK Modular"/>
                <a:sym typeface="HK Modular"/>
              </a:rPr>
              <a:t>COMPONENTE</a:t>
            </a:r>
          </a:p>
        </p:txBody>
      </p:sp>
      <p:sp>
        <p:nvSpPr>
          <p:cNvPr name="TextBox 13" id="13"/>
          <p:cNvSpPr txBox="true"/>
          <p:nvPr/>
        </p:nvSpPr>
        <p:spPr>
          <a:xfrm rot="0">
            <a:off x="6563042" y="7566246"/>
            <a:ext cx="3292950" cy="457259"/>
          </a:xfrm>
          <a:prstGeom prst="rect">
            <a:avLst/>
          </a:prstGeom>
        </p:spPr>
        <p:txBody>
          <a:bodyPr anchor="t" rtlCol="false" tIns="0" lIns="0" bIns="0" rIns="0">
            <a:spAutoFit/>
          </a:bodyPr>
          <a:lstStyle/>
          <a:p>
            <a:pPr algn="ctr">
              <a:lnSpc>
                <a:spcPts val="3786"/>
              </a:lnSpc>
              <a:spcBef>
                <a:spcPct val="0"/>
              </a:spcBef>
            </a:pPr>
            <a:r>
              <a:rPr lang="en-US" sz="2704">
                <a:solidFill>
                  <a:srgbClr val="99C5FF"/>
                </a:solidFill>
                <a:latin typeface="HK Modular"/>
                <a:ea typeface="HK Modular"/>
                <a:cs typeface="HK Modular"/>
                <a:sym typeface="HK Modular"/>
              </a:rPr>
              <a:t>PUERTO</a:t>
            </a:r>
          </a:p>
        </p:txBody>
      </p:sp>
      <p:sp>
        <p:nvSpPr>
          <p:cNvPr name="TextBox 14" id="14"/>
          <p:cNvSpPr txBox="true"/>
          <p:nvPr/>
        </p:nvSpPr>
        <p:spPr>
          <a:xfrm rot="0">
            <a:off x="9731247" y="7566246"/>
            <a:ext cx="3292950" cy="457259"/>
          </a:xfrm>
          <a:prstGeom prst="rect">
            <a:avLst/>
          </a:prstGeom>
        </p:spPr>
        <p:txBody>
          <a:bodyPr anchor="t" rtlCol="false" tIns="0" lIns="0" bIns="0" rIns="0">
            <a:spAutoFit/>
          </a:bodyPr>
          <a:lstStyle/>
          <a:p>
            <a:pPr algn="ctr">
              <a:lnSpc>
                <a:spcPts val="3786"/>
              </a:lnSpc>
              <a:spcBef>
                <a:spcPct val="0"/>
              </a:spcBef>
            </a:pPr>
            <a:r>
              <a:rPr lang="en-US" sz="2704">
                <a:solidFill>
                  <a:srgbClr val="99C5FF"/>
                </a:solidFill>
                <a:latin typeface="HK Modular"/>
                <a:ea typeface="HK Modular"/>
                <a:cs typeface="HK Modular"/>
                <a:sym typeface="HK Modular"/>
              </a:rPr>
              <a:t>INTERFAZ</a:t>
            </a:r>
          </a:p>
        </p:txBody>
      </p:sp>
      <p:sp>
        <p:nvSpPr>
          <p:cNvPr name="TextBox 15" id="15"/>
          <p:cNvSpPr txBox="true"/>
          <p:nvPr/>
        </p:nvSpPr>
        <p:spPr>
          <a:xfrm rot="0">
            <a:off x="13177185" y="7566246"/>
            <a:ext cx="3292950" cy="457259"/>
          </a:xfrm>
          <a:prstGeom prst="rect">
            <a:avLst/>
          </a:prstGeom>
        </p:spPr>
        <p:txBody>
          <a:bodyPr anchor="t" rtlCol="false" tIns="0" lIns="0" bIns="0" rIns="0">
            <a:spAutoFit/>
          </a:bodyPr>
          <a:lstStyle/>
          <a:p>
            <a:pPr algn="ctr">
              <a:lnSpc>
                <a:spcPts val="3786"/>
              </a:lnSpc>
              <a:spcBef>
                <a:spcPct val="0"/>
              </a:spcBef>
            </a:pPr>
            <a:r>
              <a:rPr lang="en-US" sz="2704">
                <a:solidFill>
                  <a:srgbClr val="99C5FF"/>
                </a:solidFill>
                <a:latin typeface="HK Modular"/>
                <a:ea typeface="HK Modular"/>
                <a:cs typeface="HK Modular"/>
                <a:sym typeface="HK Modular"/>
              </a:rPr>
              <a:t>DATA BASE</a:t>
            </a:r>
          </a:p>
        </p:txBody>
      </p:sp>
      <p:sp>
        <p:nvSpPr>
          <p:cNvPr name="AutoShape 16" id="16"/>
          <p:cNvSpPr/>
          <p:nvPr/>
        </p:nvSpPr>
        <p:spPr>
          <a:xfrm flipV="true">
            <a:off x="14811595" y="6636616"/>
            <a:ext cx="790920" cy="865009"/>
          </a:xfrm>
          <a:prstGeom prst="line">
            <a:avLst/>
          </a:prstGeom>
          <a:ln cap="flat" w="38100">
            <a:solidFill>
              <a:srgbClr val="99C5FF"/>
            </a:solidFill>
            <a:prstDash val="solid"/>
            <a:headEnd type="none" len="sm" w="sm"/>
            <a:tailEnd type="triangle" len="med" w="lg"/>
          </a:ln>
        </p:spPr>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5151079" y="1631751"/>
            <a:ext cx="8204575" cy="2094226"/>
          </a:xfrm>
          <a:prstGeom prst="rect">
            <a:avLst/>
          </a:prstGeom>
        </p:spPr>
        <p:txBody>
          <a:bodyPr anchor="t" rtlCol="false" tIns="0" lIns="0" bIns="0" rIns="0">
            <a:spAutoFit/>
          </a:bodyPr>
          <a:lstStyle/>
          <a:p>
            <a:pPr algn="ctr">
              <a:lnSpc>
                <a:spcPts val="8393"/>
              </a:lnSpc>
              <a:spcBef>
                <a:spcPct val="0"/>
              </a:spcBef>
            </a:pPr>
            <a:r>
              <a:rPr lang="en-US" sz="5995">
                <a:solidFill>
                  <a:srgbClr val="7A6200"/>
                </a:solidFill>
                <a:latin typeface="HK Modular"/>
                <a:ea typeface="HK Modular"/>
                <a:cs typeface="HK Modular"/>
                <a:sym typeface="HK Modular"/>
              </a:rPr>
              <a:t>EXPOSICIONES PROYECTO</a:t>
            </a:r>
          </a:p>
        </p:txBody>
      </p:sp>
      <p:sp>
        <p:nvSpPr>
          <p:cNvPr name="TextBox 13" id="13"/>
          <p:cNvSpPr txBox="true"/>
          <p:nvPr/>
        </p:nvSpPr>
        <p:spPr>
          <a:xfrm rot="0">
            <a:off x="5595097" y="4271671"/>
            <a:ext cx="7316539"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Deben tener todo preparado - Segun cronograma SEMANA 7</a:t>
            </a:r>
          </a:p>
        </p:txBody>
      </p:sp>
      <p:sp>
        <p:nvSpPr>
          <p:cNvPr name="TextBox 14" id="14"/>
          <p:cNvSpPr txBox="true"/>
          <p:nvPr/>
        </p:nvSpPr>
        <p:spPr>
          <a:xfrm rot="0">
            <a:off x="5823421" y="4801235"/>
            <a:ext cx="6641157"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Feedback y retroalimentacion - 15 minutos (5 minutos)</a:t>
            </a:r>
          </a:p>
        </p:txBody>
      </p:sp>
      <p:sp>
        <p:nvSpPr>
          <p:cNvPr name="Freeform 15" id="15"/>
          <p:cNvSpPr/>
          <p:nvPr/>
        </p:nvSpPr>
        <p:spPr>
          <a:xfrm flipH="false" flipV="false" rot="0">
            <a:off x="5795412" y="5526845"/>
            <a:ext cx="6915911" cy="4149546"/>
          </a:xfrm>
          <a:custGeom>
            <a:avLst/>
            <a:gdLst/>
            <a:ahLst/>
            <a:cxnLst/>
            <a:rect r="r" b="b" t="t" l="l"/>
            <a:pathLst>
              <a:path h="4149546" w="6915911">
                <a:moveTo>
                  <a:pt x="0" y="0"/>
                </a:moveTo>
                <a:lnTo>
                  <a:pt x="6915910" y="0"/>
                </a:lnTo>
                <a:lnTo>
                  <a:pt x="6915910" y="4149547"/>
                </a:lnTo>
                <a:lnTo>
                  <a:pt x="0" y="4149547"/>
                </a:lnTo>
                <a:lnTo>
                  <a:pt x="0" y="0"/>
                </a:lnTo>
                <a:close/>
              </a:path>
            </a:pathLst>
          </a:custGeom>
          <a:blipFill>
            <a:blip r:embed="rId3"/>
            <a:stretch>
              <a:fillRect l="0" t="0" r="0" b="0"/>
            </a:stretch>
          </a:blipFill>
        </p:spPr>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723125" y="3709010"/>
            <a:ext cx="12841750" cy="5231250"/>
          </a:xfrm>
          <a:prstGeom prst="rect">
            <a:avLst/>
          </a:prstGeom>
        </p:spPr>
        <p:txBody>
          <a:bodyPr anchor="t" rtlCol="false" tIns="0" lIns="0" bIns="0" rIns="0">
            <a:spAutoFit/>
          </a:bodyPr>
          <a:lstStyle/>
          <a:p>
            <a:pPr algn="ctr" marL="709848" indent="-354924" lvl="1">
              <a:lnSpc>
                <a:spcPts val="4602"/>
              </a:lnSpc>
              <a:buAutoNum type="arabicPeriod" startAt="1"/>
            </a:pPr>
            <a:r>
              <a:rPr lang="en-US" sz="3287">
                <a:solidFill>
                  <a:srgbClr val="FFFFFF"/>
                </a:solidFill>
                <a:latin typeface="Poppins"/>
                <a:ea typeface="Poppins"/>
                <a:cs typeface="Poppins"/>
                <a:sym typeface="Poppins"/>
              </a:rPr>
              <a:t>Revisen las lecturas de la semana que estan en moodle</a:t>
            </a:r>
          </a:p>
          <a:p>
            <a:pPr algn="ctr" marL="709848" indent="-354924" lvl="1">
              <a:lnSpc>
                <a:spcPts val="4602"/>
              </a:lnSpc>
              <a:buAutoNum type="arabicPeriod" startAt="1"/>
            </a:pPr>
            <a:r>
              <a:rPr lang="en-US" sz="3287">
                <a:solidFill>
                  <a:srgbClr val="FFFFFF"/>
                </a:solidFill>
                <a:latin typeface="Poppins"/>
                <a:ea typeface="Poppins"/>
                <a:cs typeface="Poppins"/>
                <a:sym typeface="Poppins"/>
              </a:rPr>
              <a:t>Revisen videos sobre como generar aplicaciones con spring boot</a:t>
            </a:r>
          </a:p>
          <a:p>
            <a:pPr algn="ctr" marL="709848" indent="-354924" lvl="1">
              <a:lnSpc>
                <a:spcPts val="4602"/>
              </a:lnSpc>
              <a:buAutoNum type="arabicPeriod" startAt="1"/>
            </a:pPr>
            <a:r>
              <a:rPr lang="en-US" sz="3287">
                <a:solidFill>
                  <a:srgbClr val="FFFFFF"/>
                </a:solidFill>
                <a:latin typeface="Poppins"/>
                <a:ea typeface="Poppins"/>
                <a:cs typeface="Poppins"/>
                <a:sym typeface="Poppins"/>
              </a:rPr>
              <a:t>Revisen la documentacion sobre como utilizar las anotaciones de Springboot en las unidades de software vistas</a:t>
            </a:r>
          </a:p>
          <a:p>
            <a:pPr algn="ctr" marL="709848" indent="-354924" lvl="1">
              <a:lnSpc>
                <a:spcPts val="4602"/>
              </a:lnSpc>
              <a:buAutoNum type="arabicPeriod" startAt="1"/>
            </a:pPr>
            <a:r>
              <a:rPr lang="en-US" sz="3287">
                <a:solidFill>
                  <a:srgbClr val="FFFFFF"/>
                </a:solidFill>
                <a:latin typeface="Poppins"/>
                <a:ea typeface="Poppins"/>
                <a:cs typeface="Poppins"/>
                <a:sym typeface="Poppins"/>
              </a:rPr>
              <a:t>Revisen documentacion y lecturas sobre la arquitectura MVC</a:t>
            </a:r>
          </a:p>
          <a:p>
            <a:pPr algn="ctr" marL="709848" indent="-354924" lvl="1">
              <a:lnSpc>
                <a:spcPts val="4602"/>
              </a:lnSpc>
              <a:buAutoNum type="arabicPeriod" startAt="1"/>
            </a:pPr>
            <a:r>
              <a:rPr lang="en-US" sz="3287">
                <a:solidFill>
                  <a:srgbClr val="FFFFFF"/>
                </a:solidFill>
                <a:latin typeface="Poppins"/>
                <a:ea typeface="Poppins"/>
                <a:cs typeface="Poppins"/>
                <a:sym typeface="Poppins"/>
              </a:rPr>
              <a:t>Instalen Lombok en sus IDE</a:t>
            </a:r>
          </a:p>
        </p:txBody>
      </p:sp>
      <p:sp>
        <p:nvSpPr>
          <p:cNvPr name="TextBox 13" id="13"/>
          <p:cNvSpPr txBox="true"/>
          <p:nvPr/>
        </p:nvSpPr>
        <p:spPr>
          <a:xfrm rot="0">
            <a:off x="2365746" y="2211950"/>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99C5FF"/>
                </a:solidFill>
                <a:latin typeface="HK Modular"/>
                <a:ea typeface="HK Modular"/>
                <a:cs typeface="HK Modular"/>
                <a:sym typeface="HK Modular"/>
              </a:rPr>
              <a:t>TAREA</a:t>
            </a:r>
          </a:p>
        </p:txBody>
      </p:sp>
      <p:sp>
        <p:nvSpPr>
          <p:cNvPr name="Freeform 14" id="14"/>
          <p:cNvSpPr/>
          <p:nvPr/>
        </p:nvSpPr>
        <p:spPr>
          <a:xfrm flipH="false" flipV="false" rot="0">
            <a:off x="7613426" y="-501874"/>
            <a:ext cx="3061147" cy="3061147"/>
          </a:xfrm>
          <a:custGeom>
            <a:avLst/>
            <a:gdLst/>
            <a:ahLst/>
            <a:cxnLst/>
            <a:rect r="r" b="b" t="t" l="l"/>
            <a:pathLst>
              <a:path h="3061147" w="3061147">
                <a:moveTo>
                  <a:pt x="0" y="0"/>
                </a:moveTo>
                <a:lnTo>
                  <a:pt x="3061148" y="0"/>
                </a:lnTo>
                <a:lnTo>
                  <a:pt x="3061148" y="3061148"/>
                </a:lnTo>
                <a:lnTo>
                  <a:pt x="0" y="3061148"/>
                </a:lnTo>
                <a:lnTo>
                  <a:pt x="0" y="0"/>
                </a:lnTo>
                <a:close/>
              </a:path>
            </a:pathLst>
          </a:custGeom>
          <a:blipFill>
            <a:blip r:embed="rId3"/>
            <a:stretch>
              <a:fillRect l="0" t="0" r="0" b="0"/>
            </a:stretch>
          </a:blipFill>
        </p:spPr>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155505" y="-311349"/>
            <a:ext cx="2367992" cy="2367992"/>
          </a:xfrm>
          <a:custGeom>
            <a:avLst/>
            <a:gdLst/>
            <a:ahLst/>
            <a:cxnLst/>
            <a:rect r="r" b="b" t="t" l="l"/>
            <a:pathLst>
              <a:path h="2367992" w="2367992">
                <a:moveTo>
                  <a:pt x="0" y="0"/>
                </a:moveTo>
                <a:lnTo>
                  <a:pt x="2367992" y="0"/>
                </a:lnTo>
                <a:lnTo>
                  <a:pt x="2367992" y="2367993"/>
                </a:lnTo>
                <a:lnTo>
                  <a:pt x="0" y="2367993"/>
                </a:lnTo>
                <a:lnTo>
                  <a:pt x="0" y="0"/>
                </a:lnTo>
                <a:close/>
              </a:path>
            </a:pathLst>
          </a:custGeom>
          <a:blipFill>
            <a:blip r:embed="rId3"/>
            <a:stretch>
              <a:fillRect l="0" t="0" r="0" b="0"/>
            </a:stretch>
          </a:blipFill>
        </p:spPr>
      </p:sp>
      <p:sp>
        <p:nvSpPr>
          <p:cNvPr name="Freeform 13" id="13"/>
          <p:cNvSpPr/>
          <p:nvPr/>
        </p:nvSpPr>
        <p:spPr>
          <a:xfrm flipH="false" flipV="false" rot="0">
            <a:off x="5472804" y="3263074"/>
            <a:ext cx="7342393" cy="4130096"/>
          </a:xfrm>
          <a:custGeom>
            <a:avLst/>
            <a:gdLst/>
            <a:ahLst/>
            <a:cxnLst/>
            <a:rect r="r" b="b" t="t" l="l"/>
            <a:pathLst>
              <a:path h="4130096" w="7342393">
                <a:moveTo>
                  <a:pt x="0" y="0"/>
                </a:moveTo>
                <a:lnTo>
                  <a:pt x="7342392" y="0"/>
                </a:lnTo>
                <a:lnTo>
                  <a:pt x="7342392" y="4130097"/>
                </a:lnTo>
                <a:lnTo>
                  <a:pt x="0" y="4130097"/>
                </a:lnTo>
                <a:lnTo>
                  <a:pt x="0" y="0"/>
                </a:lnTo>
                <a:close/>
              </a:path>
            </a:pathLst>
          </a:custGeom>
          <a:blipFill>
            <a:blip r:embed="rId4"/>
            <a:stretch>
              <a:fillRect l="0" t="0" r="0" b="0"/>
            </a:stretch>
          </a:blipFill>
        </p:spPr>
      </p:sp>
      <p:sp>
        <p:nvSpPr>
          <p:cNvPr name="TextBox 14" id="14"/>
          <p:cNvSpPr txBox="true"/>
          <p:nvPr/>
        </p:nvSpPr>
        <p:spPr>
          <a:xfrm rot="0">
            <a:off x="3666280" y="7525241"/>
            <a:ext cx="10955440" cy="2433724"/>
          </a:xfrm>
          <a:prstGeom prst="rect">
            <a:avLst/>
          </a:prstGeom>
        </p:spPr>
        <p:txBody>
          <a:bodyPr anchor="t" rtlCol="false" tIns="0" lIns="0" bIns="0" rIns="0">
            <a:spAutoFit/>
          </a:bodyPr>
          <a:lstStyle/>
          <a:p>
            <a:pPr algn="ctr">
              <a:lnSpc>
                <a:spcPts val="6476"/>
              </a:lnSpc>
              <a:spcBef>
                <a:spcPct val="0"/>
              </a:spcBef>
            </a:pPr>
            <a:r>
              <a:rPr lang="en-US" sz="4626">
                <a:solidFill>
                  <a:srgbClr val="7A6200"/>
                </a:solidFill>
                <a:latin typeface="HK Modular"/>
                <a:ea typeface="HK Modular"/>
                <a:cs typeface="HK Modular"/>
                <a:sym typeface="HK Modular"/>
              </a:rPr>
              <a:t>PROXIMA SESION DE LABORATORIO - REVISION INICIAL DEL PROYECTO</a:t>
            </a:r>
          </a:p>
        </p:txBody>
      </p:sp>
      <p:sp>
        <p:nvSpPr>
          <p:cNvPr name="TextBox 15" id="15"/>
          <p:cNvSpPr txBox="true"/>
          <p:nvPr/>
        </p:nvSpPr>
        <p:spPr>
          <a:xfrm rot="0">
            <a:off x="2561247" y="1827378"/>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99C5FF"/>
                </a:solidFill>
                <a:latin typeface="HK Modular"/>
                <a:ea typeface="HK Modular"/>
                <a:cs typeface="HK Modular"/>
                <a:sym typeface="HK Modular"/>
              </a:rPr>
              <a:t>NOS VEMOS EN LA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DAGxs-IGBTk</dc:identifier>
  <dcterms:modified xsi:type="dcterms:W3CDTF">2011-08-01T06:04:30Z</dcterms:modified>
  <cp:revision>1</cp:revision>
  <dc:title>DOSW 2 - S07</dc:title>
</cp:coreProperties>
</file>