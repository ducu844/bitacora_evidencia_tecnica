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x="18288000" cy="10287000"/>
  <p:notesSz cx="6858000" cy="9144000"/>
  <p:embeddedFontLst>
    <p:embeddedFont>
      <p:font typeface="HK Modular" charset="1" panose="00000800000000000000"/>
      <p:regular r:id="rId71"/>
    </p:embeddedFont>
    <p:embeddedFont>
      <p:font typeface="RQND Pro" charset="1" panose="00000500000000000000"/>
      <p:regular r:id="rId72"/>
    </p:embeddedFont>
    <p:embeddedFont>
      <p:font typeface="Poppins" charset="1" panose="00000500000000000000"/>
      <p:regular r:id="rId73"/>
    </p:embeddedFont>
    <p:embeddedFont>
      <p:font typeface="Canva Sans Bold" charset="1" panose="020B0803030501040103"/>
      <p:regular r:id="rId74"/>
    </p:embeddedFont>
    <p:embeddedFont>
      <p:font typeface="Canva Sans" charset="1" panose="020B0503030501040103"/>
      <p:regular r:id="rId75"/>
    </p:embeddedFont>
    <p:embeddedFont>
      <p:font typeface="Poppins Bold" charset="1" panose="00000800000000000000"/>
      <p:regular r:id="rId76"/>
    </p:embeddedFont>
    <p:embeddedFont>
      <p:font typeface="Arimo" charset="1" panose="020B0604020202020204"/>
      <p:regular r:id="rId77"/>
    </p:embeddedFont>
    <p:embeddedFont>
      <p:font typeface="Poppins Italics" charset="1" panose="00000500000000000000"/>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74" Target="fonts/font74.fntdata" Type="http://schemas.openxmlformats.org/officeDocument/2006/relationships/font"/><Relationship Id="rId75" Target="fonts/font75.fntdata" Type="http://schemas.openxmlformats.org/officeDocument/2006/relationships/font"/><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3.png" Type="http://schemas.openxmlformats.org/officeDocument/2006/relationships/image"/><Relationship Id="rId4" Target="../media/image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30.jpe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5.png" Type="http://schemas.openxmlformats.org/officeDocument/2006/relationships/image"/><Relationship Id="rId4"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6.png" Type="http://schemas.openxmlformats.org/officeDocument/2006/relationships/image"/><Relationship Id="rId4"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37.png" Type="http://schemas.openxmlformats.org/officeDocument/2006/relationships/image"/><Relationship Id="rId4" Target="../media/image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3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3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1.png" Type="http://schemas.openxmlformats.org/officeDocument/2006/relationships/image"/><Relationship Id="rId4" Target="../media/image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4.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 Id="rId5" Target="../media/image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0.png" Type="http://schemas.openxmlformats.org/officeDocument/2006/relationships/image"/><Relationship Id="rId4" Target="https://www.figma.com/community/file/1052832340031141040/spotify-mobile-ui-kit" TargetMode="External" Type="http://schemas.openxmlformats.org/officeDocument/2006/relationships/hyperlink"/><Relationship Id="rId5" Target="../media/image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1.png" Type="http://schemas.openxmlformats.org/officeDocument/2006/relationships/image"/><Relationship Id="rId4" Target="../media/image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49.png" Type="http://schemas.openxmlformats.org/officeDocument/2006/relationships/image"/><Relationship Id="rId4" Target="../media/image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6.png" Type="http://schemas.openxmlformats.org/officeDocument/2006/relationships/image"/><Relationship Id="rId4" Target="../media/image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7.png" Type="http://schemas.openxmlformats.org/officeDocument/2006/relationships/image"/><Relationship Id="rId4" Target="../media/image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8.png" Type="http://schemas.openxmlformats.org/officeDocument/2006/relationships/image"/><Relationship Id="rId4" Target="../media/image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9.png" Type="http://schemas.openxmlformats.org/officeDocument/2006/relationships/image"/><Relationship Id="rId4" Target="../media/image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0.png" Type="http://schemas.openxmlformats.org/officeDocument/2006/relationships/image"/><Relationship Id="rId4" Target="../media/image5.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1.png" Type="http://schemas.openxmlformats.org/officeDocument/2006/relationships/image"/><Relationship Id="rId4" Target="../media/image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2.png" Type="http://schemas.openxmlformats.org/officeDocument/2006/relationships/image"/><Relationship Id="rId4" Target="../media/image5.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3.png" Type="http://schemas.openxmlformats.org/officeDocument/2006/relationships/image"/><Relationship Id="rId4" Target="../media/image5.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4.png" Type="http://schemas.openxmlformats.org/officeDocument/2006/relationships/image"/><Relationship Id="rId4" Target="../media/image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5.png" Type="http://schemas.openxmlformats.org/officeDocument/2006/relationships/image"/><Relationship Id="rId4" Target="../media/image5.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6.png" Type="http://schemas.openxmlformats.org/officeDocument/2006/relationships/image"/><Relationship Id="rId4" Target="../media/image5.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7.png" Type="http://schemas.openxmlformats.org/officeDocument/2006/relationships/image"/><Relationship Id="rId4" Target="../media/image68.png" Type="http://schemas.openxmlformats.org/officeDocument/2006/relationships/image"/><Relationship Id="rId5" Target="../media/image69.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0.png" Type="http://schemas.openxmlformats.org/officeDocument/2006/relationships/image"/><Relationship Id="rId4" Target="../media/image71.svg" Type="http://schemas.openxmlformats.org/officeDocument/2006/relationships/image"/><Relationship Id="rId5" Target="../media/image5.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2.png" Type="http://schemas.openxmlformats.org/officeDocument/2006/relationships/image"/><Relationship Id="rId4" Target="../media/image73.png" Type="http://schemas.openxmlformats.org/officeDocument/2006/relationships/image"/><Relationship Id="rId5" Target="../media/image74.png" Type="http://schemas.openxmlformats.org/officeDocument/2006/relationships/image"/><Relationship Id="rId6" Target="../media/image5.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5.png" Type="http://schemas.openxmlformats.org/officeDocument/2006/relationships/image"/><Relationship Id="rId4" Target="../media/image76.png" Type="http://schemas.openxmlformats.org/officeDocument/2006/relationships/image"/><Relationship Id="rId5" Target="../media/image77.png" Type="http://schemas.openxmlformats.org/officeDocument/2006/relationships/image"/><Relationship Id="rId6" Target="../media/image5.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8.png" Type="http://schemas.openxmlformats.org/officeDocument/2006/relationships/image"/><Relationship Id="rId4" Target="../media/image5.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9.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SEMANA 4</a:t>
            </a:r>
          </a:p>
        </p:txBody>
      </p:sp>
      <p:sp>
        <p:nvSpPr>
          <p:cNvPr name="TextBox 8" id="8"/>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957F3B"/>
                </a:solidFill>
                <a:latin typeface="HK Modular"/>
                <a:ea typeface="HK Modular"/>
                <a:cs typeface="HK Modular"/>
                <a:sym typeface="HK Modular"/>
              </a:rPr>
              <a:t>GRUPO 2</a:t>
            </a:r>
          </a:p>
        </p:txBody>
      </p:sp>
      <p:sp>
        <p:nvSpPr>
          <p:cNvPr name="TextBox 9" id="9"/>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5"/>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6"/>
            <a:stretch>
              <a:fillRect l="0" t="0" r="0" b="0"/>
            </a:stretch>
          </a:blipFill>
        </p:spPr>
      </p:sp>
      <p:sp>
        <p:nvSpPr>
          <p:cNvPr name="Freeform 12" id="12"/>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061148" y="2645920"/>
            <a:ext cx="12198152" cy="1370059"/>
          </a:xfrm>
          <a:prstGeom prst="rect">
            <a:avLst/>
          </a:prstGeom>
        </p:spPr>
        <p:txBody>
          <a:bodyPr anchor="t" rtlCol="false" tIns="0" lIns="0" bIns="0" rIns="0">
            <a:spAutoFit/>
          </a:bodyPr>
          <a:lstStyle/>
          <a:p>
            <a:pPr algn="ctr">
              <a:lnSpc>
                <a:spcPts val="11109"/>
              </a:lnSpc>
              <a:spcBef>
                <a:spcPct val="0"/>
              </a:spcBef>
            </a:pPr>
            <a:r>
              <a:rPr lang="en-US" sz="7935">
                <a:solidFill>
                  <a:srgbClr val="957F3B"/>
                </a:solidFill>
                <a:latin typeface="HK Modular"/>
                <a:ea typeface="HK Modular"/>
                <a:cs typeface="HK Modular"/>
                <a:sym typeface="HK Modular"/>
              </a:rPr>
              <a:t>QUIZ #2</a:t>
            </a:r>
          </a:p>
        </p:txBody>
      </p:sp>
      <p:grpSp>
        <p:nvGrpSpPr>
          <p:cNvPr name="Group 10" id="10"/>
          <p:cNvGrpSpPr/>
          <p:nvPr/>
        </p:nvGrpSpPr>
        <p:grpSpPr>
          <a:xfrm rot="0">
            <a:off x="572768" y="3822181"/>
            <a:ext cx="4125543" cy="41255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960DC">
                      <a:alpha val="100000"/>
                    </a:srgbClr>
                  </a:gs>
                  <a:gs pos="100000">
                    <a:srgbClr val="FF99FF">
                      <a:alpha val="100000"/>
                    </a:srgbClr>
                  </a:gs>
                </a:gsLst>
                <a:lin ang="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a:grpSpLocks noChangeAspect="true"/>
          </p:cNvGrpSpPr>
          <p:nvPr/>
        </p:nvGrpSpPr>
        <p:grpSpPr>
          <a:xfrm rot="0">
            <a:off x="902350" y="4151763"/>
            <a:ext cx="3466379" cy="3466379"/>
            <a:chOff x="0" y="0"/>
            <a:chExt cx="14840029" cy="14840029"/>
          </a:xfrm>
        </p:grpSpPr>
        <p:sp>
          <p:nvSpPr>
            <p:cNvPr name="Freeform 14" id="1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C4459F"/>
            </a:solidFill>
          </p:spPr>
        </p:sp>
        <p:sp>
          <p:nvSpPr>
            <p:cNvPr name="Freeform 15" id="1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6" id="1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4712" t="0" r="-24712" b="0"/>
              </a:stretch>
            </a:blipFill>
          </p:spPr>
        </p:sp>
      </p:grpSp>
      <p:sp>
        <p:nvSpPr>
          <p:cNvPr name="TextBox 17" id="17"/>
          <p:cNvSpPr txBox="true"/>
          <p:nvPr/>
        </p:nvSpPr>
        <p:spPr>
          <a:xfrm rot="0">
            <a:off x="5061148" y="4888611"/>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Ingresen al  Codigo que se va a generar con Quizizz</a:t>
            </a:r>
          </a:p>
        </p:txBody>
      </p:sp>
      <p:sp>
        <p:nvSpPr>
          <p:cNvPr name="TextBox 18" id="18"/>
          <p:cNvSpPr txBox="true"/>
          <p:nvPr/>
        </p:nvSpPr>
        <p:spPr>
          <a:xfrm rot="0">
            <a:off x="5061148" y="5622697"/>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Solo van a tener un intento</a:t>
            </a:r>
          </a:p>
        </p:txBody>
      </p:sp>
      <p:sp>
        <p:nvSpPr>
          <p:cNvPr name="TextBox 19" id="19"/>
          <p:cNvSpPr txBox="true"/>
          <p:nvPr/>
        </p:nvSpPr>
        <p:spPr>
          <a:xfrm rot="0">
            <a:off x="5061148" y="7881049"/>
            <a:ext cx="1165102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estudiantes que estan exonerados pueden presentarlo ya que les sirve para afianzar conocimientos</a:t>
            </a:r>
          </a:p>
        </p:txBody>
      </p:sp>
      <p:sp>
        <p:nvSpPr>
          <p:cNvPr name="TextBox 20" id="20"/>
          <p:cNvSpPr txBox="true"/>
          <p:nvPr/>
        </p:nvSpPr>
        <p:spPr>
          <a:xfrm rot="0">
            <a:off x="5061148" y="6356758"/>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10 preguntas de opcion multiple y de completar conceptos </a:t>
            </a:r>
          </a:p>
        </p:txBody>
      </p:sp>
      <p:sp>
        <p:nvSpPr>
          <p:cNvPr name="Freeform 21" id="21"/>
          <p:cNvSpPr/>
          <p:nvPr/>
        </p:nvSpPr>
        <p:spPr>
          <a:xfrm flipH="false" flipV="false" rot="0">
            <a:off x="7792986" y="-793776"/>
            <a:ext cx="3644952" cy="3644952"/>
          </a:xfrm>
          <a:custGeom>
            <a:avLst/>
            <a:gdLst/>
            <a:ahLst/>
            <a:cxnLst/>
            <a:rect r="r" b="b" t="t" l="l"/>
            <a:pathLst>
              <a:path h="3644952" w="3644952">
                <a:moveTo>
                  <a:pt x="0" y="0"/>
                </a:moveTo>
                <a:lnTo>
                  <a:pt x="3644952" y="0"/>
                </a:lnTo>
                <a:lnTo>
                  <a:pt x="3644952" y="3644952"/>
                </a:lnTo>
                <a:lnTo>
                  <a:pt x="0" y="3644952"/>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1809394"/>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AGENDA</a:t>
            </a:r>
          </a:p>
        </p:txBody>
      </p:sp>
      <p:sp>
        <p:nvSpPr>
          <p:cNvPr name="Freeform 8" id="8"/>
          <p:cNvSpPr/>
          <p:nvPr/>
        </p:nvSpPr>
        <p:spPr>
          <a:xfrm flipH="false" flipV="false" rot="0">
            <a:off x="8304904" y="437716"/>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9" id="9"/>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10" id="10"/>
          <p:cNvSpPr txBox="true"/>
          <p:nvPr/>
        </p:nvSpPr>
        <p:spPr>
          <a:xfrm rot="0">
            <a:off x="8164587" y="5262578"/>
            <a:ext cx="7936061"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ANALISIS DE REQUERIMIENTOS</a:t>
            </a:r>
          </a:p>
        </p:txBody>
      </p:sp>
      <p:sp>
        <p:nvSpPr>
          <p:cNvPr name="TextBox 11" id="11"/>
          <p:cNvSpPr txBox="true"/>
          <p:nvPr/>
        </p:nvSpPr>
        <p:spPr>
          <a:xfrm rot="0">
            <a:off x="8164587" y="3650157"/>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MODELO DE CONTEXTO</a:t>
            </a:r>
          </a:p>
        </p:txBody>
      </p:sp>
      <p:sp>
        <p:nvSpPr>
          <p:cNvPr name="TextBox 12" id="12"/>
          <p:cNvSpPr txBox="true"/>
          <p:nvPr/>
        </p:nvSpPr>
        <p:spPr>
          <a:xfrm rot="0">
            <a:off x="8164587" y="4456368"/>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LEVANTAMIENTO DE REQUERIMIENTOS</a:t>
            </a:r>
          </a:p>
        </p:txBody>
      </p:sp>
      <p:sp>
        <p:nvSpPr>
          <p:cNvPr name="TextBox 13" id="13"/>
          <p:cNvSpPr txBox="true"/>
          <p:nvPr/>
        </p:nvSpPr>
        <p:spPr>
          <a:xfrm rot="0">
            <a:off x="8164587" y="5975602"/>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DIAGRAMA DE CASOS DE USO</a:t>
            </a:r>
          </a:p>
        </p:txBody>
      </p:sp>
      <p:sp>
        <p:nvSpPr>
          <p:cNvPr name="TextBox 14" id="14"/>
          <p:cNvSpPr txBox="true"/>
          <p:nvPr/>
        </p:nvSpPr>
        <p:spPr>
          <a:xfrm rot="0">
            <a:off x="8164587" y="6784448"/>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UX - UI</a:t>
            </a:r>
          </a:p>
        </p:txBody>
      </p:sp>
      <p:sp>
        <p:nvSpPr>
          <p:cNvPr name="TextBox 15" id="15"/>
          <p:cNvSpPr txBox="true"/>
          <p:nvPr/>
        </p:nvSpPr>
        <p:spPr>
          <a:xfrm rot="0">
            <a:off x="8164587" y="7598957"/>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MOCKUPS Y FLUJOS DE NAVEGACION</a:t>
            </a:r>
          </a:p>
        </p:txBody>
      </p:sp>
      <p:sp>
        <p:nvSpPr>
          <p:cNvPr name="Freeform 16" id="1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7" id="17"/>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DIAGRAMA DE CONTEXTO</a:t>
            </a:r>
          </a:p>
        </p:txBody>
      </p:sp>
      <p:sp>
        <p:nvSpPr>
          <p:cNvPr name="Freeform 13" id="13"/>
          <p:cNvSpPr/>
          <p:nvPr/>
        </p:nvSpPr>
        <p:spPr>
          <a:xfrm flipH="false" flipV="false" rot="0">
            <a:off x="7954044" y="-351726"/>
            <a:ext cx="3805468" cy="3805468"/>
          </a:xfrm>
          <a:custGeom>
            <a:avLst/>
            <a:gdLst/>
            <a:ahLst/>
            <a:cxnLst/>
            <a:rect r="r" b="b" t="t" l="l"/>
            <a:pathLst>
              <a:path h="3805468" w="3805468">
                <a:moveTo>
                  <a:pt x="0" y="0"/>
                </a:moveTo>
                <a:lnTo>
                  <a:pt x="3805468" y="0"/>
                </a:lnTo>
                <a:lnTo>
                  <a:pt x="3805468" y="3805469"/>
                </a:lnTo>
                <a:lnTo>
                  <a:pt x="0" y="3805469"/>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368136" y="7619943"/>
            <a:ext cx="2500687" cy="1385516"/>
          </a:xfrm>
          <a:custGeom>
            <a:avLst/>
            <a:gdLst/>
            <a:ahLst/>
            <a:cxnLst/>
            <a:rect r="r" b="b" t="t" l="l"/>
            <a:pathLst>
              <a:path h="1385516" w="2500687">
                <a:moveTo>
                  <a:pt x="0" y="0"/>
                </a:moveTo>
                <a:lnTo>
                  <a:pt x="2500687" y="0"/>
                </a:lnTo>
                <a:lnTo>
                  <a:pt x="2500687" y="1385516"/>
                </a:lnTo>
                <a:lnTo>
                  <a:pt x="0" y="1385516"/>
                </a:lnTo>
                <a:lnTo>
                  <a:pt x="0" y="0"/>
                </a:lnTo>
                <a:close/>
              </a:path>
            </a:pathLst>
          </a:custGeom>
          <a:blipFill>
            <a:blip r:embed="rId3"/>
            <a:stretch>
              <a:fillRect l="0" t="0" r="0" b="0"/>
            </a:stretch>
          </a:blipFill>
        </p:spPr>
      </p:sp>
      <p:sp>
        <p:nvSpPr>
          <p:cNvPr name="Freeform 7" id="7"/>
          <p:cNvSpPr/>
          <p:nvPr/>
        </p:nvSpPr>
        <p:spPr>
          <a:xfrm flipH="false" flipV="false" rot="0">
            <a:off x="10170348" y="7619943"/>
            <a:ext cx="2400487" cy="1385516"/>
          </a:xfrm>
          <a:custGeom>
            <a:avLst/>
            <a:gdLst/>
            <a:ahLst/>
            <a:cxnLst/>
            <a:rect r="r" b="b" t="t" l="l"/>
            <a:pathLst>
              <a:path h="1385516" w="2400487">
                <a:moveTo>
                  <a:pt x="0" y="0"/>
                </a:moveTo>
                <a:lnTo>
                  <a:pt x="2400487" y="0"/>
                </a:lnTo>
                <a:lnTo>
                  <a:pt x="2400487" y="1385516"/>
                </a:lnTo>
                <a:lnTo>
                  <a:pt x="0" y="1385516"/>
                </a:lnTo>
                <a:lnTo>
                  <a:pt x="0" y="0"/>
                </a:lnTo>
                <a:close/>
              </a:path>
            </a:pathLst>
          </a:custGeom>
          <a:blipFill>
            <a:blip r:embed="rId4"/>
            <a:stretch>
              <a:fillRect l="0" t="0" r="0" b="0"/>
            </a:stretch>
          </a:blipFill>
        </p:spPr>
      </p:sp>
      <p:sp>
        <p:nvSpPr>
          <p:cNvPr name="Freeform 8" id="8"/>
          <p:cNvSpPr/>
          <p:nvPr/>
        </p:nvSpPr>
        <p:spPr>
          <a:xfrm flipH="false" flipV="false" rot="0">
            <a:off x="6141306" y="7619943"/>
            <a:ext cx="2412428" cy="1385516"/>
          </a:xfrm>
          <a:custGeom>
            <a:avLst/>
            <a:gdLst/>
            <a:ahLst/>
            <a:cxnLst/>
            <a:rect r="r" b="b" t="t" l="l"/>
            <a:pathLst>
              <a:path h="1385516" w="2412428">
                <a:moveTo>
                  <a:pt x="0" y="0"/>
                </a:moveTo>
                <a:lnTo>
                  <a:pt x="2412428" y="0"/>
                </a:lnTo>
                <a:lnTo>
                  <a:pt x="2412428" y="1385516"/>
                </a:lnTo>
                <a:lnTo>
                  <a:pt x="0" y="1385516"/>
                </a:lnTo>
                <a:lnTo>
                  <a:pt x="0" y="0"/>
                </a:lnTo>
                <a:close/>
              </a:path>
            </a:pathLst>
          </a:custGeom>
          <a:blipFill>
            <a:blip r:embed="rId5"/>
            <a:stretch>
              <a:fillRect l="0" t="0" r="0" b="0"/>
            </a:stretch>
          </a:blipFill>
        </p:spPr>
      </p:sp>
      <p:sp>
        <p:nvSpPr>
          <p:cNvPr name="Freeform 9" id="9"/>
          <p:cNvSpPr/>
          <p:nvPr/>
        </p:nvSpPr>
        <p:spPr>
          <a:xfrm flipH="false" flipV="false" rot="0">
            <a:off x="1753410" y="7619943"/>
            <a:ext cx="2418435" cy="1363413"/>
          </a:xfrm>
          <a:custGeom>
            <a:avLst/>
            <a:gdLst/>
            <a:ahLst/>
            <a:cxnLst/>
            <a:rect r="r" b="b" t="t" l="l"/>
            <a:pathLst>
              <a:path h="1363413" w="2418435">
                <a:moveTo>
                  <a:pt x="0" y="0"/>
                </a:moveTo>
                <a:lnTo>
                  <a:pt x="2418435" y="0"/>
                </a:lnTo>
                <a:lnTo>
                  <a:pt x="2418435" y="1363413"/>
                </a:lnTo>
                <a:lnTo>
                  <a:pt x="0" y="1363413"/>
                </a:lnTo>
                <a:lnTo>
                  <a:pt x="0" y="0"/>
                </a:lnTo>
                <a:close/>
              </a:path>
            </a:pathLst>
          </a:custGeom>
          <a:blipFill>
            <a:blip r:embed="rId6"/>
            <a:stretch>
              <a:fillRect l="0" t="0" r="0" b="0"/>
            </a:stretch>
          </a:blipFill>
        </p:spPr>
      </p:sp>
      <p:sp>
        <p:nvSpPr>
          <p:cNvPr name="Freeform 10" id="10"/>
          <p:cNvSpPr/>
          <p:nvPr/>
        </p:nvSpPr>
        <p:spPr>
          <a:xfrm flipH="false" flipV="false" rot="0">
            <a:off x="4721790" y="7885962"/>
            <a:ext cx="869571" cy="869571"/>
          </a:xfrm>
          <a:custGeom>
            <a:avLst/>
            <a:gdLst/>
            <a:ahLst/>
            <a:cxnLst/>
            <a:rect r="r" b="b" t="t" l="l"/>
            <a:pathLst>
              <a:path h="869571" w="869571">
                <a:moveTo>
                  <a:pt x="0" y="0"/>
                </a:moveTo>
                <a:lnTo>
                  <a:pt x="869571" y="0"/>
                </a:lnTo>
                <a:lnTo>
                  <a:pt x="869571" y="869571"/>
                </a:lnTo>
                <a:lnTo>
                  <a:pt x="0" y="869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2962627" y="1688238"/>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EL MODELO C4</a:t>
            </a:r>
          </a:p>
        </p:txBody>
      </p:sp>
      <p:sp>
        <p:nvSpPr>
          <p:cNvPr name="TextBox 12" id="12"/>
          <p:cNvSpPr txBox="true"/>
          <p:nvPr/>
        </p:nvSpPr>
        <p:spPr>
          <a:xfrm rot="0">
            <a:off x="4362522" y="5257987"/>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957F3B"/>
                </a:solidFill>
                <a:latin typeface="HK Modular"/>
                <a:ea typeface="HK Modular"/>
                <a:cs typeface="HK Modular"/>
                <a:sym typeface="HK Modular"/>
              </a:rPr>
              <a:t>PARA QUE SIRVE?</a:t>
            </a:r>
          </a:p>
        </p:txBody>
      </p:sp>
      <p:sp>
        <p:nvSpPr>
          <p:cNvPr name="TextBox 13" id="13"/>
          <p:cNvSpPr txBox="true"/>
          <p:nvPr/>
        </p:nvSpPr>
        <p:spPr>
          <a:xfrm rot="0">
            <a:off x="3071536" y="2837366"/>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 estandar para elaborar diagramas de arquitectura</a:t>
            </a:r>
          </a:p>
        </p:txBody>
      </p:sp>
      <p:sp>
        <p:nvSpPr>
          <p:cNvPr name="TextBox 14" id="14"/>
          <p:cNvSpPr txBox="true"/>
          <p:nvPr/>
        </p:nvSpPr>
        <p:spPr>
          <a:xfrm rot="0">
            <a:off x="2850208" y="6343463"/>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Describir la arquitectura del software que vamos a construir en diferentes niveles de “zoom” lo cual va a ser util para diferentes tipos de audiencias</a:t>
            </a:r>
          </a:p>
        </p:txBody>
      </p:sp>
      <p:sp>
        <p:nvSpPr>
          <p:cNvPr name="TextBox 15" id="15"/>
          <p:cNvSpPr txBox="true"/>
          <p:nvPr/>
        </p:nvSpPr>
        <p:spPr>
          <a:xfrm rot="0">
            <a:off x="2959575" y="3590477"/>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Proveen un conjunto de abstracciones jerarquicas, son una manera fantastica de comunicar como se planea construir un sistema de software o como funciona un sistema ya existente</a:t>
            </a:r>
          </a:p>
        </p:txBody>
      </p:sp>
      <p:sp>
        <p:nvSpPr>
          <p:cNvPr name="Freeform 16" id="16"/>
          <p:cNvSpPr/>
          <p:nvPr/>
        </p:nvSpPr>
        <p:spPr>
          <a:xfrm flipH="false" flipV="false" rot="0">
            <a:off x="8930543" y="7885962"/>
            <a:ext cx="869571" cy="869571"/>
          </a:xfrm>
          <a:custGeom>
            <a:avLst/>
            <a:gdLst/>
            <a:ahLst/>
            <a:cxnLst/>
            <a:rect r="r" b="b" t="t" l="l"/>
            <a:pathLst>
              <a:path h="869571" w="869571">
                <a:moveTo>
                  <a:pt x="0" y="0"/>
                </a:moveTo>
                <a:lnTo>
                  <a:pt x="869571" y="0"/>
                </a:lnTo>
                <a:lnTo>
                  <a:pt x="869571" y="869571"/>
                </a:lnTo>
                <a:lnTo>
                  <a:pt x="0" y="869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3123285" y="7809762"/>
            <a:ext cx="869571" cy="869571"/>
          </a:xfrm>
          <a:custGeom>
            <a:avLst/>
            <a:gdLst/>
            <a:ahLst/>
            <a:cxnLst/>
            <a:rect r="r" b="b" t="t" l="l"/>
            <a:pathLst>
              <a:path h="869571" w="869571">
                <a:moveTo>
                  <a:pt x="0" y="0"/>
                </a:moveTo>
                <a:lnTo>
                  <a:pt x="869571" y="0"/>
                </a:lnTo>
                <a:lnTo>
                  <a:pt x="869571" y="869571"/>
                </a:lnTo>
                <a:lnTo>
                  <a:pt x="0" y="869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8104363" y="-514520"/>
            <a:ext cx="2298007" cy="2298007"/>
          </a:xfrm>
          <a:custGeom>
            <a:avLst/>
            <a:gdLst/>
            <a:ahLst/>
            <a:cxnLst/>
            <a:rect r="r" b="b" t="t" l="l"/>
            <a:pathLst>
              <a:path h="2298007" w="2298007">
                <a:moveTo>
                  <a:pt x="0" y="0"/>
                </a:moveTo>
                <a:lnTo>
                  <a:pt x="2298008" y="0"/>
                </a:lnTo>
                <a:lnTo>
                  <a:pt x="2298008" y="2298008"/>
                </a:lnTo>
                <a:lnTo>
                  <a:pt x="0" y="2298008"/>
                </a:lnTo>
                <a:lnTo>
                  <a:pt x="0" y="0"/>
                </a:lnTo>
                <a:close/>
              </a:path>
            </a:pathLst>
          </a:custGeom>
          <a:blipFill>
            <a:blip r:embed="rId9"/>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783256" y="5651869"/>
            <a:ext cx="5874452" cy="3311772"/>
          </a:xfrm>
          <a:custGeom>
            <a:avLst/>
            <a:gdLst/>
            <a:ahLst/>
            <a:cxnLst/>
            <a:rect r="r" b="b" t="t" l="l"/>
            <a:pathLst>
              <a:path h="3311772" w="5874452">
                <a:moveTo>
                  <a:pt x="0" y="0"/>
                </a:moveTo>
                <a:lnTo>
                  <a:pt x="5874452" y="0"/>
                </a:lnTo>
                <a:lnTo>
                  <a:pt x="5874452" y="3311772"/>
                </a:lnTo>
                <a:lnTo>
                  <a:pt x="0" y="3311772"/>
                </a:lnTo>
                <a:lnTo>
                  <a:pt x="0" y="0"/>
                </a:lnTo>
                <a:close/>
              </a:path>
            </a:pathLst>
          </a:custGeom>
          <a:blipFill>
            <a:blip r:embed="rId3"/>
            <a:stretch>
              <a:fillRect l="0" t="0" r="0" b="0"/>
            </a:stretch>
          </a:blipFill>
        </p:spPr>
      </p:sp>
      <p:sp>
        <p:nvSpPr>
          <p:cNvPr name="TextBox 7" id="7"/>
          <p:cNvSpPr txBox="true"/>
          <p:nvPr/>
        </p:nvSpPr>
        <p:spPr>
          <a:xfrm rot="0">
            <a:off x="2959575" y="1555523"/>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NIVEL 1: DIAGRAMA DE CONTEXTO DEL SISTEMA</a:t>
            </a:r>
          </a:p>
        </p:txBody>
      </p:sp>
      <p:sp>
        <p:nvSpPr>
          <p:cNvPr name="Freeform 8" id="8"/>
          <p:cNvSpPr/>
          <p:nvPr/>
        </p:nvSpPr>
        <p:spPr>
          <a:xfrm flipH="false" flipV="false" rot="0">
            <a:off x="8104363" y="-514520"/>
            <a:ext cx="2298007" cy="2298007"/>
          </a:xfrm>
          <a:custGeom>
            <a:avLst/>
            <a:gdLst/>
            <a:ahLst/>
            <a:cxnLst/>
            <a:rect r="r" b="b" t="t" l="l"/>
            <a:pathLst>
              <a:path h="2298007" w="2298007">
                <a:moveTo>
                  <a:pt x="0" y="0"/>
                </a:moveTo>
                <a:lnTo>
                  <a:pt x="2298008" y="0"/>
                </a:lnTo>
                <a:lnTo>
                  <a:pt x="2298008" y="2298008"/>
                </a:lnTo>
                <a:lnTo>
                  <a:pt x="0" y="2298008"/>
                </a:lnTo>
                <a:lnTo>
                  <a:pt x="0" y="0"/>
                </a:lnTo>
                <a:close/>
              </a:path>
            </a:pathLst>
          </a:custGeom>
          <a:blipFill>
            <a:blip r:embed="rId4"/>
            <a:stretch>
              <a:fillRect l="0" t="0" r="0" b="0"/>
            </a:stretch>
          </a:blipFill>
        </p:spPr>
      </p:sp>
      <p:sp>
        <p:nvSpPr>
          <p:cNvPr name="Freeform 9" id="9"/>
          <p:cNvSpPr/>
          <p:nvPr/>
        </p:nvSpPr>
        <p:spPr>
          <a:xfrm flipH="false" flipV="false" rot="0">
            <a:off x="11139990" y="5143500"/>
            <a:ext cx="5574342" cy="4612768"/>
          </a:xfrm>
          <a:custGeom>
            <a:avLst/>
            <a:gdLst/>
            <a:ahLst/>
            <a:cxnLst/>
            <a:rect r="r" b="b" t="t" l="l"/>
            <a:pathLst>
              <a:path h="4612768" w="5574342">
                <a:moveTo>
                  <a:pt x="0" y="0"/>
                </a:moveTo>
                <a:lnTo>
                  <a:pt x="5574342" y="0"/>
                </a:lnTo>
                <a:lnTo>
                  <a:pt x="5574342" y="4612768"/>
                </a:lnTo>
                <a:lnTo>
                  <a:pt x="0" y="4612768"/>
                </a:lnTo>
                <a:lnTo>
                  <a:pt x="0" y="0"/>
                </a:lnTo>
                <a:close/>
              </a:path>
            </a:pathLst>
          </a:custGeom>
          <a:blipFill>
            <a:blip r:embed="rId5"/>
            <a:stretch>
              <a:fillRect l="0" t="0" r="0" b="0"/>
            </a:stretch>
          </a:blipFill>
        </p:spPr>
      </p:sp>
      <p:sp>
        <p:nvSpPr>
          <p:cNvPr name="Freeform 10" id="10"/>
          <p:cNvSpPr/>
          <p:nvPr/>
        </p:nvSpPr>
        <p:spPr>
          <a:xfrm flipH="false" flipV="false" rot="0">
            <a:off x="8682416" y="6775644"/>
            <a:ext cx="1719954" cy="1064222"/>
          </a:xfrm>
          <a:custGeom>
            <a:avLst/>
            <a:gdLst/>
            <a:ahLst/>
            <a:cxnLst/>
            <a:rect r="r" b="b" t="t" l="l"/>
            <a:pathLst>
              <a:path h="1064222" w="1719954">
                <a:moveTo>
                  <a:pt x="0" y="0"/>
                </a:moveTo>
                <a:lnTo>
                  <a:pt x="1719955" y="0"/>
                </a:lnTo>
                <a:lnTo>
                  <a:pt x="1719955" y="1064222"/>
                </a:lnTo>
                <a:lnTo>
                  <a:pt x="0" y="10642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959575" y="3590477"/>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Nivel 1 muestra el sistema de software que se esta construyendo y como encaja en el mundo en terminos de las personas que lo utilizan y los otros sistemas de software con los que interactua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9575" y="1555523"/>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NIVEL 1: DIAGRAMA DE CONTEXTO DEL SISTEMA</a:t>
            </a:r>
          </a:p>
        </p:txBody>
      </p:sp>
      <p:sp>
        <p:nvSpPr>
          <p:cNvPr name="Freeform 7" id="7"/>
          <p:cNvSpPr/>
          <p:nvPr/>
        </p:nvSpPr>
        <p:spPr>
          <a:xfrm flipH="false" flipV="false" rot="0">
            <a:off x="8104363" y="-514520"/>
            <a:ext cx="2298007" cy="2298007"/>
          </a:xfrm>
          <a:custGeom>
            <a:avLst/>
            <a:gdLst/>
            <a:ahLst/>
            <a:cxnLst/>
            <a:rect r="r" b="b" t="t" l="l"/>
            <a:pathLst>
              <a:path h="2298007" w="2298007">
                <a:moveTo>
                  <a:pt x="0" y="0"/>
                </a:moveTo>
                <a:lnTo>
                  <a:pt x="2298008" y="0"/>
                </a:lnTo>
                <a:lnTo>
                  <a:pt x="2298008" y="2298008"/>
                </a:lnTo>
                <a:lnTo>
                  <a:pt x="0" y="2298008"/>
                </a:lnTo>
                <a:lnTo>
                  <a:pt x="0" y="0"/>
                </a:lnTo>
                <a:close/>
              </a:path>
            </a:pathLst>
          </a:custGeom>
          <a:blipFill>
            <a:blip r:embed="rId3"/>
            <a:stretch>
              <a:fillRect l="0" t="0" r="0" b="0"/>
            </a:stretch>
          </a:blipFill>
        </p:spPr>
      </p:sp>
      <p:sp>
        <p:nvSpPr>
          <p:cNvPr name="Freeform 8" id="8"/>
          <p:cNvSpPr/>
          <p:nvPr/>
        </p:nvSpPr>
        <p:spPr>
          <a:xfrm flipH="false" flipV="false" rot="0">
            <a:off x="2137457" y="4105975"/>
            <a:ext cx="14013086" cy="2802617"/>
          </a:xfrm>
          <a:custGeom>
            <a:avLst/>
            <a:gdLst/>
            <a:ahLst/>
            <a:cxnLst/>
            <a:rect r="r" b="b" t="t" l="l"/>
            <a:pathLst>
              <a:path h="2802617" w="14013086">
                <a:moveTo>
                  <a:pt x="0" y="0"/>
                </a:moveTo>
                <a:lnTo>
                  <a:pt x="14013086" y="0"/>
                </a:lnTo>
                <a:lnTo>
                  <a:pt x="14013086" y="2802617"/>
                </a:lnTo>
                <a:lnTo>
                  <a:pt x="0" y="2802617"/>
                </a:lnTo>
                <a:lnTo>
                  <a:pt x="0" y="0"/>
                </a:lnTo>
                <a:close/>
              </a:path>
            </a:pathLst>
          </a:custGeom>
          <a:blipFill>
            <a:blip r:embed="rId4"/>
            <a:stretch>
              <a:fillRect l="0" t="0" r="0" b="0"/>
            </a:stretch>
          </a:blipFill>
        </p:spPr>
      </p:sp>
      <p:sp>
        <p:nvSpPr>
          <p:cNvPr name="TextBox 9" id="9"/>
          <p:cNvSpPr txBox="true"/>
          <p:nvPr/>
        </p:nvSpPr>
        <p:spPr>
          <a:xfrm rot="0">
            <a:off x="2959575" y="7596415"/>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componente de color azul y amarillo en el diagrama representa los sistemas de software que se van a construir - Aveces solo se representa en uno, el componente rojo es todo sistema de software que ya existe y es externo a la implementacion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9575" y="1555523"/>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EJERCICIO</a:t>
            </a:r>
          </a:p>
        </p:txBody>
      </p:sp>
      <p:sp>
        <p:nvSpPr>
          <p:cNvPr name="Freeform 7" id="7"/>
          <p:cNvSpPr/>
          <p:nvPr/>
        </p:nvSpPr>
        <p:spPr>
          <a:xfrm flipH="false" flipV="false" rot="0">
            <a:off x="8104363" y="-514520"/>
            <a:ext cx="2298007" cy="2298007"/>
          </a:xfrm>
          <a:custGeom>
            <a:avLst/>
            <a:gdLst/>
            <a:ahLst/>
            <a:cxnLst/>
            <a:rect r="r" b="b" t="t" l="l"/>
            <a:pathLst>
              <a:path h="2298007" w="2298007">
                <a:moveTo>
                  <a:pt x="0" y="0"/>
                </a:moveTo>
                <a:lnTo>
                  <a:pt x="2298008" y="0"/>
                </a:lnTo>
                <a:lnTo>
                  <a:pt x="2298008" y="2298008"/>
                </a:lnTo>
                <a:lnTo>
                  <a:pt x="0" y="2298008"/>
                </a:lnTo>
                <a:lnTo>
                  <a:pt x="0" y="0"/>
                </a:lnTo>
                <a:close/>
              </a:path>
            </a:pathLst>
          </a:custGeom>
          <a:blipFill>
            <a:blip r:embed="rId3"/>
            <a:stretch>
              <a:fillRect l="0" t="0" r="0" b="0"/>
            </a:stretch>
          </a:blipFill>
        </p:spPr>
      </p:sp>
      <p:sp>
        <p:nvSpPr>
          <p:cNvPr name="Freeform 8" id="8"/>
          <p:cNvSpPr/>
          <p:nvPr/>
        </p:nvSpPr>
        <p:spPr>
          <a:xfrm flipH="false" flipV="false" rot="0">
            <a:off x="3750875" y="6533015"/>
            <a:ext cx="11653651" cy="2330730"/>
          </a:xfrm>
          <a:custGeom>
            <a:avLst/>
            <a:gdLst/>
            <a:ahLst/>
            <a:cxnLst/>
            <a:rect r="r" b="b" t="t" l="l"/>
            <a:pathLst>
              <a:path h="2330730" w="11653651">
                <a:moveTo>
                  <a:pt x="0" y="0"/>
                </a:moveTo>
                <a:lnTo>
                  <a:pt x="11653652" y="0"/>
                </a:lnTo>
                <a:lnTo>
                  <a:pt x="11653652" y="2330731"/>
                </a:lnTo>
                <a:lnTo>
                  <a:pt x="0" y="2330731"/>
                </a:lnTo>
                <a:lnTo>
                  <a:pt x="0" y="0"/>
                </a:lnTo>
                <a:close/>
              </a:path>
            </a:pathLst>
          </a:custGeom>
          <a:blipFill>
            <a:blip r:embed="rId4"/>
            <a:stretch>
              <a:fillRect l="0" t="0" r="0" b="0"/>
            </a:stretch>
          </a:blipFill>
        </p:spPr>
      </p:sp>
      <p:sp>
        <p:nvSpPr>
          <p:cNvPr name="Freeform 9" id="9"/>
          <p:cNvSpPr/>
          <p:nvPr/>
        </p:nvSpPr>
        <p:spPr>
          <a:xfrm flipH="false" flipV="false" rot="0">
            <a:off x="11093048" y="2798832"/>
            <a:ext cx="4037187" cy="2715008"/>
          </a:xfrm>
          <a:custGeom>
            <a:avLst/>
            <a:gdLst/>
            <a:ahLst/>
            <a:cxnLst/>
            <a:rect r="r" b="b" t="t" l="l"/>
            <a:pathLst>
              <a:path h="2715008" w="4037187">
                <a:moveTo>
                  <a:pt x="0" y="0"/>
                </a:moveTo>
                <a:lnTo>
                  <a:pt x="4037186" y="0"/>
                </a:lnTo>
                <a:lnTo>
                  <a:pt x="4037186" y="2715008"/>
                </a:lnTo>
                <a:lnTo>
                  <a:pt x="0" y="2715008"/>
                </a:lnTo>
                <a:lnTo>
                  <a:pt x="0" y="0"/>
                </a:lnTo>
                <a:close/>
              </a:path>
            </a:pathLst>
          </a:custGeom>
          <a:blipFill>
            <a:blip r:embed="rId5"/>
            <a:stretch>
              <a:fillRect l="0" t="0" r="0" b="0"/>
            </a:stretch>
          </a:blipFill>
        </p:spPr>
      </p:sp>
      <p:sp>
        <p:nvSpPr>
          <p:cNvPr name="TextBox 10" id="10"/>
          <p:cNvSpPr txBox="true"/>
          <p:nvPr/>
        </p:nvSpPr>
        <p:spPr>
          <a:xfrm rot="0">
            <a:off x="2368666" y="3749229"/>
            <a:ext cx="7632504"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seria el diagrama de contexto de UBER?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ANALISIS DE REQUERIMIENTOS</a:t>
            </a:r>
          </a:p>
        </p:txBody>
      </p:sp>
      <p:sp>
        <p:nvSpPr>
          <p:cNvPr name="Freeform 13" id="13"/>
          <p:cNvSpPr/>
          <p:nvPr/>
        </p:nvSpPr>
        <p:spPr>
          <a:xfrm flipH="false" flipV="false" rot="0">
            <a:off x="7436767" y="-351726"/>
            <a:ext cx="3805468" cy="3805468"/>
          </a:xfrm>
          <a:custGeom>
            <a:avLst/>
            <a:gdLst/>
            <a:ahLst/>
            <a:cxnLst/>
            <a:rect r="r" b="b" t="t" l="l"/>
            <a:pathLst>
              <a:path h="3805468" w="3805468">
                <a:moveTo>
                  <a:pt x="0" y="0"/>
                </a:moveTo>
                <a:lnTo>
                  <a:pt x="3805468" y="0"/>
                </a:lnTo>
                <a:lnTo>
                  <a:pt x="3805468" y="3805469"/>
                </a:lnTo>
                <a:lnTo>
                  <a:pt x="0" y="3805469"/>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412038" y="6881211"/>
            <a:ext cx="728468" cy="623751"/>
          </a:xfrm>
          <a:custGeom>
            <a:avLst/>
            <a:gdLst/>
            <a:ahLst/>
            <a:cxnLst/>
            <a:rect r="r" b="b" t="t" l="l"/>
            <a:pathLst>
              <a:path h="623751" w="728468">
                <a:moveTo>
                  <a:pt x="0" y="0"/>
                </a:moveTo>
                <a:lnTo>
                  <a:pt x="728468" y="0"/>
                </a:lnTo>
                <a:lnTo>
                  <a:pt x="728468" y="623751"/>
                </a:lnTo>
                <a:lnTo>
                  <a:pt x="0" y="623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REQUERIMIENTO</a:t>
            </a:r>
          </a:p>
        </p:txBody>
      </p:sp>
      <p:sp>
        <p:nvSpPr>
          <p:cNvPr name="TextBox 8" id="8"/>
          <p:cNvSpPr txBox="true"/>
          <p:nvPr/>
        </p:nvSpPr>
        <p:spPr>
          <a:xfrm rot="0">
            <a:off x="4418353" y="5967730"/>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957F3B"/>
                </a:solidFill>
                <a:latin typeface="HK Modular"/>
                <a:ea typeface="HK Modular"/>
                <a:cs typeface="HK Modular"/>
                <a:sym typeface="HK Modular"/>
              </a:rPr>
              <a:t>CONDICIONES</a:t>
            </a:r>
          </a:p>
        </p:txBody>
      </p:sp>
      <p:sp>
        <p:nvSpPr>
          <p:cNvPr name="TextBox 9" id="9"/>
          <p:cNvSpPr txBox="true"/>
          <p:nvPr/>
        </p:nvSpPr>
        <p:spPr>
          <a:xfrm rot="0">
            <a:off x="2964154" y="2875852"/>
            <a:ext cx="12587585" cy="1372236"/>
          </a:xfrm>
          <a:prstGeom prst="rect">
            <a:avLst/>
          </a:prstGeom>
        </p:spPr>
        <p:txBody>
          <a:bodyPr anchor="t" rtlCol="false" tIns="0" lIns="0" bIns="0" rIns="0">
            <a:spAutoFit/>
          </a:bodyPr>
          <a:lstStyle/>
          <a:p>
            <a:pPr algn="ctr">
              <a:lnSpc>
                <a:spcPts val="3639"/>
              </a:lnSpc>
            </a:pPr>
          </a:p>
          <a:p>
            <a:pPr algn="ctr">
              <a:lnSpc>
                <a:spcPts val="3639"/>
              </a:lnSpc>
              <a:spcBef>
                <a:spcPct val="0"/>
              </a:spcBef>
            </a:pPr>
            <a:r>
              <a:rPr lang="en-US" sz="2599">
                <a:solidFill>
                  <a:srgbClr val="FFFFFF"/>
                </a:solidFill>
                <a:latin typeface="Poppins"/>
                <a:ea typeface="Poppins"/>
                <a:cs typeface="Poppins"/>
                <a:sym typeface="Poppins"/>
              </a:rPr>
              <a:t>Condicion o capacidad que debe cumplir un sistema, bien, resultado o servicio para satisfacer una necesidad</a:t>
            </a:r>
          </a:p>
        </p:txBody>
      </p:sp>
      <p:sp>
        <p:nvSpPr>
          <p:cNvPr name="TextBox 10" id="10"/>
          <p:cNvSpPr txBox="true"/>
          <p:nvPr/>
        </p:nvSpPr>
        <p:spPr>
          <a:xfrm rot="0">
            <a:off x="2964154" y="7054587"/>
            <a:ext cx="12587585" cy="27438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Debe estar bien escrito</a:t>
            </a:r>
          </a:p>
          <a:p>
            <a:pPr algn="ctr">
              <a:lnSpc>
                <a:spcPts val="3639"/>
              </a:lnSpc>
            </a:pPr>
            <a:r>
              <a:rPr lang="en-US" sz="2599">
                <a:solidFill>
                  <a:srgbClr val="FFFFFF"/>
                </a:solidFill>
                <a:latin typeface="Poppins"/>
                <a:ea typeface="Poppins"/>
                <a:cs typeface="Poppins"/>
                <a:sym typeface="Poppins"/>
              </a:rPr>
              <a:t>Deben tener una dedicacion de tiempo para su identificacion y entendimiento</a:t>
            </a:r>
          </a:p>
          <a:p>
            <a:pPr algn="ctr">
              <a:lnSpc>
                <a:spcPts val="3639"/>
              </a:lnSpc>
            </a:pPr>
            <a:r>
              <a:rPr lang="en-US" sz="2599">
                <a:solidFill>
                  <a:srgbClr val="FFFFFF"/>
                </a:solidFill>
                <a:latin typeface="Poppins"/>
                <a:ea typeface="Poppins"/>
                <a:cs typeface="Poppins"/>
                <a:sym typeface="Poppins"/>
              </a:rPr>
              <a:t>Deben ser coherentes</a:t>
            </a:r>
          </a:p>
          <a:p>
            <a:pPr algn="ctr">
              <a:lnSpc>
                <a:spcPts val="3639"/>
              </a:lnSpc>
            </a:pPr>
            <a:r>
              <a:rPr lang="en-US" sz="2599">
                <a:solidFill>
                  <a:srgbClr val="FFFFFF"/>
                </a:solidFill>
                <a:latin typeface="Poppins"/>
                <a:ea typeface="Poppins"/>
                <a:cs typeface="Poppins"/>
                <a:sym typeface="Poppins"/>
              </a:rPr>
              <a:t>No deben ser ambiguos</a:t>
            </a:r>
          </a:p>
          <a:p>
            <a:pPr algn="ctr">
              <a:lnSpc>
                <a:spcPts val="3639"/>
              </a:lnSpc>
            </a:pPr>
            <a:r>
              <a:rPr lang="en-US" sz="2599">
                <a:solidFill>
                  <a:srgbClr val="FFFFFF"/>
                </a:solidFill>
                <a:latin typeface="Poppins"/>
                <a:ea typeface="Poppins"/>
                <a:cs typeface="Poppins"/>
                <a:sym typeface="Poppins"/>
              </a:rPr>
              <a:t>Deben ser medibles y Verificables</a:t>
            </a:r>
          </a:p>
        </p:txBody>
      </p:sp>
      <p:sp>
        <p:nvSpPr>
          <p:cNvPr name="TextBox 11" id="11"/>
          <p:cNvSpPr txBox="true"/>
          <p:nvPr/>
        </p:nvSpPr>
        <p:spPr>
          <a:xfrm rot="0">
            <a:off x="2964154" y="4652645"/>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algo que el producto debe hacer o una cualidad que el producto debe tener”</a:t>
            </a:r>
          </a:p>
        </p:txBody>
      </p:sp>
      <p:sp>
        <p:nvSpPr>
          <p:cNvPr name="Freeform 12" id="12"/>
          <p:cNvSpPr/>
          <p:nvPr/>
        </p:nvSpPr>
        <p:spPr>
          <a:xfrm flipH="false" flipV="false" rot="0">
            <a:off x="8104363" y="-241511"/>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
        <p:nvSpPr>
          <p:cNvPr name="Freeform 13" id="13"/>
          <p:cNvSpPr/>
          <p:nvPr/>
        </p:nvSpPr>
        <p:spPr>
          <a:xfrm flipH="false" flipV="false" rot="0">
            <a:off x="3214524" y="7472680"/>
            <a:ext cx="728468" cy="623751"/>
          </a:xfrm>
          <a:custGeom>
            <a:avLst/>
            <a:gdLst/>
            <a:ahLst/>
            <a:cxnLst/>
            <a:rect r="r" b="b" t="t" l="l"/>
            <a:pathLst>
              <a:path h="623751" w="728468">
                <a:moveTo>
                  <a:pt x="0" y="0"/>
                </a:moveTo>
                <a:lnTo>
                  <a:pt x="728468" y="0"/>
                </a:lnTo>
                <a:lnTo>
                  <a:pt x="728468" y="623751"/>
                </a:lnTo>
                <a:lnTo>
                  <a:pt x="0" y="623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6412038" y="8275871"/>
            <a:ext cx="728468" cy="623751"/>
          </a:xfrm>
          <a:custGeom>
            <a:avLst/>
            <a:gdLst/>
            <a:ahLst/>
            <a:cxnLst/>
            <a:rect r="r" b="b" t="t" l="l"/>
            <a:pathLst>
              <a:path h="623751" w="728468">
                <a:moveTo>
                  <a:pt x="0" y="0"/>
                </a:moveTo>
                <a:lnTo>
                  <a:pt x="728468" y="0"/>
                </a:lnTo>
                <a:lnTo>
                  <a:pt x="728468" y="623750"/>
                </a:lnTo>
                <a:lnTo>
                  <a:pt x="0" y="623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5683570" y="8778358"/>
            <a:ext cx="728468" cy="623751"/>
          </a:xfrm>
          <a:custGeom>
            <a:avLst/>
            <a:gdLst/>
            <a:ahLst/>
            <a:cxnLst/>
            <a:rect r="r" b="b" t="t" l="l"/>
            <a:pathLst>
              <a:path h="623751" w="728468">
                <a:moveTo>
                  <a:pt x="0" y="0"/>
                </a:moveTo>
                <a:lnTo>
                  <a:pt x="728468" y="0"/>
                </a:lnTo>
                <a:lnTo>
                  <a:pt x="728468" y="623751"/>
                </a:lnTo>
                <a:lnTo>
                  <a:pt x="0" y="623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4955102" y="9295662"/>
            <a:ext cx="728468" cy="623751"/>
          </a:xfrm>
          <a:custGeom>
            <a:avLst/>
            <a:gdLst/>
            <a:ahLst/>
            <a:cxnLst/>
            <a:rect r="r" b="b" t="t" l="l"/>
            <a:pathLst>
              <a:path h="623751" w="728468">
                <a:moveTo>
                  <a:pt x="0" y="0"/>
                </a:moveTo>
                <a:lnTo>
                  <a:pt x="728468" y="0"/>
                </a:lnTo>
                <a:lnTo>
                  <a:pt x="728468" y="623750"/>
                </a:lnTo>
                <a:lnTo>
                  <a:pt x="0" y="623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870363"/>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TIPOS DE REQUERIMIENTOS</a:t>
            </a:r>
          </a:p>
        </p:txBody>
      </p:sp>
      <p:sp>
        <p:nvSpPr>
          <p:cNvPr name="Freeform 13" id="13"/>
          <p:cNvSpPr/>
          <p:nvPr/>
        </p:nvSpPr>
        <p:spPr>
          <a:xfrm flipH="false" flipV="false" rot="0">
            <a:off x="7436767" y="-351726"/>
            <a:ext cx="3805468" cy="3805468"/>
          </a:xfrm>
          <a:custGeom>
            <a:avLst/>
            <a:gdLst/>
            <a:ahLst/>
            <a:cxnLst/>
            <a:rect r="r" b="b" t="t" l="l"/>
            <a:pathLst>
              <a:path h="3805468" w="3805468">
                <a:moveTo>
                  <a:pt x="0" y="0"/>
                </a:moveTo>
                <a:lnTo>
                  <a:pt x="3805468" y="0"/>
                </a:lnTo>
                <a:lnTo>
                  <a:pt x="3805468" y="3805469"/>
                </a:lnTo>
                <a:lnTo>
                  <a:pt x="0" y="3805469"/>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FUNCIONALES</a:t>
            </a:r>
          </a:p>
        </p:txBody>
      </p:sp>
      <p:sp>
        <p:nvSpPr>
          <p:cNvPr name="TextBox 7" id="7"/>
          <p:cNvSpPr txBox="true"/>
          <p:nvPr/>
        </p:nvSpPr>
        <p:spPr>
          <a:xfrm rot="0">
            <a:off x="7142277" y="4067001"/>
            <a:ext cx="10372957"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Muestran las acciones o actividades que el producto debe realizar para satisfacer las razones de su existerncia</a:t>
            </a:r>
          </a:p>
        </p:txBody>
      </p:sp>
      <p:sp>
        <p:nvSpPr>
          <p:cNvPr name="TextBox 8" id="8"/>
          <p:cNvSpPr txBox="true"/>
          <p:nvPr/>
        </p:nvSpPr>
        <p:spPr>
          <a:xfrm rot="0">
            <a:off x="7658722" y="3282212"/>
            <a:ext cx="9600578"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Especifican lo que el producto debe hacer</a:t>
            </a:r>
          </a:p>
        </p:txBody>
      </p:sp>
      <p:sp>
        <p:nvSpPr>
          <p:cNvPr name="Freeform 9" id="9"/>
          <p:cNvSpPr/>
          <p:nvPr/>
        </p:nvSpPr>
        <p:spPr>
          <a:xfrm flipH="false" flipV="false" rot="0">
            <a:off x="8104363" y="-241511"/>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10" id="10"/>
          <p:cNvSpPr txBox="true"/>
          <p:nvPr/>
        </p:nvSpPr>
        <p:spPr>
          <a:xfrm rot="0">
            <a:off x="10504030" y="5669852"/>
            <a:ext cx="4320865" cy="599701"/>
          </a:xfrm>
          <a:prstGeom prst="rect">
            <a:avLst/>
          </a:prstGeom>
        </p:spPr>
        <p:txBody>
          <a:bodyPr anchor="t" rtlCol="false" tIns="0" lIns="0" bIns="0" rIns="0">
            <a:spAutoFit/>
          </a:bodyPr>
          <a:lstStyle/>
          <a:p>
            <a:pPr algn="ctr">
              <a:lnSpc>
                <a:spcPts val="4927"/>
              </a:lnSpc>
              <a:spcBef>
                <a:spcPct val="0"/>
              </a:spcBef>
            </a:pPr>
            <a:r>
              <a:rPr lang="en-US" sz="3519">
                <a:solidFill>
                  <a:srgbClr val="957F3B"/>
                </a:solidFill>
                <a:latin typeface="HK Modular"/>
                <a:ea typeface="HK Modular"/>
                <a:cs typeface="HK Modular"/>
                <a:sym typeface="HK Modular"/>
              </a:rPr>
              <a:t>EJEMPLO</a:t>
            </a:r>
          </a:p>
        </p:txBody>
      </p:sp>
      <p:sp>
        <p:nvSpPr>
          <p:cNvPr name="TextBox 11" id="11"/>
          <p:cNvSpPr txBox="true"/>
          <p:nvPr/>
        </p:nvSpPr>
        <p:spPr>
          <a:xfrm rot="0">
            <a:off x="7473351" y="6593403"/>
            <a:ext cx="10382225" cy="13722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Enlace academico debe tener la capacidad de permitir registrar la nota de cada tercio para cada estudiante de DOSW</a:t>
            </a:r>
          </a:p>
        </p:txBody>
      </p:sp>
      <p:sp>
        <p:nvSpPr>
          <p:cNvPr name="Freeform 12" id="12"/>
          <p:cNvSpPr/>
          <p:nvPr/>
        </p:nvSpPr>
        <p:spPr>
          <a:xfrm flipH="false" flipV="false" rot="0">
            <a:off x="1262545" y="3239774"/>
            <a:ext cx="4088321" cy="6059557"/>
          </a:xfrm>
          <a:custGeom>
            <a:avLst/>
            <a:gdLst/>
            <a:ahLst/>
            <a:cxnLst/>
            <a:rect r="r" b="b" t="t" l="l"/>
            <a:pathLst>
              <a:path h="6059557" w="4088321">
                <a:moveTo>
                  <a:pt x="0" y="0"/>
                </a:moveTo>
                <a:lnTo>
                  <a:pt x="4088321" y="0"/>
                </a:lnTo>
                <a:lnTo>
                  <a:pt x="4088321" y="6059558"/>
                </a:lnTo>
                <a:lnTo>
                  <a:pt x="0" y="6059558"/>
                </a:lnTo>
                <a:lnTo>
                  <a:pt x="0" y="0"/>
                </a:lnTo>
                <a:close/>
              </a:path>
            </a:pathLst>
          </a:custGeom>
          <a:blipFill>
            <a:blip r:embed="rId4"/>
            <a:stretch>
              <a:fillRect l="-17163" t="-27942" r="-145632" b="-1490"/>
            </a:stretch>
          </a:blipFill>
        </p:spPr>
      </p:sp>
      <p:sp>
        <p:nvSpPr>
          <p:cNvPr name="TextBox 13" id="13"/>
          <p:cNvSpPr txBox="true"/>
          <p:nvPr/>
        </p:nvSpPr>
        <p:spPr>
          <a:xfrm rot="0">
            <a:off x="7473351" y="8289489"/>
            <a:ext cx="10382225" cy="13722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Enlace academico debe tener la capacidad de permitir buscar un estudiante de la clase de DOSW y mostrar su informacion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NO FUNCIONALES</a:t>
            </a:r>
          </a:p>
        </p:txBody>
      </p:sp>
      <p:sp>
        <p:nvSpPr>
          <p:cNvPr name="TextBox 7" id="7"/>
          <p:cNvSpPr txBox="true"/>
          <p:nvPr/>
        </p:nvSpPr>
        <p:spPr>
          <a:xfrm rot="0">
            <a:off x="7142277" y="4067001"/>
            <a:ext cx="10372957"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Las propiedades o caracteristicas que debe tener el producto para hacer atractivo, util, rapido y versatil para el consumidor</a:t>
            </a:r>
          </a:p>
        </p:txBody>
      </p:sp>
      <p:sp>
        <p:nvSpPr>
          <p:cNvPr name="TextBox 8" id="8"/>
          <p:cNvSpPr txBox="true"/>
          <p:nvPr/>
        </p:nvSpPr>
        <p:spPr>
          <a:xfrm rot="0">
            <a:off x="7658722" y="3282212"/>
            <a:ext cx="9600578"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Propiedad que el producto debe tener</a:t>
            </a:r>
          </a:p>
        </p:txBody>
      </p:sp>
      <p:sp>
        <p:nvSpPr>
          <p:cNvPr name="Freeform 9" id="9"/>
          <p:cNvSpPr/>
          <p:nvPr/>
        </p:nvSpPr>
        <p:spPr>
          <a:xfrm flipH="false" flipV="false" rot="0">
            <a:off x="8104363" y="-241511"/>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10" id="10"/>
          <p:cNvSpPr txBox="true"/>
          <p:nvPr/>
        </p:nvSpPr>
        <p:spPr>
          <a:xfrm rot="0">
            <a:off x="10504030" y="5669852"/>
            <a:ext cx="4320865" cy="599701"/>
          </a:xfrm>
          <a:prstGeom prst="rect">
            <a:avLst/>
          </a:prstGeom>
        </p:spPr>
        <p:txBody>
          <a:bodyPr anchor="t" rtlCol="false" tIns="0" lIns="0" bIns="0" rIns="0">
            <a:spAutoFit/>
          </a:bodyPr>
          <a:lstStyle/>
          <a:p>
            <a:pPr algn="ctr">
              <a:lnSpc>
                <a:spcPts val="4927"/>
              </a:lnSpc>
              <a:spcBef>
                <a:spcPct val="0"/>
              </a:spcBef>
            </a:pPr>
            <a:r>
              <a:rPr lang="en-US" sz="3519">
                <a:solidFill>
                  <a:srgbClr val="957F3B"/>
                </a:solidFill>
                <a:latin typeface="HK Modular"/>
                <a:ea typeface="HK Modular"/>
                <a:cs typeface="HK Modular"/>
                <a:sym typeface="HK Modular"/>
              </a:rPr>
              <a:t>EJEMPLO</a:t>
            </a:r>
          </a:p>
        </p:txBody>
      </p:sp>
      <p:sp>
        <p:nvSpPr>
          <p:cNvPr name="Freeform 11" id="11"/>
          <p:cNvSpPr/>
          <p:nvPr/>
        </p:nvSpPr>
        <p:spPr>
          <a:xfrm flipH="false" flipV="false" rot="0">
            <a:off x="1697361" y="3159882"/>
            <a:ext cx="4082949" cy="5849062"/>
          </a:xfrm>
          <a:custGeom>
            <a:avLst/>
            <a:gdLst/>
            <a:ahLst/>
            <a:cxnLst/>
            <a:rect r="r" b="b" t="t" l="l"/>
            <a:pathLst>
              <a:path h="5849062" w="4082949">
                <a:moveTo>
                  <a:pt x="0" y="0"/>
                </a:moveTo>
                <a:lnTo>
                  <a:pt x="4082949" y="0"/>
                </a:lnTo>
                <a:lnTo>
                  <a:pt x="4082949" y="5849062"/>
                </a:lnTo>
                <a:lnTo>
                  <a:pt x="0" y="5849062"/>
                </a:lnTo>
                <a:lnTo>
                  <a:pt x="0" y="0"/>
                </a:lnTo>
                <a:close/>
              </a:path>
            </a:pathLst>
          </a:custGeom>
          <a:blipFill>
            <a:blip r:embed="rId4"/>
            <a:stretch>
              <a:fillRect l="-134339" t="-27000" r="-17537" b="-1350"/>
            </a:stretch>
          </a:blipFill>
        </p:spPr>
      </p:sp>
      <p:sp>
        <p:nvSpPr>
          <p:cNvPr name="TextBox 12" id="12"/>
          <p:cNvSpPr txBox="true"/>
          <p:nvPr/>
        </p:nvSpPr>
        <p:spPr>
          <a:xfrm rot="0">
            <a:off x="6657438" y="6736278"/>
            <a:ext cx="11342635" cy="1827276"/>
          </a:xfrm>
          <a:prstGeom prst="rect">
            <a:avLst/>
          </a:prstGeom>
        </p:spPr>
        <p:txBody>
          <a:bodyPr anchor="t" rtlCol="false" tIns="0" lIns="0" bIns="0" rIns="0">
            <a:spAutoFit/>
          </a:bodyPr>
          <a:lstStyle/>
          <a:p>
            <a:pPr algn="ctr">
              <a:lnSpc>
                <a:spcPts val="3643"/>
              </a:lnSpc>
              <a:spcBef>
                <a:spcPct val="0"/>
              </a:spcBef>
            </a:pPr>
            <a:r>
              <a:rPr lang="en-US" sz="2602">
                <a:solidFill>
                  <a:srgbClr val="FFFFFF"/>
                </a:solidFill>
                <a:latin typeface="Poppins"/>
                <a:ea typeface="Poppins"/>
                <a:cs typeface="Poppins"/>
                <a:sym typeface="Poppins"/>
              </a:rPr>
              <a:t>El sistema deberá procesar y responder cualquier solicitud de consulta o navegación en un tiempo máximo de 2 segundos para el 95% de las peticiones bajo condiciones normales de operación (hasta 300 usuarios concurrentes).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41593" y="1807708"/>
            <a:ext cx="17804814"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TECNICAS PARA RECOLECTAR REQUERIMIENTOS</a:t>
            </a:r>
          </a:p>
        </p:txBody>
      </p:sp>
      <p:sp>
        <p:nvSpPr>
          <p:cNvPr name="Freeform 7" id="7"/>
          <p:cNvSpPr/>
          <p:nvPr/>
        </p:nvSpPr>
        <p:spPr>
          <a:xfrm flipH="false" flipV="false" rot="0">
            <a:off x="8104363" y="-241511"/>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Freeform 8" id="8"/>
          <p:cNvSpPr/>
          <p:nvPr/>
        </p:nvSpPr>
        <p:spPr>
          <a:xfrm flipH="false" flipV="false" rot="0">
            <a:off x="1153969" y="4294866"/>
            <a:ext cx="3786898" cy="2660296"/>
          </a:xfrm>
          <a:custGeom>
            <a:avLst/>
            <a:gdLst/>
            <a:ahLst/>
            <a:cxnLst/>
            <a:rect r="r" b="b" t="t" l="l"/>
            <a:pathLst>
              <a:path h="2660296" w="3786898">
                <a:moveTo>
                  <a:pt x="0" y="0"/>
                </a:moveTo>
                <a:lnTo>
                  <a:pt x="3786899" y="0"/>
                </a:lnTo>
                <a:lnTo>
                  <a:pt x="3786899" y="2660296"/>
                </a:lnTo>
                <a:lnTo>
                  <a:pt x="0" y="2660296"/>
                </a:lnTo>
                <a:lnTo>
                  <a:pt x="0" y="0"/>
                </a:lnTo>
                <a:close/>
              </a:path>
            </a:pathLst>
          </a:custGeom>
          <a:blipFill>
            <a:blip r:embed="rId4"/>
            <a:stretch>
              <a:fillRect l="0" t="0" r="0" b="0"/>
            </a:stretch>
          </a:blipFill>
        </p:spPr>
      </p:sp>
      <p:sp>
        <p:nvSpPr>
          <p:cNvPr name="Freeform 9" id="9"/>
          <p:cNvSpPr/>
          <p:nvPr/>
        </p:nvSpPr>
        <p:spPr>
          <a:xfrm flipH="false" flipV="false" rot="0">
            <a:off x="6884544" y="4634021"/>
            <a:ext cx="2058631" cy="2233229"/>
          </a:xfrm>
          <a:custGeom>
            <a:avLst/>
            <a:gdLst/>
            <a:ahLst/>
            <a:cxnLst/>
            <a:rect r="r" b="b" t="t" l="l"/>
            <a:pathLst>
              <a:path h="2233229" w="2058631">
                <a:moveTo>
                  <a:pt x="0" y="0"/>
                </a:moveTo>
                <a:lnTo>
                  <a:pt x="2058631" y="0"/>
                </a:lnTo>
                <a:lnTo>
                  <a:pt x="2058631" y="2233229"/>
                </a:lnTo>
                <a:lnTo>
                  <a:pt x="0" y="22332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0978942" y="5006258"/>
            <a:ext cx="1865657" cy="1860993"/>
          </a:xfrm>
          <a:custGeom>
            <a:avLst/>
            <a:gdLst/>
            <a:ahLst/>
            <a:cxnLst/>
            <a:rect r="r" b="b" t="t" l="l"/>
            <a:pathLst>
              <a:path h="1860993" w="1865657">
                <a:moveTo>
                  <a:pt x="0" y="0"/>
                </a:moveTo>
                <a:lnTo>
                  <a:pt x="1865657" y="0"/>
                </a:lnTo>
                <a:lnTo>
                  <a:pt x="1865657" y="1860992"/>
                </a:lnTo>
                <a:lnTo>
                  <a:pt x="0" y="1860992"/>
                </a:lnTo>
                <a:lnTo>
                  <a:pt x="0" y="0"/>
                </a:lnTo>
                <a:close/>
              </a:path>
            </a:pathLst>
          </a:custGeom>
          <a:blipFill>
            <a:blip r:embed="rId7"/>
            <a:stretch>
              <a:fillRect l="0" t="0" r="0" b="0"/>
            </a:stretch>
          </a:blipFill>
        </p:spPr>
      </p:sp>
      <p:sp>
        <p:nvSpPr>
          <p:cNvPr name="TextBox 11" id="11"/>
          <p:cNvSpPr txBox="true"/>
          <p:nvPr/>
        </p:nvSpPr>
        <p:spPr>
          <a:xfrm rot="0">
            <a:off x="1153969" y="7457337"/>
            <a:ext cx="3630943" cy="402560"/>
          </a:xfrm>
          <a:prstGeom prst="rect">
            <a:avLst/>
          </a:prstGeom>
        </p:spPr>
        <p:txBody>
          <a:bodyPr anchor="t" rtlCol="false" tIns="0" lIns="0" bIns="0" rIns="0">
            <a:spAutoFit/>
          </a:bodyPr>
          <a:lstStyle/>
          <a:p>
            <a:pPr algn="ctr">
              <a:lnSpc>
                <a:spcPts val="3280"/>
              </a:lnSpc>
              <a:spcBef>
                <a:spcPct val="0"/>
              </a:spcBef>
            </a:pPr>
            <a:r>
              <a:rPr lang="en-US" sz="2343">
                <a:solidFill>
                  <a:srgbClr val="957F3B"/>
                </a:solidFill>
                <a:latin typeface="HK Modular"/>
                <a:ea typeface="HK Modular"/>
                <a:cs typeface="HK Modular"/>
                <a:sym typeface="HK Modular"/>
              </a:rPr>
              <a:t>ENTREVISTAS</a:t>
            </a:r>
          </a:p>
        </p:txBody>
      </p:sp>
      <p:sp>
        <p:nvSpPr>
          <p:cNvPr name="TextBox 12" id="12"/>
          <p:cNvSpPr txBox="true"/>
          <p:nvPr/>
        </p:nvSpPr>
        <p:spPr>
          <a:xfrm rot="0">
            <a:off x="5944850" y="7457337"/>
            <a:ext cx="3630943" cy="817020"/>
          </a:xfrm>
          <a:prstGeom prst="rect">
            <a:avLst/>
          </a:prstGeom>
        </p:spPr>
        <p:txBody>
          <a:bodyPr anchor="t" rtlCol="false" tIns="0" lIns="0" bIns="0" rIns="0">
            <a:spAutoFit/>
          </a:bodyPr>
          <a:lstStyle/>
          <a:p>
            <a:pPr algn="ctr">
              <a:lnSpc>
                <a:spcPts val="3280"/>
              </a:lnSpc>
              <a:spcBef>
                <a:spcPct val="0"/>
              </a:spcBef>
            </a:pPr>
            <a:r>
              <a:rPr lang="en-US" sz="2343">
                <a:solidFill>
                  <a:srgbClr val="FFFFFF"/>
                </a:solidFill>
                <a:latin typeface="HK Modular"/>
                <a:ea typeface="HK Modular"/>
                <a:cs typeface="HK Modular"/>
                <a:sym typeface="HK Modular"/>
              </a:rPr>
              <a:t>ENCUESTAS Y CUESTIONARIOS</a:t>
            </a:r>
          </a:p>
        </p:txBody>
      </p:sp>
      <p:sp>
        <p:nvSpPr>
          <p:cNvPr name="TextBox 13" id="13"/>
          <p:cNvSpPr txBox="true"/>
          <p:nvPr/>
        </p:nvSpPr>
        <p:spPr>
          <a:xfrm rot="0">
            <a:off x="10096299" y="7457337"/>
            <a:ext cx="3630943" cy="402560"/>
          </a:xfrm>
          <a:prstGeom prst="rect">
            <a:avLst/>
          </a:prstGeom>
        </p:spPr>
        <p:txBody>
          <a:bodyPr anchor="t" rtlCol="false" tIns="0" lIns="0" bIns="0" rIns="0">
            <a:spAutoFit/>
          </a:bodyPr>
          <a:lstStyle/>
          <a:p>
            <a:pPr algn="ctr">
              <a:lnSpc>
                <a:spcPts val="3280"/>
              </a:lnSpc>
              <a:spcBef>
                <a:spcPct val="0"/>
              </a:spcBef>
            </a:pPr>
            <a:r>
              <a:rPr lang="en-US" sz="2343">
                <a:solidFill>
                  <a:srgbClr val="957F3B"/>
                </a:solidFill>
                <a:latin typeface="HK Modular"/>
                <a:ea typeface="HK Modular"/>
                <a:cs typeface="HK Modular"/>
                <a:sym typeface="HK Modular"/>
              </a:rPr>
              <a:t>OBSERVACION</a:t>
            </a:r>
          </a:p>
        </p:txBody>
      </p:sp>
      <p:sp>
        <p:nvSpPr>
          <p:cNvPr name="Freeform 14" id="14"/>
          <p:cNvSpPr/>
          <p:nvPr/>
        </p:nvSpPr>
        <p:spPr>
          <a:xfrm flipH="false" flipV="false" rot="0">
            <a:off x="14167686" y="4502285"/>
            <a:ext cx="3527087" cy="2496702"/>
          </a:xfrm>
          <a:custGeom>
            <a:avLst/>
            <a:gdLst/>
            <a:ahLst/>
            <a:cxnLst/>
            <a:rect r="r" b="b" t="t" l="l"/>
            <a:pathLst>
              <a:path h="2496702" w="3527087">
                <a:moveTo>
                  <a:pt x="0" y="0"/>
                </a:moveTo>
                <a:lnTo>
                  <a:pt x="3527087" y="0"/>
                </a:lnTo>
                <a:lnTo>
                  <a:pt x="3527087" y="2496702"/>
                </a:lnTo>
                <a:lnTo>
                  <a:pt x="0" y="2496702"/>
                </a:lnTo>
                <a:lnTo>
                  <a:pt x="0" y="0"/>
                </a:lnTo>
                <a:close/>
              </a:path>
            </a:pathLst>
          </a:custGeom>
          <a:blipFill>
            <a:blip r:embed="rId8"/>
            <a:stretch>
              <a:fillRect l="0" t="0" r="0" b="0"/>
            </a:stretch>
          </a:blipFill>
        </p:spPr>
      </p:sp>
      <p:sp>
        <p:nvSpPr>
          <p:cNvPr name="TextBox 15" id="15"/>
          <p:cNvSpPr txBox="true"/>
          <p:nvPr/>
        </p:nvSpPr>
        <p:spPr>
          <a:xfrm rot="0">
            <a:off x="14167686" y="7457337"/>
            <a:ext cx="3630943" cy="402560"/>
          </a:xfrm>
          <a:prstGeom prst="rect">
            <a:avLst/>
          </a:prstGeom>
        </p:spPr>
        <p:txBody>
          <a:bodyPr anchor="t" rtlCol="false" tIns="0" lIns="0" bIns="0" rIns="0">
            <a:spAutoFit/>
          </a:bodyPr>
          <a:lstStyle/>
          <a:p>
            <a:pPr algn="ctr">
              <a:lnSpc>
                <a:spcPts val="3280"/>
              </a:lnSpc>
              <a:spcBef>
                <a:spcPct val="0"/>
              </a:spcBef>
            </a:pPr>
            <a:r>
              <a:rPr lang="en-US" sz="2343">
                <a:solidFill>
                  <a:srgbClr val="FFFFFF"/>
                </a:solidFill>
                <a:latin typeface="HK Modular"/>
                <a:ea typeface="HK Modular"/>
                <a:cs typeface="HK Modular"/>
                <a:sym typeface="HK Modular"/>
              </a:rPr>
              <a:t>WORKSHOPS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12789" y="8085896"/>
            <a:ext cx="1586363" cy="1358323"/>
          </a:xfrm>
          <a:custGeom>
            <a:avLst/>
            <a:gdLst/>
            <a:ahLst/>
            <a:cxnLst/>
            <a:rect r="r" b="b" t="t" l="l"/>
            <a:pathLst>
              <a:path h="1358323" w="1586363">
                <a:moveTo>
                  <a:pt x="0" y="0"/>
                </a:moveTo>
                <a:lnTo>
                  <a:pt x="1586363" y="0"/>
                </a:lnTo>
                <a:lnTo>
                  <a:pt x="1586363" y="1358324"/>
                </a:lnTo>
                <a:lnTo>
                  <a:pt x="0" y="13583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612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a:t>
            </a:r>
          </a:p>
        </p:txBody>
      </p:sp>
      <p:sp>
        <p:nvSpPr>
          <p:cNvPr name="TextBox 8" id="8"/>
          <p:cNvSpPr txBox="true"/>
          <p:nvPr/>
        </p:nvSpPr>
        <p:spPr>
          <a:xfrm rot="0">
            <a:off x="4390437" y="7171774"/>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957F3B"/>
                </a:solidFill>
                <a:latin typeface="HK Modular"/>
                <a:ea typeface="HK Modular"/>
                <a:cs typeface="HK Modular"/>
                <a:sym typeface="HK Modular"/>
              </a:rPr>
              <a:t>PARA QUE SIRVE?</a:t>
            </a:r>
          </a:p>
        </p:txBody>
      </p:sp>
      <p:sp>
        <p:nvSpPr>
          <p:cNvPr name="TextBox 9" id="9"/>
          <p:cNvSpPr txBox="true"/>
          <p:nvPr/>
        </p:nvSpPr>
        <p:spPr>
          <a:xfrm rot="0">
            <a:off x="2850208" y="446706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Consiste en la recopilacion de las necesidades de un cliente para proponer una solucion</a:t>
            </a:r>
          </a:p>
        </p:txBody>
      </p:sp>
      <p:sp>
        <p:nvSpPr>
          <p:cNvPr name="TextBox 10" id="10"/>
          <p:cNvSpPr txBox="true"/>
          <p:nvPr/>
        </p:nvSpPr>
        <p:spPr>
          <a:xfrm rot="0">
            <a:off x="3266648" y="8171224"/>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 este analisis se reconoce como se puede mejorar las funcionalidades planteadas para solucionar un determinado problema, asi se busca una solucion mas efectiva que ataque las necesidades</a:t>
            </a:r>
          </a:p>
        </p:txBody>
      </p:sp>
      <p:sp>
        <p:nvSpPr>
          <p:cNvPr name="TextBox 11" id="11"/>
          <p:cNvSpPr txBox="true"/>
          <p:nvPr/>
        </p:nvSpPr>
        <p:spPr>
          <a:xfrm rot="0">
            <a:off x="2964154" y="5665948"/>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Dependiendo del conocimiento e indagacion que se realice del problema sera mas o menos complicado el analisis</a:t>
            </a:r>
          </a:p>
        </p:txBody>
      </p:sp>
      <p:sp>
        <p:nvSpPr>
          <p:cNvPr name="Freeform 12" id="12"/>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95207" y="3976805"/>
            <a:ext cx="972287" cy="832520"/>
          </a:xfrm>
          <a:custGeom>
            <a:avLst/>
            <a:gdLst/>
            <a:ahLst/>
            <a:cxnLst/>
            <a:rect r="r" b="b" t="t" l="l"/>
            <a:pathLst>
              <a:path h="832520" w="972287">
                <a:moveTo>
                  <a:pt x="0" y="0"/>
                </a:moveTo>
                <a:lnTo>
                  <a:pt x="972286" y="0"/>
                </a:lnTo>
                <a:lnTo>
                  <a:pt x="972286"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1101" y="158942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a:t>
            </a:r>
          </a:p>
        </p:txBody>
      </p:sp>
      <p:sp>
        <p:nvSpPr>
          <p:cNvPr name="TextBox 8" id="8"/>
          <p:cNvSpPr txBox="true"/>
          <p:nvPr/>
        </p:nvSpPr>
        <p:spPr>
          <a:xfrm rot="0">
            <a:off x="2850208" y="4132070"/>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Lista los requerimientos de alto nivel</a:t>
            </a:r>
          </a:p>
        </p:txBody>
      </p:sp>
      <p:sp>
        <p:nvSpPr>
          <p:cNvPr name="TextBox 9" id="9"/>
          <p:cNvSpPr txBox="true"/>
          <p:nvPr/>
        </p:nvSpPr>
        <p:spPr>
          <a:xfrm rot="0">
            <a:off x="3099152" y="6516892"/>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detalla cada requerimiento</a:t>
            </a:r>
          </a:p>
        </p:txBody>
      </p:sp>
      <p:sp>
        <p:nvSpPr>
          <p:cNvPr name="TextBox 10" id="10"/>
          <p:cNvSpPr txBox="true"/>
          <p:nvPr/>
        </p:nvSpPr>
        <p:spPr>
          <a:xfrm rot="0">
            <a:off x="2850208" y="5018530"/>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agrupan los requerimientos por modulos y por categoria - funcionales y no funcionales</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
        <p:nvSpPr>
          <p:cNvPr name="TextBox 12" id="12"/>
          <p:cNvSpPr txBox="true"/>
          <p:nvPr/>
        </p:nvSpPr>
        <p:spPr>
          <a:xfrm rot="0">
            <a:off x="3099152" y="7628061"/>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Identifican relaciones, ambiguedades, contradiciones y preguntas</a:t>
            </a:r>
          </a:p>
        </p:txBody>
      </p:sp>
      <p:sp>
        <p:nvSpPr>
          <p:cNvPr name="Freeform 13" id="13"/>
          <p:cNvSpPr/>
          <p:nvPr/>
        </p:nvSpPr>
        <p:spPr>
          <a:xfrm flipH="false" flipV="false" rot="0">
            <a:off x="1748936" y="4966683"/>
            <a:ext cx="972287" cy="832520"/>
          </a:xfrm>
          <a:custGeom>
            <a:avLst/>
            <a:gdLst/>
            <a:ahLst/>
            <a:cxnLst/>
            <a:rect r="r" b="b" t="t" l="l"/>
            <a:pathLst>
              <a:path h="832520" w="972287">
                <a:moveTo>
                  <a:pt x="0" y="0"/>
                </a:moveTo>
                <a:lnTo>
                  <a:pt x="972287" y="0"/>
                </a:lnTo>
                <a:lnTo>
                  <a:pt x="972287"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5667493" y="6362887"/>
            <a:ext cx="972287" cy="832520"/>
          </a:xfrm>
          <a:custGeom>
            <a:avLst/>
            <a:gdLst/>
            <a:ahLst/>
            <a:cxnLst/>
            <a:rect r="r" b="b" t="t" l="l"/>
            <a:pathLst>
              <a:path h="832520" w="972287">
                <a:moveTo>
                  <a:pt x="0" y="0"/>
                </a:moveTo>
                <a:lnTo>
                  <a:pt x="972287" y="0"/>
                </a:lnTo>
                <a:lnTo>
                  <a:pt x="972287"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2613009" y="7470027"/>
            <a:ext cx="972287" cy="832520"/>
          </a:xfrm>
          <a:custGeom>
            <a:avLst/>
            <a:gdLst/>
            <a:ahLst/>
            <a:cxnLst/>
            <a:rect r="r" b="b" t="t" l="l"/>
            <a:pathLst>
              <a:path h="832520" w="972287">
                <a:moveTo>
                  <a:pt x="0" y="0"/>
                </a:moveTo>
                <a:lnTo>
                  <a:pt x="972286" y="0"/>
                </a:lnTo>
                <a:lnTo>
                  <a:pt x="972286" y="832521"/>
                </a:lnTo>
                <a:lnTo>
                  <a:pt x="0" y="832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3237594" y="8800464"/>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consolidan en la matriz de trazabilidad</a:t>
            </a:r>
          </a:p>
        </p:txBody>
      </p:sp>
      <p:sp>
        <p:nvSpPr>
          <p:cNvPr name="Freeform 17" id="17"/>
          <p:cNvSpPr/>
          <p:nvPr/>
        </p:nvSpPr>
        <p:spPr>
          <a:xfrm flipH="false" flipV="false" rot="0">
            <a:off x="4831263" y="8646460"/>
            <a:ext cx="972287" cy="832520"/>
          </a:xfrm>
          <a:custGeom>
            <a:avLst/>
            <a:gdLst/>
            <a:ahLst/>
            <a:cxnLst/>
            <a:rect r="r" b="b" t="t" l="l"/>
            <a:pathLst>
              <a:path h="832520" w="972287">
                <a:moveTo>
                  <a:pt x="0" y="0"/>
                </a:moveTo>
                <a:lnTo>
                  <a:pt x="972287" y="0"/>
                </a:lnTo>
                <a:lnTo>
                  <a:pt x="972287"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 - EJERCICIO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969815" y="3741246"/>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Lista los requerimientos de alto nivel</a:t>
            </a:r>
          </a:p>
        </p:txBody>
      </p:sp>
      <p:grpSp>
        <p:nvGrpSpPr>
          <p:cNvPr name="Group 9" id="9"/>
          <p:cNvGrpSpPr/>
          <p:nvPr/>
        </p:nvGrpSpPr>
        <p:grpSpPr>
          <a:xfrm rot="0">
            <a:off x="5031144" y="3583015"/>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1</a:t>
              </a:r>
            </a:p>
          </p:txBody>
        </p:sp>
      </p:grpSp>
      <p:sp>
        <p:nvSpPr>
          <p:cNvPr name="Freeform 12" id="12"/>
          <p:cNvSpPr/>
          <p:nvPr/>
        </p:nvSpPr>
        <p:spPr>
          <a:xfrm flipH="false" flipV="false" rot="0">
            <a:off x="6237094" y="4751532"/>
            <a:ext cx="5813811" cy="4665583"/>
          </a:xfrm>
          <a:custGeom>
            <a:avLst/>
            <a:gdLst/>
            <a:ahLst/>
            <a:cxnLst/>
            <a:rect r="r" b="b" t="t" l="l"/>
            <a:pathLst>
              <a:path h="4665583" w="5813811">
                <a:moveTo>
                  <a:pt x="0" y="0"/>
                </a:moveTo>
                <a:lnTo>
                  <a:pt x="5813812" y="0"/>
                </a:lnTo>
                <a:lnTo>
                  <a:pt x="5813812" y="4665583"/>
                </a:lnTo>
                <a:lnTo>
                  <a:pt x="0" y="4665583"/>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 - EJERCICIO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969815" y="3629583"/>
            <a:ext cx="6348370"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Agrupar los requerimientos por modulos y por categoria</a:t>
            </a:r>
          </a:p>
        </p:txBody>
      </p:sp>
      <p:grpSp>
        <p:nvGrpSpPr>
          <p:cNvPr name="Group 9" id="9"/>
          <p:cNvGrpSpPr/>
          <p:nvPr/>
        </p:nvGrpSpPr>
        <p:grpSpPr>
          <a:xfrm rot="0">
            <a:off x="5031144" y="3583015"/>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2</a:t>
              </a:r>
            </a:p>
          </p:txBody>
        </p:sp>
      </p:grpSp>
      <p:sp>
        <p:nvSpPr>
          <p:cNvPr name="Freeform 12" id="12"/>
          <p:cNvSpPr/>
          <p:nvPr/>
        </p:nvSpPr>
        <p:spPr>
          <a:xfrm flipH="false" flipV="false" rot="0">
            <a:off x="6237094" y="4751532"/>
            <a:ext cx="5813811" cy="4665583"/>
          </a:xfrm>
          <a:custGeom>
            <a:avLst/>
            <a:gdLst/>
            <a:ahLst/>
            <a:cxnLst/>
            <a:rect r="r" b="b" t="t" l="l"/>
            <a:pathLst>
              <a:path h="4665583" w="5813811">
                <a:moveTo>
                  <a:pt x="0" y="0"/>
                </a:moveTo>
                <a:lnTo>
                  <a:pt x="5813812" y="0"/>
                </a:lnTo>
                <a:lnTo>
                  <a:pt x="5813812" y="4665583"/>
                </a:lnTo>
                <a:lnTo>
                  <a:pt x="0" y="4665583"/>
                </a:lnTo>
                <a:lnTo>
                  <a:pt x="0" y="0"/>
                </a:lnTo>
                <a:close/>
              </a:path>
            </a:pathLst>
          </a:custGeom>
          <a:blipFill>
            <a:blip r:embed="rId4"/>
            <a:stretch>
              <a:fillRect l="0" t="0" r="0" b="0"/>
            </a:stretch>
          </a:blipFill>
        </p:spPr>
      </p:sp>
      <p:sp>
        <p:nvSpPr>
          <p:cNvPr name="TextBox 13" id="13"/>
          <p:cNvSpPr txBox="true"/>
          <p:nvPr/>
        </p:nvSpPr>
        <p:spPr>
          <a:xfrm rot="0">
            <a:off x="-111275" y="6626488"/>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FUNCIONALES</a:t>
            </a:r>
          </a:p>
        </p:txBody>
      </p:sp>
      <p:sp>
        <p:nvSpPr>
          <p:cNvPr name="TextBox 14" id="14"/>
          <p:cNvSpPr txBox="true"/>
          <p:nvPr/>
        </p:nvSpPr>
        <p:spPr>
          <a:xfrm rot="0">
            <a:off x="11939630" y="6626488"/>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NO FUNCIONALES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 - EJERCICIO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969815" y="3741246"/>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Detallar cada requerimiento</a:t>
            </a:r>
          </a:p>
        </p:txBody>
      </p:sp>
      <p:grpSp>
        <p:nvGrpSpPr>
          <p:cNvPr name="Group 9" id="9"/>
          <p:cNvGrpSpPr/>
          <p:nvPr/>
        </p:nvGrpSpPr>
        <p:grpSpPr>
          <a:xfrm rot="0">
            <a:off x="5549329" y="3583015"/>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3</a:t>
              </a:r>
            </a:p>
          </p:txBody>
        </p:sp>
      </p:grpSp>
      <p:sp>
        <p:nvSpPr>
          <p:cNvPr name="Freeform 12" id="12"/>
          <p:cNvSpPr/>
          <p:nvPr/>
        </p:nvSpPr>
        <p:spPr>
          <a:xfrm flipH="false" flipV="false" rot="0">
            <a:off x="5696461" y="4664455"/>
            <a:ext cx="6895078" cy="4593845"/>
          </a:xfrm>
          <a:custGeom>
            <a:avLst/>
            <a:gdLst/>
            <a:ahLst/>
            <a:cxnLst/>
            <a:rect r="r" b="b" t="t" l="l"/>
            <a:pathLst>
              <a:path h="4593845" w="6895078">
                <a:moveTo>
                  <a:pt x="0" y="0"/>
                </a:moveTo>
                <a:lnTo>
                  <a:pt x="6895078" y="0"/>
                </a:lnTo>
                <a:lnTo>
                  <a:pt x="6895078" y="4593845"/>
                </a:lnTo>
                <a:lnTo>
                  <a:pt x="0" y="4593845"/>
                </a:lnTo>
                <a:lnTo>
                  <a:pt x="0" y="0"/>
                </a:lnTo>
                <a:close/>
              </a:path>
            </a:pathLst>
          </a:custGeom>
          <a:blipFill>
            <a:blip r:embed="rId4"/>
            <a:stretch>
              <a:fillRect l="0" t="0" r="0" b="0"/>
            </a:stretch>
          </a:blipFill>
        </p:spPr>
      </p:sp>
      <p:sp>
        <p:nvSpPr>
          <p:cNvPr name="Freeform 13" id="13"/>
          <p:cNvSpPr/>
          <p:nvPr/>
        </p:nvSpPr>
        <p:spPr>
          <a:xfrm flipH="false" flipV="false" rot="0">
            <a:off x="13522761" y="4664455"/>
            <a:ext cx="3497580" cy="4114800"/>
          </a:xfrm>
          <a:custGeom>
            <a:avLst/>
            <a:gdLst/>
            <a:ahLst/>
            <a:cxnLst/>
            <a:rect r="r" b="b" t="t" l="l"/>
            <a:pathLst>
              <a:path h="4114800" w="3497580">
                <a:moveTo>
                  <a:pt x="0" y="0"/>
                </a:moveTo>
                <a:lnTo>
                  <a:pt x="3497580" y="0"/>
                </a:lnTo>
                <a:lnTo>
                  <a:pt x="349758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0738637">
            <a:off x="1028700" y="4664455"/>
            <a:ext cx="3497580" cy="4114800"/>
          </a:xfrm>
          <a:custGeom>
            <a:avLst/>
            <a:gdLst/>
            <a:ahLst/>
            <a:cxnLst/>
            <a:rect r="r" b="b" t="t" l="l"/>
            <a:pathLst>
              <a:path h="4114800" w="3497580">
                <a:moveTo>
                  <a:pt x="0" y="0"/>
                </a:moveTo>
                <a:lnTo>
                  <a:pt x="3497580" y="0"/>
                </a:lnTo>
                <a:lnTo>
                  <a:pt x="349758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6197296" y="4105406"/>
            <a:ext cx="11301259" cy="1864708"/>
          </a:xfrm>
          <a:custGeom>
            <a:avLst/>
            <a:gdLst/>
            <a:ahLst/>
            <a:cxnLst/>
            <a:rect r="r" b="b" t="t" l="l"/>
            <a:pathLst>
              <a:path h="1864708" w="11301259">
                <a:moveTo>
                  <a:pt x="0" y="0"/>
                </a:moveTo>
                <a:lnTo>
                  <a:pt x="11301259" y="0"/>
                </a:lnTo>
                <a:lnTo>
                  <a:pt x="11301259" y="1864708"/>
                </a:lnTo>
                <a:lnTo>
                  <a:pt x="0" y="1864708"/>
                </a:lnTo>
                <a:lnTo>
                  <a:pt x="0" y="0"/>
                </a:lnTo>
                <a:close/>
              </a:path>
            </a:pathLst>
          </a:custGeom>
          <a:blipFill>
            <a:blip r:embed="rId3"/>
            <a:stretch>
              <a:fillRect l="0" t="0" r="0" b="0"/>
            </a:stretch>
          </a:blipFill>
        </p:spPr>
      </p:sp>
      <p:sp>
        <p:nvSpPr>
          <p:cNvPr name="Freeform 8" id="8"/>
          <p:cNvSpPr/>
          <p:nvPr/>
        </p:nvSpPr>
        <p:spPr>
          <a:xfrm flipH="false" flipV="false" rot="0">
            <a:off x="6197296" y="6839333"/>
            <a:ext cx="11301259" cy="2076606"/>
          </a:xfrm>
          <a:custGeom>
            <a:avLst/>
            <a:gdLst/>
            <a:ahLst/>
            <a:cxnLst/>
            <a:rect r="r" b="b" t="t" l="l"/>
            <a:pathLst>
              <a:path h="2076606" w="11301259">
                <a:moveTo>
                  <a:pt x="0" y="0"/>
                </a:moveTo>
                <a:lnTo>
                  <a:pt x="11301259" y="0"/>
                </a:lnTo>
                <a:lnTo>
                  <a:pt x="11301259" y="2076607"/>
                </a:lnTo>
                <a:lnTo>
                  <a:pt x="0" y="2076607"/>
                </a:lnTo>
                <a:lnTo>
                  <a:pt x="0" y="0"/>
                </a:lnTo>
                <a:close/>
              </a:path>
            </a:pathLst>
          </a:custGeom>
          <a:blipFill>
            <a:blip r:embed="rId4"/>
            <a:stretch>
              <a:fillRect l="0" t="0" r="0" b="0"/>
            </a:stretch>
          </a:blipFill>
        </p:spPr>
      </p:sp>
      <p:sp>
        <p:nvSpPr>
          <p:cNvPr name="TextBox 9" id="9"/>
          <p:cNvSpPr txBox="true"/>
          <p:nvPr/>
        </p:nvSpPr>
        <p:spPr>
          <a:xfrm rot="0">
            <a:off x="1291010" y="4937532"/>
            <a:ext cx="2599633" cy="625074"/>
          </a:xfrm>
          <a:prstGeom prst="rect">
            <a:avLst/>
          </a:prstGeom>
        </p:spPr>
        <p:txBody>
          <a:bodyPr anchor="t" rtlCol="false" tIns="0" lIns="0" bIns="0" rIns="0">
            <a:spAutoFit/>
          </a:bodyPr>
          <a:lstStyle/>
          <a:p>
            <a:pPr algn="ctr">
              <a:lnSpc>
                <a:spcPts val="2477"/>
              </a:lnSpc>
              <a:spcBef>
                <a:spcPct val="0"/>
              </a:spcBef>
            </a:pPr>
            <a:r>
              <a:rPr lang="en-US" sz="1769">
                <a:solidFill>
                  <a:srgbClr val="FFFFFF"/>
                </a:solidFill>
                <a:latin typeface="Poppins"/>
                <a:ea typeface="Poppins"/>
                <a:cs typeface="Poppins"/>
                <a:sym typeface="Poppins"/>
              </a:rPr>
              <a:t>Nombre del requerimiento</a:t>
            </a:r>
          </a:p>
        </p:txBody>
      </p:sp>
      <p:sp>
        <p:nvSpPr>
          <p:cNvPr name="TextBox 10" id="10"/>
          <p:cNvSpPr txBox="true"/>
          <p:nvPr/>
        </p:nvSpPr>
        <p:spPr>
          <a:xfrm rot="0">
            <a:off x="1458528" y="3818356"/>
            <a:ext cx="2432115" cy="879010"/>
          </a:xfrm>
          <a:prstGeom prst="rect">
            <a:avLst/>
          </a:prstGeom>
        </p:spPr>
        <p:txBody>
          <a:bodyPr anchor="t" rtlCol="false" tIns="0" lIns="0" bIns="0" rIns="0">
            <a:spAutoFit/>
          </a:bodyPr>
          <a:lstStyle/>
          <a:p>
            <a:pPr algn="ctr">
              <a:lnSpc>
                <a:spcPts val="2317"/>
              </a:lnSpc>
              <a:spcBef>
                <a:spcPct val="0"/>
              </a:spcBef>
            </a:pPr>
            <a:r>
              <a:rPr lang="en-US" sz="1655">
                <a:solidFill>
                  <a:srgbClr val="FFFFFF"/>
                </a:solidFill>
                <a:latin typeface="Poppins"/>
                <a:ea typeface="Poppins"/>
                <a:cs typeface="Poppins"/>
                <a:sym typeface="Poppins"/>
              </a:rPr>
              <a:t>Identificador unico para cada requerimiento</a:t>
            </a:r>
          </a:p>
        </p:txBody>
      </p:sp>
      <p:sp>
        <p:nvSpPr>
          <p:cNvPr name="TextBox 11" id="11"/>
          <p:cNvSpPr txBox="true"/>
          <p:nvPr/>
        </p:nvSpPr>
        <p:spPr>
          <a:xfrm rot="0">
            <a:off x="958220" y="5922489"/>
            <a:ext cx="3265213" cy="336937"/>
          </a:xfrm>
          <a:prstGeom prst="rect">
            <a:avLst/>
          </a:prstGeom>
        </p:spPr>
        <p:txBody>
          <a:bodyPr anchor="t" rtlCol="false" tIns="0" lIns="0" bIns="0" rIns="0">
            <a:spAutoFit/>
          </a:bodyPr>
          <a:lstStyle/>
          <a:p>
            <a:pPr algn="ctr">
              <a:lnSpc>
                <a:spcPts val="2692"/>
              </a:lnSpc>
              <a:spcBef>
                <a:spcPct val="0"/>
              </a:spcBef>
            </a:pPr>
            <a:r>
              <a:rPr lang="en-US" sz="1923">
                <a:solidFill>
                  <a:srgbClr val="FFFFFF"/>
                </a:solidFill>
                <a:latin typeface="Poppins"/>
                <a:ea typeface="Poppins"/>
                <a:cs typeface="Poppins"/>
                <a:sym typeface="Poppins"/>
              </a:rPr>
              <a:t>Detalle del requerimiento</a:t>
            </a:r>
          </a:p>
        </p:txBody>
      </p:sp>
      <p:sp>
        <p:nvSpPr>
          <p:cNvPr name="AutoShape 12" id="12"/>
          <p:cNvSpPr/>
          <p:nvPr/>
        </p:nvSpPr>
        <p:spPr>
          <a:xfrm>
            <a:off x="3890643" y="4281674"/>
            <a:ext cx="2472342" cy="861826"/>
          </a:xfrm>
          <a:prstGeom prst="line">
            <a:avLst/>
          </a:prstGeom>
          <a:ln cap="flat" w="38100">
            <a:solidFill>
              <a:srgbClr val="957F3B"/>
            </a:solidFill>
            <a:prstDash val="solid"/>
            <a:headEnd type="none" len="sm" w="sm"/>
            <a:tailEnd type="triangle" len="med" w="lg"/>
          </a:ln>
        </p:spPr>
      </p:sp>
      <p:sp>
        <p:nvSpPr>
          <p:cNvPr name="AutoShape 13" id="13"/>
          <p:cNvSpPr/>
          <p:nvPr/>
        </p:nvSpPr>
        <p:spPr>
          <a:xfrm>
            <a:off x="3890643" y="5273882"/>
            <a:ext cx="2474194" cy="288724"/>
          </a:xfrm>
          <a:prstGeom prst="line">
            <a:avLst/>
          </a:prstGeom>
          <a:ln cap="flat" w="38100">
            <a:solidFill>
              <a:srgbClr val="957F3B"/>
            </a:solidFill>
            <a:prstDash val="solid"/>
            <a:headEnd type="none" len="sm" w="sm"/>
            <a:tailEnd type="triangle" len="med" w="lg"/>
          </a:ln>
        </p:spPr>
      </p:sp>
      <p:sp>
        <p:nvSpPr>
          <p:cNvPr name="AutoShape 14" id="14"/>
          <p:cNvSpPr/>
          <p:nvPr/>
        </p:nvSpPr>
        <p:spPr>
          <a:xfrm>
            <a:off x="4315002" y="6259426"/>
            <a:ext cx="2139959" cy="1245536"/>
          </a:xfrm>
          <a:prstGeom prst="line">
            <a:avLst/>
          </a:prstGeom>
          <a:ln cap="flat" w="38100">
            <a:solidFill>
              <a:srgbClr val="957F3B"/>
            </a:solidFill>
            <a:prstDash val="solid"/>
            <a:headEnd type="none" len="sm" w="sm"/>
            <a:tailEnd type="triangle" len="med" w="lg"/>
          </a:ln>
        </p:spPr>
      </p:sp>
      <p:sp>
        <p:nvSpPr>
          <p:cNvPr name="TextBox 15" id="15"/>
          <p:cNvSpPr txBox="true"/>
          <p:nvPr/>
        </p:nvSpPr>
        <p:spPr>
          <a:xfrm rot="0">
            <a:off x="0" y="6935701"/>
            <a:ext cx="4959941" cy="284557"/>
          </a:xfrm>
          <a:prstGeom prst="rect">
            <a:avLst/>
          </a:prstGeom>
        </p:spPr>
        <p:txBody>
          <a:bodyPr anchor="t" rtlCol="false" tIns="0" lIns="0" bIns="0" rIns="0">
            <a:spAutoFit/>
          </a:bodyPr>
          <a:lstStyle/>
          <a:p>
            <a:pPr algn="ctr">
              <a:lnSpc>
                <a:spcPts val="2293"/>
              </a:lnSpc>
              <a:spcBef>
                <a:spcPct val="0"/>
              </a:spcBef>
            </a:pPr>
            <a:r>
              <a:rPr lang="en-US" sz="1638">
                <a:solidFill>
                  <a:srgbClr val="FFFFFF"/>
                </a:solidFill>
                <a:latin typeface="Poppins"/>
                <a:ea typeface="Poppins"/>
                <a:cs typeface="Poppins"/>
                <a:sym typeface="Poppins"/>
              </a:rPr>
              <a:t>Como se ejecutara este requerimiento</a:t>
            </a:r>
          </a:p>
        </p:txBody>
      </p:sp>
      <p:sp>
        <p:nvSpPr>
          <p:cNvPr name="AutoShape 16" id="16"/>
          <p:cNvSpPr/>
          <p:nvPr/>
        </p:nvSpPr>
        <p:spPr>
          <a:xfrm>
            <a:off x="4736968" y="7220258"/>
            <a:ext cx="1840182" cy="635317"/>
          </a:xfrm>
          <a:prstGeom prst="line">
            <a:avLst/>
          </a:prstGeom>
          <a:ln cap="flat" w="38100">
            <a:solidFill>
              <a:srgbClr val="957F3B"/>
            </a:solidFill>
            <a:prstDash val="solid"/>
            <a:headEnd type="none" len="sm" w="sm"/>
            <a:tailEnd type="triangle" len="med" w="lg"/>
          </a:ln>
        </p:spPr>
      </p:sp>
      <p:sp>
        <p:nvSpPr>
          <p:cNvPr name="TextBox 17" id="17"/>
          <p:cNvSpPr txBox="true"/>
          <p:nvPr/>
        </p:nvSpPr>
        <p:spPr>
          <a:xfrm rot="0">
            <a:off x="0" y="8121780"/>
            <a:ext cx="4959941" cy="284557"/>
          </a:xfrm>
          <a:prstGeom prst="rect">
            <a:avLst/>
          </a:prstGeom>
        </p:spPr>
        <p:txBody>
          <a:bodyPr anchor="t" rtlCol="false" tIns="0" lIns="0" bIns="0" rIns="0">
            <a:spAutoFit/>
          </a:bodyPr>
          <a:lstStyle/>
          <a:p>
            <a:pPr algn="ctr">
              <a:lnSpc>
                <a:spcPts val="2293"/>
              </a:lnSpc>
              <a:spcBef>
                <a:spcPct val="0"/>
              </a:spcBef>
            </a:pPr>
            <a:r>
              <a:rPr lang="en-US" sz="1638">
                <a:solidFill>
                  <a:srgbClr val="FFFFFF"/>
                </a:solidFill>
                <a:latin typeface="Poppins"/>
                <a:ea typeface="Poppins"/>
                <a:cs typeface="Poppins"/>
                <a:sym typeface="Poppins"/>
              </a:rPr>
              <a:t>Usuarios quienes usaran el requerimiento</a:t>
            </a:r>
          </a:p>
        </p:txBody>
      </p:sp>
      <p:sp>
        <p:nvSpPr>
          <p:cNvPr name="AutoShape 18" id="18"/>
          <p:cNvSpPr/>
          <p:nvPr/>
        </p:nvSpPr>
        <p:spPr>
          <a:xfrm flipV="true">
            <a:off x="4736968" y="8238985"/>
            <a:ext cx="1839726" cy="44124"/>
          </a:xfrm>
          <a:prstGeom prst="line">
            <a:avLst/>
          </a:prstGeom>
          <a:ln cap="flat" w="38100">
            <a:solidFill>
              <a:srgbClr val="957F3B"/>
            </a:solidFill>
            <a:prstDash val="solid"/>
            <a:headEnd type="none" len="sm" w="sm"/>
            <a:tailEnd type="triangle" len="med" w="lg"/>
          </a:ln>
        </p:spPr>
      </p:sp>
      <p:sp>
        <p:nvSpPr>
          <p:cNvPr name="TextBox 19" id="19"/>
          <p:cNvSpPr txBox="true"/>
          <p:nvPr/>
        </p:nvSpPr>
        <p:spPr>
          <a:xfrm rot="0">
            <a:off x="182611" y="8599747"/>
            <a:ext cx="4959941" cy="572623"/>
          </a:xfrm>
          <a:prstGeom prst="rect">
            <a:avLst/>
          </a:prstGeom>
        </p:spPr>
        <p:txBody>
          <a:bodyPr anchor="t" rtlCol="false" tIns="0" lIns="0" bIns="0" rIns="0">
            <a:spAutoFit/>
          </a:bodyPr>
          <a:lstStyle/>
          <a:p>
            <a:pPr algn="ctr">
              <a:lnSpc>
                <a:spcPts val="2293"/>
              </a:lnSpc>
              <a:spcBef>
                <a:spcPct val="0"/>
              </a:spcBef>
            </a:pPr>
            <a:r>
              <a:rPr lang="en-US" sz="1638">
                <a:solidFill>
                  <a:srgbClr val="FFFFFF"/>
                </a:solidFill>
                <a:latin typeface="Poppins"/>
                <a:ea typeface="Poppins"/>
                <a:cs typeface="Poppins"/>
                <a:sym typeface="Poppins"/>
              </a:rPr>
              <a:t>Aspectos que deben cumplirse para que el requerimiento pueda implementarse y operar</a:t>
            </a:r>
          </a:p>
        </p:txBody>
      </p:sp>
      <p:sp>
        <p:nvSpPr>
          <p:cNvPr name="AutoShape 20" id="20"/>
          <p:cNvSpPr/>
          <p:nvPr/>
        </p:nvSpPr>
        <p:spPr>
          <a:xfrm flipV="true">
            <a:off x="5142553" y="8628316"/>
            <a:ext cx="1435054" cy="276792"/>
          </a:xfrm>
          <a:prstGeom prst="line">
            <a:avLst/>
          </a:prstGeom>
          <a:ln cap="flat" w="38100">
            <a:solidFill>
              <a:srgbClr val="957F3B"/>
            </a:solidFill>
            <a:prstDash val="solid"/>
            <a:headEnd type="none" len="sm" w="sm"/>
            <a:tailEnd type="triangle" len="med" w="lg"/>
          </a:ln>
        </p:spPr>
      </p:sp>
      <p:sp>
        <p:nvSpPr>
          <p:cNvPr name="Freeform 21" id="21"/>
          <p:cNvSpPr/>
          <p:nvPr/>
        </p:nvSpPr>
        <p:spPr>
          <a:xfrm flipH="false" flipV="false" rot="0">
            <a:off x="8107416" y="-258867"/>
            <a:ext cx="2298007" cy="2298007"/>
          </a:xfrm>
          <a:custGeom>
            <a:avLst/>
            <a:gdLst/>
            <a:ahLst/>
            <a:cxnLst/>
            <a:rect r="r" b="b" t="t" l="l"/>
            <a:pathLst>
              <a:path h="2298007" w="2298007">
                <a:moveTo>
                  <a:pt x="0" y="0"/>
                </a:moveTo>
                <a:lnTo>
                  <a:pt x="2298007" y="0"/>
                </a:lnTo>
                <a:lnTo>
                  <a:pt x="2298007" y="2298007"/>
                </a:lnTo>
                <a:lnTo>
                  <a:pt x="0" y="2298007"/>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3466766" y="5052287"/>
            <a:ext cx="11354468" cy="3023127"/>
          </a:xfrm>
          <a:custGeom>
            <a:avLst/>
            <a:gdLst/>
            <a:ahLst/>
            <a:cxnLst/>
            <a:rect r="r" b="b" t="t" l="l"/>
            <a:pathLst>
              <a:path h="3023127" w="11354468">
                <a:moveTo>
                  <a:pt x="0" y="0"/>
                </a:moveTo>
                <a:lnTo>
                  <a:pt x="11354468" y="0"/>
                </a:lnTo>
                <a:lnTo>
                  <a:pt x="11354468" y="3023127"/>
                </a:lnTo>
                <a:lnTo>
                  <a:pt x="0" y="3023127"/>
                </a:lnTo>
                <a:lnTo>
                  <a:pt x="0" y="0"/>
                </a:lnTo>
                <a:close/>
              </a:path>
            </a:pathLst>
          </a:custGeom>
          <a:blipFill>
            <a:blip r:embed="rId3"/>
            <a:stretch>
              <a:fillRect l="0" t="0" r="0" b="0"/>
            </a:stretch>
          </a:blipFill>
        </p:spPr>
      </p:sp>
      <p:sp>
        <p:nvSpPr>
          <p:cNvPr name="TextBox 8" id="8"/>
          <p:cNvSpPr txBox="true"/>
          <p:nvPr/>
        </p:nvSpPr>
        <p:spPr>
          <a:xfrm rot="0">
            <a:off x="6200122" y="4097673"/>
            <a:ext cx="5887757" cy="345014"/>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Poppins"/>
                <a:ea typeface="Poppins"/>
                <a:cs typeface="Poppins"/>
                <a:sym typeface="Poppins"/>
              </a:rPr>
              <a:t>la información que cruza la frontera del sistema</a:t>
            </a:r>
          </a:p>
        </p:txBody>
      </p:sp>
      <p:sp>
        <p:nvSpPr>
          <p:cNvPr name="TextBox 9" id="9"/>
          <p:cNvSpPr txBox="true"/>
          <p:nvPr/>
        </p:nvSpPr>
        <p:spPr>
          <a:xfrm rot="0">
            <a:off x="353932" y="5715661"/>
            <a:ext cx="2838238" cy="345014"/>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Poppins"/>
                <a:ea typeface="Poppins"/>
                <a:cs typeface="Poppins"/>
                <a:sym typeface="Poppins"/>
              </a:rPr>
              <a:t>Lo que el actor entrega</a:t>
            </a:r>
          </a:p>
        </p:txBody>
      </p:sp>
      <p:sp>
        <p:nvSpPr>
          <p:cNvPr name="TextBox 10" id="10"/>
          <p:cNvSpPr txBox="true"/>
          <p:nvPr/>
        </p:nvSpPr>
        <p:spPr>
          <a:xfrm rot="0">
            <a:off x="14120847" y="8406560"/>
            <a:ext cx="3357664" cy="345014"/>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Poppins"/>
                <a:ea typeface="Poppins"/>
                <a:cs typeface="Poppins"/>
                <a:sym typeface="Poppins"/>
              </a:rPr>
              <a:t>Lo que el sistema responde</a:t>
            </a:r>
          </a:p>
        </p:txBody>
      </p:sp>
      <p:sp>
        <p:nvSpPr>
          <p:cNvPr name="AutoShape 11" id="11"/>
          <p:cNvSpPr/>
          <p:nvPr/>
        </p:nvSpPr>
        <p:spPr>
          <a:xfrm flipV="true">
            <a:off x="1773052" y="5310996"/>
            <a:ext cx="1979792" cy="461815"/>
          </a:xfrm>
          <a:prstGeom prst="line">
            <a:avLst/>
          </a:prstGeom>
          <a:ln cap="flat" w="38100">
            <a:solidFill>
              <a:srgbClr val="957F3B"/>
            </a:solidFill>
            <a:prstDash val="solid"/>
            <a:headEnd type="none" len="sm" w="sm"/>
            <a:tailEnd type="triangle" len="med" w="lg"/>
          </a:ln>
        </p:spPr>
      </p:sp>
      <p:sp>
        <p:nvSpPr>
          <p:cNvPr name="AutoShape 12" id="12"/>
          <p:cNvSpPr/>
          <p:nvPr/>
        </p:nvSpPr>
        <p:spPr>
          <a:xfrm flipH="true" flipV="true">
            <a:off x="6087015" y="6741083"/>
            <a:ext cx="9716991" cy="1704075"/>
          </a:xfrm>
          <a:prstGeom prst="line">
            <a:avLst/>
          </a:prstGeom>
          <a:ln cap="flat" w="38100">
            <a:solidFill>
              <a:srgbClr val="957F3B"/>
            </a:solidFill>
            <a:prstDash val="solid"/>
            <a:headEnd type="none" len="sm" w="sm"/>
            <a:tailEnd type="triangle" len="med" w="lg"/>
          </a:ln>
        </p:spPr>
      </p:sp>
      <p:sp>
        <p:nvSpPr>
          <p:cNvPr name="Freeform 13" id="13"/>
          <p:cNvSpPr/>
          <p:nvPr/>
        </p:nvSpPr>
        <p:spPr>
          <a:xfrm flipH="false" flipV="false" rot="0">
            <a:off x="8107416" y="-245925"/>
            <a:ext cx="2298007" cy="2298007"/>
          </a:xfrm>
          <a:custGeom>
            <a:avLst/>
            <a:gdLst/>
            <a:ahLst/>
            <a:cxnLst/>
            <a:rect r="r" b="b" t="t" l="l"/>
            <a:pathLst>
              <a:path h="2298007" w="2298007">
                <a:moveTo>
                  <a:pt x="0" y="0"/>
                </a:moveTo>
                <a:lnTo>
                  <a:pt x="2298007" y="0"/>
                </a:lnTo>
                <a:lnTo>
                  <a:pt x="2298007" y="2298007"/>
                </a:lnTo>
                <a:lnTo>
                  <a:pt x="0" y="2298007"/>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3602737" y="4945873"/>
            <a:ext cx="11301259" cy="3870681"/>
          </a:xfrm>
          <a:custGeom>
            <a:avLst/>
            <a:gdLst/>
            <a:ahLst/>
            <a:cxnLst/>
            <a:rect r="r" b="b" t="t" l="l"/>
            <a:pathLst>
              <a:path h="3870681" w="11301259">
                <a:moveTo>
                  <a:pt x="0" y="0"/>
                </a:moveTo>
                <a:lnTo>
                  <a:pt x="11301259" y="0"/>
                </a:lnTo>
                <a:lnTo>
                  <a:pt x="11301259" y="3870681"/>
                </a:lnTo>
                <a:lnTo>
                  <a:pt x="0" y="3870681"/>
                </a:lnTo>
                <a:lnTo>
                  <a:pt x="0" y="0"/>
                </a:lnTo>
                <a:close/>
              </a:path>
            </a:pathLst>
          </a:custGeom>
          <a:blipFill>
            <a:blip r:embed="rId3"/>
            <a:stretch>
              <a:fillRect l="0" t="0" r="0" b="0"/>
            </a:stretch>
          </a:blipFill>
        </p:spPr>
      </p:sp>
      <p:sp>
        <p:nvSpPr>
          <p:cNvPr name="TextBox 8" id="8"/>
          <p:cNvSpPr txBox="true"/>
          <p:nvPr/>
        </p:nvSpPr>
        <p:spPr>
          <a:xfrm rot="0">
            <a:off x="12931983" y="3702276"/>
            <a:ext cx="4140591" cy="1005463"/>
          </a:xfrm>
          <a:prstGeom prst="rect">
            <a:avLst/>
          </a:prstGeom>
        </p:spPr>
        <p:txBody>
          <a:bodyPr anchor="t" rtlCol="false" tIns="0" lIns="0" bIns="0" rIns="0">
            <a:spAutoFit/>
          </a:bodyPr>
          <a:lstStyle/>
          <a:p>
            <a:pPr algn="ctr">
              <a:lnSpc>
                <a:spcPts val="3946"/>
              </a:lnSpc>
              <a:spcBef>
                <a:spcPct val="0"/>
              </a:spcBef>
            </a:pPr>
            <a:r>
              <a:rPr lang="en-US" sz="2818">
                <a:solidFill>
                  <a:srgbClr val="FFFFFF"/>
                </a:solidFill>
                <a:latin typeface="Poppins"/>
                <a:ea typeface="Poppins"/>
                <a:cs typeface="Poppins"/>
                <a:sym typeface="Poppins"/>
              </a:rPr>
              <a:t>Pasos para ejecutar el requerimiento</a:t>
            </a:r>
          </a:p>
        </p:txBody>
      </p:sp>
      <p:sp>
        <p:nvSpPr>
          <p:cNvPr name="AutoShape 9" id="9"/>
          <p:cNvSpPr/>
          <p:nvPr/>
        </p:nvSpPr>
        <p:spPr>
          <a:xfrm flipH="true">
            <a:off x="5904224" y="3975790"/>
            <a:ext cx="7027759" cy="1335573"/>
          </a:xfrm>
          <a:prstGeom prst="line">
            <a:avLst/>
          </a:prstGeom>
          <a:ln cap="flat" w="38100">
            <a:solidFill>
              <a:srgbClr val="957F3B"/>
            </a:solidFill>
            <a:prstDash val="solid"/>
            <a:headEnd type="none" len="sm" w="sm"/>
            <a:tailEnd type="triangle" len="med" w="lg"/>
          </a:ln>
        </p:spPr>
      </p:sp>
      <p:sp>
        <p:nvSpPr>
          <p:cNvPr name="TextBox 10" id="10"/>
          <p:cNvSpPr txBox="true"/>
          <p:nvPr/>
        </p:nvSpPr>
        <p:spPr>
          <a:xfrm rot="0">
            <a:off x="857198" y="8949337"/>
            <a:ext cx="7253220" cy="1005463"/>
          </a:xfrm>
          <a:prstGeom prst="rect">
            <a:avLst/>
          </a:prstGeom>
        </p:spPr>
        <p:txBody>
          <a:bodyPr anchor="t" rtlCol="false" tIns="0" lIns="0" bIns="0" rIns="0">
            <a:spAutoFit/>
          </a:bodyPr>
          <a:lstStyle/>
          <a:p>
            <a:pPr algn="ctr">
              <a:lnSpc>
                <a:spcPts val="3946"/>
              </a:lnSpc>
              <a:spcBef>
                <a:spcPct val="0"/>
              </a:spcBef>
            </a:pPr>
            <a:r>
              <a:rPr lang="en-US" sz="2818">
                <a:solidFill>
                  <a:srgbClr val="FFFFFF"/>
                </a:solidFill>
                <a:latin typeface="Poppins"/>
                <a:ea typeface="Poppins"/>
                <a:cs typeface="Poppins"/>
                <a:sym typeface="Poppins"/>
              </a:rPr>
              <a:t>Pasos alternos en caso de que no siga el flujo esperado - Excepciones</a:t>
            </a:r>
          </a:p>
        </p:txBody>
      </p:sp>
      <p:sp>
        <p:nvSpPr>
          <p:cNvPr name="AutoShape 11" id="11"/>
          <p:cNvSpPr/>
          <p:nvPr/>
        </p:nvSpPr>
        <p:spPr>
          <a:xfrm flipV="true">
            <a:off x="4243737" y="6754411"/>
            <a:ext cx="1784971" cy="2280651"/>
          </a:xfrm>
          <a:prstGeom prst="line">
            <a:avLst/>
          </a:prstGeom>
          <a:ln cap="flat" w="38100">
            <a:solidFill>
              <a:srgbClr val="957F3B"/>
            </a:solidFill>
            <a:prstDash val="solid"/>
            <a:headEnd type="none" len="sm" w="sm"/>
            <a:tailEnd type="triangle" len="med" w="lg"/>
          </a:ln>
        </p:spPr>
      </p:sp>
      <p:sp>
        <p:nvSpPr>
          <p:cNvPr name="Freeform 12" id="12"/>
          <p:cNvSpPr/>
          <p:nvPr/>
        </p:nvSpPr>
        <p:spPr>
          <a:xfrm flipH="false" flipV="false" rot="0">
            <a:off x="8110417" y="-223328"/>
            <a:ext cx="2298007" cy="2298007"/>
          </a:xfrm>
          <a:custGeom>
            <a:avLst/>
            <a:gdLst/>
            <a:ahLst/>
            <a:cxnLst/>
            <a:rect r="r" b="b" t="t" l="l"/>
            <a:pathLst>
              <a:path h="2298007" w="2298007">
                <a:moveTo>
                  <a:pt x="0" y="0"/>
                </a:moveTo>
                <a:lnTo>
                  <a:pt x="2298008" y="0"/>
                </a:lnTo>
                <a:lnTo>
                  <a:pt x="2298008" y="2298008"/>
                </a:lnTo>
                <a:lnTo>
                  <a:pt x="0" y="2298008"/>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4135437" y="4215963"/>
            <a:ext cx="11301259" cy="4718276"/>
          </a:xfrm>
          <a:custGeom>
            <a:avLst/>
            <a:gdLst/>
            <a:ahLst/>
            <a:cxnLst/>
            <a:rect r="r" b="b" t="t" l="l"/>
            <a:pathLst>
              <a:path h="4718276" w="11301259">
                <a:moveTo>
                  <a:pt x="0" y="0"/>
                </a:moveTo>
                <a:lnTo>
                  <a:pt x="11301259" y="0"/>
                </a:lnTo>
                <a:lnTo>
                  <a:pt x="11301259" y="4718276"/>
                </a:lnTo>
                <a:lnTo>
                  <a:pt x="0" y="4718276"/>
                </a:lnTo>
                <a:lnTo>
                  <a:pt x="0" y="0"/>
                </a:lnTo>
                <a:close/>
              </a:path>
            </a:pathLst>
          </a:custGeom>
          <a:blipFill>
            <a:blip r:embed="rId3"/>
            <a:stretch>
              <a:fillRect l="0" t="0" r="0" b="0"/>
            </a:stretch>
          </a:blipFill>
        </p:spPr>
      </p:sp>
      <p:sp>
        <p:nvSpPr>
          <p:cNvPr name="TextBox 8" id="8"/>
          <p:cNvSpPr txBox="true"/>
          <p:nvPr/>
        </p:nvSpPr>
        <p:spPr>
          <a:xfrm rot="0">
            <a:off x="418739" y="4331734"/>
            <a:ext cx="3354344" cy="1614857"/>
          </a:xfrm>
          <a:prstGeom prst="rect">
            <a:avLst/>
          </a:prstGeom>
        </p:spPr>
        <p:txBody>
          <a:bodyPr anchor="t" rtlCol="false" tIns="0" lIns="0" bIns="0" rIns="0">
            <a:spAutoFit/>
          </a:bodyPr>
          <a:lstStyle/>
          <a:p>
            <a:pPr algn="ctr">
              <a:lnSpc>
                <a:spcPts val="3196"/>
              </a:lnSpc>
              <a:spcBef>
                <a:spcPct val="0"/>
              </a:spcBef>
            </a:pPr>
            <a:r>
              <a:rPr lang="en-US" sz="2283">
                <a:solidFill>
                  <a:srgbClr val="FFFFFF"/>
                </a:solidFill>
                <a:latin typeface="Poppins"/>
                <a:ea typeface="Poppins"/>
                <a:cs typeface="Poppins"/>
                <a:sym typeface="Poppins"/>
              </a:rPr>
              <a:t>Mockup de las pantallas involucradas en el requerimiento y flujo de navegacion</a:t>
            </a:r>
          </a:p>
        </p:txBody>
      </p:sp>
      <p:sp>
        <p:nvSpPr>
          <p:cNvPr name="AutoShape 9" id="9"/>
          <p:cNvSpPr/>
          <p:nvPr/>
        </p:nvSpPr>
        <p:spPr>
          <a:xfrm flipV="true">
            <a:off x="3773084" y="4939874"/>
            <a:ext cx="2381246" cy="232626"/>
          </a:xfrm>
          <a:prstGeom prst="line">
            <a:avLst/>
          </a:prstGeom>
          <a:ln cap="flat" w="38100">
            <a:solidFill>
              <a:srgbClr val="957F3B"/>
            </a:solidFill>
            <a:prstDash val="solid"/>
            <a:headEnd type="none" len="sm" w="sm"/>
            <a:tailEnd type="triangle" len="med" w="lg"/>
          </a:ln>
        </p:spPr>
      </p:sp>
      <p:sp>
        <p:nvSpPr>
          <p:cNvPr name="TextBox 10" id="10"/>
          <p:cNvSpPr txBox="true"/>
          <p:nvPr/>
        </p:nvSpPr>
        <p:spPr>
          <a:xfrm rot="0">
            <a:off x="14502336" y="3227916"/>
            <a:ext cx="3354344" cy="811766"/>
          </a:xfrm>
          <a:prstGeom prst="rect">
            <a:avLst/>
          </a:prstGeom>
        </p:spPr>
        <p:txBody>
          <a:bodyPr anchor="t" rtlCol="false" tIns="0" lIns="0" bIns="0" rIns="0">
            <a:spAutoFit/>
          </a:bodyPr>
          <a:lstStyle/>
          <a:p>
            <a:pPr algn="ctr">
              <a:lnSpc>
                <a:spcPts val="3196"/>
              </a:lnSpc>
              <a:spcBef>
                <a:spcPct val="0"/>
              </a:spcBef>
            </a:pPr>
            <a:r>
              <a:rPr lang="en-US" sz="2283">
                <a:solidFill>
                  <a:srgbClr val="FFFFFF"/>
                </a:solidFill>
                <a:latin typeface="Poppins"/>
                <a:ea typeface="Poppins"/>
                <a:cs typeface="Poppins"/>
                <a:sym typeface="Poppins"/>
              </a:rPr>
              <a:t>Diagrama de casos de uso</a:t>
            </a:r>
          </a:p>
        </p:txBody>
      </p:sp>
      <p:sp>
        <p:nvSpPr>
          <p:cNvPr name="AutoShape 11" id="11"/>
          <p:cNvSpPr/>
          <p:nvPr/>
        </p:nvSpPr>
        <p:spPr>
          <a:xfrm flipH="true">
            <a:off x="5622789" y="3667137"/>
            <a:ext cx="8770098" cy="853655"/>
          </a:xfrm>
          <a:prstGeom prst="line">
            <a:avLst/>
          </a:prstGeom>
          <a:ln cap="flat" w="38100">
            <a:solidFill>
              <a:srgbClr val="957F3B"/>
            </a:solidFill>
            <a:prstDash val="solid"/>
            <a:headEnd type="none" len="sm" w="sm"/>
            <a:tailEnd type="triangle" len="med" w="lg"/>
          </a:ln>
        </p:spPr>
      </p:sp>
      <p:sp>
        <p:nvSpPr>
          <p:cNvPr name="TextBox 12" id="12"/>
          <p:cNvSpPr txBox="true"/>
          <p:nvPr/>
        </p:nvSpPr>
        <p:spPr>
          <a:xfrm rot="0">
            <a:off x="479181" y="6517951"/>
            <a:ext cx="3233460"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Las reglas de negocio son restricciones del dominio real (universidad), no del software.</a:t>
            </a:r>
          </a:p>
        </p:txBody>
      </p:sp>
      <p:sp>
        <p:nvSpPr>
          <p:cNvPr name="AutoShape 13" id="13"/>
          <p:cNvSpPr/>
          <p:nvPr/>
        </p:nvSpPr>
        <p:spPr>
          <a:xfrm flipV="true">
            <a:off x="3771231" y="5302591"/>
            <a:ext cx="3019505" cy="1743312"/>
          </a:xfrm>
          <a:prstGeom prst="line">
            <a:avLst/>
          </a:prstGeom>
          <a:ln cap="flat" w="38100">
            <a:solidFill>
              <a:srgbClr val="957F3B"/>
            </a:solidFill>
            <a:prstDash val="solid"/>
            <a:headEnd type="none" len="sm" w="sm"/>
            <a:tailEnd type="triangle" len="med" w="lg"/>
          </a:ln>
        </p:spPr>
      </p:sp>
      <p:sp>
        <p:nvSpPr>
          <p:cNvPr name="TextBox 14" id="14"/>
          <p:cNvSpPr txBox="true"/>
          <p:nvPr/>
        </p:nvSpPr>
        <p:spPr>
          <a:xfrm rot="0">
            <a:off x="14389295" y="9191625"/>
            <a:ext cx="3354344" cy="410220"/>
          </a:xfrm>
          <a:prstGeom prst="rect">
            <a:avLst/>
          </a:prstGeom>
        </p:spPr>
        <p:txBody>
          <a:bodyPr anchor="t" rtlCol="false" tIns="0" lIns="0" bIns="0" rIns="0">
            <a:spAutoFit/>
          </a:bodyPr>
          <a:lstStyle/>
          <a:p>
            <a:pPr algn="ctr">
              <a:lnSpc>
                <a:spcPts val="3196"/>
              </a:lnSpc>
              <a:spcBef>
                <a:spcPct val="0"/>
              </a:spcBef>
            </a:pPr>
            <a:r>
              <a:rPr lang="en-US" sz="2283">
                <a:solidFill>
                  <a:srgbClr val="FFFFFF"/>
                </a:solidFill>
                <a:latin typeface="Poppins"/>
                <a:ea typeface="Poppins"/>
                <a:cs typeface="Poppins"/>
                <a:sym typeface="Poppins"/>
              </a:rPr>
              <a:t>glosario</a:t>
            </a:r>
          </a:p>
        </p:txBody>
      </p:sp>
      <p:sp>
        <p:nvSpPr>
          <p:cNvPr name="AutoShape 15" id="15"/>
          <p:cNvSpPr/>
          <p:nvPr/>
        </p:nvSpPr>
        <p:spPr>
          <a:xfrm flipH="true" flipV="true">
            <a:off x="6375382" y="6431897"/>
            <a:ext cx="9691085" cy="2826403"/>
          </a:xfrm>
          <a:prstGeom prst="line">
            <a:avLst/>
          </a:prstGeom>
          <a:ln cap="flat" w="38100">
            <a:solidFill>
              <a:srgbClr val="957F3B"/>
            </a:solidFill>
            <a:prstDash val="solid"/>
            <a:headEnd type="none" len="sm" w="sm"/>
            <a:tailEnd type="triangle" len="med" w="lg"/>
          </a:ln>
        </p:spPr>
      </p:sp>
      <p:sp>
        <p:nvSpPr>
          <p:cNvPr name="TextBox 16" id="16"/>
          <p:cNvSpPr txBox="true"/>
          <p:nvPr/>
        </p:nvSpPr>
        <p:spPr>
          <a:xfrm rot="0">
            <a:off x="4181953" y="9201150"/>
            <a:ext cx="4386858"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C</a:t>
            </a:r>
            <a:r>
              <a:rPr lang="en-US" sz="1899">
                <a:solidFill>
                  <a:srgbClr val="FFFFFF"/>
                </a:solidFill>
                <a:latin typeface="Poppins"/>
                <a:ea typeface="Poppins"/>
                <a:cs typeface="Poppins"/>
                <a:sym typeface="Poppins"/>
              </a:rPr>
              <a:t>ontrol de versiones del documento</a:t>
            </a:r>
          </a:p>
        </p:txBody>
      </p:sp>
      <p:sp>
        <p:nvSpPr>
          <p:cNvPr name="AutoShape 17" id="17"/>
          <p:cNvSpPr/>
          <p:nvPr/>
        </p:nvSpPr>
        <p:spPr>
          <a:xfrm flipV="true">
            <a:off x="5082143" y="7673206"/>
            <a:ext cx="1530005" cy="1530005"/>
          </a:xfrm>
          <a:prstGeom prst="line">
            <a:avLst/>
          </a:prstGeom>
          <a:ln cap="flat" w="38100">
            <a:solidFill>
              <a:srgbClr val="957F3B"/>
            </a:solidFill>
            <a:prstDash val="solid"/>
            <a:headEnd type="none" len="sm" w="sm"/>
            <a:tailEnd type="triangle" len="med" w="lg"/>
          </a:ln>
        </p:spPr>
      </p:sp>
      <p:sp>
        <p:nvSpPr>
          <p:cNvPr name="Freeform 18" id="18"/>
          <p:cNvSpPr/>
          <p:nvPr/>
        </p:nvSpPr>
        <p:spPr>
          <a:xfrm flipH="false" flipV="false" rot="0">
            <a:off x="8429480" y="-271151"/>
            <a:ext cx="2298007" cy="2298007"/>
          </a:xfrm>
          <a:custGeom>
            <a:avLst/>
            <a:gdLst/>
            <a:ahLst/>
            <a:cxnLst/>
            <a:rect r="r" b="b" t="t" l="l"/>
            <a:pathLst>
              <a:path h="2298007" w="2298007">
                <a:moveTo>
                  <a:pt x="0" y="0"/>
                </a:moveTo>
                <a:lnTo>
                  <a:pt x="2298007" y="0"/>
                </a:lnTo>
                <a:lnTo>
                  <a:pt x="2298007" y="2298007"/>
                </a:lnTo>
                <a:lnTo>
                  <a:pt x="0" y="2298007"/>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 - EJERCICIO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969815" y="3741246"/>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Detallar cada requerimiento</a:t>
            </a:r>
          </a:p>
        </p:txBody>
      </p:sp>
      <p:grpSp>
        <p:nvGrpSpPr>
          <p:cNvPr name="Group 9" id="9"/>
          <p:cNvGrpSpPr/>
          <p:nvPr/>
        </p:nvGrpSpPr>
        <p:grpSpPr>
          <a:xfrm rot="0">
            <a:off x="5549329" y="3583015"/>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3</a:t>
              </a:r>
            </a:p>
          </p:txBody>
        </p:sp>
      </p:grpSp>
      <p:sp>
        <p:nvSpPr>
          <p:cNvPr name="TextBox 12" id="12"/>
          <p:cNvSpPr txBox="true"/>
          <p:nvPr/>
        </p:nvSpPr>
        <p:spPr>
          <a:xfrm rot="0">
            <a:off x="-142291" y="5076825"/>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Codigo: RF-01</a:t>
            </a:r>
          </a:p>
        </p:txBody>
      </p:sp>
      <p:sp>
        <p:nvSpPr>
          <p:cNvPr name="TextBox 13" id="13"/>
          <p:cNvSpPr txBox="true"/>
          <p:nvPr/>
        </p:nvSpPr>
        <p:spPr>
          <a:xfrm rot="0">
            <a:off x="-378555" y="5714364"/>
            <a:ext cx="6348370" cy="45726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Nombre</a:t>
            </a:r>
          </a:p>
          <a:p>
            <a:pPr algn="ctr">
              <a:lnSpc>
                <a:spcPts val="3639"/>
              </a:lnSpc>
            </a:pPr>
            <a:r>
              <a:rPr lang="en-US" sz="2599">
                <a:solidFill>
                  <a:srgbClr val="FFFFFF"/>
                </a:solidFill>
                <a:latin typeface="Poppins"/>
                <a:ea typeface="Poppins"/>
                <a:cs typeface="Poppins"/>
                <a:sym typeface="Poppins"/>
              </a:rPr>
              <a:t>Descripcion</a:t>
            </a:r>
          </a:p>
          <a:p>
            <a:pPr algn="ctr">
              <a:lnSpc>
                <a:spcPts val="3639"/>
              </a:lnSpc>
            </a:pPr>
            <a:r>
              <a:rPr lang="en-US" sz="2599">
                <a:solidFill>
                  <a:srgbClr val="FFFFFF"/>
                </a:solidFill>
                <a:latin typeface="Poppins"/>
                <a:ea typeface="Poppins"/>
                <a:cs typeface="Poppins"/>
                <a:sym typeface="Poppins"/>
              </a:rPr>
              <a:t>Como se ejecutara</a:t>
            </a:r>
          </a:p>
          <a:p>
            <a:pPr algn="ctr">
              <a:lnSpc>
                <a:spcPts val="3639"/>
              </a:lnSpc>
            </a:pPr>
            <a:r>
              <a:rPr lang="en-US" sz="2599">
                <a:solidFill>
                  <a:srgbClr val="FFFFFF"/>
                </a:solidFill>
                <a:latin typeface="Poppins"/>
                <a:ea typeface="Poppins"/>
                <a:cs typeface="Poppins"/>
                <a:sym typeface="Poppins"/>
              </a:rPr>
              <a:t>Actor Principal</a:t>
            </a:r>
          </a:p>
          <a:p>
            <a:pPr algn="ctr">
              <a:lnSpc>
                <a:spcPts val="3639"/>
              </a:lnSpc>
            </a:pPr>
            <a:r>
              <a:rPr lang="en-US" sz="2599">
                <a:solidFill>
                  <a:srgbClr val="FFFFFF"/>
                </a:solidFill>
                <a:latin typeface="Poppins"/>
                <a:ea typeface="Poppins"/>
                <a:cs typeface="Poppins"/>
                <a:sym typeface="Poppins"/>
              </a:rPr>
              <a:t>Precondiciones</a:t>
            </a:r>
          </a:p>
          <a:p>
            <a:pPr algn="ctr">
              <a:lnSpc>
                <a:spcPts val="3639"/>
              </a:lnSpc>
            </a:pPr>
            <a:r>
              <a:rPr lang="en-US" sz="2599">
                <a:solidFill>
                  <a:srgbClr val="FFFFFF"/>
                </a:solidFill>
                <a:latin typeface="Poppins"/>
                <a:ea typeface="Poppins"/>
                <a:cs typeface="Poppins"/>
                <a:sym typeface="Poppins"/>
              </a:rPr>
              <a:t>Datos de entrada y de salida</a:t>
            </a:r>
          </a:p>
          <a:p>
            <a:pPr algn="ctr">
              <a:lnSpc>
                <a:spcPts val="3639"/>
              </a:lnSpc>
            </a:pPr>
            <a:r>
              <a:rPr lang="en-US" sz="2599">
                <a:solidFill>
                  <a:srgbClr val="FFFFFF"/>
                </a:solidFill>
                <a:latin typeface="Poppins"/>
                <a:ea typeface="Poppins"/>
                <a:cs typeface="Poppins"/>
                <a:sym typeface="Poppins"/>
              </a:rPr>
              <a:t>Flujo Basico</a:t>
            </a:r>
          </a:p>
          <a:p>
            <a:pPr algn="ctr">
              <a:lnSpc>
                <a:spcPts val="3639"/>
              </a:lnSpc>
            </a:pPr>
            <a:r>
              <a:rPr lang="en-US" sz="2599">
                <a:solidFill>
                  <a:srgbClr val="FFFFFF"/>
                </a:solidFill>
                <a:latin typeface="Poppins"/>
                <a:ea typeface="Poppins"/>
                <a:cs typeface="Poppins"/>
                <a:sym typeface="Poppins"/>
              </a:rPr>
              <a:t>Flujo Alterno (Error)</a:t>
            </a:r>
          </a:p>
          <a:p>
            <a:pPr algn="ctr">
              <a:lnSpc>
                <a:spcPts val="3639"/>
              </a:lnSpc>
            </a:pPr>
          </a:p>
          <a:p>
            <a:pPr algn="ctr">
              <a:lnSpc>
                <a:spcPts val="3639"/>
              </a:lnSpc>
              <a:spcBef>
                <a:spcPct val="0"/>
              </a:spcBef>
            </a:pPr>
          </a:p>
        </p:txBody>
      </p:sp>
      <p:sp>
        <p:nvSpPr>
          <p:cNvPr name="Freeform 14" id="14"/>
          <p:cNvSpPr/>
          <p:nvPr/>
        </p:nvSpPr>
        <p:spPr>
          <a:xfrm flipH="false" flipV="false" rot="0">
            <a:off x="5790718" y="4619400"/>
            <a:ext cx="12035268" cy="5310562"/>
          </a:xfrm>
          <a:custGeom>
            <a:avLst/>
            <a:gdLst/>
            <a:ahLst/>
            <a:cxnLst/>
            <a:rect r="r" b="b" t="t" l="l"/>
            <a:pathLst>
              <a:path h="5310562" w="12035268">
                <a:moveTo>
                  <a:pt x="0" y="0"/>
                </a:moveTo>
                <a:lnTo>
                  <a:pt x="12035268" y="0"/>
                </a:lnTo>
                <a:lnTo>
                  <a:pt x="12035268" y="5310562"/>
                </a:lnTo>
                <a:lnTo>
                  <a:pt x="0" y="5310562"/>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ANALISIS DE REQUERIMIENTOS - EJERCICIO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969815" y="3741246"/>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Detallar cada requerimiento</a:t>
            </a:r>
          </a:p>
        </p:txBody>
      </p:sp>
      <p:grpSp>
        <p:nvGrpSpPr>
          <p:cNvPr name="Group 9" id="9"/>
          <p:cNvGrpSpPr/>
          <p:nvPr/>
        </p:nvGrpSpPr>
        <p:grpSpPr>
          <a:xfrm rot="0">
            <a:off x="5549329" y="3583015"/>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3</a:t>
              </a:r>
            </a:p>
          </p:txBody>
        </p:sp>
      </p:grpSp>
      <p:sp>
        <p:nvSpPr>
          <p:cNvPr name="TextBox 12" id="12"/>
          <p:cNvSpPr txBox="true"/>
          <p:nvPr/>
        </p:nvSpPr>
        <p:spPr>
          <a:xfrm rot="0">
            <a:off x="41932" y="5076825"/>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Codigo: RF-01</a:t>
            </a:r>
          </a:p>
        </p:txBody>
      </p:sp>
      <p:sp>
        <p:nvSpPr>
          <p:cNvPr name="TextBox 13" id="13"/>
          <p:cNvSpPr txBox="true"/>
          <p:nvPr/>
        </p:nvSpPr>
        <p:spPr>
          <a:xfrm rot="0">
            <a:off x="0" y="5714364"/>
            <a:ext cx="6348370" cy="45726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Nombre</a:t>
            </a:r>
          </a:p>
          <a:p>
            <a:pPr algn="ctr">
              <a:lnSpc>
                <a:spcPts val="3639"/>
              </a:lnSpc>
            </a:pPr>
            <a:r>
              <a:rPr lang="en-US" sz="2599">
                <a:solidFill>
                  <a:srgbClr val="FFFFFF"/>
                </a:solidFill>
                <a:latin typeface="Poppins"/>
                <a:ea typeface="Poppins"/>
                <a:cs typeface="Poppins"/>
                <a:sym typeface="Poppins"/>
              </a:rPr>
              <a:t>Descripcion</a:t>
            </a:r>
          </a:p>
          <a:p>
            <a:pPr algn="ctr">
              <a:lnSpc>
                <a:spcPts val="3639"/>
              </a:lnSpc>
            </a:pPr>
            <a:r>
              <a:rPr lang="en-US" sz="2599">
                <a:solidFill>
                  <a:srgbClr val="FFFFFF"/>
                </a:solidFill>
                <a:latin typeface="Poppins"/>
                <a:ea typeface="Poppins"/>
                <a:cs typeface="Poppins"/>
                <a:sym typeface="Poppins"/>
              </a:rPr>
              <a:t>Como se ejecutara</a:t>
            </a:r>
          </a:p>
          <a:p>
            <a:pPr algn="ctr">
              <a:lnSpc>
                <a:spcPts val="3639"/>
              </a:lnSpc>
            </a:pPr>
            <a:r>
              <a:rPr lang="en-US" sz="2599">
                <a:solidFill>
                  <a:srgbClr val="FFFFFF"/>
                </a:solidFill>
                <a:latin typeface="Poppins"/>
                <a:ea typeface="Poppins"/>
                <a:cs typeface="Poppins"/>
                <a:sym typeface="Poppins"/>
              </a:rPr>
              <a:t>Actor Principal</a:t>
            </a:r>
          </a:p>
          <a:p>
            <a:pPr algn="ctr">
              <a:lnSpc>
                <a:spcPts val="3639"/>
              </a:lnSpc>
            </a:pPr>
            <a:r>
              <a:rPr lang="en-US" sz="2599">
                <a:solidFill>
                  <a:srgbClr val="FFFFFF"/>
                </a:solidFill>
                <a:latin typeface="Poppins"/>
                <a:ea typeface="Poppins"/>
                <a:cs typeface="Poppins"/>
                <a:sym typeface="Poppins"/>
              </a:rPr>
              <a:t>Precondiciones</a:t>
            </a:r>
          </a:p>
          <a:p>
            <a:pPr algn="ctr">
              <a:lnSpc>
                <a:spcPts val="3639"/>
              </a:lnSpc>
            </a:pPr>
            <a:r>
              <a:rPr lang="en-US" sz="2599">
                <a:solidFill>
                  <a:srgbClr val="FFFFFF"/>
                </a:solidFill>
                <a:latin typeface="Poppins"/>
                <a:ea typeface="Poppins"/>
                <a:cs typeface="Poppins"/>
                <a:sym typeface="Poppins"/>
              </a:rPr>
              <a:t>Datos de entrada y de salida</a:t>
            </a:r>
          </a:p>
          <a:p>
            <a:pPr algn="ctr">
              <a:lnSpc>
                <a:spcPts val="3639"/>
              </a:lnSpc>
            </a:pPr>
            <a:r>
              <a:rPr lang="en-US" sz="2599">
                <a:solidFill>
                  <a:srgbClr val="FFFFFF"/>
                </a:solidFill>
                <a:latin typeface="Poppins"/>
                <a:ea typeface="Poppins"/>
                <a:cs typeface="Poppins"/>
                <a:sym typeface="Poppins"/>
              </a:rPr>
              <a:t>Flujo Basico</a:t>
            </a:r>
          </a:p>
          <a:p>
            <a:pPr algn="ctr">
              <a:lnSpc>
                <a:spcPts val="3639"/>
              </a:lnSpc>
            </a:pPr>
            <a:r>
              <a:rPr lang="en-US" sz="2599">
                <a:solidFill>
                  <a:srgbClr val="FFFFFF"/>
                </a:solidFill>
                <a:latin typeface="Poppins"/>
                <a:ea typeface="Poppins"/>
                <a:cs typeface="Poppins"/>
                <a:sym typeface="Poppins"/>
              </a:rPr>
              <a:t>Flujo Alterno (Error)</a:t>
            </a:r>
          </a:p>
          <a:p>
            <a:pPr algn="ctr">
              <a:lnSpc>
                <a:spcPts val="3639"/>
              </a:lnSpc>
            </a:pPr>
          </a:p>
          <a:p>
            <a:pPr algn="ctr">
              <a:lnSpc>
                <a:spcPts val="3639"/>
              </a:lnSpc>
              <a:spcBef>
                <a:spcPct val="0"/>
              </a:spcBef>
            </a:pPr>
          </a:p>
        </p:txBody>
      </p:sp>
      <p:sp>
        <p:nvSpPr>
          <p:cNvPr name="Freeform 14" id="14"/>
          <p:cNvSpPr/>
          <p:nvPr/>
        </p:nvSpPr>
        <p:spPr>
          <a:xfrm flipH="false" flipV="false" rot="0">
            <a:off x="6390302" y="5053730"/>
            <a:ext cx="11016071" cy="4296268"/>
          </a:xfrm>
          <a:custGeom>
            <a:avLst/>
            <a:gdLst/>
            <a:ahLst/>
            <a:cxnLst/>
            <a:rect r="r" b="b" t="t" l="l"/>
            <a:pathLst>
              <a:path h="4296268" w="11016071">
                <a:moveTo>
                  <a:pt x="0" y="0"/>
                </a:moveTo>
                <a:lnTo>
                  <a:pt x="11016070" y="0"/>
                </a:lnTo>
                <a:lnTo>
                  <a:pt x="11016070" y="4296268"/>
                </a:lnTo>
                <a:lnTo>
                  <a:pt x="0" y="4296268"/>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ANEXOS</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973839"/>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DIAGRAMA DE CASOS DE USO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9126784" y="3515571"/>
            <a:ext cx="7753956" cy="735176"/>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Es un tipo de diagrama UML de comportamiento y se usa frecuentemente para analizar varios sistemas</a:t>
            </a:r>
          </a:p>
        </p:txBody>
      </p:sp>
      <p:sp>
        <p:nvSpPr>
          <p:cNvPr name="TextBox 9" id="9"/>
          <p:cNvSpPr txBox="true"/>
          <p:nvPr/>
        </p:nvSpPr>
        <p:spPr>
          <a:xfrm rot="0">
            <a:off x="9144000" y="4605975"/>
            <a:ext cx="7753956" cy="735176"/>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Permite visualizar los diferentes tipos de roles en un sistema y como esos roles interactuan con el sistema</a:t>
            </a:r>
          </a:p>
        </p:txBody>
      </p:sp>
      <p:sp>
        <p:nvSpPr>
          <p:cNvPr name="TextBox 10" id="10"/>
          <p:cNvSpPr txBox="true"/>
          <p:nvPr/>
        </p:nvSpPr>
        <p:spPr>
          <a:xfrm rot="0">
            <a:off x="9144000" y="5693576"/>
            <a:ext cx="7753956"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Muy util cuando para una vision de alto nivel del sistema, especialmente util cuando se presenta a los administradores o a las partes interesadas</a:t>
            </a:r>
          </a:p>
        </p:txBody>
      </p:sp>
      <p:sp>
        <p:nvSpPr>
          <p:cNvPr name="TextBox 11" id="11"/>
          <p:cNvSpPr txBox="true"/>
          <p:nvPr/>
        </p:nvSpPr>
        <p:spPr>
          <a:xfrm rot="0">
            <a:off x="9792040" y="7252702"/>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99C5FF"/>
                </a:solidFill>
                <a:latin typeface="HK Modular"/>
                <a:ea typeface="HK Modular"/>
                <a:cs typeface="HK Modular"/>
                <a:sym typeface="HK Modular"/>
              </a:rPr>
              <a:t>CONSISTEN DE 4 OBJETOS</a:t>
            </a:r>
          </a:p>
        </p:txBody>
      </p:sp>
      <p:sp>
        <p:nvSpPr>
          <p:cNvPr name="TextBox 12" id="12"/>
          <p:cNvSpPr txBox="true"/>
          <p:nvPr/>
        </p:nvSpPr>
        <p:spPr>
          <a:xfrm rot="0">
            <a:off x="12041012" y="8062022"/>
            <a:ext cx="2291466" cy="1470266"/>
          </a:xfrm>
          <a:prstGeom prst="rect">
            <a:avLst/>
          </a:prstGeom>
        </p:spPr>
        <p:txBody>
          <a:bodyPr anchor="t" rtlCol="false" tIns="0" lIns="0" bIns="0" rIns="0">
            <a:spAutoFit/>
          </a:bodyPr>
          <a:lstStyle/>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Actores</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Caso de Uso</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Sistema</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Paquete</a:t>
            </a:r>
          </a:p>
        </p:txBody>
      </p:sp>
      <p:sp>
        <p:nvSpPr>
          <p:cNvPr name="Freeform 13" id="13"/>
          <p:cNvSpPr/>
          <p:nvPr/>
        </p:nvSpPr>
        <p:spPr>
          <a:xfrm flipH="false" flipV="false" rot="0">
            <a:off x="2366598" y="3377350"/>
            <a:ext cx="5582058" cy="6024773"/>
          </a:xfrm>
          <a:custGeom>
            <a:avLst/>
            <a:gdLst/>
            <a:ahLst/>
            <a:cxnLst/>
            <a:rect r="r" b="b" t="t" l="l"/>
            <a:pathLst>
              <a:path h="6024773" w="5582058">
                <a:moveTo>
                  <a:pt x="0" y="0"/>
                </a:moveTo>
                <a:lnTo>
                  <a:pt x="5582058" y="0"/>
                </a:lnTo>
                <a:lnTo>
                  <a:pt x="5582058" y="6024773"/>
                </a:lnTo>
                <a:lnTo>
                  <a:pt x="0" y="6024773"/>
                </a:lnTo>
                <a:lnTo>
                  <a:pt x="0" y="0"/>
                </a:lnTo>
                <a:close/>
              </a:path>
            </a:pathLst>
          </a:custGeom>
          <a:blipFill>
            <a:blip r:embed="rId4"/>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51734" y="166967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DIAGRAMA DE CASOS DE USO</a:t>
            </a:r>
          </a:p>
        </p:txBody>
      </p:sp>
      <p:sp>
        <p:nvSpPr>
          <p:cNvPr name="TextBox 7" id="7"/>
          <p:cNvSpPr txBox="true"/>
          <p:nvPr/>
        </p:nvSpPr>
        <p:spPr>
          <a:xfrm rot="0">
            <a:off x="9615697" y="3944738"/>
            <a:ext cx="7753956"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El actor en undiagrama de caso de uso de es cualquier entidad que desempeñe un papel en un sistema determinado.</a:t>
            </a:r>
          </a:p>
        </p:txBody>
      </p:sp>
      <p:sp>
        <p:nvSpPr>
          <p:cNvPr name="TextBox 8" id="8"/>
          <p:cNvSpPr txBox="true"/>
          <p:nvPr/>
        </p:nvSpPr>
        <p:spPr>
          <a:xfrm rot="0">
            <a:off x="6058419" y="2999775"/>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957F3B"/>
                </a:solidFill>
                <a:latin typeface="HK Modular"/>
                <a:ea typeface="HK Modular"/>
                <a:cs typeface="HK Modular"/>
                <a:sym typeface="HK Modular"/>
              </a:rPr>
              <a:t>CONSISTEN DE 4 OBJETOS</a:t>
            </a:r>
          </a:p>
        </p:txBody>
      </p:sp>
      <p:sp>
        <p:nvSpPr>
          <p:cNvPr name="TextBox 9" id="9"/>
          <p:cNvSpPr txBox="true"/>
          <p:nvPr/>
        </p:nvSpPr>
        <p:spPr>
          <a:xfrm rot="0">
            <a:off x="1189742" y="4062184"/>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ACTOR</a:t>
            </a:r>
          </a:p>
        </p:txBody>
      </p:sp>
      <p:sp>
        <p:nvSpPr>
          <p:cNvPr name="TextBox 10" id="10"/>
          <p:cNvSpPr txBox="true"/>
          <p:nvPr/>
        </p:nvSpPr>
        <p:spPr>
          <a:xfrm rot="0">
            <a:off x="1189742" y="5533339"/>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CASO DE USO</a:t>
            </a:r>
          </a:p>
        </p:txBody>
      </p:sp>
      <p:sp>
        <p:nvSpPr>
          <p:cNvPr name="TextBox 11" id="11"/>
          <p:cNvSpPr txBox="true"/>
          <p:nvPr/>
        </p:nvSpPr>
        <p:spPr>
          <a:xfrm rot="0">
            <a:off x="1189742" y="6999883"/>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SISTEMA</a:t>
            </a:r>
          </a:p>
        </p:txBody>
      </p:sp>
      <p:sp>
        <p:nvSpPr>
          <p:cNvPr name="TextBox 12" id="12"/>
          <p:cNvSpPr txBox="true"/>
          <p:nvPr/>
        </p:nvSpPr>
        <p:spPr>
          <a:xfrm rot="0">
            <a:off x="1189742" y="8308616"/>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PAQUETE</a:t>
            </a:r>
          </a:p>
        </p:txBody>
      </p:sp>
      <p:sp>
        <p:nvSpPr>
          <p:cNvPr name="TextBox 13" id="13"/>
          <p:cNvSpPr txBox="true"/>
          <p:nvPr/>
        </p:nvSpPr>
        <p:spPr>
          <a:xfrm rot="0">
            <a:off x="9615697" y="5542864"/>
            <a:ext cx="7753956" cy="359771"/>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Representa una función o una acción dentro del sistema.</a:t>
            </a:r>
          </a:p>
        </p:txBody>
      </p:sp>
      <p:sp>
        <p:nvSpPr>
          <p:cNvPr name="TextBox 14" id="14"/>
          <p:cNvSpPr txBox="true"/>
          <p:nvPr/>
        </p:nvSpPr>
        <p:spPr>
          <a:xfrm rot="0">
            <a:off x="9615697" y="6721784"/>
            <a:ext cx="7753956"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Se utiliza para definir el alcance del caso de uso y se dibuja como un rectángulo. Este es un elemento opcional pero útil cuando se visualizan sistemas grandes.</a:t>
            </a:r>
          </a:p>
        </p:txBody>
      </p:sp>
      <p:sp>
        <p:nvSpPr>
          <p:cNvPr name="TextBox 15" id="15"/>
          <p:cNvSpPr txBox="true"/>
          <p:nvPr/>
        </p:nvSpPr>
        <p:spPr>
          <a:xfrm rot="0">
            <a:off x="9731313" y="8318141"/>
            <a:ext cx="7753956" cy="735176"/>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Es un elemento opcional se utiliza para agrupar los casos de uso</a:t>
            </a:r>
          </a:p>
        </p:txBody>
      </p:sp>
      <p:sp>
        <p:nvSpPr>
          <p:cNvPr name="Freeform 16" id="16"/>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51734" y="1795789"/>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DIAGRAMA DE CASOS DE USO</a:t>
            </a:r>
          </a:p>
        </p:txBody>
      </p:sp>
      <p:sp>
        <p:nvSpPr>
          <p:cNvPr name="TextBox 7" id="7"/>
          <p:cNvSpPr txBox="true"/>
          <p:nvPr/>
        </p:nvSpPr>
        <p:spPr>
          <a:xfrm rot="0">
            <a:off x="5376389" y="4066746"/>
            <a:ext cx="7753956" cy="359771"/>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Identifica los actores que interactuan con tu sistema</a:t>
            </a:r>
          </a:p>
        </p:txBody>
      </p:sp>
      <p:sp>
        <p:nvSpPr>
          <p:cNvPr name="TextBox 8" id="8"/>
          <p:cNvSpPr txBox="true"/>
          <p:nvPr/>
        </p:nvSpPr>
        <p:spPr>
          <a:xfrm rot="0">
            <a:off x="4148185" y="3002068"/>
            <a:ext cx="10210364" cy="456895"/>
          </a:xfrm>
          <a:prstGeom prst="rect">
            <a:avLst/>
          </a:prstGeom>
        </p:spPr>
        <p:txBody>
          <a:bodyPr anchor="t" rtlCol="false" tIns="0" lIns="0" bIns="0" rIns="0">
            <a:spAutoFit/>
          </a:bodyPr>
          <a:lstStyle/>
          <a:p>
            <a:pPr algn="ctr">
              <a:lnSpc>
                <a:spcPts val="3783"/>
              </a:lnSpc>
              <a:spcBef>
                <a:spcPct val="0"/>
              </a:spcBef>
            </a:pPr>
            <a:r>
              <a:rPr lang="en-US" sz="2702">
                <a:solidFill>
                  <a:srgbClr val="957F3B"/>
                </a:solidFill>
                <a:latin typeface="HK Modular"/>
                <a:ea typeface="HK Modular"/>
                <a:cs typeface="HK Modular"/>
                <a:sym typeface="HK Modular"/>
              </a:rPr>
              <a:t>COMO CREAR UN DIAGRAMA DE CASO DE USO</a:t>
            </a:r>
          </a:p>
        </p:txBody>
      </p:sp>
      <p:sp>
        <p:nvSpPr>
          <p:cNvPr name="TextBox 9" id="9"/>
          <p:cNvSpPr txBox="true"/>
          <p:nvPr/>
        </p:nvSpPr>
        <p:spPr>
          <a:xfrm rot="0">
            <a:off x="2295593" y="4783729"/>
            <a:ext cx="14191234" cy="359771"/>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Identifica los casos de uso, una buena manera es identificar lo que los actores necesitan del sistema</a:t>
            </a:r>
          </a:p>
        </p:txBody>
      </p:sp>
      <p:sp>
        <p:nvSpPr>
          <p:cNvPr name="TextBox 10" id="10"/>
          <p:cNvSpPr txBox="true"/>
          <p:nvPr/>
        </p:nvSpPr>
        <p:spPr>
          <a:xfrm rot="0">
            <a:off x="1863376" y="5629336"/>
            <a:ext cx="15055668" cy="1485987"/>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Busca una funcionalidad común que pueda ser reutilizada en todo el sistema. Si encuentras dos o más casos de uso que comparten una funcionalidad común, puedes extraer las funciones comunes y añadirlas a un caso de uso separado. Entonces puedes conectarlo a través de la relación de inclusión &lt;&lt;include&gt;&gt; para mostrar que siempre se llama cuando se ejecuta el caso de uso original. </a:t>
            </a:r>
          </a:p>
        </p:txBody>
      </p:sp>
      <p:sp>
        <p:nvSpPr>
          <p:cNvPr name="TextBox 11" id="11"/>
          <p:cNvSpPr txBox="true"/>
          <p:nvPr/>
        </p:nvSpPr>
        <p:spPr>
          <a:xfrm rot="0">
            <a:off x="1633473" y="7562112"/>
            <a:ext cx="15625827" cy="735176"/>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Hay algunas funciones que se activan de manera opcional. En esos casos, se puede utilizar la relación de extensión y adjuntarle una regla de extensión. &lt;&lt;extend&gt;&gt;</a:t>
            </a:r>
          </a:p>
        </p:txBody>
      </p:sp>
      <p:sp>
        <p:nvSpPr>
          <p:cNvPr name="TextBox 12" id="12"/>
          <p:cNvSpPr txBox="true"/>
          <p:nvPr/>
        </p:nvSpPr>
        <p:spPr>
          <a:xfrm rot="0">
            <a:off x="1633473" y="8744963"/>
            <a:ext cx="15625827"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NOTA : Extender no siempre significa que sea opcional. A veces el caso de uso conectado por extensión puede complementar el caso de uso base. Lo que hay que recordar es que el caso de uso básico debe ser capaz de realizar una función por sí mismo aunque no se llame caso de uso extensivo.</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02139" y="2510063"/>
            <a:ext cx="6902455" cy="7287637"/>
          </a:xfrm>
          <a:custGeom>
            <a:avLst/>
            <a:gdLst/>
            <a:ahLst/>
            <a:cxnLst/>
            <a:rect r="r" b="b" t="t" l="l"/>
            <a:pathLst>
              <a:path h="7287637" w="6902455">
                <a:moveTo>
                  <a:pt x="0" y="0"/>
                </a:moveTo>
                <a:lnTo>
                  <a:pt x="6902456" y="0"/>
                </a:lnTo>
                <a:lnTo>
                  <a:pt x="6902456" y="7287637"/>
                </a:lnTo>
                <a:lnTo>
                  <a:pt x="0" y="7287637"/>
                </a:lnTo>
                <a:lnTo>
                  <a:pt x="0" y="0"/>
                </a:lnTo>
                <a:close/>
              </a:path>
            </a:pathLst>
          </a:custGeom>
          <a:blipFill>
            <a:blip r:embed="rId3"/>
            <a:stretch>
              <a:fillRect l="0" t="0" r="0" b="0"/>
            </a:stretch>
          </a:blipFill>
        </p:spPr>
      </p:sp>
      <p:sp>
        <p:nvSpPr>
          <p:cNvPr name="TextBox 7" id="7"/>
          <p:cNvSpPr txBox="true"/>
          <p:nvPr/>
        </p:nvSpPr>
        <p:spPr>
          <a:xfrm rot="0">
            <a:off x="2851734" y="1446840"/>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957F3B"/>
                </a:solidFill>
                <a:latin typeface="HK Modular"/>
                <a:ea typeface="HK Modular"/>
                <a:cs typeface="HK Modular"/>
                <a:sym typeface="HK Modular"/>
              </a:rPr>
              <a:t>DIAGRAMA DE CASOS DE USO</a:t>
            </a:r>
          </a:p>
        </p:txBody>
      </p:sp>
      <p:sp>
        <p:nvSpPr>
          <p:cNvPr name="Freeform 8" id="8"/>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ANEXOS</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969815" y="2877530"/>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Diagrama de casos de uso</a:t>
            </a:r>
          </a:p>
        </p:txBody>
      </p:sp>
      <p:grpSp>
        <p:nvGrpSpPr>
          <p:cNvPr name="Group 9" id="9"/>
          <p:cNvGrpSpPr/>
          <p:nvPr/>
        </p:nvGrpSpPr>
        <p:grpSpPr>
          <a:xfrm rot="0">
            <a:off x="5549329" y="2719298"/>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4</a:t>
              </a:r>
            </a:p>
          </p:txBody>
        </p:sp>
      </p:grpSp>
      <p:sp>
        <p:nvSpPr>
          <p:cNvPr name="Freeform 12" id="12"/>
          <p:cNvSpPr/>
          <p:nvPr/>
        </p:nvSpPr>
        <p:spPr>
          <a:xfrm flipH="false" flipV="false" rot="0">
            <a:off x="1891626" y="4312746"/>
            <a:ext cx="6561670" cy="2291688"/>
          </a:xfrm>
          <a:custGeom>
            <a:avLst/>
            <a:gdLst/>
            <a:ahLst/>
            <a:cxnLst/>
            <a:rect r="r" b="b" t="t" l="l"/>
            <a:pathLst>
              <a:path h="2291688" w="6561670">
                <a:moveTo>
                  <a:pt x="0" y="0"/>
                </a:moveTo>
                <a:lnTo>
                  <a:pt x="6561670" y="0"/>
                </a:lnTo>
                <a:lnTo>
                  <a:pt x="6561670" y="2291688"/>
                </a:lnTo>
                <a:lnTo>
                  <a:pt x="0" y="2291688"/>
                </a:lnTo>
                <a:lnTo>
                  <a:pt x="0" y="0"/>
                </a:lnTo>
                <a:close/>
              </a:path>
            </a:pathLst>
          </a:custGeom>
          <a:blipFill>
            <a:blip r:embed="rId4"/>
            <a:stretch>
              <a:fillRect l="0" t="0" r="0" b="0"/>
            </a:stretch>
          </a:blipFill>
        </p:spPr>
      </p:sp>
      <p:sp>
        <p:nvSpPr>
          <p:cNvPr name="TextBox 13" id="13"/>
          <p:cNvSpPr txBox="true"/>
          <p:nvPr/>
        </p:nvSpPr>
        <p:spPr>
          <a:xfrm rot="0">
            <a:off x="1790928" y="6899709"/>
            <a:ext cx="6637751" cy="782320"/>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Regla 1:</a:t>
            </a:r>
            <a:r>
              <a:rPr lang="en-US" sz="2199">
                <a:solidFill>
                  <a:srgbClr val="FFFFFF"/>
                </a:solidFill>
                <a:latin typeface="Poppins"/>
                <a:ea typeface="Poppins"/>
                <a:cs typeface="Poppins"/>
                <a:sym typeface="Poppins"/>
              </a:rPr>
              <a:t> Al menos un diagrama de caso de uso por requerimiento</a:t>
            </a:r>
          </a:p>
        </p:txBody>
      </p:sp>
      <p:sp>
        <p:nvSpPr>
          <p:cNvPr name="TextBox 14" id="14"/>
          <p:cNvSpPr txBox="true"/>
          <p:nvPr/>
        </p:nvSpPr>
        <p:spPr>
          <a:xfrm rot="0">
            <a:off x="10621549" y="6899709"/>
            <a:ext cx="6637751" cy="782320"/>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Regla 2:</a:t>
            </a:r>
            <a:r>
              <a:rPr lang="en-US" sz="2199">
                <a:solidFill>
                  <a:srgbClr val="FFFFFF"/>
                </a:solidFill>
                <a:latin typeface="Poppins"/>
                <a:ea typeface="Poppins"/>
                <a:cs typeface="Poppins"/>
                <a:sym typeface="Poppins"/>
              </a:rPr>
              <a:t> Al menos un requerimiento para un diagrama de caso de uso.</a:t>
            </a:r>
          </a:p>
        </p:txBody>
      </p:sp>
      <p:sp>
        <p:nvSpPr>
          <p:cNvPr name="Freeform 15" id="15"/>
          <p:cNvSpPr/>
          <p:nvPr/>
        </p:nvSpPr>
        <p:spPr>
          <a:xfrm flipH="false" flipV="false" rot="0">
            <a:off x="10402371" y="4312746"/>
            <a:ext cx="7061907" cy="2220250"/>
          </a:xfrm>
          <a:custGeom>
            <a:avLst/>
            <a:gdLst/>
            <a:ahLst/>
            <a:cxnLst/>
            <a:rect r="r" b="b" t="t" l="l"/>
            <a:pathLst>
              <a:path h="2220250" w="7061907">
                <a:moveTo>
                  <a:pt x="0" y="0"/>
                </a:moveTo>
                <a:lnTo>
                  <a:pt x="7061906" y="0"/>
                </a:lnTo>
                <a:lnTo>
                  <a:pt x="7061906" y="2220250"/>
                </a:lnTo>
                <a:lnTo>
                  <a:pt x="0" y="2220250"/>
                </a:lnTo>
                <a:lnTo>
                  <a:pt x="0" y="0"/>
                </a:lnTo>
                <a:close/>
              </a:path>
            </a:pathLst>
          </a:custGeom>
          <a:blipFill>
            <a:blip r:embed="rId5"/>
            <a:stretch>
              <a:fillRect l="0" t="0" r="-12911" b="-105604"/>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PROTOTIPOS</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717244"/>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PROTOTIPOS</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Freeform 8" id="8"/>
          <p:cNvSpPr/>
          <p:nvPr/>
        </p:nvSpPr>
        <p:spPr>
          <a:xfrm flipH="false" flipV="false" rot="0">
            <a:off x="1679299" y="5366164"/>
            <a:ext cx="7537614" cy="4277596"/>
          </a:xfrm>
          <a:custGeom>
            <a:avLst/>
            <a:gdLst/>
            <a:ahLst/>
            <a:cxnLst/>
            <a:rect r="r" b="b" t="t" l="l"/>
            <a:pathLst>
              <a:path h="4277596" w="7537614">
                <a:moveTo>
                  <a:pt x="0" y="0"/>
                </a:moveTo>
                <a:lnTo>
                  <a:pt x="7537614" y="0"/>
                </a:lnTo>
                <a:lnTo>
                  <a:pt x="7537614" y="4277596"/>
                </a:lnTo>
                <a:lnTo>
                  <a:pt x="0" y="4277596"/>
                </a:lnTo>
                <a:lnTo>
                  <a:pt x="0" y="0"/>
                </a:lnTo>
                <a:close/>
              </a:path>
            </a:pathLst>
          </a:custGeom>
          <a:blipFill>
            <a:blip r:embed="rId4"/>
            <a:stretch>
              <a:fillRect l="0" t="0" r="0" b="0"/>
            </a:stretch>
          </a:blipFill>
        </p:spPr>
      </p:sp>
      <p:sp>
        <p:nvSpPr>
          <p:cNvPr name="TextBox 9" id="9"/>
          <p:cNvSpPr txBox="true"/>
          <p:nvPr/>
        </p:nvSpPr>
        <p:spPr>
          <a:xfrm rot="0">
            <a:off x="1679299" y="2928882"/>
            <a:ext cx="15399379" cy="1692452"/>
          </a:xfrm>
          <a:prstGeom prst="rect">
            <a:avLst/>
          </a:prstGeom>
        </p:spPr>
        <p:txBody>
          <a:bodyPr anchor="t" rtlCol="false" tIns="0" lIns="0" bIns="0" rIns="0">
            <a:spAutoFit/>
          </a:bodyPr>
          <a:lstStyle/>
          <a:p>
            <a:pPr algn="ctr">
              <a:lnSpc>
                <a:spcPts val="3315"/>
              </a:lnSpc>
              <a:spcBef>
                <a:spcPct val="0"/>
              </a:spcBef>
            </a:pPr>
            <a:r>
              <a:rPr lang="en-US" sz="2368">
                <a:solidFill>
                  <a:srgbClr val="F0F7FE"/>
                </a:solidFill>
                <a:latin typeface="Poppins"/>
                <a:ea typeface="Poppins"/>
                <a:cs typeface="Poppins"/>
                <a:sym typeface="Poppins"/>
              </a:rPr>
              <a:t>E</a:t>
            </a:r>
            <a:r>
              <a:rPr lang="en-US" sz="2368">
                <a:solidFill>
                  <a:srgbClr val="F0F7FE"/>
                </a:solidFill>
                <a:latin typeface="Poppins"/>
                <a:ea typeface="Poppins"/>
                <a:cs typeface="Poppins"/>
                <a:sym typeface="Poppins"/>
              </a:rPr>
              <a:t>s una representación preliminar del sistema que se construye antes del desarrollo real para validar ideas con los usuarios y stakeholders.</a:t>
            </a:r>
          </a:p>
          <a:p>
            <a:pPr algn="ctr">
              <a:lnSpc>
                <a:spcPts val="3315"/>
              </a:lnSpc>
              <a:spcBef>
                <a:spcPct val="0"/>
              </a:spcBef>
            </a:pPr>
            <a:r>
              <a:rPr lang="en-US" sz="2368">
                <a:solidFill>
                  <a:srgbClr val="F0F7FE"/>
                </a:solidFill>
                <a:latin typeface="Poppins"/>
                <a:ea typeface="Poppins"/>
                <a:cs typeface="Poppins"/>
                <a:sym typeface="Poppins"/>
              </a:rPr>
              <a:t>No es el sistema funcionando todavía. Es una simulación de cómo se verá y cómo se usará.</a:t>
            </a:r>
          </a:p>
          <a:p>
            <a:pPr algn="ctr">
              <a:lnSpc>
                <a:spcPts val="3315"/>
              </a:lnSpc>
              <a:spcBef>
                <a:spcPct val="0"/>
              </a:spcBef>
            </a:pPr>
          </a:p>
        </p:txBody>
      </p:sp>
      <p:sp>
        <p:nvSpPr>
          <p:cNvPr name="TextBox 10" id="10"/>
          <p:cNvSpPr txBox="true"/>
          <p:nvPr/>
        </p:nvSpPr>
        <p:spPr>
          <a:xfrm rot="0">
            <a:off x="6020314" y="4564184"/>
            <a:ext cx="6717350" cy="458055"/>
          </a:xfrm>
          <a:prstGeom prst="rect">
            <a:avLst/>
          </a:prstGeom>
        </p:spPr>
        <p:txBody>
          <a:bodyPr anchor="t" rtlCol="false" tIns="0" lIns="0" bIns="0" rIns="0">
            <a:spAutoFit/>
          </a:bodyPr>
          <a:lstStyle/>
          <a:p>
            <a:pPr algn="ctr">
              <a:lnSpc>
                <a:spcPts val="3740"/>
              </a:lnSpc>
              <a:spcBef>
                <a:spcPct val="0"/>
              </a:spcBef>
            </a:pPr>
            <a:r>
              <a:rPr lang="en-US" sz="2671">
                <a:solidFill>
                  <a:srgbClr val="957F3B"/>
                </a:solidFill>
                <a:latin typeface="HK Modular"/>
                <a:ea typeface="HK Modular"/>
                <a:cs typeface="HK Modular"/>
                <a:sym typeface="HK Modular"/>
              </a:rPr>
              <a:t>Su objetivo principal es</a:t>
            </a:r>
          </a:p>
        </p:txBody>
      </p:sp>
      <p:sp>
        <p:nvSpPr>
          <p:cNvPr name="TextBox 11" id="11"/>
          <p:cNvSpPr txBox="true"/>
          <p:nvPr/>
        </p:nvSpPr>
        <p:spPr>
          <a:xfrm rot="0">
            <a:off x="9560368" y="6603625"/>
            <a:ext cx="8183383" cy="80420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C</a:t>
            </a:r>
            <a:r>
              <a:rPr lang="en-US" sz="2294">
                <a:solidFill>
                  <a:srgbClr val="FFFFFF"/>
                </a:solidFill>
                <a:latin typeface="Poppins"/>
                <a:ea typeface="Poppins"/>
                <a:cs typeface="Poppins"/>
                <a:sym typeface="Poppins"/>
              </a:rPr>
              <a:t>omprobar que entendiste correctamente los requerimientos antes de empezar a programar.</a:t>
            </a:r>
          </a:p>
        </p:txBody>
      </p:sp>
      <p:sp>
        <p:nvSpPr>
          <p:cNvPr name="TextBox 12" id="12"/>
          <p:cNvSpPr txBox="true"/>
          <p:nvPr/>
        </p:nvSpPr>
        <p:spPr>
          <a:xfrm rot="0">
            <a:off x="11159338" y="8054030"/>
            <a:ext cx="4985445" cy="398780"/>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Poppins"/>
                <a:ea typeface="Poppins"/>
                <a:cs typeface="Poppins"/>
                <a:sym typeface="Poppins"/>
              </a:rPr>
              <a:t>valida usabilidad y entendimiento</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961530" y="3099881"/>
            <a:ext cx="5963831" cy="5953774"/>
          </a:xfrm>
          <a:custGeom>
            <a:avLst/>
            <a:gdLst/>
            <a:ahLst/>
            <a:cxnLst/>
            <a:rect r="r" b="b" t="t" l="l"/>
            <a:pathLst>
              <a:path h="5953774" w="5963831">
                <a:moveTo>
                  <a:pt x="0" y="0"/>
                </a:moveTo>
                <a:lnTo>
                  <a:pt x="5963831" y="0"/>
                </a:lnTo>
                <a:lnTo>
                  <a:pt x="5963831" y="5953774"/>
                </a:lnTo>
                <a:lnTo>
                  <a:pt x="0" y="5953774"/>
                </a:lnTo>
                <a:lnTo>
                  <a:pt x="0" y="0"/>
                </a:lnTo>
                <a:close/>
              </a:path>
            </a:pathLst>
          </a:custGeom>
          <a:blipFill>
            <a:blip r:embed="rId3"/>
            <a:stretch>
              <a:fillRect l="0" t="0" r="0" b="0"/>
            </a:stretch>
          </a:blipFill>
        </p:spPr>
      </p:sp>
      <p:sp>
        <p:nvSpPr>
          <p:cNvPr name="Freeform 7" id="7"/>
          <p:cNvSpPr/>
          <p:nvPr/>
        </p:nvSpPr>
        <p:spPr>
          <a:xfrm flipH="false" flipV="false" rot="-10800000">
            <a:off x="8154973" y="8437844"/>
            <a:ext cx="356673" cy="356673"/>
          </a:xfrm>
          <a:custGeom>
            <a:avLst/>
            <a:gdLst/>
            <a:ahLst/>
            <a:cxnLst/>
            <a:rect r="r" b="b" t="t" l="l"/>
            <a:pathLst>
              <a:path h="356673" w="356673">
                <a:moveTo>
                  <a:pt x="0" y="0"/>
                </a:moveTo>
                <a:lnTo>
                  <a:pt x="356673" y="0"/>
                </a:lnTo>
                <a:lnTo>
                  <a:pt x="356673" y="356673"/>
                </a:lnTo>
                <a:lnTo>
                  <a:pt x="0" y="3566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9367" y="1597827"/>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99C5FF"/>
                </a:solidFill>
                <a:latin typeface="HK Modular"/>
                <a:ea typeface="HK Modular"/>
                <a:cs typeface="HK Modular"/>
                <a:sym typeface="HK Modular"/>
              </a:rPr>
              <a:t>MOCKUP Y DISEÑO DE APLICACIONES</a:t>
            </a:r>
          </a:p>
        </p:txBody>
      </p:sp>
      <p:sp>
        <p:nvSpPr>
          <p:cNvPr name="TextBox 9" id="9"/>
          <p:cNvSpPr txBox="true"/>
          <p:nvPr/>
        </p:nvSpPr>
        <p:spPr>
          <a:xfrm rot="0">
            <a:off x="2608950" y="3468882"/>
            <a:ext cx="5546023" cy="3253987"/>
          </a:xfrm>
          <a:prstGeom prst="rect">
            <a:avLst/>
          </a:prstGeom>
        </p:spPr>
        <p:txBody>
          <a:bodyPr anchor="t" rtlCol="false" tIns="0" lIns="0" bIns="0" rIns="0">
            <a:spAutoFit/>
          </a:bodyPr>
          <a:lstStyle/>
          <a:p>
            <a:pPr algn="ctr">
              <a:lnSpc>
                <a:spcPts val="4309"/>
              </a:lnSpc>
            </a:pPr>
            <a:r>
              <a:rPr lang="en-US" sz="3078">
                <a:solidFill>
                  <a:srgbClr val="FFFFFF"/>
                </a:solidFill>
                <a:latin typeface="Poppins"/>
                <a:ea typeface="Poppins"/>
                <a:cs typeface="Poppins"/>
                <a:sym typeface="Poppins"/>
              </a:rPr>
              <a:t>Mockup es una representación visual de una interfaz que muestra cómo se verá una aplicación, sin necesidad que funcione realmente.</a:t>
            </a:r>
          </a:p>
        </p:txBody>
      </p:sp>
      <p:sp>
        <p:nvSpPr>
          <p:cNvPr name="TextBox 10" id="10"/>
          <p:cNvSpPr txBox="true"/>
          <p:nvPr/>
        </p:nvSpPr>
        <p:spPr>
          <a:xfrm rot="0">
            <a:off x="2840079" y="8083456"/>
            <a:ext cx="5083766" cy="970199"/>
          </a:xfrm>
          <a:prstGeom prst="rect">
            <a:avLst/>
          </a:prstGeom>
        </p:spPr>
        <p:txBody>
          <a:bodyPr anchor="t" rtlCol="false" tIns="0" lIns="0" bIns="0" rIns="0">
            <a:spAutoFit/>
          </a:bodyPr>
          <a:lstStyle/>
          <a:p>
            <a:pPr algn="r">
              <a:lnSpc>
                <a:spcPts val="4309"/>
              </a:lnSpc>
            </a:pPr>
            <a:r>
              <a:rPr lang="en-US" sz="3078">
                <a:solidFill>
                  <a:srgbClr val="FFFFFF"/>
                </a:solidFill>
                <a:latin typeface="Poppins"/>
                <a:ea typeface="Poppins"/>
                <a:cs typeface="Poppins"/>
                <a:sym typeface="Poppins"/>
              </a:rPr>
              <a:t>Wireframe</a:t>
            </a:r>
          </a:p>
          <a:p>
            <a:pPr algn="r">
              <a:lnSpc>
                <a:spcPts val="3189"/>
              </a:lnSpc>
            </a:pPr>
            <a:r>
              <a:rPr lang="en-US" sz="2278">
                <a:solidFill>
                  <a:srgbClr val="FFFFFF"/>
                </a:solidFill>
                <a:latin typeface="Poppins"/>
                <a:ea typeface="Poppins"/>
                <a:cs typeface="Poppins"/>
                <a:sym typeface="Poppins"/>
              </a:rPr>
              <a:t>(sketches: bocetos)</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6"/>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75763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17996" y="4143865"/>
            <a:ext cx="6789680" cy="4532723"/>
          </a:xfrm>
          <a:custGeom>
            <a:avLst/>
            <a:gdLst/>
            <a:ahLst/>
            <a:cxnLst/>
            <a:rect r="r" b="b" t="t" l="l"/>
            <a:pathLst>
              <a:path h="4532723" w="6789680">
                <a:moveTo>
                  <a:pt x="0" y="0"/>
                </a:moveTo>
                <a:lnTo>
                  <a:pt x="6789681" y="0"/>
                </a:lnTo>
                <a:lnTo>
                  <a:pt x="6789681" y="4532723"/>
                </a:lnTo>
                <a:lnTo>
                  <a:pt x="0" y="4532723"/>
                </a:lnTo>
                <a:lnTo>
                  <a:pt x="0" y="0"/>
                </a:lnTo>
                <a:close/>
              </a:path>
            </a:pathLst>
          </a:custGeom>
          <a:blipFill>
            <a:blip r:embed="rId3"/>
            <a:stretch>
              <a:fillRect l="0" t="0" r="0" b="0"/>
            </a:stretch>
          </a:blipFill>
        </p:spPr>
      </p:sp>
      <p:sp>
        <p:nvSpPr>
          <p:cNvPr name="Freeform 7" id="7"/>
          <p:cNvSpPr/>
          <p:nvPr/>
        </p:nvSpPr>
        <p:spPr>
          <a:xfrm flipH="false" flipV="false" rot="0">
            <a:off x="1737111" y="4801912"/>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4"/>
            <a:stretch>
              <a:fillRect l="0" t="0" r="0" b="0"/>
            </a:stretch>
          </a:blipFill>
        </p:spPr>
      </p:sp>
      <p:sp>
        <p:nvSpPr>
          <p:cNvPr name="TextBox 8" id="8"/>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99C5FF"/>
                </a:solidFill>
                <a:latin typeface="HK Modular"/>
                <a:ea typeface="HK Modular"/>
                <a:cs typeface="HK Modular"/>
                <a:sym typeface="HK Modular"/>
              </a:rPr>
              <a:t>MOCKUP Y DISEÑO DE APLICACIONES</a:t>
            </a:r>
          </a:p>
        </p:txBody>
      </p:sp>
      <p:sp>
        <p:nvSpPr>
          <p:cNvPr name="TextBox 9" id="9"/>
          <p:cNvSpPr txBox="true"/>
          <p:nvPr/>
        </p:nvSpPr>
        <p:spPr>
          <a:xfrm rot="0">
            <a:off x="1479231" y="3733664"/>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Los mockups visualizan:</a:t>
            </a:r>
          </a:p>
        </p:txBody>
      </p:sp>
      <p:sp>
        <p:nvSpPr>
          <p:cNvPr name="TextBox 10" id="10"/>
          <p:cNvSpPr txBox="true"/>
          <p:nvPr/>
        </p:nvSpPr>
        <p:spPr>
          <a:xfrm rot="0">
            <a:off x="2577738" y="4779462"/>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Pantallas de la aplicación</a:t>
            </a:r>
          </a:p>
        </p:txBody>
      </p:sp>
      <p:sp>
        <p:nvSpPr>
          <p:cNvPr name="TextBox 11" id="11"/>
          <p:cNvSpPr txBox="true"/>
          <p:nvPr/>
        </p:nvSpPr>
        <p:spPr>
          <a:xfrm rot="0">
            <a:off x="2577738" y="5420399"/>
            <a:ext cx="6675629"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Distribución de los componentes (layouts)</a:t>
            </a:r>
          </a:p>
        </p:txBody>
      </p:sp>
      <p:sp>
        <p:nvSpPr>
          <p:cNvPr name="Freeform 12" id="12"/>
          <p:cNvSpPr/>
          <p:nvPr/>
        </p:nvSpPr>
        <p:spPr>
          <a:xfrm flipH="false" flipV="false" rot="0">
            <a:off x="1737111" y="5714312"/>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4"/>
            <a:stretch>
              <a:fillRect l="0" t="0" r="0" b="0"/>
            </a:stretch>
          </a:blipFill>
        </p:spPr>
      </p:sp>
      <p:sp>
        <p:nvSpPr>
          <p:cNvPr name="TextBox 13" id="13"/>
          <p:cNvSpPr txBox="true"/>
          <p:nvPr/>
        </p:nvSpPr>
        <p:spPr>
          <a:xfrm rot="0">
            <a:off x="2577738" y="6688278"/>
            <a:ext cx="6143211"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Llamados a la acción (CTAs)</a:t>
            </a:r>
          </a:p>
        </p:txBody>
      </p:sp>
      <p:sp>
        <p:nvSpPr>
          <p:cNvPr name="Freeform 14" id="14"/>
          <p:cNvSpPr/>
          <p:nvPr/>
        </p:nvSpPr>
        <p:spPr>
          <a:xfrm flipH="false" flipV="false" rot="0">
            <a:off x="1737111" y="6710728"/>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4"/>
            <a:stretch>
              <a:fillRect l="0" t="0" r="0" b="0"/>
            </a:stretch>
          </a:blipFill>
        </p:spPr>
      </p:sp>
      <p:sp>
        <p:nvSpPr>
          <p:cNvPr name="TextBox 15" id="15"/>
          <p:cNvSpPr txBox="true"/>
          <p:nvPr/>
        </p:nvSpPr>
        <p:spPr>
          <a:xfrm rot="0">
            <a:off x="2577738" y="7422441"/>
            <a:ext cx="6143211" cy="491409"/>
          </a:xfrm>
          <a:prstGeom prst="rect">
            <a:avLst/>
          </a:prstGeom>
        </p:spPr>
        <p:txBody>
          <a:bodyPr anchor="t" rtlCol="false" tIns="0" lIns="0" bIns="0" rIns="0">
            <a:spAutoFit/>
          </a:bodyPr>
          <a:lstStyle/>
          <a:p>
            <a:pPr algn="l">
              <a:lnSpc>
                <a:spcPts val="3889"/>
              </a:lnSpc>
            </a:pPr>
            <a:r>
              <a:rPr lang="en-US" sz="2778">
                <a:solidFill>
                  <a:srgbClr val="FFFFFF"/>
                </a:solidFill>
                <a:latin typeface="Poppins"/>
                <a:ea typeface="Poppins"/>
                <a:cs typeface="Poppins"/>
                <a:sym typeface="Poppins"/>
              </a:rPr>
              <a:t>Elementos (botones, textos..)</a:t>
            </a:r>
          </a:p>
        </p:txBody>
      </p:sp>
      <p:sp>
        <p:nvSpPr>
          <p:cNvPr name="Freeform 16" id="16"/>
          <p:cNvSpPr/>
          <p:nvPr/>
        </p:nvSpPr>
        <p:spPr>
          <a:xfrm flipH="false" flipV="false" rot="0">
            <a:off x="1737111" y="7444891"/>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4"/>
            <a:stretch>
              <a:fillRect l="0" t="0" r="0" b="0"/>
            </a:stretch>
          </a:blipFill>
        </p:spPr>
      </p:sp>
      <p:sp>
        <p:nvSpPr>
          <p:cNvPr name="TextBox 17" id="17"/>
          <p:cNvSpPr txBox="true"/>
          <p:nvPr/>
        </p:nvSpPr>
        <p:spPr>
          <a:xfrm rot="0">
            <a:off x="2577738" y="8185179"/>
            <a:ext cx="6143211" cy="491409"/>
          </a:xfrm>
          <a:prstGeom prst="rect">
            <a:avLst/>
          </a:prstGeom>
        </p:spPr>
        <p:txBody>
          <a:bodyPr anchor="t" rtlCol="false" tIns="0" lIns="0" bIns="0" rIns="0">
            <a:spAutoFit/>
          </a:bodyPr>
          <a:lstStyle/>
          <a:p>
            <a:pPr algn="l">
              <a:lnSpc>
                <a:spcPts val="3889"/>
              </a:lnSpc>
            </a:pPr>
            <a:r>
              <a:rPr lang="en-US" sz="2778">
                <a:solidFill>
                  <a:srgbClr val="FFFFFF"/>
                </a:solidFill>
                <a:latin typeface="Poppins"/>
                <a:ea typeface="Poppins"/>
                <a:cs typeface="Poppins"/>
                <a:sym typeface="Poppins"/>
              </a:rPr>
              <a:t>Navegación entre pantallas</a:t>
            </a:r>
          </a:p>
        </p:txBody>
      </p:sp>
      <p:sp>
        <p:nvSpPr>
          <p:cNvPr name="Freeform 18" id="18"/>
          <p:cNvSpPr/>
          <p:nvPr/>
        </p:nvSpPr>
        <p:spPr>
          <a:xfrm flipH="false" flipV="false" rot="0">
            <a:off x="1737111" y="8207630"/>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4"/>
            <a:stretch>
              <a:fillRect l="0" t="0" r="0" b="0"/>
            </a:stretch>
          </a:blipFill>
        </p:spPr>
      </p:sp>
      <p:sp>
        <p:nvSpPr>
          <p:cNvPr name="Freeform 19" id="19"/>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63922" y="3677936"/>
            <a:ext cx="8219975" cy="5086110"/>
          </a:xfrm>
          <a:custGeom>
            <a:avLst/>
            <a:gdLst/>
            <a:ahLst/>
            <a:cxnLst/>
            <a:rect r="r" b="b" t="t" l="l"/>
            <a:pathLst>
              <a:path h="5086110" w="8219975">
                <a:moveTo>
                  <a:pt x="0" y="0"/>
                </a:moveTo>
                <a:lnTo>
                  <a:pt x="8219975" y="0"/>
                </a:lnTo>
                <a:lnTo>
                  <a:pt x="8219975" y="5086109"/>
                </a:lnTo>
                <a:lnTo>
                  <a:pt x="0" y="5086109"/>
                </a:lnTo>
                <a:lnTo>
                  <a:pt x="0" y="0"/>
                </a:lnTo>
                <a:close/>
              </a:path>
            </a:pathLst>
          </a:custGeom>
          <a:blipFill>
            <a:blip r:embed="rId3"/>
            <a:stretch>
              <a:fillRect l="0" t="0" r="0" b="0"/>
            </a:stretch>
          </a:blipFill>
        </p:spPr>
      </p:sp>
      <p:sp>
        <p:nvSpPr>
          <p:cNvPr name="TextBox 7" id="7"/>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99C5FF"/>
                </a:solidFill>
                <a:latin typeface="HK Modular"/>
                <a:ea typeface="HK Modular"/>
                <a:cs typeface="HK Modular"/>
                <a:sym typeface="HK Modular"/>
              </a:rPr>
              <a:t>MOCKUP Y DISEÑO DE APLICACIONES</a:t>
            </a:r>
          </a:p>
        </p:txBody>
      </p:sp>
      <p:sp>
        <p:nvSpPr>
          <p:cNvPr name="TextBox 8" id="8"/>
          <p:cNvSpPr txBox="true"/>
          <p:nvPr/>
        </p:nvSpPr>
        <p:spPr>
          <a:xfrm rot="0">
            <a:off x="4137337" y="9020236"/>
            <a:ext cx="2202359" cy="415289"/>
          </a:xfrm>
          <a:prstGeom prst="rect">
            <a:avLst/>
          </a:prstGeom>
        </p:spPr>
        <p:txBody>
          <a:bodyPr anchor="t" rtlCol="false" tIns="0" lIns="0" bIns="0" rIns="0">
            <a:spAutoFit/>
          </a:bodyPr>
          <a:lstStyle/>
          <a:p>
            <a:pPr algn="l">
              <a:lnSpc>
                <a:spcPts val="3360"/>
              </a:lnSpc>
            </a:pPr>
            <a:r>
              <a:rPr lang="en-US" sz="2400" u="sng">
                <a:solidFill>
                  <a:srgbClr val="FFA260"/>
                </a:solidFill>
                <a:latin typeface="Arimo"/>
                <a:ea typeface="Arimo"/>
                <a:cs typeface="Arimo"/>
                <a:sym typeface="Arimo"/>
                <a:hlinkClick r:id="rId4" tooltip="https://www.figma.com/community/file/1052832340031141040/spotify-mobile-ui-kit"/>
              </a:rPr>
              <a:t>Spotify Example</a:t>
            </a:r>
          </a:p>
        </p:txBody>
      </p:sp>
      <p:sp>
        <p:nvSpPr>
          <p:cNvPr name="TextBox 9" id="9"/>
          <p:cNvSpPr txBox="true"/>
          <p:nvPr/>
        </p:nvSpPr>
        <p:spPr>
          <a:xfrm rot="0">
            <a:off x="10437141" y="3214922"/>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Los mockups sirven para:</a:t>
            </a:r>
          </a:p>
        </p:txBody>
      </p:sp>
      <p:sp>
        <p:nvSpPr>
          <p:cNvPr name="TextBox 10" id="10"/>
          <p:cNvSpPr txBox="true"/>
          <p:nvPr/>
        </p:nvSpPr>
        <p:spPr>
          <a:xfrm rot="0">
            <a:off x="10434081" y="4253847"/>
            <a:ext cx="5546023" cy="524429"/>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Visualizar la interfaz.</a:t>
            </a:r>
          </a:p>
        </p:txBody>
      </p:sp>
      <p:sp>
        <p:nvSpPr>
          <p:cNvPr name="TextBox 11" id="11"/>
          <p:cNvSpPr txBox="true"/>
          <p:nvPr/>
        </p:nvSpPr>
        <p:spPr>
          <a:xfrm rot="0">
            <a:off x="10434081" y="4919949"/>
            <a:ext cx="6094235" cy="524429"/>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Validar los requerimientos.</a:t>
            </a:r>
          </a:p>
        </p:txBody>
      </p:sp>
      <p:sp>
        <p:nvSpPr>
          <p:cNvPr name="TextBox 12" id="12"/>
          <p:cNvSpPr txBox="true"/>
          <p:nvPr/>
        </p:nvSpPr>
        <p:spPr>
          <a:xfrm rot="0">
            <a:off x="10434081" y="5698926"/>
            <a:ext cx="6311919" cy="524429"/>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Probar flujos de navegación.</a:t>
            </a:r>
          </a:p>
        </p:txBody>
      </p:sp>
      <p:sp>
        <p:nvSpPr>
          <p:cNvPr name="TextBox 13" id="13"/>
          <p:cNvSpPr txBox="true"/>
          <p:nvPr/>
        </p:nvSpPr>
        <p:spPr>
          <a:xfrm rot="0">
            <a:off x="10437141" y="6480530"/>
            <a:ext cx="6822159" cy="1048304"/>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Detectar problemas de usabilidad.</a:t>
            </a:r>
          </a:p>
        </p:txBody>
      </p:sp>
      <p:sp>
        <p:nvSpPr>
          <p:cNvPr name="TextBox 14" id="14"/>
          <p:cNvSpPr txBox="true"/>
          <p:nvPr/>
        </p:nvSpPr>
        <p:spPr>
          <a:xfrm rot="0">
            <a:off x="10434081" y="7786009"/>
            <a:ext cx="6612270" cy="1048304"/>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Alinear a usuarios, diseñadores y desarrolladores.</a:t>
            </a:r>
          </a:p>
        </p:txBody>
      </p:sp>
      <p:sp>
        <p:nvSpPr>
          <p:cNvPr name="Freeform 15" id="15"/>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478103" y="2702486"/>
            <a:ext cx="8718707" cy="6974965"/>
          </a:xfrm>
          <a:custGeom>
            <a:avLst/>
            <a:gdLst/>
            <a:ahLst/>
            <a:cxnLst/>
            <a:rect r="r" b="b" t="t" l="l"/>
            <a:pathLst>
              <a:path h="6974965" w="8718707">
                <a:moveTo>
                  <a:pt x="0" y="0"/>
                </a:moveTo>
                <a:lnTo>
                  <a:pt x="8718707" y="0"/>
                </a:lnTo>
                <a:lnTo>
                  <a:pt x="8718707" y="6974965"/>
                </a:lnTo>
                <a:lnTo>
                  <a:pt x="0" y="6974965"/>
                </a:lnTo>
                <a:lnTo>
                  <a:pt x="0" y="0"/>
                </a:lnTo>
                <a:close/>
              </a:path>
            </a:pathLst>
          </a:custGeom>
          <a:blipFill>
            <a:blip r:embed="rId3"/>
            <a:stretch>
              <a:fillRect l="0" t="0" r="0" b="0"/>
            </a:stretch>
          </a:blipFill>
        </p:spPr>
      </p:sp>
      <p:sp>
        <p:nvSpPr>
          <p:cNvPr name="TextBox 7" id="7"/>
          <p:cNvSpPr txBox="true"/>
          <p:nvPr/>
        </p:nvSpPr>
        <p:spPr>
          <a:xfrm rot="0">
            <a:off x="109367" y="1863688"/>
            <a:ext cx="18288000" cy="548226"/>
          </a:xfrm>
          <a:prstGeom prst="rect">
            <a:avLst/>
          </a:prstGeom>
        </p:spPr>
        <p:txBody>
          <a:bodyPr anchor="t" rtlCol="false" tIns="0" lIns="0" bIns="0" rIns="0">
            <a:spAutoFit/>
          </a:bodyPr>
          <a:lstStyle/>
          <a:p>
            <a:pPr algn="ctr">
              <a:lnSpc>
                <a:spcPts val="4432"/>
              </a:lnSpc>
              <a:spcBef>
                <a:spcPct val="0"/>
              </a:spcBef>
            </a:pPr>
            <a:r>
              <a:rPr lang="en-US" sz="3166">
                <a:solidFill>
                  <a:srgbClr val="99C5FF"/>
                </a:solidFill>
                <a:latin typeface="HK Modular"/>
                <a:ea typeface="HK Modular"/>
                <a:cs typeface="HK Modular"/>
                <a:sym typeface="HK Modular"/>
              </a:rPr>
              <a:t>FLUJO FUNCIONAL (NAVEGACIÓN) ENTRE PANTALLAS</a:t>
            </a:r>
          </a:p>
        </p:txBody>
      </p:sp>
      <p:sp>
        <p:nvSpPr>
          <p:cNvPr name="TextBox 8" id="8"/>
          <p:cNvSpPr txBox="true"/>
          <p:nvPr/>
        </p:nvSpPr>
        <p:spPr>
          <a:xfrm rot="0">
            <a:off x="1268985" y="4665333"/>
            <a:ext cx="5546023" cy="2714500"/>
          </a:xfrm>
          <a:prstGeom prst="rect">
            <a:avLst/>
          </a:prstGeom>
        </p:spPr>
        <p:txBody>
          <a:bodyPr anchor="t" rtlCol="false" tIns="0" lIns="0" bIns="0" rIns="0">
            <a:spAutoFit/>
          </a:bodyPr>
          <a:lstStyle/>
          <a:p>
            <a:pPr algn="ctr">
              <a:lnSpc>
                <a:spcPts val="4309"/>
              </a:lnSpc>
            </a:pPr>
            <a:r>
              <a:rPr lang="en-US" sz="3078">
                <a:solidFill>
                  <a:srgbClr val="FFFFFF"/>
                </a:solidFill>
                <a:latin typeface="Poppins"/>
                <a:ea typeface="Poppins"/>
                <a:cs typeface="Poppins"/>
                <a:sym typeface="Poppins"/>
              </a:rPr>
              <a:t>Secuencia de pantallas y acciones que sigue un usuario dentro de una aplicación para completar una tarea objetivo.</a:t>
            </a:r>
          </a:p>
        </p:txBody>
      </p:sp>
      <p:sp>
        <p:nvSpPr>
          <p:cNvPr name="Freeform 9" id="9"/>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9367" y="1863688"/>
            <a:ext cx="18288000" cy="548226"/>
          </a:xfrm>
          <a:prstGeom prst="rect">
            <a:avLst/>
          </a:prstGeom>
        </p:spPr>
        <p:txBody>
          <a:bodyPr anchor="t" rtlCol="false" tIns="0" lIns="0" bIns="0" rIns="0">
            <a:spAutoFit/>
          </a:bodyPr>
          <a:lstStyle/>
          <a:p>
            <a:pPr algn="ctr">
              <a:lnSpc>
                <a:spcPts val="4432"/>
              </a:lnSpc>
              <a:spcBef>
                <a:spcPct val="0"/>
              </a:spcBef>
            </a:pPr>
            <a:r>
              <a:rPr lang="en-US" sz="3166">
                <a:solidFill>
                  <a:srgbClr val="99C5FF"/>
                </a:solidFill>
                <a:latin typeface="HK Modular"/>
                <a:ea typeface="HK Modular"/>
                <a:cs typeface="HK Modular"/>
                <a:sym typeface="HK Modular"/>
              </a:rPr>
              <a:t>FLUJO FUNCIONAL (NAVEGACIÓN) ENTRE PANTALLAS</a:t>
            </a:r>
          </a:p>
        </p:txBody>
      </p:sp>
      <p:sp>
        <p:nvSpPr>
          <p:cNvPr name="Freeform 7" id="7"/>
          <p:cNvSpPr/>
          <p:nvPr/>
        </p:nvSpPr>
        <p:spPr>
          <a:xfrm flipH="false" flipV="false" rot="0">
            <a:off x="1722094" y="5055595"/>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8" id="8"/>
          <p:cNvSpPr txBox="true"/>
          <p:nvPr/>
        </p:nvSpPr>
        <p:spPr>
          <a:xfrm rot="0">
            <a:off x="1479231" y="3733664"/>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Sirve para:</a:t>
            </a:r>
          </a:p>
        </p:txBody>
      </p:sp>
      <p:sp>
        <p:nvSpPr>
          <p:cNvPr name="TextBox 9" id="9"/>
          <p:cNvSpPr txBox="true"/>
          <p:nvPr/>
        </p:nvSpPr>
        <p:spPr>
          <a:xfrm rot="0">
            <a:off x="2577738" y="4779462"/>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Entender cómo se usa el sistema.</a:t>
            </a:r>
          </a:p>
        </p:txBody>
      </p:sp>
      <p:sp>
        <p:nvSpPr>
          <p:cNvPr name="Freeform 10" id="10"/>
          <p:cNvSpPr/>
          <p:nvPr/>
        </p:nvSpPr>
        <p:spPr>
          <a:xfrm flipH="false" flipV="false" rot="0">
            <a:off x="1722094" y="6304277"/>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3"/>
            <a:stretch>
              <a:fillRect l="0" t="0" r="0" b="0"/>
            </a:stretch>
          </a:blipFill>
        </p:spPr>
      </p:sp>
      <p:sp>
        <p:nvSpPr>
          <p:cNvPr name="TextBox 11" id="11"/>
          <p:cNvSpPr txBox="true"/>
          <p:nvPr/>
        </p:nvSpPr>
        <p:spPr>
          <a:xfrm rot="0">
            <a:off x="2577738" y="6028145"/>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Validar requerimientos y casos de uso.</a:t>
            </a:r>
          </a:p>
        </p:txBody>
      </p:sp>
      <p:sp>
        <p:nvSpPr>
          <p:cNvPr name="Freeform 12" id="12"/>
          <p:cNvSpPr/>
          <p:nvPr/>
        </p:nvSpPr>
        <p:spPr>
          <a:xfrm flipH="false" flipV="false" rot="0">
            <a:off x="1722094" y="7552606"/>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3"/>
            <a:stretch>
              <a:fillRect l="0" t="0" r="0" b="0"/>
            </a:stretch>
          </a:blipFill>
        </p:spPr>
      </p:sp>
      <p:sp>
        <p:nvSpPr>
          <p:cNvPr name="TextBox 13" id="13"/>
          <p:cNvSpPr txBox="true"/>
          <p:nvPr/>
        </p:nvSpPr>
        <p:spPr>
          <a:xfrm rot="0">
            <a:off x="2577738" y="7276474"/>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Detectar pasos innecesarios o confusos.</a:t>
            </a:r>
          </a:p>
        </p:txBody>
      </p:sp>
      <p:sp>
        <p:nvSpPr>
          <p:cNvPr name="Freeform 14" id="14"/>
          <p:cNvSpPr/>
          <p:nvPr/>
        </p:nvSpPr>
        <p:spPr>
          <a:xfrm flipH="false" flipV="false" rot="0">
            <a:off x="9923912" y="4857381"/>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15" id="15"/>
          <p:cNvSpPr txBox="true"/>
          <p:nvPr/>
        </p:nvSpPr>
        <p:spPr>
          <a:xfrm rot="0">
            <a:off x="9681049" y="3733664"/>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Incluye</a:t>
            </a:r>
          </a:p>
        </p:txBody>
      </p:sp>
      <p:sp>
        <p:nvSpPr>
          <p:cNvPr name="TextBox 16" id="16"/>
          <p:cNvSpPr txBox="true"/>
          <p:nvPr/>
        </p:nvSpPr>
        <p:spPr>
          <a:xfrm rot="0">
            <a:off x="10779556" y="4779462"/>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Pantallas.</a:t>
            </a:r>
          </a:p>
        </p:txBody>
      </p:sp>
      <p:sp>
        <p:nvSpPr>
          <p:cNvPr name="Freeform 17" id="17"/>
          <p:cNvSpPr/>
          <p:nvPr/>
        </p:nvSpPr>
        <p:spPr>
          <a:xfrm flipH="false" flipV="false" rot="0">
            <a:off x="9923912" y="6104345"/>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18" id="18"/>
          <p:cNvSpPr txBox="true"/>
          <p:nvPr/>
        </p:nvSpPr>
        <p:spPr>
          <a:xfrm rot="0">
            <a:off x="10779556" y="5828212"/>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Acciones del usuario (clics, selecciones...).</a:t>
            </a:r>
          </a:p>
        </p:txBody>
      </p:sp>
      <p:sp>
        <p:nvSpPr>
          <p:cNvPr name="Freeform 19" id="19"/>
          <p:cNvSpPr/>
          <p:nvPr/>
        </p:nvSpPr>
        <p:spPr>
          <a:xfrm flipH="false" flipV="false" rot="0">
            <a:off x="9923912" y="7290669"/>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20" id="20"/>
          <p:cNvSpPr txBox="true"/>
          <p:nvPr/>
        </p:nvSpPr>
        <p:spPr>
          <a:xfrm rot="0">
            <a:off x="10779556" y="7276474"/>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Decisiones (sí / no).</a:t>
            </a:r>
          </a:p>
        </p:txBody>
      </p:sp>
      <p:sp>
        <p:nvSpPr>
          <p:cNvPr name="Freeform 21" id="21"/>
          <p:cNvSpPr/>
          <p:nvPr/>
        </p:nvSpPr>
        <p:spPr>
          <a:xfrm flipH="false" flipV="false" rot="0">
            <a:off x="9923912" y="8272482"/>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3"/>
            <a:stretch>
              <a:fillRect l="0" t="0" r="0" b="0"/>
            </a:stretch>
          </a:blipFill>
        </p:spPr>
      </p:sp>
      <p:sp>
        <p:nvSpPr>
          <p:cNvPr name="TextBox 22" id="22"/>
          <p:cNvSpPr txBox="true"/>
          <p:nvPr/>
        </p:nvSpPr>
        <p:spPr>
          <a:xfrm rot="0">
            <a:off x="10779556" y="8258287"/>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Resultados (éxito / fallido).</a:t>
            </a:r>
          </a:p>
        </p:txBody>
      </p:sp>
      <p:sp>
        <p:nvSpPr>
          <p:cNvPr name="Freeform 23" id="2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4135430" y="-7959001"/>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489913" y="1680775"/>
            <a:ext cx="3308175" cy="1417789"/>
          </a:xfrm>
          <a:custGeom>
            <a:avLst/>
            <a:gdLst/>
            <a:ahLst/>
            <a:cxnLst/>
            <a:rect r="r" b="b" t="t" l="l"/>
            <a:pathLst>
              <a:path h="1417789" w="3308175">
                <a:moveTo>
                  <a:pt x="0" y="0"/>
                </a:moveTo>
                <a:lnTo>
                  <a:pt x="3308174" y="0"/>
                </a:lnTo>
                <a:lnTo>
                  <a:pt x="3308174" y="1417789"/>
                </a:lnTo>
                <a:lnTo>
                  <a:pt x="0" y="1417789"/>
                </a:lnTo>
                <a:lnTo>
                  <a:pt x="0" y="0"/>
                </a:lnTo>
                <a:close/>
              </a:path>
            </a:pathLst>
          </a:custGeom>
          <a:blipFill>
            <a:blip r:embed="rId3"/>
            <a:stretch>
              <a:fillRect l="0" t="0" r="0" b="0"/>
            </a:stretch>
          </a:blipFill>
        </p:spPr>
      </p:sp>
      <p:sp>
        <p:nvSpPr>
          <p:cNvPr name="Freeform 7" id="7"/>
          <p:cNvSpPr/>
          <p:nvPr/>
        </p:nvSpPr>
        <p:spPr>
          <a:xfrm flipH="false" flipV="false" rot="0">
            <a:off x="7853919" y="3779120"/>
            <a:ext cx="9289141" cy="4876799"/>
          </a:xfrm>
          <a:custGeom>
            <a:avLst/>
            <a:gdLst/>
            <a:ahLst/>
            <a:cxnLst/>
            <a:rect r="r" b="b" t="t" l="l"/>
            <a:pathLst>
              <a:path h="4876799" w="9289141">
                <a:moveTo>
                  <a:pt x="0" y="0"/>
                </a:moveTo>
                <a:lnTo>
                  <a:pt x="9289140" y="0"/>
                </a:lnTo>
                <a:lnTo>
                  <a:pt x="9289140" y="4876799"/>
                </a:lnTo>
                <a:lnTo>
                  <a:pt x="0" y="4876799"/>
                </a:lnTo>
                <a:lnTo>
                  <a:pt x="0" y="0"/>
                </a:lnTo>
                <a:close/>
              </a:path>
            </a:pathLst>
          </a:custGeom>
          <a:blipFill>
            <a:blip r:embed="rId4"/>
            <a:stretch>
              <a:fillRect l="0" t="0" r="0" b="0"/>
            </a:stretch>
          </a:blipFill>
        </p:spPr>
      </p:sp>
      <p:sp>
        <p:nvSpPr>
          <p:cNvPr name="TextBox 8" id="8"/>
          <p:cNvSpPr txBox="true"/>
          <p:nvPr/>
        </p:nvSpPr>
        <p:spPr>
          <a:xfrm rot="0">
            <a:off x="1779582" y="3463927"/>
            <a:ext cx="5546023" cy="5411935"/>
          </a:xfrm>
          <a:prstGeom prst="rect">
            <a:avLst/>
          </a:prstGeom>
        </p:spPr>
        <p:txBody>
          <a:bodyPr anchor="t" rtlCol="false" tIns="0" lIns="0" bIns="0" rIns="0">
            <a:spAutoFit/>
          </a:bodyPr>
          <a:lstStyle/>
          <a:p>
            <a:pPr algn="ctr">
              <a:lnSpc>
                <a:spcPts val="4309"/>
              </a:lnSpc>
            </a:pPr>
            <a:r>
              <a:rPr lang="en-US" sz="3078">
                <a:solidFill>
                  <a:srgbClr val="FFFFFF"/>
                </a:solidFill>
                <a:latin typeface="Poppins"/>
                <a:ea typeface="Poppins"/>
                <a:cs typeface="Poppins"/>
                <a:sym typeface="Poppins"/>
              </a:rPr>
              <a:t>Figma is a powerful, collaborative design tool for teams. Explore ideas and gather feedback, build realistic prototypes, and streamline product devel</a:t>
            </a:r>
            <a:r>
              <a:rPr lang="en-US" sz="3078">
                <a:solidFill>
                  <a:srgbClr val="FFFFFF"/>
                </a:solidFill>
                <a:latin typeface="Poppins"/>
                <a:ea typeface="Poppins"/>
                <a:cs typeface="Poppins"/>
                <a:sym typeface="Poppins"/>
              </a:rPr>
              <a:t>op</a:t>
            </a:r>
            <a:r>
              <a:rPr lang="en-US" sz="3078">
                <a:solidFill>
                  <a:srgbClr val="FFFFFF"/>
                </a:solidFill>
                <a:latin typeface="Poppins"/>
                <a:ea typeface="Poppins"/>
                <a:cs typeface="Poppins"/>
                <a:sym typeface="Poppins"/>
              </a:rPr>
              <a:t>ment with design systems. Figma Design is included in the Full seat on every plan.</a:t>
            </a:r>
          </a:p>
        </p:txBody>
      </p:sp>
      <p:sp>
        <p:nvSpPr>
          <p:cNvPr name="Freeform 9" id="9"/>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23855" y="3142875"/>
            <a:ext cx="14684405" cy="3325012"/>
          </a:xfrm>
          <a:prstGeom prst="rect">
            <a:avLst/>
          </a:prstGeom>
        </p:spPr>
        <p:txBody>
          <a:bodyPr anchor="t" rtlCol="false" tIns="0" lIns="0" bIns="0" rIns="0">
            <a:spAutoFit/>
          </a:bodyPr>
          <a:lstStyle/>
          <a:p>
            <a:pPr algn="ctr">
              <a:lnSpc>
                <a:spcPts val="8862"/>
              </a:lnSpc>
              <a:spcBef>
                <a:spcPct val="0"/>
              </a:spcBef>
            </a:pPr>
            <a:r>
              <a:rPr lang="en-US" sz="6330">
                <a:solidFill>
                  <a:srgbClr val="99C5FF"/>
                </a:solidFill>
                <a:latin typeface="HK Modular"/>
                <a:ea typeface="HK Modular"/>
                <a:cs typeface="HK Modular"/>
                <a:sym typeface="HK Modular"/>
              </a:rPr>
              <a:t>PERO ANTES DE PROTOTIPAR NECESITAMOS....</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50532" y="3351092"/>
            <a:ext cx="5636438" cy="5636438"/>
          </a:xfrm>
          <a:custGeom>
            <a:avLst/>
            <a:gdLst/>
            <a:ahLst/>
            <a:cxnLst/>
            <a:rect r="r" b="b" t="t" l="l"/>
            <a:pathLst>
              <a:path h="5636438" w="5636438">
                <a:moveTo>
                  <a:pt x="0" y="0"/>
                </a:moveTo>
                <a:lnTo>
                  <a:pt x="5636438" y="0"/>
                </a:lnTo>
                <a:lnTo>
                  <a:pt x="5636438" y="5636438"/>
                </a:lnTo>
                <a:lnTo>
                  <a:pt x="0" y="5636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390700" y="2087021"/>
            <a:ext cx="12540977" cy="899656"/>
          </a:xfrm>
          <a:prstGeom prst="rect">
            <a:avLst/>
          </a:prstGeom>
        </p:spPr>
        <p:txBody>
          <a:bodyPr anchor="t" rtlCol="false" tIns="0" lIns="0" bIns="0" rIns="0">
            <a:spAutoFit/>
          </a:bodyPr>
          <a:lstStyle/>
          <a:p>
            <a:pPr algn="l">
              <a:lnSpc>
                <a:spcPts val="7316"/>
              </a:lnSpc>
              <a:spcBef>
                <a:spcPct val="0"/>
              </a:spcBef>
            </a:pPr>
            <a:r>
              <a:rPr lang="en-US" sz="5226">
                <a:solidFill>
                  <a:srgbClr val="957F3B"/>
                </a:solidFill>
                <a:latin typeface="HK Modular"/>
                <a:ea typeface="HK Modular"/>
                <a:cs typeface="HK Modular"/>
                <a:sym typeface="HK Modular"/>
              </a:rPr>
              <a:t>HEURISTICA DE NIELSEN</a:t>
            </a:r>
          </a:p>
        </p:txBody>
      </p:sp>
      <p:sp>
        <p:nvSpPr>
          <p:cNvPr name="TextBox 8" id="8"/>
          <p:cNvSpPr txBox="true"/>
          <p:nvPr/>
        </p:nvSpPr>
        <p:spPr>
          <a:xfrm rot="0">
            <a:off x="7377377" y="3771246"/>
            <a:ext cx="10115555"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Son principios publicados por Jakob nielsen en 1995, son considerados cuando se realice un diseño de interaccion.</a:t>
            </a:r>
          </a:p>
        </p:txBody>
      </p:sp>
      <p:sp>
        <p:nvSpPr>
          <p:cNvPr name="TextBox 9" id="9"/>
          <p:cNvSpPr txBox="true"/>
          <p:nvPr/>
        </p:nvSpPr>
        <p:spPr>
          <a:xfrm rot="0">
            <a:off x="7208722" y="5498060"/>
            <a:ext cx="10452866" cy="14089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Son la base en la que se apoyan los diseñadores a la hora de ralizar la evaluacion de usabilidad de un sitio web o cualquier producto digital</a:t>
            </a:r>
          </a:p>
        </p:txBody>
      </p:sp>
      <p:sp>
        <p:nvSpPr>
          <p:cNvPr name="TextBox 10" id="10"/>
          <p:cNvSpPr txBox="true"/>
          <p:nvPr/>
        </p:nvSpPr>
        <p:spPr>
          <a:xfrm rot="0">
            <a:off x="7259057" y="7725794"/>
            <a:ext cx="10352195"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Se llaman heuristicos porque son reglas generales y no directrices de usabilidad</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50532" y="3351092"/>
            <a:ext cx="5636438" cy="5636438"/>
          </a:xfrm>
          <a:custGeom>
            <a:avLst/>
            <a:gdLst/>
            <a:ahLst/>
            <a:cxnLst/>
            <a:rect r="r" b="b" t="t" l="l"/>
            <a:pathLst>
              <a:path h="5636438" w="5636438">
                <a:moveTo>
                  <a:pt x="0" y="0"/>
                </a:moveTo>
                <a:lnTo>
                  <a:pt x="5636438" y="0"/>
                </a:lnTo>
                <a:lnTo>
                  <a:pt x="5636438" y="5636438"/>
                </a:lnTo>
                <a:lnTo>
                  <a:pt x="0" y="5636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31459" y="4340826"/>
            <a:ext cx="10227841" cy="2743809"/>
          </a:xfrm>
          <a:prstGeom prst="rect">
            <a:avLst/>
          </a:prstGeom>
        </p:spPr>
        <p:txBody>
          <a:bodyPr anchor="t" rtlCol="false" tIns="0" lIns="0" bIns="0" rIns="0">
            <a:spAutoFit/>
          </a:bodyPr>
          <a:lstStyle/>
          <a:p>
            <a:pPr algn="ctr">
              <a:lnSpc>
                <a:spcPts val="7316"/>
              </a:lnSpc>
              <a:spcBef>
                <a:spcPct val="0"/>
              </a:spcBef>
            </a:pPr>
            <a:r>
              <a:rPr lang="en-US" sz="5226">
                <a:solidFill>
                  <a:srgbClr val="957F3B"/>
                </a:solidFill>
                <a:latin typeface="HK Modular"/>
                <a:ea typeface="HK Modular"/>
                <a:cs typeface="HK Modular"/>
                <a:sym typeface="HK Modular"/>
              </a:rPr>
              <a:t>LOS 10 PRINCIPIOS DE LA HEURISTICA DE NIELSEN</a:t>
            </a:r>
          </a:p>
        </p:txBody>
      </p:sp>
      <p:sp>
        <p:nvSpPr>
          <p:cNvPr name="Freeform 8" id="8"/>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474251" y="4547490"/>
            <a:ext cx="4108861" cy="4683352"/>
          </a:xfrm>
          <a:custGeom>
            <a:avLst/>
            <a:gdLst/>
            <a:ahLst/>
            <a:cxnLst/>
            <a:rect r="r" b="b" t="t" l="l"/>
            <a:pathLst>
              <a:path h="4683352" w="4108861">
                <a:moveTo>
                  <a:pt x="0" y="0"/>
                </a:moveTo>
                <a:lnTo>
                  <a:pt x="4108861" y="0"/>
                </a:lnTo>
                <a:lnTo>
                  <a:pt x="4108861" y="4683352"/>
                </a:lnTo>
                <a:lnTo>
                  <a:pt x="0" y="4683352"/>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VISIBILIDAD DEL ESTADO DEL SISTEMA</a:t>
            </a:r>
          </a:p>
        </p:txBody>
      </p:sp>
      <p:sp>
        <p:nvSpPr>
          <p:cNvPr name="TextBox 8" id="8"/>
          <p:cNvSpPr txBox="true"/>
          <p:nvPr/>
        </p:nvSpPr>
        <p:spPr>
          <a:xfrm rot="0">
            <a:off x="1318684" y="7209195"/>
            <a:ext cx="7825316" cy="23424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sistema siempre debe mantener informados a los usuarios (feedback) sobre lo que esta sucediendo en una accion, a traves de comentarios apropiados dentro de un tiempo razonable</a:t>
            </a:r>
          </a:p>
        </p:txBody>
      </p:sp>
      <p:sp>
        <p:nvSpPr>
          <p:cNvPr name="TextBox 9" id="9"/>
          <p:cNvSpPr txBox="true"/>
          <p:nvPr/>
        </p:nvSpPr>
        <p:spPr>
          <a:xfrm rot="0">
            <a:off x="12474251"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10" id="10"/>
          <p:cNvSpPr txBox="true"/>
          <p:nvPr/>
        </p:nvSpPr>
        <p:spPr>
          <a:xfrm rot="0">
            <a:off x="599574" y="4080020"/>
            <a:ext cx="9263536" cy="28091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Imaginate rellenar un formulario pero no puedes diferenciar que campo del formulario estas rellenando, o tampoco puedes ver si funciono o no al no recibir un mensaje que te confirme la accion o el error, o peor, hay errores en el formulario y no te indican que campo o como solucionarlo</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457943" y="4432445"/>
            <a:ext cx="7413872" cy="4670739"/>
          </a:xfrm>
          <a:custGeom>
            <a:avLst/>
            <a:gdLst/>
            <a:ahLst/>
            <a:cxnLst/>
            <a:rect r="r" b="b" t="t" l="l"/>
            <a:pathLst>
              <a:path h="4670739" w="7413872">
                <a:moveTo>
                  <a:pt x="0" y="0"/>
                </a:moveTo>
                <a:lnTo>
                  <a:pt x="7413872" y="0"/>
                </a:lnTo>
                <a:lnTo>
                  <a:pt x="7413872" y="4670739"/>
                </a:lnTo>
                <a:lnTo>
                  <a:pt x="0" y="4670739"/>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COINCIDENCIA ENTRE EL SISTEMA Y EL MUNDO REAL</a:t>
            </a:r>
          </a:p>
        </p:txBody>
      </p:sp>
      <p:sp>
        <p:nvSpPr>
          <p:cNvPr name="TextBox 8" id="8"/>
          <p:cNvSpPr txBox="true"/>
          <p:nvPr/>
        </p:nvSpPr>
        <p:spPr>
          <a:xfrm rot="0">
            <a:off x="1318684" y="7209195"/>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sistema siempre debe hablar el idioma de los usuarios, con palabras, frases y conecptos familiares para el, en lugar de terminos orientados al sistema</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10" id="10"/>
          <p:cNvSpPr txBox="true"/>
          <p:nvPr/>
        </p:nvSpPr>
        <p:spPr>
          <a:xfrm rot="0">
            <a:off x="599574" y="4080020"/>
            <a:ext cx="9263536" cy="23424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Cuando estas trabajando en un producto muchos dias, se da por sentado muchas cosas de su integracion, y asumimos que el usuario tambien lo sabe, por lo que mostramos errores sin contexto o mostramos errores como 404</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790664" y="4518704"/>
            <a:ext cx="6468636" cy="3962040"/>
          </a:xfrm>
          <a:custGeom>
            <a:avLst/>
            <a:gdLst/>
            <a:ahLst/>
            <a:cxnLst/>
            <a:rect r="r" b="b" t="t" l="l"/>
            <a:pathLst>
              <a:path h="3962040" w="6468636">
                <a:moveTo>
                  <a:pt x="0" y="0"/>
                </a:moveTo>
                <a:lnTo>
                  <a:pt x="6468636" y="0"/>
                </a:lnTo>
                <a:lnTo>
                  <a:pt x="6468636" y="3962040"/>
                </a:lnTo>
                <a:lnTo>
                  <a:pt x="0" y="3962040"/>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LIBERTAD Y CONTROL POR PARTE DEL USUARIO</a:t>
            </a:r>
          </a:p>
        </p:txBody>
      </p:sp>
      <p:sp>
        <p:nvSpPr>
          <p:cNvPr name="TextBox 8" id="8"/>
          <p:cNvSpPr txBox="true"/>
          <p:nvPr/>
        </p:nvSpPr>
        <p:spPr>
          <a:xfrm rot="0">
            <a:off x="994668" y="6462505"/>
            <a:ext cx="9463275" cy="2018239"/>
          </a:xfrm>
          <a:prstGeom prst="rect">
            <a:avLst/>
          </a:prstGeom>
        </p:spPr>
        <p:txBody>
          <a:bodyPr anchor="t" rtlCol="false" tIns="0" lIns="0" bIns="0" rIns="0">
            <a:spAutoFit/>
          </a:bodyPr>
          <a:lstStyle/>
          <a:p>
            <a:pPr algn="ctr">
              <a:lnSpc>
                <a:spcPts val="3199"/>
              </a:lnSpc>
            </a:pPr>
            <a:r>
              <a:rPr lang="en-US" sz="2285">
                <a:solidFill>
                  <a:srgbClr val="FFFFFF"/>
                </a:solidFill>
                <a:latin typeface="Poppins"/>
                <a:ea typeface="Poppins"/>
                <a:cs typeface="Poppins"/>
                <a:sym typeface="Poppins"/>
              </a:rPr>
              <a:t>Hay ocasiones en que los usuarios elegiran las funciones del sistema por error y necesitaran una salida de emergencia, claramente marcada para dejar el estado no deseado al que accedieron, sin tener que pasar por una serie de pasos.</a:t>
            </a:r>
          </a:p>
          <a:p>
            <a:pPr algn="ctr">
              <a:lnSpc>
                <a:spcPts val="3199"/>
              </a:lnSpc>
            </a:pPr>
            <a:r>
              <a:rPr lang="en-US" sz="2285">
                <a:solidFill>
                  <a:srgbClr val="FFFFFF"/>
                </a:solidFill>
                <a:latin typeface="Poppins"/>
                <a:ea typeface="Poppins"/>
                <a:cs typeface="Poppins"/>
                <a:sym typeface="Poppins"/>
              </a:rPr>
              <a:t>Se deben apotar las funciones de deshacer y rehacer.</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10" id="10"/>
          <p:cNvSpPr txBox="true"/>
          <p:nvPr/>
        </p:nvSpPr>
        <p:spPr>
          <a:xfrm rot="0">
            <a:off x="994668" y="4264328"/>
            <a:ext cx="9253367" cy="1691670"/>
          </a:xfrm>
          <a:prstGeom prst="rect">
            <a:avLst/>
          </a:prstGeom>
        </p:spPr>
        <p:txBody>
          <a:bodyPr anchor="t" rtlCol="false" tIns="0" lIns="0" bIns="0" rIns="0">
            <a:spAutoFit/>
          </a:bodyPr>
          <a:lstStyle/>
          <a:p>
            <a:pPr algn="ctr">
              <a:lnSpc>
                <a:spcPts val="3355"/>
              </a:lnSpc>
              <a:spcBef>
                <a:spcPct val="0"/>
              </a:spcBef>
            </a:pPr>
            <a:r>
              <a:rPr lang="en-US" sz="2396">
                <a:solidFill>
                  <a:srgbClr val="FFFFFF"/>
                </a:solidFill>
                <a:latin typeface="Poppins"/>
                <a:ea typeface="Poppins"/>
                <a:cs typeface="Poppins"/>
                <a:sym typeface="Poppins"/>
              </a:rPr>
              <a:t>Esta regla habla de darle al usuario el control y la libertad de realizar las acciones que desee… e incluso de darle la capacidad de deshacer acciones que puede haber tomado por error.</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020332" y="5569428"/>
            <a:ext cx="5238968" cy="3208868"/>
          </a:xfrm>
          <a:custGeom>
            <a:avLst/>
            <a:gdLst/>
            <a:ahLst/>
            <a:cxnLst/>
            <a:rect r="r" b="b" t="t" l="l"/>
            <a:pathLst>
              <a:path h="3208868" w="5238968">
                <a:moveTo>
                  <a:pt x="0" y="0"/>
                </a:moveTo>
                <a:lnTo>
                  <a:pt x="5238968" y="0"/>
                </a:lnTo>
                <a:lnTo>
                  <a:pt x="5238968" y="3208868"/>
                </a:lnTo>
                <a:lnTo>
                  <a:pt x="0" y="3208868"/>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CONSISTENCIA Y ESTANDARES</a:t>
            </a:r>
          </a:p>
        </p:txBody>
      </p:sp>
      <p:sp>
        <p:nvSpPr>
          <p:cNvPr name="TextBox 8" id="8"/>
          <p:cNvSpPr txBox="true"/>
          <p:nvPr/>
        </p:nvSpPr>
        <p:spPr>
          <a:xfrm rot="0">
            <a:off x="1882140" y="6449154"/>
            <a:ext cx="7825316" cy="28091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Las personas ya tienen experiencia con otros productos, como por ejemplo un like es un pulgar hacia arriba o favoritos es una estrella, cambiar ciertos elementos ya establecidos obligara a los usuarios a aprender algo nuevo, eso debe evitarse</a:t>
            </a:r>
          </a:p>
        </p:txBody>
      </p:sp>
      <p:sp>
        <p:nvSpPr>
          <p:cNvPr name="TextBox 9" id="9"/>
          <p:cNvSpPr txBox="true"/>
          <p:nvPr/>
        </p:nvSpPr>
        <p:spPr>
          <a:xfrm rot="0">
            <a:off x="12425225" y="4214659"/>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10" id="10"/>
          <p:cNvSpPr txBox="true"/>
          <p:nvPr/>
        </p:nvSpPr>
        <p:spPr>
          <a:xfrm rot="0">
            <a:off x="1028700" y="3951432"/>
            <a:ext cx="10097072" cy="1825853"/>
          </a:xfrm>
          <a:prstGeom prst="rect">
            <a:avLst/>
          </a:prstGeom>
        </p:spPr>
        <p:txBody>
          <a:bodyPr anchor="t" rtlCol="false" tIns="0" lIns="0" bIns="0" rIns="0">
            <a:spAutoFit/>
          </a:bodyPr>
          <a:lstStyle/>
          <a:p>
            <a:pPr algn="ctr">
              <a:lnSpc>
                <a:spcPts val="3632"/>
              </a:lnSpc>
              <a:spcBef>
                <a:spcPct val="0"/>
              </a:spcBef>
            </a:pPr>
            <a:r>
              <a:rPr lang="en-US" sz="2594">
                <a:solidFill>
                  <a:srgbClr val="FFFFFF"/>
                </a:solidFill>
                <a:latin typeface="Poppins"/>
                <a:ea typeface="Poppins"/>
                <a:cs typeface="Poppins"/>
                <a:sym typeface="Poppins"/>
              </a:rPr>
              <a:t>Los usuarios no deben verse obligados si diferentes palabras, situaciones o acciones significan lo mismo. Se debe seguir las convenciones establecidas en la plataforma y la industria.</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65764" y="4449131"/>
            <a:ext cx="7464024" cy="5234147"/>
          </a:xfrm>
          <a:custGeom>
            <a:avLst/>
            <a:gdLst/>
            <a:ahLst/>
            <a:cxnLst/>
            <a:rect r="r" b="b" t="t" l="l"/>
            <a:pathLst>
              <a:path h="5234147" w="7464024">
                <a:moveTo>
                  <a:pt x="0" y="0"/>
                </a:moveTo>
                <a:lnTo>
                  <a:pt x="7464024" y="0"/>
                </a:lnTo>
                <a:lnTo>
                  <a:pt x="7464024" y="5234147"/>
                </a:lnTo>
                <a:lnTo>
                  <a:pt x="0" y="5234147"/>
                </a:lnTo>
                <a:lnTo>
                  <a:pt x="0" y="0"/>
                </a:lnTo>
                <a:close/>
              </a:path>
            </a:pathLst>
          </a:custGeom>
          <a:blipFill>
            <a:blip r:embed="rId3"/>
            <a:stretch>
              <a:fillRect l="0" t="0" r="0" b="0"/>
            </a:stretch>
          </a:blipFill>
        </p:spPr>
      </p:sp>
      <p:sp>
        <p:nvSpPr>
          <p:cNvPr name="TextBox 7" id="7"/>
          <p:cNvSpPr txBox="true"/>
          <p:nvPr/>
        </p:nvSpPr>
        <p:spPr>
          <a:xfrm rot="0">
            <a:off x="4010530" y="1878351"/>
            <a:ext cx="9618910" cy="683037"/>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PREVENCION DE ERRORES</a:t>
            </a:r>
          </a:p>
        </p:txBody>
      </p:sp>
      <p:sp>
        <p:nvSpPr>
          <p:cNvPr name="TextBox 8" id="8"/>
          <p:cNvSpPr txBox="true"/>
          <p:nvPr/>
        </p:nvSpPr>
        <p:spPr>
          <a:xfrm rot="0">
            <a:off x="1428051" y="3473183"/>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Como su nombre lo indica, mucho mejor que un buen diseño de mensajes de error es realizar un diseño cuidadoso que prevenga la ocurrencia de problemas</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10" id="10"/>
          <p:cNvSpPr txBox="true"/>
          <p:nvPr/>
        </p:nvSpPr>
        <p:spPr>
          <a:xfrm rot="0">
            <a:off x="1428051" y="5968375"/>
            <a:ext cx="7825316" cy="32758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buenos mensajes de error son importantes. Pero mejor aún, es crear un diseño que evite que los errores ocurran.</a:t>
            </a:r>
          </a:p>
          <a:p>
            <a:pPr algn="ctr">
              <a:lnSpc>
                <a:spcPts val="3715"/>
              </a:lnSpc>
            </a:pPr>
            <a:r>
              <a:rPr lang="en-US" sz="2653">
                <a:solidFill>
                  <a:srgbClr val="FFFFFF"/>
                </a:solidFill>
                <a:latin typeface="Poppins"/>
                <a:ea typeface="Poppins"/>
                <a:cs typeface="Poppins"/>
                <a:sym typeface="Poppins"/>
              </a:rPr>
              <a:t>No esperes que los usuarios se equivoquen, agrega elementos que lo ayuden a prevenir los errores.</a:t>
            </a:r>
          </a:p>
          <a:p>
            <a:pPr algn="ctr">
              <a:lnSpc>
                <a:spcPts val="3715"/>
              </a:lnSpc>
            </a:pP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88827" y="4698666"/>
            <a:ext cx="7429909" cy="4207186"/>
          </a:xfrm>
          <a:custGeom>
            <a:avLst/>
            <a:gdLst/>
            <a:ahLst/>
            <a:cxnLst/>
            <a:rect r="r" b="b" t="t" l="l"/>
            <a:pathLst>
              <a:path h="4207186" w="7429909">
                <a:moveTo>
                  <a:pt x="0" y="0"/>
                </a:moveTo>
                <a:lnTo>
                  <a:pt x="7429909" y="0"/>
                </a:lnTo>
                <a:lnTo>
                  <a:pt x="7429909" y="4207186"/>
                </a:lnTo>
                <a:lnTo>
                  <a:pt x="0" y="4207186"/>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RECONOCIMIENTO ANTES QUE RECUERDO</a:t>
            </a:r>
          </a:p>
        </p:txBody>
      </p:sp>
      <p:sp>
        <p:nvSpPr>
          <p:cNvPr name="TextBox 8" id="8"/>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9" id="9"/>
          <p:cNvSpPr txBox="true"/>
          <p:nvPr/>
        </p:nvSpPr>
        <p:spPr>
          <a:xfrm rot="0">
            <a:off x="1973572" y="3786126"/>
            <a:ext cx="7170428" cy="5564559"/>
          </a:xfrm>
          <a:prstGeom prst="rect">
            <a:avLst/>
          </a:prstGeom>
        </p:spPr>
        <p:txBody>
          <a:bodyPr anchor="t" rtlCol="false" tIns="0" lIns="0" bIns="0" rIns="0">
            <a:spAutoFit/>
          </a:bodyPr>
          <a:lstStyle/>
          <a:p>
            <a:pPr algn="ctr">
              <a:lnSpc>
                <a:spcPts val="3655"/>
              </a:lnSpc>
              <a:spcBef>
                <a:spcPct val="0"/>
              </a:spcBef>
            </a:pPr>
            <a:r>
              <a:rPr lang="en-US" sz="2611">
                <a:solidFill>
                  <a:srgbClr val="FFFFFF"/>
                </a:solidFill>
                <a:latin typeface="Poppins"/>
                <a:ea typeface="Poppins"/>
                <a:cs typeface="Poppins"/>
                <a:sym typeface="Poppins"/>
              </a:rPr>
              <a:t>Minimizar el uso de memoria del usuario haciendo visibles los elementos, las acciones y las opciones.</a:t>
            </a:r>
          </a:p>
          <a:p>
            <a:pPr algn="ctr">
              <a:lnSpc>
                <a:spcPts val="3655"/>
              </a:lnSpc>
              <a:spcBef>
                <a:spcPct val="0"/>
              </a:spcBef>
            </a:pPr>
            <a:r>
              <a:rPr lang="en-US" sz="2611">
                <a:solidFill>
                  <a:srgbClr val="FFFFFF"/>
                </a:solidFill>
                <a:latin typeface="Poppins"/>
                <a:ea typeface="Poppins"/>
                <a:cs typeface="Poppins"/>
                <a:sym typeface="Poppins"/>
              </a:rPr>
              <a:t>Las interfaces deben promover el reconocimiento y evitar que los usuarios memoricen sus acciones o elementos al desplazarse por el sistema. Algunas preguntas que te pueden ayudar son: ¿Conoce el usuario de donde viene y a donde va? ¿El usuario tiene que recordar cosas para entender lo que esta pasando? y ¿cómo lo ayudamos a recodar?</a:t>
            </a:r>
          </a:p>
        </p:txBody>
      </p:sp>
      <p:sp>
        <p:nvSpPr>
          <p:cNvPr name="Freeform 10" id="10"/>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39183" y="4674247"/>
            <a:ext cx="7786078" cy="4584053"/>
          </a:xfrm>
          <a:custGeom>
            <a:avLst/>
            <a:gdLst/>
            <a:ahLst/>
            <a:cxnLst/>
            <a:rect r="r" b="b" t="t" l="l"/>
            <a:pathLst>
              <a:path h="4584053" w="7786078">
                <a:moveTo>
                  <a:pt x="0" y="0"/>
                </a:moveTo>
                <a:lnTo>
                  <a:pt x="7786078" y="0"/>
                </a:lnTo>
                <a:lnTo>
                  <a:pt x="7786078" y="4584053"/>
                </a:lnTo>
                <a:lnTo>
                  <a:pt x="0" y="4584053"/>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FLEXIBILIDAD Y EFICIENCIA DE USO</a:t>
            </a:r>
          </a:p>
        </p:txBody>
      </p:sp>
      <p:sp>
        <p:nvSpPr>
          <p:cNvPr name="TextBox 8" id="8"/>
          <p:cNvSpPr txBox="true"/>
          <p:nvPr/>
        </p:nvSpPr>
        <p:spPr>
          <a:xfrm rot="0">
            <a:off x="1428051" y="4080020"/>
            <a:ext cx="7825316" cy="42093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usuarios más experimentados, deben poseer atajos y aceleradores para poder realizar sus operaciones mas habituales. De esta forma, tiene alternativas para personalizar sus acciones frecuentes.</a:t>
            </a:r>
          </a:p>
          <a:p>
            <a:pPr algn="ctr">
              <a:lnSpc>
                <a:spcPts val="3715"/>
              </a:lnSpc>
            </a:pPr>
            <a:r>
              <a:rPr lang="en-US" sz="2653">
                <a:solidFill>
                  <a:srgbClr val="FFFFFF"/>
                </a:solidFill>
                <a:latin typeface="Poppins"/>
                <a:ea typeface="Poppins"/>
                <a:cs typeface="Poppins"/>
                <a:sym typeface="Poppins"/>
              </a:rPr>
              <a:t>La clave es la personalización tanto del contenido como de la funcionalidad para cada usuario.</a:t>
            </a:r>
          </a:p>
          <a:p>
            <a:pPr algn="ctr">
              <a:lnSpc>
                <a:spcPts val="3715"/>
              </a:lnSpc>
            </a:pP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Freeform 10" id="10"/>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869322" y="4527425"/>
            <a:ext cx="7933616" cy="4175066"/>
          </a:xfrm>
          <a:custGeom>
            <a:avLst/>
            <a:gdLst/>
            <a:ahLst/>
            <a:cxnLst/>
            <a:rect r="r" b="b" t="t" l="l"/>
            <a:pathLst>
              <a:path h="4175066" w="7933616">
                <a:moveTo>
                  <a:pt x="0" y="0"/>
                </a:moveTo>
                <a:lnTo>
                  <a:pt x="7933617" y="0"/>
                </a:lnTo>
                <a:lnTo>
                  <a:pt x="7933617" y="4175066"/>
                </a:lnTo>
                <a:lnTo>
                  <a:pt x="0" y="4175066"/>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ESTETICA Y DISEÑO MINIMALISTA</a:t>
            </a:r>
          </a:p>
        </p:txBody>
      </p:sp>
      <p:sp>
        <p:nvSpPr>
          <p:cNvPr name="TextBox 8" id="8"/>
          <p:cNvSpPr txBox="true"/>
          <p:nvPr/>
        </p:nvSpPr>
        <p:spPr>
          <a:xfrm rot="0">
            <a:off x="1428051" y="4451225"/>
            <a:ext cx="7825316" cy="42093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“diseño minimalista” no es solo una moda. Además, no se refiere exclusivamente a la estética flat, sino a no añadir más información de la estrictamente necesaria.</a:t>
            </a:r>
          </a:p>
          <a:p>
            <a:pPr algn="ctr">
              <a:lnSpc>
                <a:spcPts val="3715"/>
              </a:lnSpc>
            </a:pPr>
            <a:r>
              <a:rPr lang="en-US" sz="2653">
                <a:solidFill>
                  <a:srgbClr val="FFFFFF"/>
                </a:solidFill>
                <a:latin typeface="Poppins"/>
                <a:ea typeface="Poppins"/>
                <a:cs typeface="Poppins"/>
                <a:sym typeface="Poppins"/>
              </a:rPr>
              <a:t>Para lograrlo, pregúntate si toda la información que muestras en la interfaz es necesaria y útil en ese momento exacto. Si no lo es, ocúltala o quítala.</a:t>
            </a:r>
          </a:p>
          <a:p>
            <a:pPr algn="ctr">
              <a:lnSpc>
                <a:spcPts val="3715"/>
              </a:lnSpc>
            </a:pP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Freeform 10" id="10"/>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935125" y="4445837"/>
            <a:ext cx="6459509" cy="4812463"/>
          </a:xfrm>
          <a:custGeom>
            <a:avLst/>
            <a:gdLst/>
            <a:ahLst/>
            <a:cxnLst/>
            <a:rect r="r" b="b" t="t" l="l"/>
            <a:pathLst>
              <a:path h="4812463" w="6459509">
                <a:moveTo>
                  <a:pt x="0" y="0"/>
                </a:moveTo>
                <a:lnTo>
                  <a:pt x="6459509" y="0"/>
                </a:lnTo>
                <a:lnTo>
                  <a:pt x="6459509" y="4812463"/>
                </a:lnTo>
                <a:lnTo>
                  <a:pt x="0" y="4812463"/>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AYUDAR A LOS USUARIOS A RECONOCER</a:t>
            </a:r>
          </a:p>
        </p:txBody>
      </p:sp>
      <p:sp>
        <p:nvSpPr>
          <p:cNvPr name="TextBox 8" id="8"/>
          <p:cNvSpPr txBox="true"/>
          <p:nvPr/>
        </p:nvSpPr>
        <p:spPr>
          <a:xfrm rot="0">
            <a:off x="1318684" y="3776601"/>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mensajes de error deben expresarse en un lenguaje entendible, sin códigos de error. Se debe describir con precisión el problema y sugerir constructivamente una solución.</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TextBox 10" id="10"/>
          <p:cNvSpPr txBox="true"/>
          <p:nvPr/>
        </p:nvSpPr>
        <p:spPr>
          <a:xfrm rot="0">
            <a:off x="1428051" y="6529014"/>
            <a:ext cx="7825316" cy="32758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Permite que el usuario comprenda qué está pasando y cómo solucionarlo. Un mal ejemplo de cómo hacer esto es el clásico “se ha producido un error con el usuario o la contraseña”: es lo mismo que no decir nada, porque ni siquiera permite al usuario ver en qué se está equivocando.</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164081" y="4742469"/>
            <a:ext cx="6001598" cy="4238628"/>
          </a:xfrm>
          <a:custGeom>
            <a:avLst/>
            <a:gdLst/>
            <a:ahLst/>
            <a:cxnLst/>
            <a:rect r="r" b="b" t="t" l="l"/>
            <a:pathLst>
              <a:path h="4238628" w="6001598">
                <a:moveTo>
                  <a:pt x="0" y="0"/>
                </a:moveTo>
                <a:lnTo>
                  <a:pt x="6001597" y="0"/>
                </a:lnTo>
                <a:lnTo>
                  <a:pt x="6001597" y="4238628"/>
                </a:lnTo>
                <a:lnTo>
                  <a:pt x="0" y="4238628"/>
                </a:lnTo>
                <a:lnTo>
                  <a:pt x="0" y="0"/>
                </a:lnTo>
                <a:close/>
              </a:path>
            </a:pathLst>
          </a:custGeom>
          <a:blipFill>
            <a:blip r:embed="rId3"/>
            <a:stretch>
              <a:fillRect l="0" t="0" r="0" b="0"/>
            </a:stretch>
          </a:blipFill>
        </p:spPr>
      </p:sp>
      <p:sp>
        <p:nvSpPr>
          <p:cNvPr name="TextBox 7" id="7"/>
          <p:cNvSpPr txBox="true"/>
          <p:nvPr/>
        </p:nvSpPr>
        <p:spPr>
          <a:xfrm rot="0">
            <a:off x="4010530" y="1878351"/>
            <a:ext cx="9618910" cy="683037"/>
          </a:xfrm>
          <a:prstGeom prst="rect">
            <a:avLst/>
          </a:prstGeom>
        </p:spPr>
        <p:txBody>
          <a:bodyPr anchor="t" rtlCol="false" tIns="0" lIns="0" bIns="0" rIns="0">
            <a:spAutoFit/>
          </a:bodyPr>
          <a:lstStyle/>
          <a:p>
            <a:pPr algn="ctr">
              <a:lnSpc>
                <a:spcPts val="5611"/>
              </a:lnSpc>
              <a:spcBef>
                <a:spcPct val="0"/>
              </a:spcBef>
            </a:pPr>
            <a:r>
              <a:rPr lang="en-US" sz="4008">
                <a:solidFill>
                  <a:srgbClr val="957F3B"/>
                </a:solidFill>
                <a:latin typeface="HK Modular"/>
                <a:ea typeface="HK Modular"/>
                <a:cs typeface="HK Modular"/>
                <a:sym typeface="HK Modular"/>
              </a:rPr>
              <a:t>AYUDA Y DOCUMENTACION</a:t>
            </a:r>
          </a:p>
        </p:txBody>
      </p:sp>
      <p:sp>
        <p:nvSpPr>
          <p:cNvPr name="TextBox 8" id="8"/>
          <p:cNvSpPr txBox="true"/>
          <p:nvPr/>
        </p:nvSpPr>
        <p:spPr>
          <a:xfrm rot="0">
            <a:off x="1852484" y="3776601"/>
            <a:ext cx="7825316" cy="46760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 ideal es que un sistema no necesite ninguna explicación adicional. Pero en algunos casos, se debe proporcionar una documentación para ayudar a los usuarios a entender cómo completar sus tareas.</a:t>
            </a:r>
          </a:p>
          <a:p>
            <a:pPr algn="ctr">
              <a:lnSpc>
                <a:spcPts val="3715"/>
              </a:lnSpc>
            </a:pPr>
            <a:r>
              <a:rPr lang="en-US" sz="2653">
                <a:solidFill>
                  <a:srgbClr val="FFFFFF"/>
                </a:solidFill>
                <a:latin typeface="Poppins"/>
                <a:ea typeface="Poppins"/>
                <a:cs typeface="Poppins"/>
                <a:sym typeface="Poppins"/>
              </a:rPr>
              <a:t>El contenido de ayuda y documentación deben ser fáciles de encontrar y tener pasos definidos de manera concisa (es decir, corto no extenso).</a:t>
            </a:r>
          </a:p>
          <a:p>
            <a:pPr algn="ctr">
              <a:lnSpc>
                <a:spcPts val="3715"/>
              </a:lnSpc>
            </a:pP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99C5FF"/>
                </a:solidFill>
                <a:latin typeface="HK Modular"/>
                <a:ea typeface="HK Modular"/>
                <a:cs typeface="HK Modular"/>
                <a:sym typeface="HK Modular"/>
              </a:rPr>
              <a:t>EJEMPLO</a:t>
            </a:r>
          </a:p>
        </p:txBody>
      </p:sp>
      <p:sp>
        <p:nvSpPr>
          <p:cNvPr name="Freeform 10" id="10"/>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50895" y="2545217"/>
            <a:ext cx="7386210" cy="6656822"/>
          </a:xfrm>
          <a:custGeom>
            <a:avLst/>
            <a:gdLst/>
            <a:ahLst/>
            <a:cxnLst/>
            <a:rect r="r" b="b" t="t" l="l"/>
            <a:pathLst>
              <a:path h="6656822" w="7386210">
                <a:moveTo>
                  <a:pt x="0" y="0"/>
                </a:moveTo>
                <a:lnTo>
                  <a:pt x="7386210" y="0"/>
                </a:lnTo>
                <a:lnTo>
                  <a:pt x="7386210" y="6656822"/>
                </a:lnTo>
                <a:lnTo>
                  <a:pt x="0" y="6656822"/>
                </a:lnTo>
                <a:lnTo>
                  <a:pt x="0" y="0"/>
                </a:lnTo>
                <a:close/>
              </a:path>
            </a:pathLst>
          </a:custGeom>
          <a:blipFill>
            <a:blip r:embed="rId3"/>
            <a:stretch>
              <a:fillRect l="0" t="0" r="0" b="0"/>
            </a:stretch>
          </a:blipFill>
        </p:spPr>
      </p:sp>
      <p:sp>
        <p:nvSpPr>
          <p:cNvPr name="TextBox 7" id="7"/>
          <p:cNvSpPr txBox="true"/>
          <p:nvPr/>
        </p:nvSpPr>
        <p:spPr>
          <a:xfrm rot="0">
            <a:off x="0" y="1476544"/>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99C5FF"/>
                </a:solidFill>
                <a:latin typeface="HK Modular"/>
                <a:ea typeface="HK Modular"/>
                <a:cs typeface="HK Modular"/>
                <a:sym typeface="HK Modular"/>
              </a:rPr>
              <a:t>UX - UI</a:t>
            </a:r>
          </a:p>
        </p:txBody>
      </p:sp>
      <p:sp>
        <p:nvSpPr>
          <p:cNvPr name="TextBox 8" id="8"/>
          <p:cNvSpPr txBox="true"/>
          <p:nvPr/>
        </p:nvSpPr>
        <p:spPr>
          <a:xfrm rot="0">
            <a:off x="1028700" y="3444564"/>
            <a:ext cx="3333051" cy="219392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cómo se siente y funciona la interacción del usuario con el sistema</a:t>
            </a:r>
          </a:p>
        </p:txBody>
      </p:sp>
      <p:sp>
        <p:nvSpPr>
          <p:cNvPr name="TextBox 9" id="9"/>
          <p:cNvSpPr txBox="true"/>
          <p:nvPr/>
        </p:nvSpPr>
        <p:spPr>
          <a:xfrm rot="0">
            <a:off x="1028700" y="6945883"/>
            <a:ext cx="3333051" cy="1317625"/>
          </a:xfrm>
          <a:prstGeom prst="rect">
            <a:avLst/>
          </a:prstGeom>
        </p:spPr>
        <p:txBody>
          <a:bodyPr anchor="t" rtlCol="false" tIns="0" lIns="0" bIns="0" rIns="0">
            <a:spAutoFit/>
          </a:bodyPr>
          <a:lstStyle/>
          <a:p>
            <a:pPr algn="ctr">
              <a:lnSpc>
                <a:spcPts val="3499"/>
              </a:lnSpc>
            </a:pPr>
            <a:r>
              <a:rPr lang="en-US" sz="2499">
                <a:solidFill>
                  <a:srgbClr val="957F3B"/>
                </a:solidFill>
                <a:latin typeface="Poppins"/>
                <a:ea typeface="Poppins"/>
                <a:cs typeface="Poppins"/>
                <a:sym typeface="Poppins"/>
              </a:rPr>
              <a:t>¿Es fácil, útil y agradable usar el sistema?</a:t>
            </a:r>
          </a:p>
        </p:txBody>
      </p:sp>
      <p:sp>
        <p:nvSpPr>
          <p:cNvPr name="TextBox 10" id="10"/>
          <p:cNvSpPr txBox="true"/>
          <p:nvPr/>
        </p:nvSpPr>
        <p:spPr>
          <a:xfrm rot="0">
            <a:off x="13926249" y="3917062"/>
            <a:ext cx="3333051" cy="1218566"/>
          </a:xfrm>
          <a:prstGeom prst="rect">
            <a:avLst/>
          </a:prstGeom>
        </p:spPr>
        <p:txBody>
          <a:bodyPr anchor="t" rtlCol="false" tIns="0" lIns="0" bIns="0" rIns="0">
            <a:spAutoFit/>
          </a:bodyPr>
          <a:lstStyle/>
          <a:p>
            <a:pPr algn="ctr">
              <a:lnSpc>
                <a:spcPts val="4759"/>
              </a:lnSpc>
            </a:pPr>
            <a:r>
              <a:rPr lang="en-US" sz="3399">
                <a:solidFill>
                  <a:srgbClr val="FFFFFF"/>
                </a:solidFill>
                <a:latin typeface="Poppins"/>
                <a:ea typeface="Poppins"/>
                <a:cs typeface="Poppins"/>
                <a:sym typeface="Poppins"/>
              </a:rPr>
              <a:t>cómo se ve el sistema</a:t>
            </a:r>
          </a:p>
        </p:txBody>
      </p:sp>
      <p:sp>
        <p:nvSpPr>
          <p:cNvPr name="TextBox 11" id="11"/>
          <p:cNvSpPr txBox="true"/>
          <p:nvPr/>
        </p:nvSpPr>
        <p:spPr>
          <a:xfrm rot="0">
            <a:off x="13926848" y="6812811"/>
            <a:ext cx="3333051" cy="1317625"/>
          </a:xfrm>
          <a:prstGeom prst="rect">
            <a:avLst/>
          </a:prstGeom>
        </p:spPr>
        <p:txBody>
          <a:bodyPr anchor="t" rtlCol="false" tIns="0" lIns="0" bIns="0" rIns="0">
            <a:spAutoFit/>
          </a:bodyPr>
          <a:lstStyle/>
          <a:p>
            <a:pPr algn="ctr">
              <a:lnSpc>
                <a:spcPts val="3499"/>
              </a:lnSpc>
            </a:pPr>
            <a:r>
              <a:rPr lang="en-US" sz="2499">
                <a:solidFill>
                  <a:srgbClr val="957F3B"/>
                </a:solidFill>
                <a:latin typeface="Poppins"/>
                <a:ea typeface="Poppins"/>
                <a:cs typeface="Poppins"/>
                <a:sym typeface="Poppins"/>
              </a:rPr>
              <a:t>¿La interfaz es clara y visualmente consistente?</a:t>
            </a:r>
          </a:p>
        </p:txBody>
      </p:sp>
      <p:sp>
        <p:nvSpPr>
          <p:cNvPr name="TextBox 12" id="12"/>
          <p:cNvSpPr txBox="true"/>
          <p:nvPr/>
        </p:nvSpPr>
        <p:spPr>
          <a:xfrm rot="0">
            <a:off x="4709084" y="9372600"/>
            <a:ext cx="8869833" cy="509906"/>
          </a:xfrm>
          <a:prstGeom prst="rect">
            <a:avLst/>
          </a:prstGeom>
        </p:spPr>
        <p:txBody>
          <a:bodyPr anchor="t" rtlCol="false" tIns="0" lIns="0" bIns="0" rIns="0">
            <a:spAutoFit/>
          </a:bodyPr>
          <a:lstStyle/>
          <a:p>
            <a:pPr algn="ctr">
              <a:lnSpc>
                <a:spcPts val="3919"/>
              </a:lnSpc>
            </a:pPr>
            <a:r>
              <a:rPr lang="en-US" sz="2799" i="true">
                <a:solidFill>
                  <a:srgbClr val="99C5FF"/>
                </a:solidFill>
                <a:latin typeface="Poppins Italics"/>
                <a:ea typeface="Poppins Italics"/>
                <a:cs typeface="Poppins Italics"/>
                <a:sym typeface="Poppins Italics"/>
              </a:rPr>
              <a:t>UX decide el camino, UI pinta el camino.</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172776" y="691398"/>
            <a:ext cx="3349361" cy="8353935"/>
          </a:xfrm>
          <a:custGeom>
            <a:avLst/>
            <a:gdLst/>
            <a:ahLst/>
            <a:cxnLst/>
            <a:rect r="r" b="b" t="t" l="l"/>
            <a:pathLst>
              <a:path h="8353935" w="3349361">
                <a:moveTo>
                  <a:pt x="0" y="0"/>
                </a:moveTo>
                <a:lnTo>
                  <a:pt x="3349361" y="0"/>
                </a:lnTo>
                <a:lnTo>
                  <a:pt x="3349361" y="8353935"/>
                </a:lnTo>
                <a:lnTo>
                  <a:pt x="0" y="8353935"/>
                </a:lnTo>
                <a:lnTo>
                  <a:pt x="0" y="0"/>
                </a:lnTo>
                <a:close/>
              </a:path>
            </a:pathLst>
          </a:custGeom>
          <a:blipFill>
            <a:blip r:embed="rId3"/>
            <a:stretch>
              <a:fillRect l="0" t="0" r="-184528" b="-2098"/>
            </a:stretch>
          </a:blipFill>
        </p:spPr>
      </p:sp>
      <p:sp>
        <p:nvSpPr>
          <p:cNvPr name="Freeform 7" id="7"/>
          <p:cNvSpPr/>
          <p:nvPr/>
        </p:nvSpPr>
        <p:spPr>
          <a:xfrm flipH="false" flipV="false" rot="0">
            <a:off x="7857581" y="691398"/>
            <a:ext cx="2949952" cy="8352096"/>
          </a:xfrm>
          <a:custGeom>
            <a:avLst/>
            <a:gdLst/>
            <a:ahLst/>
            <a:cxnLst/>
            <a:rect r="r" b="b" t="t" l="l"/>
            <a:pathLst>
              <a:path h="8352096" w="2949952">
                <a:moveTo>
                  <a:pt x="0" y="0"/>
                </a:moveTo>
                <a:lnTo>
                  <a:pt x="2949951" y="0"/>
                </a:lnTo>
                <a:lnTo>
                  <a:pt x="2949951" y="8352097"/>
                </a:lnTo>
                <a:lnTo>
                  <a:pt x="0" y="8352097"/>
                </a:lnTo>
                <a:lnTo>
                  <a:pt x="0" y="0"/>
                </a:lnTo>
                <a:close/>
              </a:path>
            </a:pathLst>
          </a:custGeom>
          <a:blipFill>
            <a:blip r:embed="rId4"/>
            <a:stretch>
              <a:fillRect l="-109337" t="0" r="-107352" b="-109"/>
            </a:stretch>
          </a:blipFill>
        </p:spPr>
      </p:sp>
      <p:sp>
        <p:nvSpPr>
          <p:cNvPr name="Freeform 8" id="8"/>
          <p:cNvSpPr/>
          <p:nvPr/>
        </p:nvSpPr>
        <p:spPr>
          <a:xfrm flipH="false" flipV="false" rot="0">
            <a:off x="12366303" y="691398"/>
            <a:ext cx="3147373" cy="8352096"/>
          </a:xfrm>
          <a:custGeom>
            <a:avLst/>
            <a:gdLst/>
            <a:ahLst/>
            <a:cxnLst/>
            <a:rect r="r" b="b" t="t" l="l"/>
            <a:pathLst>
              <a:path h="8352096" w="3147373">
                <a:moveTo>
                  <a:pt x="0" y="0"/>
                </a:moveTo>
                <a:lnTo>
                  <a:pt x="3147374" y="0"/>
                </a:lnTo>
                <a:lnTo>
                  <a:pt x="3147374" y="8352097"/>
                </a:lnTo>
                <a:lnTo>
                  <a:pt x="0" y="8352097"/>
                </a:lnTo>
                <a:lnTo>
                  <a:pt x="0" y="0"/>
                </a:lnTo>
                <a:close/>
              </a:path>
            </a:pathLst>
          </a:custGeom>
          <a:blipFill>
            <a:blip r:embed="rId5"/>
            <a:stretch>
              <a:fillRect l="-196499"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086600" y="299100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703868" y="7800237"/>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957F3B"/>
                </a:solidFill>
                <a:latin typeface="HK Modular"/>
                <a:ea typeface="HK Modular"/>
                <a:cs typeface="HK Modular"/>
                <a:sym typeface="HK Modular"/>
              </a:rPr>
              <a:t>LEYES DE UX</a:t>
            </a:r>
          </a:p>
        </p:txBody>
      </p:sp>
      <p:sp>
        <p:nvSpPr>
          <p:cNvPr name="Freeform 8" id="8"/>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5"/>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483542" y="6609003"/>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957F3B"/>
                </a:solidFill>
                <a:latin typeface="HK Modular"/>
                <a:ea typeface="HK Modular"/>
                <a:cs typeface="HK Modular"/>
                <a:sym typeface="HK Modular"/>
              </a:rPr>
              <a:t>LEYES DE UX</a:t>
            </a:r>
          </a:p>
        </p:txBody>
      </p:sp>
      <p:sp>
        <p:nvSpPr>
          <p:cNvPr name="TextBox 7" id="7"/>
          <p:cNvSpPr txBox="true"/>
          <p:nvPr/>
        </p:nvSpPr>
        <p:spPr>
          <a:xfrm rot="0">
            <a:off x="3877234" y="7820076"/>
            <a:ext cx="10092880" cy="1823747"/>
          </a:xfrm>
          <a:prstGeom prst="rect">
            <a:avLst/>
          </a:prstGeom>
        </p:spPr>
        <p:txBody>
          <a:bodyPr anchor="t" rtlCol="false" tIns="0" lIns="0" bIns="0" rIns="0">
            <a:spAutoFit/>
          </a:bodyPr>
          <a:lstStyle/>
          <a:p>
            <a:pPr algn="ctr">
              <a:lnSpc>
                <a:spcPts val="4791"/>
              </a:lnSpc>
            </a:pPr>
            <a:r>
              <a:rPr lang="en-US" sz="3422">
                <a:solidFill>
                  <a:srgbClr val="FFFFFF"/>
                </a:solidFill>
                <a:latin typeface="Poppins"/>
                <a:ea typeface="Poppins"/>
                <a:cs typeface="Poppins"/>
                <a:sym typeface="Poppins"/>
              </a:rPr>
              <a:t>Son una coleccion de mejores practicas que los diseñadores pueden considerar al crear interfaces de usuario</a:t>
            </a:r>
          </a:p>
        </p:txBody>
      </p:sp>
      <p:sp>
        <p:nvSpPr>
          <p:cNvPr name="TextBox 8" id="8"/>
          <p:cNvSpPr txBox="true"/>
          <p:nvPr/>
        </p:nvSpPr>
        <p:spPr>
          <a:xfrm rot="0">
            <a:off x="3703868" y="1691429"/>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957F3B"/>
                </a:solidFill>
                <a:latin typeface="HK Modular"/>
                <a:ea typeface="HK Modular"/>
                <a:cs typeface="HK Modular"/>
                <a:sym typeface="HK Modular"/>
              </a:rPr>
              <a:t>QUE ES UX ?</a:t>
            </a:r>
          </a:p>
        </p:txBody>
      </p:sp>
      <p:sp>
        <p:nvSpPr>
          <p:cNvPr name="TextBox 9" id="9"/>
          <p:cNvSpPr txBox="true"/>
          <p:nvPr/>
        </p:nvSpPr>
        <p:spPr>
          <a:xfrm rot="0">
            <a:off x="1971107" y="3084353"/>
            <a:ext cx="14837774" cy="3027685"/>
          </a:xfrm>
          <a:prstGeom prst="rect">
            <a:avLst/>
          </a:prstGeom>
        </p:spPr>
        <p:txBody>
          <a:bodyPr anchor="t" rtlCol="false" tIns="0" lIns="0" bIns="0" rIns="0">
            <a:spAutoFit/>
          </a:bodyPr>
          <a:lstStyle/>
          <a:p>
            <a:pPr algn="ctr">
              <a:lnSpc>
                <a:spcPts val="4791"/>
              </a:lnSpc>
            </a:pPr>
            <a:r>
              <a:rPr lang="en-US" sz="3422">
                <a:solidFill>
                  <a:srgbClr val="FFFFFF"/>
                </a:solidFill>
                <a:latin typeface="Poppins"/>
                <a:ea typeface="Poppins"/>
                <a:cs typeface="Poppins"/>
                <a:sym typeface="Poppins"/>
              </a:rPr>
              <a:t>User Experience o Experiencia de usuario, se refiere a la experiencia general que tiene una persona al interactuar con un producto, sistema o servicio, su objetivo es diseñar interacciones intuitivas, eficientes, accesibles y satisfactorias centrandose en la funcionalidad</a:t>
            </a:r>
          </a:p>
        </p:txBody>
      </p:sp>
      <p:sp>
        <p:nvSpPr>
          <p:cNvPr name="Freeform 10" id="10"/>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42000" y="4409833"/>
            <a:ext cx="4006921" cy="5019346"/>
          </a:xfrm>
          <a:custGeom>
            <a:avLst/>
            <a:gdLst/>
            <a:ahLst/>
            <a:cxnLst/>
            <a:rect r="r" b="b" t="t" l="l"/>
            <a:pathLst>
              <a:path h="5019346" w="4006921">
                <a:moveTo>
                  <a:pt x="0" y="0"/>
                </a:moveTo>
                <a:lnTo>
                  <a:pt x="4006921" y="0"/>
                </a:lnTo>
                <a:lnTo>
                  <a:pt x="4006921" y="5019346"/>
                </a:lnTo>
                <a:lnTo>
                  <a:pt x="0" y="5019346"/>
                </a:lnTo>
                <a:lnTo>
                  <a:pt x="0" y="0"/>
                </a:lnTo>
                <a:close/>
              </a:path>
            </a:pathLst>
          </a:custGeom>
          <a:blipFill>
            <a:blip r:embed="rId3"/>
            <a:stretch>
              <a:fillRect l="0" t="0" r="0" b="0"/>
            </a:stretch>
          </a:blipFill>
        </p:spPr>
      </p:sp>
      <p:sp>
        <p:nvSpPr>
          <p:cNvPr name="Freeform 7" id="7"/>
          <p:cNvSpPr/>
          <p:nvPr/>
        </p:nvSpPr>
        <p:spPr>
          <a:xfrm flipH="false" flipV="false" rot="0">
            <a:off x="7489509" y="4563365"/>
            <a:ext cx="3527715" cy="4865814"/>
          </a:xfrm>
          <a:custGeom>
            <a:avLst/>
            <a:gdLst/>
            <a:ahLst/>
            <a:cxnLst/>
            <a:rect r="r" b="b" t="t" l="l"/>
            <a:pathLst>
              <a:path h="4865814" w="3527715">
                <a:moveTo>
                  <a:pt x="0" y="0"/>
                </a:moveTo>
                <a:lnTo>
                  <a:pt x="3527716" y="0"/>
                </a:lnTo>
                <a:lnTo>
                  <a:pt x="3527716" y="4865814"/>
                </a:lnTo>
                <a:lnTo>
                  <a:pt x="0" y="4865814"/>
                </a:lnTo>
                <a:lnTo>
                  <a:pt x="0" y="0"/>
                </a:lnTo>
                <a:close/>
              </a:path>
            </a:pathLst>
          </a:custGeom>
          <a:blipFill>
            <a:blip r:embed="rId4"/>
            <a:stretch>
              <a:fillRect l="0" t="0" r="0" b="0"/>
            </a:stretch>
          </a:blipFill>
        </p:spPr>
      </p:sp>
      <p:sp>
        <p:nvSpPr>
          <p:cNvPr name="Freeform 8" id="8"/>
          <p:cNvSpPr/>
          <p:nvPr/>
        </p:nvSpPr>
        <p:spPr>
          <a:xfrm flipH="false" flipV="false" rot="0">
            <a:off x="12360250" y="4563365"/>
            <a:ext cx="3648482" cy="4837635"/>
          </a:xfrm>
          <a:custGeom>
            <a:avLst/>
            <a:gdLst/>
            <a:ahLst/>
            <a:cxnLst/>
            <a:rect r="r" b="b" t="t" l="l"/>
            <a:pathLst>
              <a:path h="4837635" w="3648482">
                <a:moveTo>
                  <a:pt x="0" y="0"/>
                </a:moveTo>
                <a:lnTo>
                  <a:pt x="3648482" y="0"/>
                </a:lnTo>
                <a:lnTo>
                  <a:pt x="3648482" y="4837635"/>
                </a:lnTo>
                <a:lnTo>
                  <a:pt x="0" y="4837635"/>
                </a:lnTo>
                <a:lnTo>
                  <a:pt x="0" y="0"/>
                </a:lnTo>
                <a:close/>
              </a:path>
            </a:pathLst>
          </a:custGeom>
          <a:blipFill>
            <a:blip r:embed="rId5"/>
            <a:stretch>
              <a:fillRect l="0" t="0" r="-2560" b="-582"/>
            </a:stretch>
          </a:blipFill>
        </p:spPr>
      </p:sp>
      <p:sp>
        <p:nvSpPr>
          <p:cNvPr name="TextBox 9" id="9"/>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99C5FF"/>
                </a:solidFill>
                <a:latin typeface="HK Modular"/>
                <a:ea typeface="HK Modular"/>
                <a:cs typeface="HK Modular"/>
                <a:sym typeface="HK Modular"/>
              </a:rPr>
              <a:t>LEYES UX</a:t>
            </a:r>
          </a:p>
        </p:txBody>
      </p:sp>
      <p:sp>
        <p:nvSpPr>
          <p:cNvPr name="TextBox 10" id="10"/>
          <p:cNvSpPr txBox="true"/>
          <p:nvPr/>
        </p:nvSpPr>
        <p:spPr>
          <a:xfrm rot="0">
            <a:off x="1539301" y="3054107"/>
            <a:ext cx="15209398" cy="8794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Son una coleccion de mejores prácticas que los diseñadores pueden considerar al crear interfaces de usuario</a:t>
            </a:r>
          </a:p>
        </p:txBody>
      </p:sp>
      <p:sp>
        <p:nvSpPr>
          <p:cNvPr name="Freeform 11" id="11"/>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6"/>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71933" y="4563365"/>
            <a:ext cx="4244324" cy="4865814"/>
          </a:xfrm>
          <a:custGeom>
            <a:avLst/>
            <a:gdLst/>
            <a:ahLst/>
            <a:cxnLst/>
            <a:rect r="r" b="b" t="t" l="l"/>
            <a:pathLst>
              <a:path h="4865814" w="4244324">
                <a:moveTo>
                  <a:pt x="0" y="0"/>
                </a:moveTo>
                <a:lnTo>
                  <a:pt x="4244324" y="0"/>
                </a:lnTo>
                <a:lnTo>
                  <a:pt x="4244324" y="4865814"/>
                </a:lnTo>
                <a:lnTo>
                  <a:pt x="0" y="4865814"/>
                </a:lnTo>
                <a:lnTo>
                  <a:pt x="0" y="0"/>
                </a:lnTo>
                <a:close/>
              </a:path>
            </a:pathLst>
          </a:custGeom>
          <a:blipFill>
            <a:blip r:embed="rId3"/>
            <a:stretch>
              <a:fillRect l="0" t="0" r="0" b="0"/>
            </a:stretch>
          </a:blipFill>
        </p:spPr>
      </p:sp>
      <p:sp>
        <p:nvSpPr>
          <p:cNvPr name="Freeform 7" id="7"/>
          <p:cNvSpPr/>
          <p:nvPr/>
        </p:nvSpPr>
        <p:spPr>
          <a:xfrm flipH="false" flipV="false" rot="0">
            <a:off x="7255006" y="4563365"/>
            <a:ext cx="3777989" cy="4865814"/>
          </a:xfrm>
          <a:custGeom>
            <a:avLst/>
            <a:gdLst/>
            <a:ahLst/>
            <a:cxnLst/>
            <a:rect r="r" b="b" t="t" l="l"/>
            <a:pathLst>
              <a:path h="4865814" w="3777989">
                <a:moveTo>
                  <a:pt x="0" y="0"/>
                </a:moveTo>
                <a:lnTo>
                  <a:pt x="3777988" y="0"/>
                </a:lnTo>
                <a:lnTo>
                  <a:pt x="3777988" y="4865814"/>
                </a:lnTo>
                <a:lnTo>
                  <a:pt x="0" y="4865814"/>
                </a:lnTo>
                <a:lnTo>
                  <a:pt x="0" y="0"/>
                </a:lnTo>
                <a:close/>
              </a:path>
            </a:pathLst>
          </a:custGeom>
          <a:blipFill>
            <a:blip r:embed="rId4"/>
            <a:stretch>
              <a:fillRect l="0" t="0" r="0" b="0"/>
            </a:stretch>
          </a:blipFill>
        </p:spPr>
      </p:sp>
      <p:sp>
        <p:nvSpPr>
          <p:cNvPr name="Freeform 8" id="8"/>
          <p:cNvSpPr/>
          <p:nvPr/>
        </p:nvSpPr>
        <p:spPr>
          <a:xfrm flipH="false" flipV="false" rot="0">
            <a:off x="12236667" y="4563365"/>
            <a:ext cx="4029284" cy="4865814"/>
          </a:xfrm>
          <a:custGeom>
            <a:avLst/>
            <a:gdLst/>
            <a:ahLst/>
            <a:cxnLst/>
            <a:rect r="r" b="b" t="t" l="l"/>
            <a:pathLst>
              <a:path h="4865814" w="4029284">
                <a:moveTo>
                  <a:pt x="0" y="0"/>
                </a:moveTo>
                <a:lnTo>
                  <a:pt x="4029285" y="0"/>
                </a:lnTo>
                <a:lnTo>
                  <a:pt x="4029285" y="4865814"/>
                </a:lnTo>
                <a:lnTo>
                  <a:pt x="0" y="4865814"/>
                </a:lnTo>
                <a:lnTo>
                  <a:pt x="0" y="0"/>
                </a:lnTo>
                <a:close/>
              </a:path>
            </a:pathLst>
          </a:custGeom>
          <a:blipFill>
            <a:blip r:embed="rId5"/>
            <a:stretch>
              <a:fillRect l="0" t="0" r="0" b="0"/>
            </a:stretch>
          </a:blipFill>
        </p:spPr>
      </p:sp>
      <p:sp>
        <p:nvSpPr>
          <p:cNvPr name="TextBox 9" id="9"/>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FA260"/>
                </a:solidFill>
                <a:latin typeface="HK Modular"/>
                <a:ea typeface="HK Modular"/>
                <a:cs typeface="HK Modular"/>
                <a:sym typeface="HK Modular"/>
              </a:rPr>
              <a:t>LEYES UX</a:t>
            </a:r>
          </a:p>
        </p:txBody>
      </p:sp>
      <p:sp>
        <p:nvSpPr>
          <p:cNvPr name="TextBox 10" id="10"/>
          <p:cNvSpPr txBox="true"/>
          <p:nvPr/>
        </p:nvSpPr>
        <p:spPr>
          <a:xfrm rot="0">
            <a:off x="1539301" y="3054107"/>
            <a:ext cx="15209398" cy="8794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Son una coleccion de mejores prácticas que los diseñadores pueden considerar al crear interfaces de usuario</a:t>
            </a:r>
          </a:p>
        </p:txBody>
      </p:sp>
      <p:sp>
        <p:nvSpPr>
          <p:cNvPr name="Freeform 11" id="11"/>
          <p:cNvSpPr/>
          <p:nvPr/>
        </p:nvSpPr>
        <p:spPr>
          <a:xfrm flipH="false" flipV="false" rot="0">
            <a:off x="8104363" y="-367644"/>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6"/>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REGLAS DE NEGOCIO</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REGLAS DE NEGOCIO</a:t>
            </a:r>
          </a:p>
        </p:txBody>
      </p:sp>
      <p:sp>
        <p:nvSpPr>
          <p:cNvPr name="Freeform 7" id="7"/>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8" id="8"/>
          <p:cNvSpPr txBox="true"/>
          <p:nvPr/>
        </p:nvSpPr>
        <p:spPr>
          <a:xfrm rot="0">
            <a:off x="5160253" y="2877530"/>
            <a:ext cx="8846847" cy="915036"/>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Identificar relaciones entre requerimientos</a:t>
            </a:r>
          </a:p>
          <a:p>
            <a:pPr algn="ctr">
              <a:lnSpc>
                <a:spcPts val="3639"/>
              </a:lnSpc>
              <a:spcBef>
                <a:spcPct val="0"/>
              </a:spcBef>
            </a:pPr>
          </a:p>
        </p:txBody>
      </p:sp>
      <p:grpSp>
        <p:nvGrpSpPr>
          <p:cNvPr name="Group 9" id="9"/>
          <p:cNvGrpSpPr/>
          <p:nvPr/>
        </p:nvGrpSpPr>
        <p:grpSpPr>
          <a:xfrm rot="0">
            <a:off x="4656018" y="2775130"/>
            <a:ext cx="840973" cy="840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7F3B"/>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6</a:t>
              </a:r>
            </a:p>
          </p:txBody>
        </p:sp>
      </p:grpSp>
      <p:sp>
        <p:nvSpPr>
          <p:cNvPr name="TextBox 12" id="12"/>
          <p:cNvSpPr txBox="true"/>
          <p:nvPr/>
        </p:nvSpPr>
        <p:spPr>
          <a:xfrm rot="0">
            <a:off x="1793920" y="3894541"/>
            <a:ext cx="5252132" cy="424815"/>
          </a:xfrm>
          <a:prstGeom prst="rect">
            <a:avLst/>
          </a:prstGeom>
        </p:spPr>
        <p:txBody>
          <a:bodyPr anchor="t" rtlCol="false" tIns="0" lIns="0" bIns="0" rIns="0">
            <a:spAutoFit/>
          </a:bodyPr>
          <a:lstStyle/>
          <a:p>
            <a:pPr algn="l" marL="518157" indent="-259078" lvl="1">
              <a:lnSpc>
                <a:spcPts val="3359"/>
              </a:lnSpc>
              <a:buFont typeface="Arial"/>
              <a:buChar char="•"/>
            </a:pPr>
            <a:r>
              <a:rPr lang="en-US" b="true" sz="2399">
                <a:solidFill>
                  <a:srgbClr val="FFFFFF"/>
                </a:solidFill>
                <a:latin typeface="Poppins Bold"/>
                <a:ea typeface="Poppins Bold"/>
                <a:cs typeface="Poppins Bold"/>
                <a:sym typeface="Poppins Bold"/>
              </a:rPr>
              <a:t>Ambigüedades</a:t>
            </a:r>
          </a:p>
        </p:txBody>
      </p:sp>
      <p:sp>
        <p:nvSpPr>
          <p:cNvPr name="TextBox 13" id="13"/>
          <p:cNvSpPr txBox="true"/>
          <p:nvPr/>
        </p:nvSpPr>
        <p:spPr>
          <a:xfrm rot="0">
            <a:off x="2944411" y="4863465"/>
            <a:ext cx="3433620" cy="1436371"/>
          </a:xfrm>
          <a:prstGeom prst="rect">
            <a:avLst/>
          </a:prstGeom>
        </p:spPr>
        <p:txBody>
          <a:bodyPr anchor="t" rtlCol="false" tIns="0" lIns="0" bIns="0" rIns="0">
            <a:spAutoFit/>
          </a:bodyPr>
          <a:lstStyle/>
          <a:p>
            <a:pPr algn="ctr">
              <a:lnSpc>
                <a:spcPts val="3779"/>
              </a:lnSpc>
            </a:pPr>
            <a:r>
              <a:rPr lang="en-US" sz="2699">
                <a:solidFill>
                  <a:srgbClr val="FFFFFF"/>
                </a:solidFill>
                <a:latin typeface="Poppins"/>
                <a:ea typeface="Poppins"/>
                <a:cs typeface="Poppins"/>
                <a:sym typeface="Poppins"/>
              </a:rPr>
              <a:t>El requerimiento debe tener una sola interpretación.</a:t>
            </a:r>
          </a:p>
        </p:txBody>
      </p:sp>
      <p:sp>
        <p:nvSpPr>
          <p:cNvPr name="TextBox 14" id="14"/>
          <p:cNvSpPr txBox="true"/>
          <p:nvPr/>
        </p:nvSpPr>
        <p:spPr>
          <a:xfrm rot="0">
            <a:off x="9004579" y="3894541"/>
            <a:ext cx="5252132" cy="424815"/>
          </a:xfrm>
          <a:prstGeom prst="rect">
            <a:avLst/>
          </a:prstGeom>
        </p:spPr>
        <p:txBody>
          <a:bodyPr anchor="t" rtlCol="false" tIns="0" lIns="0" bIns="0" rIns="0">
            <a:spAutoFit/>
          </a:bodyPr>
          <a:lstStyle/>
          <a:p>
            <a:pPr algn="l" marL="518157" indent="-259078" lvl="1">
              <a:lnSpc>
                <a:spcPts val="3359"/>
              </a:lnSpc>
              <a:buFont typeface="Arial"/>
              <a:buChar char="•"/>
            </a:pPr>
            <a:r>
              <a:rPr lang="en-US" b="true" sz="2399">
                <a:solidFill>
                  <a:srgbClr val="FFFFFF"/>
                </a:solidFill>
                <a:latin typeface="Poppins Bold"/>
                <a:ea typeface="Poppins Bold"/>
                <a:cs typeface="Poppins Bold"/>
                <a:sym typeface="Poppins Bold"/>
              </a:rPr>
              <a:t>Contradicción</a:t>
            </a:r>
          </a:p>
        </p:txBody>
      </p:sp>
      <p:sp>
        <p:nvSpPr>
          <p:cNvPr name="TextBox 15" id="15"/>
          <p:cNvSpPr txBox="true"/>
          <p:nvPr/>
        </p:nvSpPr>
        <p:spPr>
          <a:xfrm rot="0">
            <a:off x="9494296" y="4863465"/>
            <a:ext cx="6857627" cy="960121"/>
          </a:xfrm>
          <a:prstGeom prst="rect">
            <a:avLst/>
          </a:prstGeom>
        </p:spPr>
        <p:txBody>
          <a:bodyPr anchor="t" rtlCol="false" tIns="0" lIns="0" bIns="0" rIns="0">
            <a:spAutoFit/>
          </a:bodyPr>
          <a:lstStyle/>
          <a:p>
            <a:pPr algn="ctr">
              <a:lnSpc>
                <a:spcPts val="3779"/>
              </a:lnSpc>
            </a:pPr>
            <a:r>
              <a:rPr lang="en-US" sz="2699">
                <a:solidFill>
                  <a:srgbClr val="FFFFFF"/>
                </a:solidFill>
                <a:latin typeface="Poppins"/>
                <a:ea typeface="Poppins"/>
                <a:cs typeface="Poppins"/>
                <a:sym typeface="Poppins"/>
              </a:rPr>
              <a:t>Revisar si existe algún requerimiento que ponga en duda otro.</a:t>
            </a:r>
          </a:p>
        </p:txBody>
      </p:sp>
      <p:sp>
        <p:nvSpPr>
          <p:cNvPr name="TextBox 16" id="16"/>
          <p:cNvSpPr txBox="true"/>
          <p:nvPr/>
        </p:nvSpPr>
        <p:spPr>
          <a:xfrm rot="0">
            <a:off x="1640810" y="7091454"/>
            <a:ext cx="6040821" cy="1473290"/>
          </a:xfrm>
          <a:prstGeom prst="rect">
            <a:avLst/>
          </a:prstGeom>
        </p:spPr>
        <p:txBody>
          <a:bodyPr anchor="t" rtlCol="false" tIns="0" lIns="0" bIns="0" rIns="0">
            <a:spAutoFit/>
          </a:bodyPr>
          <a:lstStyle/>
          <a:p>
            <a:pPr algn="ctr">
              <a:lnSpc>
                <a:spcPts val="3845"/>
              </a:lnSpc>
            </a:pPr>
            <a:r>
              <a:rPr lang="en-US" sz="2746">
                <a:solidFill>
                  <a:srgbClr val="FFFFFF"/>
                </a:solidFill>
                <a:latin typeface="Poppins"/>
                <a:ea typeface="Poppins"/>
                <a:cs typeface="Poppins"/>
                <a:sym typeface="Poppins"/>
              </a:rPr>
              <a:t>Ejemplo: </a:t>
            </a:r>
            <a:r>
              <a:rPr lang="en-US" b="true" sz="2746">
                <a:solidFill>
                  <a:srgbClr val="FFFFFF"/>
                </a:solidFill>
                <a:latin typeface="Poppins Bold"/>
                <a:ea typeface="Poppins Bold"/>
                <a:cs typeface="Poppins Bold"/>
                <a:sym typeface="Poppins Bold"/>
              </a:rPr>
              <a:t>Ajustar</a:t>
            </a:r>
            <a:r>
              <a:rPr lang="en-US" sz="2746">
                <a:solidFill>
                  <a:srgbClr val="FFFFFF"/>
                </a:solidFill>
                <a:latin typeface="Poppins"/>
                <a:ea typeface="Poppins"/>
                <a:cs typeface="Poppins"/>
                <a:sym typeface="Poppins"/>
              </a:rPr>
              <a:t> el tipo de letra en el botón Validar del formulario de inscripción del aspirante.</a:t>
            </a:r>
          </a:p>
        </p:txBody>
      </p:sp>
      <p:sp>
        <p:nvSpPr>
          <p:cNvPr name="TextBox 17" id="17"/>
          <p:cNvSpPr txBox="true"/>
          <p:nvPr/>
        </p:nvSpPr>
        <p:spPr>
          <a:xfrm rot="0">
            <a:off x="9144000" y="6356985"/>
            <a:ext cx="8115300" cy="2930615"/>
          </a:xfrm>
          <a:prstGeom prst="rect">
            <a:avLst/>
          </a:prstGeom>
        </p:spPr>
        <p:txBody>
          <a:bodyPr anchor="t" rtlCol="false" tIns="0" lIns="0" bIns="0" rIns="0">
            <a:spAutoFit/>
          </a:bodyPr>
          <a:lstStyle/>
          <a:p>
            <a:pPr algn="l">
              <a:lnSpc>
                <a:spcPts val="3845"/>
              </a:lnSpc>
            </a:pPr>
            <a:r>
              <a:rPr lang="en-US" sz="2746">
                <a:solidFill>
                  <a:srgbClr val="FFFFFF"/>
                </a:solidFill>
                <a:latin typeface="Poppins"/>
                <a:ea typeface="Poppins"/>
                <a:cs typeface="Poppins"/>
                <a:sym typeface="Poppins"/>
              </a:rPr>
              <a:t>Ejemplo: </a:t>
            </a:r>
          </a:p>
          <a:p>
            <a:pPr algn="l">
              <a:lnSpc>
                <a:spcPts val="3845"/>
              </a:lnSpc>
            </a:pPr>
          </a:p>
          <a:p>
            <a:pPr algn="l" marL="592961" indent="-296481" lvl="1">
              <a:lnSpc>
                <a:spcPts val="3845"/>
              </a:lnSpc>
              <a:buFont typeface="Arial"/>
              <a:buChar char="•"/>
            </a:pPr>
            <a:r>
              <a:rPr lang="en-US" sz="2746">
                <a:solidFill>
                  <a:srgbClr val="FFFFFF"/>
                </a:solidFill>
                <a:latin typeface="Poppins"/>
                <a:ea typeface="Poppins"/>
                <a:cs typeface="Poppins"/>
                <a:sym typeface="Poppins"/>
              </a:rPr>
              <a:t>La ECI debe tener un sistema de diseño (colores).</a:t>
            </a:r>
          </a:p>
          <a:p>
            <a:pPr algn="l" marL="592961" indent="-296481" lvl="1">
              <a:lnSpc>
                <a:spcPts val="3845"/>
              </a:lnSpc>
              <a:buFont typeface="Arial"/>
              <a:buChar char="•"/>
            </a:pPr>
            <a:r>
              <a:rPr lang="en-US" sz="2746">
                <a:solidFill>
                  <a:srgbClr val="FFFFFF"/>
                </a:solidFill>
                <a:latin typeface="Poppins"/>
                <a:ea typeface="Poppins"/>
                <a:cs typeface="Poppins"/>
                <a:sym typeface="Poppins"/>
              </a:rPr>
              <a:t>El botón validar del formulario de inscripción debe ser morado.</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MATRIZ DE TRAZABILIDAD</a:t>
            </a:r>
          </a:p>
        </p:txBody>
      </p:sp>
      <p:sp>
        <p:nvSpPr>
          <p:cNvPr name="Freeform 13" id="13"/>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aphicFrame>
        <p:nvGraphicFramePr>
          <p:cNvPr name="Table 6" id="6"/>
          <p:cNvGraphicFramePr>
            <a:graphicFrameLocks noGrp="true"/>
          </p:cNvGraphicFramePr>
          <p:nvPr/>
        </p:nvGraphicFramePr>
        <p:xfrm>
          <a:off x="1747905" y="5030887"/>
          <a:ext cx="14778228" cy="3990975"/>
        </p:xfrm>
        <a:graphic>
          <a:graphicData uri="http://schemas.openxmlformats.org/drawingml/2006/table">
            <a:tbl>
              <a:tblPr/>
              <a:tblGrid>
                <a:gridCol w="1185146"/>
                <a:gridCol w="2704224"/>
                <a:gridCol w="2384056"/>
                <a:gridCol w="2313215"/>
                <a:gridCol w="3171429"/>
                <a:gridCol w="3020159"/>
              </a:tblGrid>
              <a:tr h="1144400">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ID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Nombre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Cliente Responsable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Prioridad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Estado</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Equipo Responsable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817577">
                <a:tc>
                  <a:txBody>
                    <a:bodyPr anchor="t" rtlCol="false"/>
                    <a:lstStyle/>
                    <a:p>
                      <a:pPr algn="ctr">
                        <a:lnSpc>
                          <a:spcPts val="2659"/>
                        </a:lnSpc>
                        <a:defRPr/>
                      </a:pPr>
                      <a:r>
                        <a:rPr lang="en-US" sz="1899">
                          <a:solidFill>
                            <a:srgbClr val="FFFFFF"/>
                          </a:solidFill>
                          <a:latin typeface="Canva Sans"/>
                          <a:ea typeface="Canva Sans"/>
                          <a:cs typeface="Canva Sans"/>
                          <a:sym typeface="Canva Sans"/>
                        </a:rPr>
                        <a:t>RF-01</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La página debe permitir realizar el proceso de inscripción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Decanatura de Sistemas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Alta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En progreso</a:t>
                      </a:r>
                      <a:endParaRPr lang="en-US" sz="1100"/>
                    </a:p>
                    <a:p>
                      <a:pPr algn="ctr">
                        <a:lnSpc>
                          <a:spcPts val="2659"/>
                        </a:lnSpc>
                      </a:pPr>
                      <a:r>
                        <a:rPr lang="en-US" sz="1899">
                          <a:solidFill>
                            <a:srgbClr val="FFFFFF"/>
                          </a:solidFill>
                          <a:latin typeface="Canva Sans"/>
                          <a:ea typeface="Canva Sans"/>
                          <a:cs typeface="Canva Sans"/>
                          <a:sym typeface="Canva Sans"/>
                        </a:rPr>
                        <a:t>(Análisis de requerimientos)</a:t>
                      </a:r>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Squad DOSW</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8998">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7" id="7"/>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99C5FF"/>
                </a:solidFill>
                <a:latin typeface="HK Modular"/>
                <a:ea typeface="HK Modular"/>
                <a:cs typeface="HK Modular"/>
                <a:sym typeface="HK Modular"/>
              </a:rPr>
              <a:t>MATRIZ DE TRAZABILIDAD</a:t>
            </a:r>
          </a:p>
        </p:txBody>
      </p:sp>
      <p:sp>
        <p:nvSpPr>
          <p:cNvPr name="TextBox 8" id="8"/>
          <p:cNvSpPr txBox="true"/>
          <p:nvPr/>
        </p:nvSpPr>
        <p:spPr>
          <a:xfrm rot="0">
            <a:off x="1980601" y="3554714"/>
            <a:ext cx="14545532" cy="8794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Inventario de los requerimientos del sistema sobre el cual puedo hacer el seguimiento de cada requerimiento.</a:t>
            </a:r>
          </a:p>
        </p:txBody>
      </p:sp>
      <p:sp>
        <p:nvSpPr>
          <p:cNvPr name="Freeform 9" id="9"/>
          <p:cNvSpPr/>
          <p:nvPr/>
        </p:nvSpPr>
        <p:spPr>
          <a:xfrm flipH="false" flipV="false" rot="0">
            <a:off x="8104363" y="-333066"/>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692064" y="5815230"/>
            <a:ext cx="4597292" cy="4597292"/>
          </a:xfrm>
          <a:custGeom>
            <a:avLst/>
            <a:gdLst/>
            <a:ahLst/>
            <a:cxnLst/>
            <a:rect r="r" b="b" t="t" l="l"/>
            <a:pathLst>
              <a:path h="4597292" w="4597292">
                <a:moveTo>
                  <a:pt x="0" y="0"/>
                </a:moveTo>
                <a:lnTo>
                  <a:pt x="4597292" y="0"/>
                </a:lnTo>
                <a:lnTo>
                  <a:pt x="4597292" y="4597292"/>
                </a:lnTo>
                <a:lnTo>
                  <a:pt x="0" y="4597292"/>
                </a:lnTo>
                <a:lnTo>
                  <a:pt x="0" y="0"/>
                </a:lnTo>
                <a:close/>
              </a:path>
            </a:pathLst>
          </a:custGeom>
          <a:blipFill>
            <a:blip r:embed="rId3"/>
            <a:stretch>
              <a:fillRect l="0" t="0" r="0" b="0"/>
            </a:stretch>
          </a:blipFill>
        </p:spPr>
      </p:sp>
      <p:sp>
        <p:nvSpPr>
          <p:cNvPr name="TextBox 13" id="13"/>
          <p:cNvSpPr txBox="true"/>
          <p:nvPr/>
        </p:nvSpPr>
        <p:spPr>
          <a:xfrm rot="0">
            <a:off x="3649886" y="3151592"/>
            <a:ext cx="10681648" cy="3155564"/>
          </a:xfrm>
          <a:prstGeom prst="rect">
            <a:avLst/>
          </a:prstGeom>
        </p:spPr>
        <p:txBody>
          <a:bodyPr anchor="t" rtlCol="false" tIns="0" lIns="0" bIns="0" rIns="0">
            <a:spAutoFit/>
          </a:bodyPr>
          <a:lstStyle/>
          <a:p>
            <a:pPr algn="ctr">
              <a:lnSpc>
                <a:spcPts val="8393"/>
              </a:lnSpc>
              <a:spcBef>
                <a:spcPct val="0"/>
              </a:spcBef>
            </a:pPr>
            <a:r>
              <a:rPr lang="en-US" sz="5995">
                <a:solidFill>
                  <a:srgbClr val="99C5FF"/>
                </a:solidFill>
                <a:latin typeface="HK Modular"/>
                <a:ea typeface="HK Modular"/>
                <a:cs typeface="HK Modular"/>
                <a:sym typeface="HK Modular"/>
              </a:rPr>
              <a:t>DUDAS DEL BOOTCAMP # 2 - APTRONES ?</a:t>
            </a:r>
          </a:p>
        </p:txBody>
      </p:sp>
      <p:sp>
        <p:nvSpPr>
          <p:cNvPr name="Freeform 14" id="14"/>
          <p:cNvSpPr/>
          <p:nvPr/>
        </p:nvSpPr>
        <p:spPr>
          <a:xfrm flipH="false" flipV="false" rot="0">
            <a:off x="7994996" y="141505"/>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4"/>
            <a:stretch>
              <a:fillRect l="0" t="0" r="0" b="0"/>
            </a:stretch>
          </a:blipFill>
        </p:spPr>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803176" y="2151719"/>
            <a:ext cx="10681648" cy="1032889"/>
          </a:xfrm>
          <a:prstGeom prst="rect">
            <a:avLst/>
          </a:prstGeom>
        </p:spPr>
        <p:txBody>
          <a:bodyPr anchor="t" rtlCol="false" tIns="0" lIns="0" bIns="0" rIns="0">
            <a:spAutoFit/>
          </a:bodyPr>
          <a:lstStyle/>
          <a:p>
            <a:pPr algn="ctr">
              <a:lnSpc>
                <a:spcPts val="8393"/>
              </a:lnSpc>
              <a:spcBef>
                <a:spcPct val="0"/>
              </a:spcBef>
            </a:pPr>
            <a:r>
              <a:rPr lang="en-US" sz="5995">
                <a:solidFill>
                  <a:srgbClr val="99C5FF"/>
                </a:solidFill>
                <a:latin typeface="HK Modular"/>
                <a:ea typeface="HK Modular"/>
                <a:cs typeface="HK Modular"/>
                <a:sym typeface="HK Modular"/>
              </a:rPr>
              <a:t>TAREA</a:t>
            </a:r>
          </a:p>
        </p:txBody>
      </p:sp>
      <p:sp>
        <p:nvSpPr>
          <p:cNvPr name="Freeform 13" id="13"/>
          <p:cNvSpPr/>
          <p:nvPr/>
        </p:nvSpPr>
        <p:spPr>
          <a:xfrm flipH="false" flipV="false" rot="0">
            <a:off x="7994996" y="141505"/>
            <a:ext cx="2298007" cy="2298007"/>
          </a:xfrm>
          <a:custGeom>
            <a:avLst/>
            <a:gdLst/>
            <a:ahLst/>
            <a:cxnLst/>
            <a:rect r="r" b="b" t="t" l="l"/>
            <a:pathLst>
              <a:path h="2298007" w="2298007">
                <a:moveTo>
                  <a:pt x="0" y="0"/>
                </a:moveTo>
                <a:lnTo>
                  <a:pt x="2298008" y="0"/>
                </a:lnTo>
                <a:lnTo>
                  <a:pt x="2298008" y="2298007"/>
                </a:lnTo>
                <a:lnTo>
                  <a:pt x="0" y="2298007"/>
                </a:lnTo>
                <a:lnTo>
                  <a:pt x="0" y="0"/>
                </a:lnTo>
                <a:close/>
              </a:path>
            </a:pathLst>
          </a:custGeom>
          <a:blipFill>
            <a:blip r:embed="rId3"/>
            <a:stretch>
              <a:fillRect l="0" t="0" r="0" b="0"/>
            </a:stretch>
          </a:blipFill>
        </p:spPr>
      </p:sp>
      <p:sp>
        <p:nvSpPr>
          <p:cNvPr name="TextBox 14" id="14"/>
          <p:cNvSpPr txBox="true"/>
          <p:nvPr/>
        </p:nvSpPr>
        <p:spPr>
          <a:xfrm rot="0">
            <a:off x="2286373" y="3635163"/>
            <a:ext cx="13599328" cy="960121"/>
          </a:xfrm>
          <a:prstGeom prst="rect">
            <a:avLst/>
          </a:prstGeom>
        </p:spPr>
        <p:txBody>
          <a:bodyPr anchor="t" rtlCol="false" tIns="0" lIns="0" bIns="0" rIns="0">
            <a:spAutoFit/>
          </a:bodyPr>
          <a:lstStyle/>
          <a:p>
            <a:pPr algn="ctr" marL="582925" indent="-291463" lvl="1">
              <a:lnSpc>
                <a:spcPts val="3779"/>
              </a:lnSpc>
              <a:buAutoNum type="arabicPeriod" startAt="1"/>
            </a:pPr>
            <a:r>
              <a:rPr lang="en-US" sz="2699">
                <a:solidFill>
                  <a:srgbClr val="FFFFFF"/>
                </a:solidFill>
                <a:latin typeface="Poppins"/>
                <a:ea typeface="Poppins"/>
                <a:cs typeface="Poppins"/>
                <a:sym typeface="Poppins"/>
              </a:rPr>
              <a:t>Completar el ejercicio del analisis de requerimientos para la pagina de la escuela</a:t>
            </a:r>
          </a:p>
        </p:txBody>
      </p:sp>
      <p:sp>
        <p:nvSpPr>
          <p:cNvPr name="TextBox 15" id="15"/>
          <p:cNvSpPr txBox="true"/>
          <p:nvPr/>
        </p:nvSpPr>
        <p:spPr>
          <a:xfrm rot="0">
            <a:off x="2286373" y="4919007"/>
            <a:ext cx="13599328" cy="483871"/>
          </a:xfrm>
          <a:prstGeom prst="rect">
            <a:avLst/>
          </a:prstGeom>
        </p:spPr>
        <p:txBody>
          <a:bodyPr anchor="t" rtlCol="false" tIns="0" lIns="0" bIns="0" rIns="0">
            <a:spAutoFit/>
          </a:bodyPr>
          <a:lstStyle/>
          <a:p>
            <a:pPr algn="ctr" marL="582925" indent="-291463" lvl="1">
              <a:lnSpc>
                <a:spcPts val="3779"/>
              </a:lnSpc>
              <a:buAutoNum type="arabicPeriod" startAt="1"/>
            </a:pPr>
            <a:r>
              <a:rPr lang="en-US" sz="2699">
                <a:solidFill>
                  <a:srgbClr val="FFFFFF"/>
                </a:solidFill>
                <a:latin typeface="Poppins"/>
                <a:ea typeface="Poppins"/>
                <a:cs typeface="Poppins"/>
                <a:sym typeface="Poppins"/>
              </a:rPr>
              <a:t>Revisen como funciona figma y otras paginas de diseño de wiremocks</a:t>
            </a:r>
          </a:p>
        </p:txBody>
      </p:sp>
      <p:sp>
        <p:nvSpPr>
          <p:cNvPr name="TextBox 16" id="16"/>
          <p:cNvSpPr txBox="true"/>
          <p:nvPr/>
        </p:nvSpPr>
        <p:spPr>
          <a:xfrm rot="0">
            <a:off x="2539837" y="7669703"/>
            <a:ext cx="13599328" cy="960121"/>
          </a:xfrm>
          <a:prstGeom prst="rect">
            <a:avLst/>
          </a:prstGeom>
        </p:spPr>
        <p:txBody>
          <a:bodyPr anchor="t" rtlCol="false" tIns="0" lIns="0" bIns="0" rIns="0">
            <a:spAutoFit/>
          </a:bodyPr>
          <a:lstStyle/>
          <a:p>
            <a:pPr algn="ctr">
              <a:lnSpc>
                <a:spcPts val="3779"/>
              </a:lnSpc>
            </a:pPr>
            <a:r>
              <a:rPr lang="en-US" sz="2699">
                <a:solidFill>
                  <a:srgbClr val="FFFFFF"/>
                </a:solidFill>
                <a:latin typeface="Poppins"/>
                <a:ea typeface="Poppins"/>
                <a:cs typeface="Poppins"/>
                <a:sym typeface="Poppins"/>
              </a:rPr>
              <a:t>LABORATORIO BOOTCAMP ENTREGA FINAL - Viernes hasta las 12:59 antes de clase</a:t>
            </a:r>
          </a:p>
        </p:txBody>
      </p:sp>
      <p:sp>
        <p:nvSpPr>
          <p:cNvPr name="TextBox 17" id="17"/>
          <p:cNvSpPr txBox="true"/>
          <p:nvPr/>
        </p:nvSpPr>
        <p:spPr>
          <a:xfrm rot="0">
            <a:off x="2286373" y="5890558"/>
            <a:ext cx="13599328" cy="483871"/>
          </a:xfrm>
          <a:prstGeom prst="rect">
            <a:avLst/>
          </a:prstGeom>
        </p:spPr>
        <p:txBody>
          <a:bodyPr anchor="t" rtlCol="false" tIns="0" lIns="0" bIns="0" rIns="0">
            <a:spAutoFit/>
          </a:bodyPr>
          <a:lstStyle/>
          <a:p>
            <a:pPr algn="ctr" marL="582925" indent="-291463" lvl="1">
              <a:lnSpc>
                <a:spcPts val="3779"/>
              </a:lnSpc>
              <a:buAutoNum type="arabicPeriod" startAt="1"/>
            </a:pPr>
            <a:r>
              <a:rPr lang="en-US" sz="2699">
                <a:solidFill>
                  <a:srgbClr val="FFFFFF"/>
                </a:solidFill>
                <a:latin typeface="Poppins"/>
                <a:ea typeface="Poppins"/>
                <a:cs typeface="Poppins"/>
                <a:sym typeface="Poppins"/>
              </a:rPr>
              <a:t>Siguiente. clase traigan colores, marcadores, hojas de papel</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5472804" y="3263074"/>
            <a:ext cx="7342393" cy="4130096"/>
          </a:xfrm>
          <a:custGeom>
            <a:avLst/>
            <a:gdLst/>
            <a:ahLst/>
            <a:cxnLst/>
            <a:rect r="r" b="b" t="t" l="l"/>
            <a:pathLst>
              <a:path h="4130096" w="7342393">
                <a:moveTo>
                  <a:pt x="0" y="0"/>
                </a:moveTo>
                <a:lnTo>
                  <a:pt x="7342392" y="0"/>
                </a:lnTo>
                <a:lnTo>
                  <a:pt x="7342392" y="4130097"/>
                </a:lnTo>
                <a:lnTo>
                  <a:pt x="0" y="4130097"/>
                </a:lnTo>
                <a:lnTo>
                  <a:pt x="0" y="0"/>
                </a:lnTo>
                <a:close/>
              </a:path>
            </a:pathLst>
          </a:custGeom>
          <a:blipFill>
            <a:blip r:embed="rId3"/>
            <a:stretch>
              <a:fillRect l="0" t="0" r="0" b="0"/>
            </a:stretch>
          </a:blipFill>
        </p:spPr>
      </p:sp>
      <p:sp>
        <p:nvSpPr>
          <p:cNvPr name="TextBox 13" id="13"/>
          <p:cNvSpPr txBox="true"/>
          <p:nvPr/>
        </p:nvSpPr>
        <p:spPr>
          <a:xfrm rot="0">
            <a:off x="3331289" y="7916064"/>
            <a:ext cx="10955440" cy="1611888"/>
          </a:xfrm>
          <a:prstGeom prst="rect">
            <a:avLst/>
          </a:prstGeom>
        </p:spPr>
        <p:txBody>
          <a:bodyPr anchor="t" rtlCol="false" tIns="0" lIns="0" bIns="0" rIns="0">
            <a:spAutoFit/>
          </a:bodyPr>
          <a:lstStyle/>
          <a:p>
            <a:pPr algn="ctr">
              <a:lnSpc>
                <a:spcPts val="6476"/>
              </a:lnSpc>
              <a:spcBef>
                <a:spcPct val="0"/>
              </a:spcBef>
            </a:pPr>
            <a:r>
              <a:rPr lang="en-US" sz="4626">
                <a:solidFill>
                  <a:srgbClr val="99C5FF"/>
                </a:solidFill>
                <a:latin typeface="HK Modular"/>
                <a:ea typeface="HK Modular"/>
                <a:cs typeface="HK Modular"/>
                <a:sym typeface="HK Modular"/>
              </a:rPr>
              <a:t>PROXIMA SESION DE LABORATORIO </a:t>
            </a:r>
          </a:p>
        </p:txBody>
      </p:sp>
      <p:sp>
        <p:nvSpPr>
          <p:cNvPr name="TextBox 14" id="14"/>
          <p:cNvSpPr txBox="true"/>
          <p:nvPr/>
        </p:nvSpPr>
        <p:spPr>
          <a:xfrm rot="0">
            <a:off x="2561247" y="1827378"/>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NOS VEMOS EN LA </a:t>
            </a:r>
          </a:p>
        </p:txBody>
      </p:sp>
      <p:sp>
        <p:nvSpPr>
          <p:cNvPr name="Freeform 15" id="15"/>
          <p:cNvSpPr/>
          <p:nvPr/>
        </p:nvSpPr>
        <p:spPr>
          <a:xfrm flipH="false" flipV="false" rot="0">
            <a:off x="7839162" y="-337280"/>
            <a:ext cx="2298007" cy="2298007"/>
          </a:xfrm>
          <a:custGeom>
            <a:avLst/>
            <a:gdLst/>
            <a:ahLst/>
            <a:cxnLst/>
            <a:rect r="r" b="b" t="t" l="l"/>
            <a:pathLst>
              <a:path h="2298007" w="2298007">
                <a:moveTo>
                  <a:pt x="0" y="0"/>
                </a:moveTo>
                <a:lnTo>
                  <a:pt x="2298007" y="0"/>
                </a:lnTo>
                <a:lnTo>
                  <a:pt x="2298007" y="2298008"/>
                </a:lnTo>
                <a:lnTo>
                  <a:pt x="0" y="2298008"/>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DAHA5DbJL48</dc:identifier>
  <dcterms:modified xsi:type="dcterms:W3CDTF">2011-08-01T06:04:30Z</dcterms:modified>
  <cp:revision>1</cp:revision>
  <dc:title>DOSW 2 - S04</dc:title>
</cp:coreProperties>
</file>