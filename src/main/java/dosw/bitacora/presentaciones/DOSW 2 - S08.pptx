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8288000" cy="10287000"/>
  <p:notesSz cx="6858000" cy="9144000"/>
  <p:embeddedFontLst>
    <p:embeddedFont>
      <p:font typeface="HK Modular" charset="1" panose="00000800000000000000"/>
      <p:regular r:id="rId61"/>
    </p:embeddedFont>
    <p:embeddedFont>
      <p:font typeface="RQND Pro" charset="1" panose="00000500000000000000"/>
      <p:regular r:id="rId62"/>
    </p:embeddedFont>
    <p:embeddedFont>
      <p:font typeface="Poppins Bold" charset="1" panose="00000800000000000000"/>
      <p:regular r:id="rId63"/>
    </p:embeddedFont>
    <p:embeddedFont>
      <p:font typeface="Poppins Bold Italics" charset="1" panose="00000800000000000000"/>
      <p:regular r:id="rId64"/>
    </p:embeddedFont>
    <p:embeddedFont>
      <p:font typeface="Poppins" charset="1" panose="00000500000000000000"/>
      <p:regular r:id="rId65"/>
    </p:embeddedFont>
    <p:embeddedFont>
      <p:font typeface="Poppins Italics" charset="1" panose="0000050000000000000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8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3.png" Type="http://schemas.openxmlformats.org/officeDocument/2006/relationships/image"/><Relationship Id="rId4" Target="../media/image1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0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4904" y="2295809"/>
            <a:ext cx="601820" cy="601820"/>
          </a:xfrm>
          <a:custGeom>
            <a:avLst/>
            <a:gdLst/>
            <a:ahLst/>
            <a:cxnLst/>
            <a:rect r="r" b="b" t="t" l="l"/>
            <a:pathLst>
              <a:path h="601820" w="601820">
                <a:moveTo>
                  <a:pt x="0" y="0"/>
                </a:moveTo>
                <a:lnTo>
                  <a:pt x="601819" y="0"/>
                </a:lnTo>
                <a:lnTo>
                  <a:pt x="601819" y="601820"/>
                </a:lnTo>
                <a:lnTo>
                  <a:pt x="0" y="601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04904" y="4377652"/>
            <a:ext cx="8271372" cy="111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SEMANA 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4904" y="5916767"/>
            <a:ext cx="6621756" cy="8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  <a:spcBef>
                <a:spcPct val="0"/>
              </a:spcBef>
            </a:pPr>
            <a:r>
              <a:rPr lang="en-US" sz="5191">
                <a:solidFill>
                  <a:srgbClr val="957F3B"/>
                </a:solidFill>
                <a:latin typeface="HK Modular"/>
                <a:ea typeface="HK Modular"/>
                <a:cs typeface="HK Modular"/>
                <a:sym typeface="HK Modular"/>
              </a:rPr>
              <a:t>DOSW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06723" y="2356120"/>
            <a:ext cx="4748826" cy="42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ESCUELA COLOMBIANA DE INGENIERIA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2528" y="1970590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85699" y="1303292"/>
            <a:ext cx="9389196" cy="111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ORDEN DEL DIA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5699" y="4236119"/>
            <a:ext cx="6153200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06723" y="498026"/>
            <a:ext cx="4748826" cy="42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ESCUELA COLOMBIANA DE INGENIERIA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5699" y="3533379"/>
            <a:ext cx="7936061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ESTANDARES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85699" y="4940245"/>
            <a:ext cx="8494588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DISTEMAS SIN ESTADO Y CON ESTADOS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85699" y="5644317"/>
            <a:ext cx="7778286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MANEJO DE EXCEPCIONES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5699" y="7264135"/>
            <a:ext cx="7778286" cy="86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MODULO DE DIAGRAMACION: DIAGRAMAS DE SECUENCIA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5699" y="8467592"/>
            <a:ext cx="8923034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SERVICIOS Y APIS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5699" y="9238339"/>
            <a:ext cx="8923034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PATCH, MINOR, MAJOR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85699" y="6481462"/>
            <a:ext cx="7778286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MANEJO DE LOGS EN UN API REST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5699" y="2695958"/>
            <a:ext cx="7936061" cy="4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  <a:spcBef>
                <a:spcPct val="0"/>
              </a:spcBef>
            </a:pPr>
            <a:r>
              <a:rPr lang="en-US" sz="244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SET DE PRUEBAS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2528" y="1970590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03220" y="491922"/>
            <a:ext cx="601820" cy="601820"/>
          </a:xfrm>
          <a:custGeom>
            <a:avLst/>
            <a:gdLst/>
            <a:ahLst/>
            <a:cxnLst/>
            <a:rect r="r" b="b" t="t" l="l"/>
            <a:pathLst>
              <a:path h="601820" w="601820">
                <a:moveTo>
                  <a:pt x="0" y="0"/>
                </a:moveTo>
                <a:lnTo>
                  <a:pt x="601820" y="0"/>
                </a:lnTo>
                <a:lnTo>
                  <a:pt x="601820" y="601820"/>
                </a:lnTo>
                <a:lnTo>
                  <a:pt x="0" y="601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SET DE PRUEBAS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32005" y="0"/>
            <a:ext cx="3642724" cy="3642724"/>
          </a:xfrm>
          <a:custGeom>
            <a:avLst/>
            <a:gdLst/>
            <a:ahLst/>
            <a:cxnLst/>
            <a:rect r="r" b="b" t="t" l="l"/>
            <a:pathLst>
              <a:path h="3642724" w="3642724">
                <a:moveTo>
                  <a:pt x="0" y="0"/>
                </a:moveTo>
                <a:lnTo>
                  <a:pt x="3642724" y="0"/>
                </a:lnTo>
                <a:lnTo>
                  <a:pt x="3642724" y="3642724"/>
                </a:lnTo>
                <a:lnTo>
                  <a:pt x="0" y="364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70246" y="582156"/>
            <a:ext cx="6538509" cy="9122689"/>
          </a:xfrm>
          <a:custGeom>
            <a:avLst/>
            <a:gdLst/>
            <a:ahLst/>
            <a:cxnLst/>
            <a:rect r="r" b="b" t="t" l="l"/>
            <a:pathLst>
              <a:path h="9122689" w="6538509">
                <a:moveTo>
                  <a:pt x="0" y="0"/>
                </a:moveTo>
                <a:lnTo>
                  <a:pt x="6538510" y="0"/>
                </a:lnTo>
                <a:lnTo>
                  <a:pt x="6538510" y="9122688"/>
                </a:lnTo>
                <a:lnTo>
                  <a:pt x="0" y="912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50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6420" y="-326611"/>
            <a:ext cx="2710622" cy="2710622"/>
          </a:xfrm>
          <a:custGeom>
            <a:avLst/>
            <a:gdLst/>
            <a:ahLst/>
            <a:cxnLst/>
            <a:rect r="r" b="b" t="t" l="l"/>
            <a:pathLst>
              <a:path h="2710622" w="2710622">
                <a:moveTo>
                  <a:pt x="0" y="0"/>
                </a:moveTo>
                <a:lnTo>
                  <a:pt x="2710622" y="0"/>
                </a:lnTo>
                <a:lnTo>
                  <a:pt x="2710622" y="2710622"/>
                </a:lnTo>
                <a:lnTo>
                  <a:pt x="0" y="2710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191796"/>
            <a:ext cx="8224667" cy="4323065"/>
          </a:xfrm>
          <a:custGeom>
            <a:avLst/>
            <a:gdLst/>
            <a:ahLst/>
            <a:cxnLst/>
            <a:rect r="r" b="b" t="t" l="l"/>
            <a:pathLst>
              <a:path h="4323065" w="8224667">
                <a:moveTo>
                  <a:pt x="0" y="0"/>
                </a:moveTo>
                <a:lnTo>
                  <a:pt x="8224667" y="0"/>
                </a:lnTo>
                <a:lnTo>
                  <a:pt x="8224667" y="4323065"/>
                </a:lnTo>
                <a:lnTo>
                  <a:pt x="0" y="4323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212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36684" y="7030991"/>
            <a:ext cx="8224667" cy="1608627"/>
          </a:xfrm>
          <a:custGeom>
            <a:avLst/>
            <a:gdLst/>
            <a:ahLst/>
            <a:cxnLst/>
            <a:rect r="r" b="b" t="t" l="l"/>
            <a:pathLst>
              <a:path h="1608627" w="8224667">
                <a:moveTo>
                  <a:pt x="0" y="0"/>
                </a:moveTo>
                <a:lnTo>
                  <a:pt x="8224667" y="0"/>
                </a:lnTo>
                <a:lnTo>
                  <a:pt x="8224667" y="1608626"/>
                </a:lnTo>
                <a:lnTo>
                  <a:pt x="0" y="1608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6620" r="0" b="-1765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05040" y="2301426"/>
            <a:ext cx="7582271" cy="3500201"/>
          </a:xfrm>
          <a:custGeom>
            <a:avLst/>
            <a:gdLst/>
            <a:ahLst/>
            <a:cxnLst/>
            <a:rect r="r" b="b" t="t" l="l"/>
            <a:pathLst>
              <a:path h="3500201" w="7582271">
                <a:moveTo>
                  <a:pt x="0" y="0"/>
                </a:moveTo>
                <a:lnTo>
                  <a:pt x="7582271" y="0"/>
                </a:lnTo>
                <a:lnTo>
                  <a:pt x="7582271" y="3500201"/>
                </a:lnTo>
                <a:lnTo>
                  <a:pt x="0" y="3500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8391" r="-2965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34391" y="-385927"/>
            <a:ext cx="2829253" cy="2829253"/>
          </a:xfrm>
          <a:custGeom>
            <a:avLst/>
            <a:gdLst/>
            <a:ahLst/>
            <a:cxnLst/>
            <a:rect r="r" b="b" t="t" l="l"/>
            <a:pathLst>
              <a:path h="2829253" w="2829253">
                <a:moveTo>
                  <a:pt x="0" y="0"/>
                </a:moveTo>
                <a:lnTo>
                  <a:pt x="2829253" y="0"/>
                </a:lnTo>
                <a:lnTo>
                  <a:pt x="2829253" y="2829254"/>
                </a:lnTo>
                <a:lnTo>
                  <a:pt x="0" y="2829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96881"/>
            <a:ext cx="16491277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192615"/>
            <a:ext cx="5205016" cy="2735870"/>
          </a:xfrm>
          <a:custGeom>
            <a:avLst/>
            <a:gdLst/>
            <a:ahLst/>
            <a:cxnLst/>
            <a:rect r="r" b="b" t="t" l="l"/>
            <a:pathLst>
              <a:path h="2735870" w="5205016">
                <a:moveTo>
                  <a:pt x="0" y="0"/>
                </a:moveTo>
                <a:lnTo>
                  <a:pt x="5205016" y="0"/>
                </a:lnTo>
                <a:lnTo>
                  <a:pt x="5205016" y="2735871"/>
                </a:lnTo>
                <a:lnTo>
                  <a:pt x="0" y="2735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212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36009" y="4967990"/>
            <a:ext cx="6196748" cy="960496"/>
          </a:xfrm>
          <a:custGeom>
            <a:avLst/>
            <a:gdLst/>
            <a:ahLst/>
            <a:cxnLst/>
            <a:rect r="r" b="b" t="t" l="l"/>
            <a:pathLst>
              <a:path h="960496" w="6196748">
                <a:moveTo>
                  <a:pt x="0" y="0"/>
                </a:moveTo>
                <a:lnTo>
                  <a:pt x="6196748" y="0"/>
                </a:lnTo>
                <a:lnTo>
                  <a:pt x="6196748" y="960496"/>
                </a:lnTo>
                <a:lnTo>
                  <a:pt x="0" y="960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34081" y="7022521"/>
            <a:ext cx="5395254" cy="1504253"/>
          </a:xfrm>
          <a:custGeom>
            <a:avLst/>
            <a:gdLst/>
            <a:ahLst/>
            <a:cxnLst/>
            <a:rect r="r" b="b" t="t" l="l"/>
            <a:pathLst>
              <a:path h="1504253" w="5395254">
                <a:moveTo>
                  <a:pt x="0" y="0"/>
                </a:moveTo>
                <a:lnTo>
                  <a:pt x="5395255" y="0"/>
                </a:lnTo>
                <a:lnTo>
                  <a:pt x="5395255" y="1504253"/>
                </a:lnTo>
                <a:lnTo>
                  <a:pt x="0" y="1504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73412" y="3014199"/>
            <a:ext cx="1015832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ramas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Branch Coverage)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3412" y="3683302"/>
            <a:ext cx="88365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rama posible de una decisión (</a:t>
            </a:r>
            <a:r>
              <a:rPr lang="en-US" sz="23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if / else)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6729" y="6498645"/>
            <a:ext cx="88365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funciones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Function Coverage)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729" y="7167749"/>
            <a:ext cx="90148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cada función ha sido llamada al menos una vez.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1711" y="4333624"/>
            <a:ext cx="1014758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Ej: ¿Cuáles serían las ramas de la función </a:t>
            </a:r>
            <a:r>
              <a:rPr lang="en-US" b="true" sz="23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calcularDescuento?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0041" y="7821164"/>
            <a:ext cx="53269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Ej: ¿Cuáles serían las funciones</a:t>
            </a:r>
            <a:r>
              <a:rPr lang="en-US" b="true" sz="23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?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4192" y="1596881"/>
            <a:ext cx="16835785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01500" y="3065883"/>
            <a:ext cx="5957800" cy="997931"/>
          </a:xfrm>
          <a:custGeom>
            <a:avLst/>
            <a:gdLst/>
            <a:ahLst/>
            <a:cxnLst/>
            <a:rect r="r" b="b" t="t" l="l"/>
            <a:pathLst>
              <a:path h="997931" w="5957800">
                <a:moveTo>
                  <a:pt x="0" y="0"/>
                </a:moveTo>
                <a:lnTo>
                  <a:pt x="5957800" y="0"/>
                </a:lnTo>
                <a:lnTo>
                  <a:pt x="5957800" y="997931"/>
                </a:lnTo>
                <a:lnTo>
                  <a:pt x="0" y="997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321" y="4901536"/>
            <a:ext cx="5763225" cy="1700152"/>
          </a:xfrm>
          <a:custGeom>
            <a:avLst/>
            <a:gdLst/>
            <a:ahLst/>
            <a:cxnLst/>
            <a:rect r="r" b="b" t="t" l="l"/>
            <a:pathLst>
              <a:path h="1700152" w="5763225">
                <a:moveTo>
                  <a:pt x="0" y="0"/>
                </a:moveTo>
                <a:lnTo>
                  <a:pt x="5763226" y="0"/>
                </a:lnTo>
                <a:lnTo>
                  <a:pt x="5763226" y="1700151"/>
                </a:lnTo>
                <a:lnTo>
                  <a:pt x="0" y="17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4192" y="2939416"/>
            <a:ext cx="987990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condiciones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Condition Coverage)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192" y="3608519"/>
            <a:ext cx="940538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cada condición booleana dentro de una decisión evalúa a true y false.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3919" y="4977024"/>
            <a:ext cx="940538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caminos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Path Coverage)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3919" y="5646127"/>
            <a:ext cx="94053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se ejecutan todos los caminos posibles del programa.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192" y="7638312"/>
            <a:ext cx="76773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líneas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Line Coverage)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192" y="8338400"/>
            <a:ext cx="883659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 porcentaje de líneas de código se ejecutan al menos una vez.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042692" y="7504962"/>
            <a:ext cx="5395254" cy="1504253"/>
          </a:xfrm>
          <a:custGeom>
            <a:avLst/>
            <a:gdLst/>
            <a:ahLst/>
            <a:cxnLst/>
            <a:rect r="r" b="b" t="t" l="l"/>
            <a:pathLst>
              <a:path h="1504253" w="5395254">
                <a:moveTo>
                  <a:pt x="0" y="0"/>
                </a:moveTo>
                <a:lnTo>
                  <a:pt x="5395254" y="0"/>
                </a:lnTo>
                <a:lnTo>
                  <a:pt x="5395254" y="1504253"/>
                </a:lnTo>
                <a:lnTo>
                  <a:pt x="0" y="1504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28443" y="-312029"/>
            <a:ext cx="2235654" cy="2235654"/>
          </a:xfrm>
          <a:custGeom>
            <a:avLst/>
            <a:gdLst/>
            <a:ahLst/>
            <a:cxnLst/>
            <a:rect r="r" b="b" t="t" l="l"/>
            <a:pathLst>
              <a:path h="2235654" w="2235654">
                <a:moveTo>
                  <a:pt x="0" y="0"/>
                </a:moveTo>
                <a:lnTo>
                  <a:pt x="2235654" y="0"/>
                </a:lnTo>
                <a:lnTo>
                  <a:pt x="2235654" y="2235654"/>
                </a:lnTo>
                <a:lnTo>
                  <a:pt x="0" y="2235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96881"/>
            <a:ext cx="16491277" cy="98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  <a:spcBef>
                <a:spcPct val="0"/>
              </a:spcBef>
            </a:pPr>
            <a:r>
              <a:rPr lang="en-US" sz="576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TIPOS DE COBERTURA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19092" y="5012287"/>
            <a:ext cx="11107608" cy="2251542"/>
          </a:xfrm>
          <a:custGeom>
            <a:avLst/>
            <a:gdLst/>
            <a:ahLst/>
            <a:cxnLst/>
            <a:rect r="r" b="b" t="t" l="l"/>
            <a:pathLst>
              <a:path h="2251542" w="11107608">
                <a:moveTo>
                  <a:pt x="0" y="0"/>
                </a:moveTo>
                <a:lnTo>
                  <a:pt x="11107608" y="0"/>
                </a:lnTo>
                <a:lnTo>
                  <a:pt x="11107608" y="2251543"/>
                </a:lnTo>
                <a:lnTo>
                  <a:pt x="0" y="2251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9205" y="3001340"/>
            <a:ext cx="883659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957F3B"/>
                </a:solidFill>
                <a:latin typeface="Poppins Bold"/>
                <a:ea typeface="Poppins Bold"/>
                <a:cs typeface="Poppins Bold"/>
                <a:sym typeface="Poppins Bold"/>
              </a:rPr>
              <a:t>Cobertura de ciclos (</a:t>
            </a:r>
            <a:r>
              <a:rPr lang="en-US" b="true" sz="2999" i="true">
                <a:solidFill>
                  <a:srgbClr val="957F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Loop Coverage)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205" y="3670443"/>
            <a:ext cx="90148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Mide si los ciclos se ejecutan 0 o más veces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234391" y="-385927"/>
            <a:ext cx="2227624" cy="2227624"/>
          </a:xfrm>
          <a:custGeom>
            <a:avLst/>
            <a:gdLst/>
            <a:ahLst/>
            <a:cxnLst/>
            <a:rect r="r" b="b" t="t" l="l"/>
            <a:pathLst>
              <a:path h="2227624" w="2227624">
                <a:moveTo>
                  <a:pt x="0" y="0"/>
                </a:moveTo>
                <a:lnTo>
                  <a:pt x="2227624" y="0"/>
                </a:lnTo>
                <a:lnTo>
                  <a:pt x="2227624" y="2227624"/>
                </a:lnTo>
                <a:lnTo>
                  <a:pt x="0" y="2227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ESTANDARES API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166602" y="-131717"/>
            <a:ext cx="2829253" cy="2829253"/>
          </a:xfrm>
          <a:custGeom>
            <a:avLst/>
            <a:gdLst/>
            <a:ahLst/>
            <a:cxnLst/>
            <a:rect r="r" b="b" t="t" l="l"/>
            <a:pathLst>
              <a:path h="2829253" w="2829253">
                <a:moveTo>
                  <a:pt x="0" y="0"/>
                </a:moveTo>
                <a:lnTo>
                  <a:pt x="2829253" y="0"/>
                </a:lnTo>
                <a:lnTo>
                  <a:pt x="2829253" y="2829253"/>
                </a:lnTo>
                <a:lnTo>
                  <a:pt x="0" y="2829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17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ESTANDARES DE UN API REST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0208" y="577342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Cualquier API debe basarse en el protocolo HTTP utilizando sus metodos adecuadamente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9575" y="4424045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Garantizar la coherencia entre aplicaciones: Independiente de quien desarrolle o en donde se desarrolle existe una coherencia de principio a fin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0208" y="712661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rutas deben ser claras y consistentes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208" y="9366521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api debe responser con los codigos de estado adecuados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0208" y="8159117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respuesta debe ser consistente en su estructura, puede incluir paginacion, enlaces, totales, etc.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0358" y="4324310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0358" y="5687360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0358" y="7920313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40"/>
                </a:lnTo>
                <a:lnTo>
                  <a:pt x="0" y="115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0358" y="6841199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0358" y="8955755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17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ESTANDARES DE UN API REST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0358" y="4446861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64154" y="468566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respuestas de error y de happy path deben ser claras con un mensaje descriptivo y un codigo (error o aprobacion) interno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0208" y="6475725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documentacion debe ser clara y accesible, siendo actualizada y navegable para los usuarios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208" y="80431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comunicacion debe ser intuitiva, confiable y consistente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0358" y="6236921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0358" y="7728526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712426" y="-386554"/>
            <a:ext cx="3566461" cy="3566461"/>
          </a:xfrm>
          <a:custGeom>
            <a:avLst/>
            <a:gdLst/>
            <a:ahLst/>
            <a:cxnLst/>
            <a:rect r="r" b="b" t="t" l="l"/>
            <a:pathLst>
              <a:path h="3566461" w="3566461">
                <a:moveTo>
                  <a:pt x="0" y="0"/>
                </a:moveTo>
                <a:lnTo>
                  <a:pt x="3566461" y="0"/>
                </a:lnTo>
                <a:lnTo>
                  <a:pt x="3566461" y="3566461"/>
                </a:lnTo>
                <a:lnTo>
                  <a:pt x="0" y="3566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64154" y="1961246"/>
            <a:ext cx="12584532" cy="85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SWAGGER 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60514" y="4623645"/>
            <a:ext cx="6631451" cy="3423486"/>
          </a:xfrm>
          <a:custGeom>
            <a:avLst/>
            <a:gdLst/>
            <a:ahLst/>
            <a:cxnLst/>
            <a:rect r="r" b="b" t="t" l="l"/>
            <a:pathLst>
              <a:path h="3423486" w="6631451">
                <a:moveTo>
                  <a:pt x="0" y="0"/>
                </a:moveTo>
                <a:lnTo>
                  <a:pt x="6631451" y="0"/>
                </a:lnTo>
                <a:lnTo>
                  <a:pt x="6631451" y="3423486"/>
                </a:lnTo>
                <a:lnTo>
                  <a:pt x="0" y="3423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62996" y="3841487"/>
            <a:ext cx="7720155" cy="182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una interfaz web que genera automaticamente una documentacion interactiva de la API Rest a partir de una especificacion OPEN 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2632" y="6697310"/>
            <a:ext cx="829468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visualizar los endpoints disponibles, sus parametros y tipo de respuesta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7528" y="8343264"/>
            <a:ext cx="8231091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 ser usado para hacer peticiones y probar directamente desde el navegador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7210" y="39847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tener una documentacion clara y siempre actualizada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2608" y="5124027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mucho las pruebas funcionales del API, ya que se pueden ejecutar sin necesidad de usar POSTMAN o CURL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7210" y="6494332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Mejora la colaboracion ya que Backend, Frontend y QA entienden facilmente la 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6767" y="2613277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PORQUE ES IMPORTANTE?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07210" y="7791504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Basado en la especificacion OPEN API, permite estandarizar.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66551" y="3512988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6551" y="4885223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40"/>
                </a:lnTo>
                <a:lnTo>
                  <a:pt x="0" y="115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66551" y="6255528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6551" y="7504962"/>
            <a:ext cx="1569849" cy="1153839"/>
          </a:xfrm>
          <a:custGeom>
            <a:avLst/>
            <a:gdLst/>
            <a:ahLst/>
            <a:cxnLst/>
            <a:rect r="r" b="b" t="t" l="l"/>
            <a:pathLst>
              <a:path h="1153839" w="1569849">
                <a:moveTo>
                  <a:pt x="0" y="0"/>
                </a:moveTo>
                <a:lnTo>
                  <a:pt x="1569850" y="0"/>
                </a:lnTo>
                <a:lnTo>
                  <a:pt x="1569850" y="1153839"/>
                </a:lnTo>
                <a:lnTo>
                  <a:pt x="0" y="115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02757" y="4715331"/>
            <a:ext cx="6162961" cy="1645254"/>
          </a:xfrm>
          <a:custGeom>
            <a:avLst/>
            <a:gdLst/>
            <a:ahLst/>
            <a:cxnLst/>
            <a:rect r="r" b="b" t="t" l="l"/>
            <a:pathLst>
              <a:path h="1645254" w="6162961">
                <a:moveTo>
                  <a:pt x="0" y="0"/>
                </a:moveTo>
                <a:lnTo>
                  <a:pt x="6162961" y="0"/>
                </a:lnTo>
                <a:lnTo>
                  <a:pt x="6162961" y="1645255"/>
                </a:lnTo>
                <a:lnTo>
                  <a:pt x="0" y="1645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16050" y="8000262"/>
            <a:ext cx="10255900" cy="1070005"/>
          </a:xfrm>
          <a:custGeom>
            <a:avLst/>
            <a:gdLst/>
            <a:ahLst/>
            <a:cxnLst/>
            <a:rect r="r" b="b" t="t" l="l"/>
            <a:pathLst>
              <a:path h="1070005" w="10255900">
                <a:moveTo>
                  <a:pt x="0" y="0"/>
                </a:moveTo>
                <a:lnTo>
                  <a:pt x="10255900" y="0"/>
                </a:lnTo>
                <a:lnTo>
                  <a:pt x="10255900" y="1070005"/>
                </a:lnTo>
                <a:lnTo>
                  <a:pt x="0" y="1070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7210" y="398479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spcBef>
                <a:spcPct val="0"/>
              </a:spcBef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el POM.xml  agregar las dependencias de sprindoc-openapi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6767" y="2613277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4923" y="6589926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 la dependencia ya agregada la documentacion esta lista automaticamente, por defecto estara disponible en: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43624" y="4509992"/>
            <a:ext cx="7000752" cy="5119595"/>
          </a:xfrm>
          <a:custGeom>
            <a:avLst/>
            <a:gdLst/>
            <a:ahLst/>
            <a:cxnLst/>
            <a:rect r="r" b="b" t="t" l="l"/>
            <a:pathLst>
              <a:path h="5119595" w="7000752">
                <a:moveTo>
                  <a:pt x="0" y="0"/>
                </a:moveTo>
                <a:lnTo>
                  <a:pt x="7000752" y="0"/>
                </a:lnTo>
                <a:lnTo>
                  <a:pt x="7000752" y="5119595"/>
                </a:lnTo>
                <a:lnTo>
                  <a:pt x="0" y="5119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0" t="0" r="-175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Anotar en los controladores, permitiendo describir mejor los endpoints implementados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10822" y="4509992"/>
            <a:ext cx="7689983" cy="4293899"/>
          </a:xfrm>
          <a:custGeom>
            <a:avLst/>
            <a:gdLst/>
            <a:ahLst/>
            <a:cxnLst/>
            <a:rect r="r" b="b" t="t" l="l"/>
            <a:pathLst>
              <a:path h="4293899" w="7689983">
                <a:moveTo>
                  <a:pt x="0" y="0"/>
                </a:moveTo>
                <a:lnTo>
                  <a:pt x="7689983" y="0"/>
                </a:lnTo>
                <a:lnTo>
                  <a:pt x="7689983" y="4293899"/>
                </a:lnTo>
                <a:lnTo>
                  <a:pt x="0" y="4293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Personaliza la informacion general de la API creando una clase de configuracion para definir titulo y version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63965" y="4372905"/>
            <a:ext cx="9369275" cy="1000602"/>
          </a:xfrm>
          <a:custGeom>
            <a:avLst/>
            <a:gdLst/>
            <a:ahLst/>
            <a:cxnLst/>
            <a:rect r="r" b="b" t="t" l="l"/>
            <a:pathLst>
              <a:path h="1000602" w="9369275">
                <a:moveTo>
                  <a:pt x="0" y="0"/>
                </a:moveTo>
                <a:lnTo>
                  <a:pt x="9369275" y="0"/>
                </a:lnTo>
                <a:lnTo>
                  <a:pt x="9369275" y="1000603"/>
                </a:lnTo>
                <a:lnTo>
                  <a:pt x="0" y="1000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021" y="3166331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Prueba en tu navegador, arranga la aplicacion con mvn spring-boot:run o ejecutando directamente tu clase main y abre tu navegador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6767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SE IMPLEMENTA?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34144" y="5793218"/>
            <a:ext cx="6631451" cy="3423486"/>
          </a:xfrm>
          <a:custGeom>
            <a:avLst/>
            <a:gdLst/>
            <a:ahLst/>
            <a:cxnLst/>
            <a:rect r="r" b="b" t="t" l="l"/>
            <a:pathLst>
              <a:path h="3423486" w="6631451">
                <a:moveTo>
                  <a:pt x="0" y="0"/>
                </a:moveTo>
                <a:lnTo>
                  <a:pt x="6631451" y="0"/>
                </a:lnTo>
                <a:lnTo>
                  <a:pt x="6631451" y="3423487"/>
                </a:lnTo>
                <a:lnTo>
                  <a:pt x="0" y="3423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2856952"/>
            <a:ext cx="12587585" cy="274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OpenAPI es una especificación estándar para describir APIs REST.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Antes se llamaba Swagger Specification, pero ahora se mantiene como un proyecto abierto bajo la OpenAPI Initiative de la Linux Foundation.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trata de un formato de contrato (generalmente en JSON o YAML) que define de manera clara y estructurada: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QUE ES OPEN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0830" y="5648413"/>
            <a:ext cx="10554177" cy="240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endpoints disponibles en la API (/users, /orders,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métodos HTTP (GET, POST, PUT, DELETE,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parámetros de entrada (query, path, headers, body).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tipos de respuesta (códigos de estado HTTP, esquemas de datos).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modelos de datos que usa la API (objetos JSON, listas, etc.).</a:t>
            </a:r>
          </a:p>
          <a:p>
            <a:pPr algn="ctr" marL="489290" indent="-244645" lvl="1">
              <a:lnSpc>
                <a:spcPts val="3172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 adicional: autenticación, versionado, licencia, etc.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684377"/>
            <a:ext cx="16078437" cy="110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OpenAPI es el “contrato” estandarizado que describe cómo funciona tu API REST, y Swagger UI es una de las herramientas que lo interpreta y muestra de forma interactiva.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150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SISTEMAS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48005" y="-386554"/>
            <a:ext cx="3312252" cy="3312252"/>
          </a:xfrm>
          <a:custGeom>
            <a:avLst/>
            <a:gdLst/>
            <a:ahLst/>
            <a:cxnLst/>
            <a:rect r="r" b="b" t="t" l="l"/>
            <a:pathLst>
              <a:path h="3312252" w="3312252">
                <a:moveTo>
                  <a:pt x="0" y="0"/>
                </a:moveTo>
                <a:lnTo>
                  <a:pt x="3312251" y="0"/>
                </a:lnTo>
                <a:lnTo>
                  <a:pt x="3312251" y="3312252"/>
                </a:lnTo>
                <a:lnTo>
                  <a:pt x="0" y="3312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2856952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sistema con estado guarda la informacion del cliente entre las solicitudes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SISTEMAS CON ESTADO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9765" y="575001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SISTEMAS SIN ESTADO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4126" y="6697298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sistema sin estado no guarda informacion del cliente entre solicitudes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3987029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decir el servidor recuerda el contexto de las interacciones anteriores y lo usa en los siguientes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21017" y="7374209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peticion es independiente y debe contener toda la informacion necesaria para ser procesada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73683" y="190890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SISTEMAS CON ESTADO O SIN ESTADO?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2314" y="4228464"/>
            <a:ext cx="584614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aplicacion web que usa sesiones de login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3367" y="4237989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2915" y="5732332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 en linea MMORPG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3367" y="5706052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2314" y="7104567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Carritos de compra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3367" y="7114092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CON ESTADO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4421" y="8476803"/>
            <a:ext cx="584614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restaurante de comida rapida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53367" y="8414719"/>
            <a:ext cx="8433916" cy="5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  <a:spcBef>
                <a:spcPct val="0"/>
              </a:spcBef>
            </a:pPr>
            <a:r>
              <a:rPr lang="en-US" sz="3051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SIN ESTADO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46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MANEJO DE LOGS EN UN API REST</a:t>
            </a:r>
          </a:p>
          <a:p>
            <a:pPr algn="ctr">
              <a:lnSpc>
                <a:spcPts val="1235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780215" y="-304248"/>
            <a:ext cx="3710513" cy="3710513"/>
          </a:xfrm>
          <a:custGeom>
            <a:avLst/>
            <a:gdLst/>
            <a:ahLst/>
            <a:cxnLst/>
            <a:rect r="r" b="b" t="t" l="l"/>
            <a:pathLst>
              <a:path h="3710513" w="3710513">
                <a:moveTo>
                  <a:pt x="0" y="0"/>
                </a:moveTo>
                <a:lnTo>
                  <a:pt x="3710514" y="0"/>
                </a:lnTo>
                <a:lnTo>
                  <a:pt x="3710514" y="3710513"/>
                </a:lnTo>
                <a:lnTo>
                  <a:pt x="0" y="3710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21017" y="3206744"/>
            <a:ext cx="1258758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logging es el registro estructurado de eventos que ocurren en la aplicación (ejecuciones normales, errores, advertencias, etc.).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3683" y="190890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LOGGIN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9765" y="4636792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PERMITEN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4126" y="5850780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Detectar y diagnosticar errores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4126" y="664282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Auditar operaciones sensibles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74126" y="743828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Medir el comportamiento en tiempos de respuesta o uso de endpoints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0208" y="8229497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un atributo de calidad: Observabilidad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80528" y="6779651"/>
            <a:ext cx="5946679" cy="2817871"/>
          </a:xfrm>
          <a:custGeom>
            <a:avLst/>
            <a:gdLst/>
            <a:ahLst/>
            <a:cxnLst/>
            <a:rect r="r" b="b" t="t" l="l"/>
            <a:pathLst>
              <a:path h="2817871" w="5946679">
                <a:moveTo>
                  <a:pt x="0" y="0"/>
                </a:moveTo>
                <a:lnTo>
                  <a:pt x="5946679" y="0"/>
                </a:lnTo>
                <a:lnTo>
                  <a:pt x="5946679" y="2817871"/>
                </a:lnTo>
                <a:lnTo>
                  <a:pt x="0" y="2817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1017" y="3206744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SLF4J : API DE LOGGING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LIBRERIAS COMUNES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1017" y="3926531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LOGBACK: Implementacion por defecto en Spring Boot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4651066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Log4j2: Otra implementacion bastante usada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2681" y="5622814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NIVELES DE LOGS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0208" y="6712976"/>
            <a:ext cx="12587585" cy="22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TRACE: Informacion muy detallada 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DEBUG: Informacion de depuracion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INFO: Eventos normales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WARN: Advertencias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ERROR: Fallos que necesitan atencion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13497" y="3415823"/>
            <a:ext cx="6024173" cy="5953774"/>
          </a:xfrm>
          <a:custGeom>
            <a:avLst/>
            <a:gdLst/>
            <a:ahLst/>
            <a:cxnLst/>
            <a:rect r="r" b="b" t="t" l="l"/>
            <a:pathLst>
              <a:path h="5953774" w="6024173">
                <a:moveTo>
                  <a:pt x="0" y="0"/>
                </a:moveTo>
                <a:lnTo>
                  <a:pt x="6024173" y="0"/>
                </a:lnTo>
                <a:lnTo>
                  <a:pt x="6024173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57943" y="3541639"/>
            <a:ext cx="6450551" cy="5461466"/>
          </a:xfrm>
          <a:custGeom>
            <a:avLst/>
            <a:gdLst/>
            <a:ahLst/>
            <a:cxnLst/>
            <a:rect r="r" b="b" t="t" l="l"/>
            <a:pathLst>
              <a:path h="5461466" w="6450551">
                <a:moveTo>
                  <a:pt x="0" y="0"/>
                </a:moveTo>
                <a:lnTo>
                  <a:pt x="6450551" y="0"/>
                </a:lnTo>
                <a:lnTo>
                  <a:pt x="6450551" y="5461467"/>
                </a:lnTo>
                <a:lnTo>
                  <a:pt x="0" y="5461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EJEMPLO DE USO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MANEJO DE CONFIGURACIONES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729373" y="-403501"/>
            <a:ext cx="3651198" cy="3651198"/>
          </a:xfrm>
          <a:custGeom>
            <a:avLst/>
            <a:gdLst/>
            <a:ahLst/>
            <a:cxnLst/>
            <a:rect r="r" b="b" t="t" l="l"/>
            <a:pathLst>
              <a:path h="3651198" w="3651198">
                <a:moveTo>
                  <a:pt x="0" y="0"/>
                </a:moveTo>
                <a:lnTo>
                  <a:pt x="3651198" y="0"/>
                </a:lnTo>
                <a:lnTo>
                  <a:pt x="3651198" y="3651197"/>
                </a:lnTo>
                <a:lnTo>
                  <a:pt x="0" y="3651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802994" y="6629378"/>
            <a:ext cx="4246185" cy="3123530"/>
          </a:xfrm>
          <a:custGeom>
            <a:avLst/>
            <a:gdLst/>
            <a:ahLst/>
            <a:cxnLst/>
            <a:rect r="r" b="b" t="t" l="l"/>
            <a:pathLst>
              <a:path h="3123530" w="4246185">
                <a:moveTo>
                  <a:pt x="0" y="0"/>
                </a:moveTo>
                <a:lnTo>
                  <a:pt x="4246185" y="0"/>
                </a:lnTo>
                <a:lnTo>
                  <a:pt x="4246185" y="3123530"/>
                </a:lnTo>
                <a:lnTo>
                  <a:pt x="0" y="3123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20443" y="6629378"/>
            <a:ext cx="3003070" cy="3187874"/>
          </a:xfrm>
          <a:custGeom>
            <a:avLst/>
            <a:gdLst/>
            <a:ahLst/>
            <a:cxnLst/>
            <a:rect r="r" b="b" t="t" l="l"/>
            <a:pathLst>
              <a:path h="3187874" w="3003070">
                <a:moveTo>
                  <a:pt x="0" y="0"/>
                </a:moveTo>
                <a:lnTo>
                  <a:pt x="3003070" y="0"/>
                </a:lnTo>
                <a:lnTo>
                  <a:pt x="3003070" y="3187874"/>
                </a:lnTo>
                <a:lnTo>
                  <a:pt x="0" y="318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20574" y="2115596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APPLICATION PROPERTIES VS YML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1017" y="4160721"/>
            <a:ext cx="12587585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Spring boot los archivos de configuracion son el punto central para definir propiedades del sistema: como lo son los puertos, la conexion con base de datos, la configuracion de los logs y variables personalizadas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1017" y="5887182"/>
            <a:ext cx="1258758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boot permite dos formatos: .properties y .yml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54246" y="3702093"/>
            <a:ext cx="4094134" cy="6030937"/>
          </a:xfrm>
          <a:custGeom>
            <a:avLst/>
            <a:gdLst/>
            <a:ahLst/>
            <a:cxnLst/>
            <a:rect r="r" b="b" t="t" l="l"/>
            <a:pathLst>
              <a:path h="6030937" w="4094134">
                <a:moveTo>
                  <a:pt x="0" y="0"/>
                </a:moveTo>
                <a:lnTo>
                  <a:pt x="4094134" y="0"/>
                </a:lnTo>
                <a:lnTo>
                  <a:pt x="4094134" y="6030937"/>
                </a:lnTo>
                <a:lnTo>
                  <a:pt x="0" y="6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20574" y="2115596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APPLICATION PROPERTIES VS YML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49897" y="4033524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definir perfiles por tipo de ambiente y asi separar sus configuraciones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4598" y="5462909"/>
            <a:ext cx="8867075" cy="182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usar desde el codigo con anotaciones como @Value o generando un Configuration properties utilizando la anotacion @ConfigurationProperties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0057" y="7714058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Nunca expongan contraseñas o secretos en los repositorios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4758" y="8838644"/>
            <a:ext cx="8867075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 .yml si la configuracion es compleja, .properties si es simple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MANEJO DE EXCEPCIONES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37606" y="-386554"/>
            <a:ext cx="3803789" cy="3803789"/>
          </a:xfrm>
          <a:custGeom>
            <a:avLst/>
            <a:gdLst/>
            <a:ahLst/>
            <a:cxnLst/>
            <a:rect r="r" b="b" t="t" l="l"/>
            <a:pathLst>
              <a:path h="3803789" w="3803789">
                <a:moveTo>
                  <a:pt x="0" y="0"/>
                </a:moveTo>
                <a:lnTo>
                  <a:pt x="3803789" y="0"/>
                </a:lnTo>
                <a:lnTo>
                  <a:pt x="3803789" y="3803789"/>
                </a:lnTo>
                <a:lnTo>
                  <a:pt x="0" y="3803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49765" y="2592584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INPUT VS VALIDACIONES DE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355" y="4666659"/>
            <a:ext cx="13295290" cy="268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Separar bien las validaciones: input en DTOs, negocio en servicios.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Mensajes claros de error para el cliente.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No confiar solo en la UI → Validar siempre en el backend.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Combinar ambas: primero input, luego negocio.</a:t>
            </a:r>
          </a:p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Centralizar reglas de negocio → No duplicarlas en varios servicios.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8949" y="8219337"/>
            <a:ext cx="13295290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input garantizan que los datos son correctos en forma.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Validaciones de negocio garantizan que los datos son válidos en el contexto de la aplicación.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79710" y="4628362"/>
            <a:ext cx="4258525" cy="4114800"/>
          </a:xfrm>
          <a:custGeom>
            <a:avLst/>
            <a:gdLst/>
            <a:ahLst/>
            <a:cxnLst/>
            <a:rect r="r" b="b" t="t" l="l"/>
            <a:pathLst>
              <a:path h="4114800" w="4258525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49765" y="2592584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MANEJO DE ERRORES EN UN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1881" y="5446503"/>
            <a:ext cx="7216877" cy="16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ERRORES PERSONALIZADOS</a:t>
            </a:r>
          </a:p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TRY - CATCH</a:t>
            </a:r>
          </a:p>
          <a:p>
            <a:pPr algn="ctr" marL="659794" indent="-329897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 HANDLER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36917" y="3691619"/>
            <a:ext cx="12587585" cy="41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una clase o componente que intercepta los errores que ocurren en la aplicación.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no llenar el código de try/catch en todos los controladores.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 que el cliente reciba respuestas uniformes (códigos HTTP y mensajes claros).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ERROR HANDLER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3255340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@ExceptionHandler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41423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@Controller Advice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67859" y="7419237"/>
            <a:ext cx="13713284" cy="200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@RestControllerAdvice</a:t>
            </a: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</a:pPr>
          </a:p>
          <a:p>
            <a:pPr algn="ctr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5435" y="3389491"/>
            <a:ext cx="6017828" cy="6619610"/>
          </a:xfrm>
          <a:custGeom>
            <a:avLst/>
            <a:gdLst/>
            <a:ahLst/>
            <a:cxnLst/>
            <a:rect r="r" b="b" t="t" l="l"/>
            <a:pathLst>
              <a:path h="6619610" w="6017828">
                <a:moveTo>
                  <a:pt x="0" y="0"/>
                </a:moveTo>
                <a:lnTo>
                  <a:pt x="6017828" y="0"/>
                </a:lnTo>
                <a:lnTo>
                  <a:pt x="6017828" y="6619611"/>
                </a:lnTo>
                <a:lnTo>
                  <a:pt x="0" y="661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04118" y="4386339"/>
            <a:ext cx="7533533" cy="2060930"/>
          </a:xfrm>
          <a:custGeom>
            <a:avLst/>
            <a:gdLst/>
            <a:ahLst/>
            <a:cxnLst/>
            <a:rect r="r" b="b" t="t" l="l"/>
            <a:pathLst>
              <a:path h="2060930" w="7533533">
                <a:moveTo>
                  <a:pt x="0" y="0"/>
                </a:moveTo>
                <a:lnTo>
                  <a:pt x="7533533" y="0"/>
                </a:lnTo>
                <a:lnTo>
                  <a:pt x="7533533" y="2060929"/>
                </a:lnTo>
                <a:lnTo>
                  <a:pt x="0" y="2060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3367" y="7271527"/>
            <a:ext cx="2935101" cy="1804013"/>
          </a:xfrm>
          <a:custGeom>
            <a:avLst/>
            <a:gdLst/>
            <a:ahLst/>
            <a:cxnLst/>
            <a:rect r="r" b="b" t="t" l="l"/>
            <a:pathLst>
              <a:path h="1804013" w="2935101">
                <a:moveTo>
                  <a:pt x="0" y="0"/>
                </a:moveTo>
                <a:lnTo>
                  <a:pt x="2935101" y="0"/>
                </a:lnTo>
                <a:lnTo>
                  <a:pt x="2935101" y="1804013"/>
                </a:lnTo>
                <a:lnTo>
                  <a:pt x="0" y="1804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10683" y="6978268"/>
            <a:ext cx="3526969" cy="1053388"/>
          </a:xfrm>
          <a:custGeom>
            <a:avLst/>
            <a:gdLst/>
            <a:ahLst/>
            <a:cxnLst/>
            <a:rect r="r" b="b" t="t" l="l"/>
            <a:pathLst>
              <a:path h="1053388" w="3526969">
                <a:moveTo>
                  <a:pt x="0" y="0"/>
                </a:moveTo>
                <a:lnTo>
                  <a:pt x="3526968" y="0"/>
                </a:lnTo>
                <a:lnTo>
                  <a:pt x="3526968" y="1053388"/>
                </a:lnTo>
                <a:lnTo>
                  <a:pt x="0" y="1053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10683" y="8222688"/>
            <a:ext cx="3656749" cy="852852"/>
          </a:xfrm>
          <a:custGeom>
            <a:avLst/>
            <a:gdLst/>
            <a:ahLst/>
            <a:cxnLst/>
            <a:rect r="r" b="b" t="t" l="l"/>
            <a:pathLst>
              <a:path h="852852" w="3656749">
                <a:moveTo>
                  <a:pt x="0" y="0"/>
                </a:moveTo>
                <a:lnTo>
                  <a:pt x="3656748" y="0"/>
                </a:lnTo>
                <a:lnTo>
                  <a:pt x="3656748" y="852852"/>
                </a:lnTo>
                <a:lnTo>
                  <a:pt x="0" y="852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26263" y="9266040"/>
            <a:ext cx="2825588" cy="743061"/>
          </a:xfrm>
          <a:custGeom>
            <a:avLst/>
            <a:gdLst/>
            <a:ahLst/>
            <a:cxnLst/>
            <a:rect r="r" b="b" t="t" l="l"/>
            <a:pathLst>
              <a:path h="743061" w="2825588">
                <a:moveTo>
                  <a:pt x="0" y="0"/>
                </a:moveTo>
                <a:lnTo>
                  <a:pt x="2825588" y="0"/>
                </a:lnTo>
                <a:lnTo>
                  <a:pt x="2825588" y="743062"/>
                </a:lnTo>
                <a:lnTo>
                  <a:pt x="0" y="743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ERROR HANDLER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950" y="3336140"/>
            <a:ext cx="5980918" cy="6158657"/>
          </a:xfrm>
          <a:custGeom>
            <a:avLst/>
            <a:gdLst/>
            <a:ahLst/>
            <a:cxnLst/>
            <a:rect r="r" b="b" t="t" l="l"/>
            <a:pathLst>
              <a:path h="6158657" w="5980918">
                <a:moveTo>
                  <a:pt x="0" y="0"/>
                </a:moveTo>
                <a:lnTo>
                  <a:pt x="5980919" y="0"/>
                </a:lnTo>
                <a:lnTo>
                  <a:pt x="5980919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336140"/>
            <a:ext cx="7526346" cy="5732139"/>
          </a:xfrm>
          <a:custGeom>
            <a:avLst/>
            <a:gdLst/>
            <a:ahLst/>
            <a:cxnLst/>
            <a:rect r="r" b="b" t="t" l="l"/>
            <a:pathLst>
              <a:path h="5732139" w="7526346">
                <a:moveTo>
                  <a:pt x="0" y="0"/>
                </a:moveTo>
                <a:lnTo>
                  <a:pt x="7526346" y="0"/>
                </a:lnTo>
                <a:lnTo>
                  <a:pt x="7526346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CODIGOS HTTP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MODULO DE DIAGRAMACION #4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797163" y="-386554"/>
            <a:ext cx="3803789" cy="3803789"/>
          </a:xfrm>
          <a:custGeom>
            <a:avLst/>
            <a:gdLst/>
            <a:ahLst/>
            <a:cxnLst/>
            <a:rect r="r" b="b" t="t" l="l"/>
            <a:pathLst>
              <a:path h="3803789" w="3803789">
                <a:moveTo>
                  <a:pt x="0" y="0"/>
                </a:moveTo>
                <a:lnTo>
                  <a:pt x="3803788" y="0"/>
                </a:lnTo>
                <a:lnTo>
                  <a:pt x="3803788" y="3803789"/>
                </a:lnTo>
                <a:lnTo>
                  <a:pt x="0" y="3803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9762" y="3959663"/>
            <a:ext cx="8705866" cy="5197806"/>
          </a:xfrm>
          <a:custGeom>
            <a:avLst/>
            <a:gdLst/>
            <a:ahLst/>
            <a:cxnLst/>
            <a:rect r="r" b="b" t="t" l="l"/>
            <a:pathLst>
              <a:path h="5197806" w="8705866">
                <a:moveTo>
                  <a:pt x="0" y="0"/>
                </a:moveTo>
                <a:lnTo>
                  <a:pt x="8705866" y="0"/>
                </a:lnTo>
                <a:lnTo>
                  <a:pt x="8705866" y="5197805"/>
                </a:lnTo>
                <a:lnTo>
                  <a:pt x="0" y="5197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DIAGRAMAS DE SECUENCIA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0405" y="4200011"/>
            <a:ext cx="7974240" cy="435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 una representación gráfica que muestra la interacción de objetos en un sistema a lo largo del tiempo. 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•Estos diagramas capturan la secuencia de mensajes intercambiados entre objetos y el orden en que ocurren estas interacciones, presentándolos como líneas de vida verticales y flechas horizontales. 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•Esencialmente, los diagramas de secuencia ofrecen una visualización cronológica de las interacciones de objetos, brindando perspectivas sobre el comportamiento dinámico y flujo de un sistema.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  <a:r>
              <a:rPr lang="en-US" sz="17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•Son especialmente útiles para visualizar y comprender las interacciones entre diferentes partes de un sistema a lo largo del tiempo</a:t>
            </a:r>
          </a:p>
          <a:p>
            <a:pPr algn="l">
              <a:lnSpc>
                <a:spcPts val="2497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9762" y="3959663"/>
            <a:ext cx="8705866" cy="5197806"/>
          </a:xfrm>
          <a:custGeom>
            <a:avLst/>
            <a:gdLst/>
            <a:ahLst/>
            <a:cxnLst/>
            <a:rect r="r" b="b" t="t" l="l"/>
            <a:pathLst>
              <a:path h="5197806" w="8705866">
                <a:moveTo>
                  <a:pt x="0" y="0"/>
                </a:moveTo>
                <a:lnTo>
                  <a:pt x="8705866" y="0"/>
                </a:lnTo>
                <a:lnTo>
                  <a:pt x="8705866" y="5197805"/>
                </a:lnTo>
                <a:lnTo>
                  <a:pt x="0" y="5197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69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DIAGRAMAS DE SECUENCIA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4390" y="4119285"/>
            <a:ext cx="7868859" cy="499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Líneas de vida que se ven como líneas verticales discontinuas con el nombre del componente en la parte superior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Mensajes que marcan las interacciones entre líneas de vida representadas como flechas, los mensajes síncronos se muestran como flechas negras, los asíncronos como flechas blancas y los mensajes de respuesta son flechas con líneas discontinuas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Barras de activación que muestran la duración de la actividad, siendo los rectángulos delgados sobre la línea de vida</a:t>
            </a:r>
          </a:p>
          <a:p>
            <a:pPr algn="l" marL="414824" indent="-207412" lvl="1">
              <a:lnSpc>
                <a:spcPts val="2689"/>
              </a:lnSpc>
              <a:buFont typeface="Arial"/>
              <a:buChar char="•"/>
            </a:pPr>
            <a:r>
              <a:rPr lang="en-US" sz="1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Fragmentos que encapsulan comportamientos complicados o condicionales como bucles o alternativas o acciones concurrentes ( alt, opt, loop, par), suelen aparecer estas etiquetas en la parte superior izquierda de la caja.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92623" y="3801191"/>
            <a:ext cx="15721487" cy="46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SERVICIOS Y APIS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50350" y="-338143"/>
            <a:ext cx="3778303" cy="3778303"/>
          </a:xfrm>
          <a:custGeom>
            <a:avLst/>
            <a:gdLst/>
            <a:ahLst/>
            <a:cxnLst/>
            <a:rect r="r" b="b" t="t" l="l"/>
            <a:pathLst>
              <a:path h="3778303" w="3778303">
                <a:moveTo>
                  <a:pt x="0" y="0"/>
                </a:moveTo>
                <a:lnTo>
                  <a:pt x="3778302" y="0"/>
                </a:lnTo>
                <a:lnTo>
                  <a:pt x="3778302" y="3778303"/>
                </a:lnTo>
                <a:lnTo>
                  <a:pt x="0" y="3778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86707" y="8705078"/>
            <a:ext cx="3407849" cy="1106444"/>
          </a:xfrm>
          <a:custGeom>
            <a:avLst/>
            <a:gdLst/>
            <a:ahLst/>
            <a:cxnLst/>
            <a:rect r="r" b="b" t="t" l="l"/>
            <a:pathLst>
              <a:path h="1106444" w="3407849">
                <a:moveTo>
                  <a:pt x="0" y="0"/>
                </a:moveTo>
                <a:lnTo>
                  <a:pt x="3407849" y="0"/>
                </a:lnTo>
                <a:lnTo>
                  <a:pt x="3407849" y="1106444"/>
                </a:lnTo>
                <a:lnTo>
                  <a:pt x="0" y="1106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36917" y="4661495"/>
            <a:ext cx="12587585" cy="45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la práctica de gestionar diferentes versiones de una API o servicio para que: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Nuevas funcionalidades puedan añadirse.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 en la lógica no rompan integraciones existentes.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 puedan migrar de forma controlada a nuevas versiones.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60690" y="9071938"/>
            <a:ext cx="6426168" cy="984355"/>
          </a:xfrm>
          <a:custGeom>
            <a:avLst/>
            <a:gdLst/>
            <a:ahLst/>
            <a:cxnLst/>
            <a:rect r="r" b="b" t="t" l="l"/>
            <a:pathLst>
              <a:path h="984355" w="6426168">
                <a:moveTo>
                  <a:pt x="0" y="0"/>
                </a:moveTo>
                <a:lnTo>
                  <a:pt x="6426168" y="0"/>
                </a:lnTo>
                <a:lnTo>
                  <a:pt x="6426168" y="984356"/>
                </a:lnTo>
                <a:lnTo>
                  <a:pt x="0" y="98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6474" y="232229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USAR EL VERSIONAMIENTO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863" y="7909921"/>
            <a:ext cx="8412846" cy="51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  <a:spcBef>
                <a:spcPct val="0"/>
              </a:spcBef>
            </a:pPr>
            <a:r>
              <a:rPr lang="en-US" sz="3044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EN LA URL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7351" y="7909921"/>
            <a:ext cx="8412846" cy="10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  <a:spcBef>
                <a:spcPct val="0"/>
              </a:spcBef>
            </a:pPr>
            <a:r>
              <a:rPr lang="en-US" sz="3044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EN EL HEADER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32848" y="4154438"/>
            <a:ext cx="7627638" cy="5348842"/>
          </a:xfrm>
          <a:custGeom>
            <a:avLst/>
            <a:gdLst/>
            <a:ahLst/>
            <a:cxnLst/>
            <a:rect r="r" b="b" t="t" l="l"/>
            <a:pathLst>
              <a:path h="5348842" w="7627638">
                <a:moveTo>
                  <a:pt x="0" y="0"/>
                </a:moveTo>
                <a:lnTo>
                  <a:pt x="7627638" y="0"/>
                </a:lnTo>
                <a:lnTo>
                  <a:pt x="7627638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6474" y="2322291"/>
            <a:ext cx="11188470" cy="14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8"/>
              </a:lnSpc>
              <a:spcBef>
                <a:spcPct val="0"/>
              </a:spcBef>
            </a:pPr>
            <a:r>
              <a:rPr lang="en-US" sz="4048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COMO USAR EL VERSIONAMIENTO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3256" y="4303060"/>
            <a:ext cx="15721487" cy="307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3"/>
              </a:lnSpc>
              <a:spcBef>
                <a:spcPct val="0"/>
              </a:spcBef>
            </a:pPr>
            <a:r>
              <a:rPr lang="en-US" sz="88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VERSIONAMIENTO DE RAMAS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509058" y="-318765"/>
            <a:ext cx="4015565" cy="4015565"/>
          </a:xfrm>
          <a:custGeom>
            <a:avLst/>
            <a:gdLst/>
            <a:ahLst/>
            <a:cxnLst/>
            <a:rect r="r" b="b" t="t" l="l"/>
            <a:pathLst>
              <a:path h="4015565" w="4015565">
                <a:moveTo>
                  <a:pt x="0" y="0"/>
                </a:moveTo>
                <a:lnTo>
                  <a:pt x="4015565" y="0"/>
                </a:lnTo>
                <a:lnTo>
                  <a:pt x="4015565" y="4015565"/>
                </a:lnTo>
                <a:lnTo>
                  <a:pt x="0" y="4015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83210" y="3072809"/>
            <a:ext cx="12740315" cy="5573888"/>
          </a:xfrm>
          <a:custGeom>
            <a:avLst/>
            <a:gdLst/>
            <a:ahLst/>
            <a:cxnLst/>
            <a:rect r="r" b="b" t="t" l="l"/>
            <a:pathLst>
              <a:path h="5573888" w="12740315">
                <a:moveTo>
                  <a:pt x="0" y="0"/>
                </a:moveTo>
                <a:lnTo>
                  <a:pt x="12740314" y="0"/>
                </a:lnTo>
                <a:lnTo>
                  <a:pt x="12740314" y="5573888"/>
                </a:lnTo>
                <a:lnTo>
                  <a:pt x="0" y="5573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55318" y="4517068"/>
            <a:ext cx="14968365" cy="214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DOSW Company se nos ha asigando un sistema de gestión de bibliotecas, donde hay clases que representan Libro, Usuario, Préstamo. Los usuarios pueden tomar prestados libros de la biblioteca, y la Biblioteca se encarga de gestionar los préstamos, asegurarse de que los libros estén disponibles, y mantener un registro de los libros prestados.</a:t>
            </a:r>
          </a:p>
          <a:p>
            <a:pPr algn="ctr">
              <a:lnSpc>
                <a:spcPts val="340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55318" y="7322960"/>
            <a:ext cx="14968365" cy="86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IMPORTANTE: Se les pidio previamente que tuvieran listo el proyecto en git, porfavor abrirlo en su IDE para iniciar a trabajar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COMPONENTES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968842" y="6048152"/>
            <a:ext cx="2407378" cy="2913619"/>
          </a:xfrm>
          <a:custGeom>
            <a:avLst/>
            <a:gdLst/>
            <a:ahLst/>
            <a:cxnLst/>
            <a:rect r="r" b="b" t="t" l="l"/>
            <a:pathLst>
              <a:path h="2913619" w="2407378">
                <a:moveTo>
                  <a:pt x="0" y="0"/>
                </a:moveTo>
                <a:lnTo>
                  <a:pt x="2407377" y="0"/>
                </a:lnTo>
                <a:lnTo>
                  <a:pt x="2407377" y="2913619"/>
                </a:lnTo>
                <a:lnTo>
                  <a:pt x="0" y="291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51049" y="5672232"/>
            <a:ext cx="4023525" cy="3913792"/>
          </a:xfrm>
          <a:custGeom>
            <a:avLst/>
            <a:gdLst/>
            <a:ahLst/>
            <a:cxnLst/>
            <a:rect r="r" b="b" t="t" l="l"/>
            <a:pathLst>
              <a:path h="3913792" w="4023525">
                <a:moveTo>
                  <a:pt x="0" y="0"/>
                </a:moveTo>
                <a:lnTo>
                  <a:pt x="4023525" y="0"/>
                </a:lnTo>
                <a:lnTo>
                  <a:pt x="4023525" y="3913793"/>
                </a:lnTo>
                <a:lnTo>
                  <a:pt x="0" y="39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61678" y="6048152"/>
            <a:ext cx="2589928" cy="2762590"/>
          </a:xfrm>
          <a:custGeom>
            <a:avLst/>
            <a:gdLst/>
            <a:ahLst/>
            <a:cxnLst/>
            <a:rect r="r" b="b" t="t" l="l"/>
            <a:pathLst>
              <a:path h="2762590" w="2589928">
                <a:moveTo>
                  <a:pt x="0" y="0"/>
                </a:moveTo>
                <a:lnTo>
                  <a:pt x="2589927" y="0"/>
                </a:lnTo>
                <a:lnTo>
                  <a:pt x="2589927" y="2762590"/>
                </a:lnTo>
                <a:lnTo>
                  <a:pt x="0" y="276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38665" y="4017960"/>
            <a:ext cx="1100167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Book: representa un libro disponible en la biblioteca.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User: representa a una persona registrada en el sistema que puede solicitar préstamos.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Loan: representa el préstamo de un libro a un usuario.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968842" y="6048152"/>
            <a:ext cx="2407378" cy="2913619"/>
          </a:xfrm>
          <a:custGeom>
            <a:avLst/>
            <a:gdLst/>
            <a:ahLst/>
            <a:cxnLst/>
            <a:rect r="r" b="b" t="t" l="l"/>
            <a:pathLst>
              <a:path h="2913619" w="2407378">
                <a:moveTo>
                  <a:pt x="0" y="0"/>
                </a:moveTo>
                <a:lnTo>
                  <a:pt x="2407377" y="0"/>
                </a:lnTo>
                <a:lnTo>
                  <a:pt x="2407377" y="2913619"/>
                </a:lnTo>
                <a:lnTo>
                  <a:pt x="0" y="291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51049" y="5672232"/>
            <a:ext cx="4023525" cy="3913792"/>
          </a:xfrm>
          <a:custGeom>
            <a:avLst/>
            <a:gdLst/>
            <a:ahLst/>
            <a:cxnLst/>
            <a:rect r="r" b="b" t="t" l="l"/>
            <a:pathLst>
              <a:path h="3913792" w="4023525">
                <a:moveTo>
                  <a:pt x="0" y="0"/>
                </a:moveTo>
                <a:lnTo>
                  <a:pt x="4023525" y="0"/>
                </a:lnTo>
                <a:lnTo>
                  <a:pt x="4023525" y="3913793"/>
                </a:lnTo>
                <a:lnTo>
                  <a:pt x="0" y="39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96032" y="6048152"/>
            <a:ext cx="2589928" cy="2762590"/>
          </a:xfrm>
          <a:custGeom>
            <a:avLst/>
            <a:gdLst/>
            <a:ahLst/>
            <a:cxnLst/>
            <a:rect r="r" b="b" t="t" l="l"/>
            <a:pathLst>
              <a:path h="2762590" w="2589928">
                <a:moveTo>
                  <a:pt x="0" y="0"/>
                </a:moveTo>
                <a:lnTo>
                  <a:pt x="2589927" y="0"/>
                </a:lnTo>
                <a:lnTo>
                  <a:pt x="2589927" y="2762590"/>
                </a:lnTo>
                <a:lnTo>
                  <a:pt x="0" y="276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24077" y="4539295"/>
            <a:ext cx="28521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Book: Title, author, 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6740" y="4539295"/>
            <a:ext cx="211216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User: name, 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1678" y="4467860"/>
            <a:ext cx="5448563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Loan: book, user, loanDate, status, returnDate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62168" y="6286738"/>
            <a:ext cx="186090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STATUS: ACTIVE, RETURNED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65871" y="3861313"/>
            <a:ext cx="7451771" cy="5588829"/>
          </a:xfrm>
          <a:custGeom>
            <a:avLst/>
            <a:gdLst/>
            <a:ahLst/>
            <a:cxnLst/>
            <a:rect r="r" b="b" t="t" l="l"/>
            <a:pathLst>
              <a:path h="5588829" w="7451771">
                <a:moveTo>
                  <a:pt x="0" y="0"/>
                </a:moveTo>
                <a:lnTo>
                  <a:pt x="7451772" y="0"/>
                </a:lnTo>
                <a:lnTo>
                  <a:pt x="7451772" y="5588828"/>
                </a:lnTo>
                <a:lnTo>
                  <a:pt x="0" y="558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9501" y="3916276"/>
            <a:ext cx="7919799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usuarios podrán tomar prestados libros de la biblioteca, y el sistema deberá encargarse de gestionar los préstamos, verificar que los libros estén disponibles y mantener un registro de los libros que han sido prestados.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9501" y="5593934"/>
            <a:ext cx="791979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agregar libros, un usuario puede obtener todos los libros, obtener un libro por su codigo de identificacion, y se puede actualizar si un libro esta disponible o 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9501" y="7088724"/>
            <a:ext cx="7919799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pueden registrar usuarios, obtener todos los usuarios registrados, y obtener un usuario dependiendo su identificacion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495558" y="3824229"/>
            <a:ext cx="4109485" cy="5725179"/>
          </a:xfrm>
          <a:custGeom>
            <a:avLst/>
            <a:gdLst/>
            <a:ahLst/>
            <a:cxnLst/>
            <a:rect r="r" b="b" t="t" l="l"/>
            <a:pathLst>
              <a:path h="5725179" w="4109485">
                <a:moveTo>
                  <a:pt x="0" y="0"/>
                </a:moveTo>
                <a:lnTo>
                  <a:pt x="4109485" y="0"/>
                </a:lnTo>
                <a:lnTo>
                  <a:pt x="4109485" y="5725180"/>
                </a:lnTo>
                <a:lnTo>
                  <a:pt x="0" y="5725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29828" y="3873957"/>
            <a:ext cx="4442685" cy="5625724"/>
          </a:xfrm>
          <a:custGeom>
            <a:avLst/>
            <a:gdLst/>
            <a:ahLst/>
            <a:cxnLst/>
            <a:rect r="r" b="b" t="t" l="l"/>
            <a:pathLst>
              <a:path h="5625724" w="4442685">
                <a:moveTo>
                  <a:pt x="0" y="0"/>
                </a:moveTo>
                <a:lnTo>
                  <a:pt x="4442685" y="0"/>
                </a:lnTo>
                <a:lnTo>
                  <a:pt x="4442685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366225" y="5837495"/>
            <a:ext cx="2535621" cy="1004617"/>
            <a:chOff x="0" y="0"/>
            <a:chExt cx="2051481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1481" cy="812800"/>
            </a:xfrm>
            <a:custGeom>
              <a:avLst/>
              <a:gdLst/>
              <a:ahLst/>
              <a:cxnLst/>
              <a:rect r="r" b="b" t="t" l="l"/>
              <a:pathLst>
                <a:path h="812800" w="2051481">
                  <a:moveTo>
                    <a:pt x="2051481" y="406400"/>
                  </a:moveTo>
                  <a:lnTo>
                    <a:pt x="1645081" y="0"/>
                  </a:lnTo>
                  <a:lnTo>
                    <a:pt x="164508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645081" y="609600"/>
                  </a:lnTo>
                  <a:lnTo>
                    <a:pt x="1645081" y="812800"/>
                  </a:lnTo>
                  <a:lnTo>
                    <a:pt x="2051481" y="406400"/>
                  </a:lnTo>
                  <a:close/>
                </a:path>
              </a:pathLst>
            </a:custGeom>
            <a:solidFill>
              <a:srgbClr val="009F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194988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123609" y="4220427"/>
            <a:ext cx="6431785" cy="3186115"/>
          </a:xfrm>
          <a:custGeom>
            <a:avLst/>
            <a:gdLst/>
            <a:ahLst/>
            <a:cxnLst/>
            <a:rect r="r" b="b" t="t" l="l"/>
            <a:pathLst>
              <a:path h="3186115" w="6431785">
                <a:moveTo>
                  <a:pt x="0" y="0"/>
                </a:moveTo>
                <a:lnTo>
                  <a:pt x="6431784" y="0"/>
                </a:lnTo>
                <a:lnTo>
                  <a:pt x="6431784" y="3186115"/>
                </a:lnTo>
                <a:lnTo>
                  <a:pt x="0" y="3186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48437" y="8548837"/>
            <a:ext cx="15191050" cy="102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model contendrá las entidades del dominio (Book, User, Loan).</a:t>
            </a:r>
          </a:p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service contendrá la lógica de negocio encargada de gestionar el funcionamiento de la biblioteca.</a:t>
            </a:r>
          </a:p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capa controller estará dividida en controladores especializados encargados de manejar las operaciones del sistema.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COMPONENTES ESPECIFICO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15865" y="3698922"/>
            <a:ext cx="8056269" cy="5528615"/>
          </a:xfrm>
          <a:custGeom>
            <a:avLst/>
            <a:gdLst/>
            <a:ahLst/>
            <a:cxnLst/>
            <a:rect r="r" b="b" t="t" l="l"/>
            <a:pathLst>
              <a:path h="5528615" w="8056269">
                <a:moveTo>
                  <a:pt x="0" y="0"/>
                </a:moveTo>
                <a:lnTo>
                  <a:pt x="8056270" y="0"/>
                </a:lnTo>
                <a:lnTo>
                  <a:pt x="8056270" y="5528615"/>
                </a:lnTo>
                <a:lnTo>
                  <a:pt x="0" y="552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817" y="9420408"/>
            <a:ext cx="14968365" cy="44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 DE LA BIBLIOTECA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EJERCICIO EN CLASE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8250" y="3863626"/>
            <a:ext cx="15191050" cy="68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servicio va a manejar un listado de Usuarios, un listado de prestamos y un Mapa de Libros (Libro y la cantidad de ejemplares que tiene)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8250" y="4941508"/>
            <a:ext cx="15191050" cy="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Diseñe los metodos necesarios para cumplir con las funcionalidades que la libreria necesita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8250" y="5467730"/>
            <a:ext cx="15191050" cy="170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creados, es momento de realizar las pruebas correspondientes: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Establezca los escenarios necesarios que se pueden presentar y que necesita cubrir - (Exitosos y de Error)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Cree las clases de prueba y usando JUNIT cree las implementaciones de las mismas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Ejecute las pruebas y revise que todas funcionan correctamente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Ejecute analisis de cobertura y analisis estatico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8250" y="7685937"/>
            <a:ext cx="15191050" cy="136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Sube los cambios en tu repositorio y en el README.md sube una prueba de: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ejecucion de las funcionalidades de su API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ejecucion de las pruebas de los servicios </a:t>
            </a:r>
          </a:p>
          <a:p>
            <a:pPr algn="l" marL="833568" indent="-277856" lvl="2">
              <a:lnSpc>
                <a:spcPts val="2702"/>
              </a:lnSpc>
              <a:buFont typeface="Arial"/>
              <a:buChar char="⚬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cobertura y analisis estatico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8250" y="9229900"/>
            <a:ext cx="15191050" cy="68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84" indent="-208392" lvl="1">
              <a:lnSpc>
                <a:spcPts val="2702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esta semana en tu bitacora solo pon en el README el link de este repositorio - ESA ES LA EVIDENCIA DEL TRABAJO HECHO EN CLASE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746" y="2211950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TAREA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2495" y="4144227"/>
            <a:ext cx="13569759" cy="90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4675" indent="-272337" lvl="1">
              <a:lnSpc>
                <a:spcPts val="3531"/>
              </a:lnSpc>
              <a:buAutoNum type="arabicPeriod" startAt="1"/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Investigar sobre el uso de SWAGGER en sus APIS , estableciendo la diferencia entre uzarla con anotaciones o con un documento open api.yaml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1375" y="5298303"/>
            <a:ext cx="13151999" cy="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Implementar las dependencias necesarias en sus proyectos con relacion a logs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0322" y="6003331"/>
            <a:ext cx="14998357" cy="90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Investigar como utilizar las propiedades desde los archivos de configuracion a una implementacion en codigo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60943" y="7153617"/>
            <a:ext cx="14998357" cy="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675" indent="-272337" lvl="1">
              <a:lnSpc>
                <a:spcPts val="3531"/>
              </a:lnSpc>
              <a:buAutoNum type="arabicPeriod" startAt="1"/>
            </a:pPr>
            <a:r>
              <a:rPr lang="en-US" sz="25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Terminar el ejercicio de la biblioteca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50009" y="3336692"/>
            <a:ext cx="4806717" cy="4806717"/>
          </a:xfrm>
          <a:custGeom>
            <a:avLst/>
            <a:gdLst/>
            <a:ahLst/>
            <a:cxnLst/>
            <a:rect r="r" b="b" t="t" l="l"/>
            <a:pathLst>
              <a:path h="4806717" w="4806717">
                <a:moveTo>
                  <a:pt x="0" y="0"/>
                </a:moveTo>
                <a:lnTo>
                  <a:pt x="4806716" y="0"/>
                </a:lnTo>
                <a:lnTo>
                  <a:pt x="4806716" y="4806717"/>
                </a:lnTo>
                <a:lnTo>
                  <a:pt x="0" y="4806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66280" y="8468248"/>
            <a:ext cx="10955440" cy="161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6"/>
              </a:lnSpc>
              <a:spcBef>
                <a:spcPct val="0"/>
              </a:spcBef>
            </a:pPr>
            <a:r>
              <a:rPr lang="en-US" sz="4626">
                <a:solidFill>
                  <a:srgbClr val="7B640E"/>
                </a:solidFill>
                <a:latin typeface="HK Modular"/>
                <a:ea typeface="HK Modular"/>
                <a:cs typeface="HK Modular"/>
                <a:sym typeface="HK Modular"/>
              </a:rPr>
              <a:t>LA SESION DE TRABAJO DEL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1247" y="1827378"/>
            <a:ext cx="13556508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NOS VEMOS EN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83583" y="-386554"/>
            <a:ext cx="2320834" cy="2320834"/>
          </a:xfrm>
          <a:custGeom>
            <a:avLst/>
            <a:gdLst/>
            <a:ahLst/>
            <a:cxnLst/>
            <a:rect r="r" b="b" t="t" l="l"/>
            <a:pathLst>
              <a:path h="2320834" w="2320834">
                <a:moveTo>
                  <a:pt x="0" y="0"/>
                </a:moveTo>
                <a:lnTo>
                  <a:pt x="2320834" y="0"/>
                </a:lnTo>
                <a:lnTo>
                  <a:pt x="2320834" y="2320834"/>
                </a:lnTo>
                <a:lnTo>
                  <a:pt x="0" y="232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DAGyUZecVOA</dc:identifier>
  <dcterms:modified xsi:type="dcterms:W3CDTF">2011-08-01T06:04:30Z</dcterms:modified>
  <cp:revision>1</cp:revision>
  <dc:title>DOSW 2 - S08</dc:title>
</cp:coreProperties>
</file>