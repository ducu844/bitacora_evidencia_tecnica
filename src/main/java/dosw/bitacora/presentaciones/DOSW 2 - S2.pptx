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presentationml.slide+xml" PartName="/ppt/slides/slide56.xml"/>
  <Override ContentType="application/vnd.openxmlformats-officedocument.presentationml.slide+xml" PartName="/ppt/slides/slide57.xml"/>
  <Override ContentType="application/vnd.openxmlformats-officedocument.presentationml.slide+xml" PartName="/ppt/slides/slide58.xml"/>
  <Override ContentType="application/vnd.openxmlformats-officedocument.presentationml.slide+xml" PartName="/ppt/slides/slide59.xml"/>
  <Override ContentType="application/vnd.openxmlformats-officedocument.presentationml.slide+xml" PartName="/ppt/slides/slide60.xml"/>
  <Override ContentType="application/vnd.openxmlformats-officedocument.presentationml.slide+xml" PartName="/ppt/slides/slide61.xml"/>
  <Override ContentType="application/vnd.openxmlformats-officedocument.presentationml.slide+xml" PartName="/ppt/slides/slide62.xml"/>
  <Override ContentType="application/vnd.openxmlformats-officedocument.presentationml.slide+xml" PartName="/ppt/slides/slide63.xml"/>
  <Override ContentType="application/vnd.openxmlformats-officedocument.presentationml.slide+xml" PartName="/ppt/slides/slide64.xml"/>
  <Override ContentType="application/vnd.openxmlformats-officedocument.presentationml.slide+xml" PartName="/ppt/slides/slide65.xml"/>
  <Override ContentType="application/vnd.openxmlformats-officedocument.presentationml.slide+xml" PartName="/ppt/slides/slide66.xml"/>
  <Override ContentType="application/vnd.openxmlformats-officedocument.presentationml.slide+xml" PartName="/ppt/slides/slide6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Lst>
  <p:sldSz cx="18288000" cy="10287000"/>
  <p:notesSz cx="6858000" cy="9144000"/>
  <p:embeddedFontLst>
    <p:embeddedFont>
      <p:font typeface="HK Modular" charset="1" panose="00000800000000000000"/>
      <p:regular r:id="rId73"/>
    </p:embeddedFont>
    <p:embeddedFont>
      <p:font typeface="RQND Pro" charset="1" panose="00000500000000000000"/>
      <p:regular r:id="rId74"/>
    </p:embeddedFont>
    <p:embeddedFont>
      <p:font typeface="Poppins" charset="1" panose="00000500000000000000"/>
      <p:regular r:id="rId75"/>
    </p:embeddedFont>
    <p:embeddedFont>
      <p:font typeface="Open Sans" charset="1" panose="020B0606030504020204"/>
      <p:regular r:id="rId7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slides/slide51.xml" Type="http://schemas.openxmlformats.org/officeDocument/2006/relationships/slide"/><Relationship Id="rId57" Target="slides/slide52.xml" Type="http://schemas.openxmlformats.org/officeDocument/2006/relationships/slide"/><Relationship Id="rId58" Target="slides/slide53.xml" Type="http://schemas.openxmlformats.org/officeDocument/2006/relationships/slide"/><Relationship Id="rId59" Target="slides/slide54.xml" Type="http://schemas.openxmlformats.org/officeDocument/2006/relationships/slide"/><Relationship Id="rId6" Target="slides/slide1.xml" Type="http://schemas.openxmlformats.org/officeDocument/2006/relationships/slide"/><Relationship Id="rId60" Target="slides/slide55.xml" Type="http://schemas.openxmlformats.org/officeDocument/2006/relationships/slide"/><Relationship Id="rId61" Target="slides/slide56.xml" Type="http://schemas.openxmlformats.org/officeDocument/2006/relationships/slide"/><Relationship Id="rId62" Target="slides/slide57.xml" Type="http://schemas.openxmlformats.org/officeDocument/2006/relationships/slide"/><Relationship Id="rId63" Target="slides/slide58.xml" Type="http://schemas.openxmlformats.org/officeDocument/2006/relationships/slide"/><Relationship Id="rId64" Target="slides/slide59.xml" Type="http://schemas.openxmlformats.org/officeDocument/2006/relationships/slide"/><Relationship Id="rId65" Target="slides/slide60.xml" Type="http://schemas.openxmlformats.org/officeDocument/2006/relationships/slide"/><Relationship Id="rId66" Target="slides/slide61.xml" Type="http://schemas.openxmlformats.org/officeDocument/2006/relationships/slide"/><Relationship Id="rId67" Target="slides/slide62.xml" Type="http://schemas.openxmlformats.org/officeDocument/2006/relationships/slide"/><Relationship Id="rId68" Target="slides/slide63.xml" Type="http://schemas.openxmlformats.org/officeDocument/2006/relationships/slide"/><Relationship Id="rId69" Target="slides/slide64.xml" Type="http://schemas.openxmlformats.org/officeDocument/2006/relationships/slide"/><Relationship Id="rId7" Target="slides/slide2.xml" Type="http://schemas.openxmlformats.org/officeDocument/2006/relationships/slide"/><Relationship Id="rId70" Target="slides/slide65.xml" Type="http://schemas.openxmlformats.org/officeDocument/2006/relationships/slide"/><Relationship Id="rId71" Target="slides/slide66.xml" Type="http://schemas.openxmlformats.org/officeDocument/2006/relationships/slide"/><Relationship Id="rId72" Target="slides/slide67.xml" Type="http://schemas.openxmlformats.org/officeDocument/2006/relationships/slide"/><Relationship Id="rId73" Target="fonts/font73.fntdata" Type="http://schemas.openxmlformats.org/officeDocument/2006/relationships/font"/><Relationship Id="rId74" Target="fonts/font74.fntdata" Type="http://schemas.openxmlformats.org/officeDocument/2006/relationships/font"/><Relationship Id="rId75" Target="fonts/font75.fntdata" Type="http://schemas.openxmlformats.org/officeDocument/2006/relationships/font"/><Relationship Id="rId76" Target="fonts/font76.fntdata" Type="http://schemas.openxmlformats.org/officeDocument/2006/relationships/font"/><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6.pn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9.jpeg" Type="http://schemas.openxmlformats.org/officeDocument/2006/relationships/image"/><Relationship Id="rId4"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6.pn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 Id="rId8" Target="../media/image10.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png" Type="http://schemas.openxmlformats.org/officeDocument/2006/relationships/image"/><Relationship Id="rId2" Target="../media/image12.jpeg" Type="http://schemas.openxmlformats.org/officeDocument/2006/relationships/image"/><Relationship Id="rId3" Target="../media/image13.png" Type="http://schemas.openxmlformats.org/officeDocument/2006/relationships/image"/><Relationship Id="rId4" Target="../media/image14.sv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 Id="rId7" Target="../media/image2.png" Type="http://schemas.openxmlformats.org/officeDocument/2006/relationships/image"/><Relationship Id="rId8" Target="../media/image3.svg" Type="http://schemas.openxmlformats.org/officeDocument/2006/relationships/image"/><Relationship Id="rId9" Target="../media/image1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18.png" Type="http://schemas.openxmlformats.org/officeDocument/2006/relationships/image"/><Relationship Id="rId4" Target="../media/image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19.png" Type="http://schemas.openxmlformats.org/officeDocument/2006/relationships/image"/><Relationship Id="rId4" Target="../media/image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20.png" Type="http://schemas.openxmlformats.org/officeDocument/2006/relationships/image"/><Relationship Id="rId4" Target="../media/image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5.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21.png" Type="http://schemas.openxmlformats.org/officeDocument/2006/relationships/image"/><Relationship Id="rId4" Target="../media/image22.png" Type="http://schemas.openxmlformats.org/officeDocument/2006/relationships/image"/><Relationship Id="rId5" Target="../media/image5.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23.png" Type="http://schemas.openxmlformats.org/officeDocument/2006/relationships/image"/><Relationship Id="rId4" Target="../media/image5.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24.png" Type="http://schemas.openxmlformats.org/officeDocument/2006/relationships/image"/><Relationship Id="rId4" Target="../media/image25.png" Type="http://schemas.openxmlformats.org/officeDocument/2006/relationships/image"/><Relationship Id="rId5" Target="../media/image5.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26.png" Type="http://schemas.openxmlformats.org/officeDocument/2006/relationships/image"/><Relationship Id="rId4" Target="../media/image27.svg" Type="http://schemas.openxmlformats.org/officeDocument/2006/relationships/image"/><Relationship Id="rId5" Target="../media/image5.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28.png" Type="http://schemas.openxmlformats.org/officeDocument/2006/relationships/image"/><Relationship Id="rId4" Target="../media/image29.svg" Type="http://schemas.openxmlformats.org/officeDocument/2006/relationships/image"/><Relationship Id="rId5" Target="../media/image30.png" Type="http://schemas.openxmlformats.org/officeDocument/2006/relationships/image"/><Relationship Id="rId6" Target="../media/image31.svg" Type="http://schemas.openxmlformats.org/officeDocument/2006/relationships/image"/><Relationship Id="rId7" Target="../media/image5.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32.png" Type="http://schemas.openxmlformats.org/officeDocument/2006/relationships/image"/><Relationship Id="rId4" Target="../media/image33.png" Type="http://schemas.openxmlformats.org/officeDocument/2006/relationships/image"/><Relationship Id="rId5" Target="../media/image34.svg" Type="http://schemas.openxmlformats.org/officeDocument/2006/relationships/image"/><Relationship Id="rId6" Target="../media/image35.png" Type="http://schemas.openxmlformats.org/officeDocument/2006/relationships/image"/><Relationship Id="rId7" Target="../media/image36.png" Type="http://schemas.openxmlformats.org/officeDocument/2006/relationships/image"/><Relationship Id="rId8" Target="../media/image37.svg" Type="http://schemas.openxmlformats.org/officeDocument/2006/relationships/image"/><Relationship Id="rId9" Target="../media/image5.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38.png" Type="http://schemas.openxmlformats.org/officeDocument/2006/relationships/image"/><Relationship Id="rId4" Target="../media/image39.svg" Type="http://schemas.openxmlformats.org/officeDocument/2006/relationships/image"/><Relationship Id="rId5" Target="../media/image5.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40.png" Type="http://schemas.openxmlformats.org/officeDocument/2006/relationships/image"/><Relationship Id="rId4" Target="../media/image41.svg" Type="http://schemas.openxmlformats.org/officeDocument/2006/relationships/image"/><Relationship Id="rId5" Target="../media/image5.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30.png" Type="http://schemas.openxmlformats.org/officeDocument/2006/relationships/image"/><Relationship Id="rId4" Target="../media/image31.svg" Type="http://schemas.openxmlformats.org/officeDocument/2006/relationships/image"/><Relationship Id="rId5" Target="../media/image42.png" Type="http://schemas.openxmlformats.org/officeDocument/2006/relationships/image"/><Relationship Id="rId6" Target="../media/image43.png" Type="http://schemas.openxmlformats.org/officeDocument/2006/relationships/image"/><Relationship Id="rId7" Target="../media/image28.png" Type="http://schemas.openxmlformats.org/officeDocument/2006/relationships/image"/><Relationship Id="rId8" Target="../media/image29.svg" Type="http://schemas.openxmlformats.org/officeDocument/2006/relationships/image"/><Relationship Id="rId9" Target="../media/image5.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44.png" Type="http://schemas.openxmlformats.org/officeDocument/2006/relationships/image"/><Relationship Id="rId4" Target="../media/image45.png" Type="http://schemas.openxmlformats.org/officeDocument/2006/relationships/image"/><Relationship Id="rId5" Target="../media/image46.png" Type="http://schemas.openxmlformats.org/officeDocument/2006/relationships/image"/><Relationship Id="rId6" Target="../media/image36.png" Type="http://schemas.openxmlformats.org/officeDocument/2006/relationships/image"/><Relationship Id="rId7" Target="../media/image37.svg" Type="http://schemas.openxmlformats.org/officeDocument/2006/relationships/image"/><Relationship Id="rId8" Target="../media/image5.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47.png" Type="http://schemas.openxmlformats.org/officeDocument/2006/relationships/image"/><Relationship Id="rId4" Target="../media/image33.png" Type="http://schemas.openxmlformats.org/officeDocument/2006/relationships/image"/><Relationship Id="rId5" Target="../media/image34.svg" Type="http://schemas.openxmlformats.org/officeDocument/2006/relationships/image"/><Relationship Id="rId6" Target="../media/image5.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48.png" Type="http://schemas.openxmlformats.org/officeDocument/2006/relationships/image"/><Relationship Id="rId4" Target="../media/image49.svg" Type="http://schemas.openxmlformats.org/officeDocument/2006/relationships/image"/><Relationship Id="rId5" Target="../media/image5.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26.png" Type="http://schemas.openxmlformats.org/officeDocument/2006/relationships/image"/><Relationship Id="rId4" Target="../media/image27.svg" Type="http://schemas.openxmlformats.org/officeDocument/2006/relationships/image"/><Relationship Id="rId5" Target="../media/image5.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28.png" Type="http://schemas.openxmlformats.org/officeDocument/2006/relationships/image"/><Relationship Id="rId4" Target="../media/image29.svg" Type="http://schemas.openxmlformats.org/officeDocument/2006/relationships/image"/><Relationship Id="rId5" Target="../media/image30.png" Type="http://schemas.openxmlformats.org/officeDocument/2006/relationships/image"/><Relationship Id="rId6" Target="../media/image31.svg" Type="http://schemas.openxmlformats.org/officeDocument/2006/relationships/image"/><Relationship Id="rId7" Target="../media/image50.png" Type="http://schemas.openxmlformats.org/officeDocument/2006/relationships/image"/><Relationship Id="rId8" Target="../media/image5.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51.png" Type="http://schemas.openxmlformats.org/officeDocument/2006/relationships/image"/><Relationship Id="rId4" Target="../media/image52.png" Type="http://schemas.openxmlformats.org/officeDocument/2006/relationships/image"/><Relationship Id="rId5" Target="../media/image36.png" Type="http://schemas.openxmlformats.org/officeDocument/2006/relationships/image"/><Relationship Id="rId6" Target="../media/image37.svg" Type="http://schemas.openxmlformats.org/officeDocument/2006/relationships/image"/><Relationship Id="rId7" Target="../media/image5.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33.png" Type="http://schemas.openxmlformats.org/officeDocument/2006/relationships/image"/><Relationship Id="rId4" Target="../media/image34.svg" Type="http://schemas.openxmlformats.org/officeDocument/2006/relationships/image"/><Relationship Id="rId5" Target="../media/image53.png" Type="http://schemas.openxmlformats.org/officeDocument/2006/relationships/image"/><Relationship Id="rId6" Target="../media/image5.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33.png" Type="http://schemas.openxmlformats.org/officeDocument/2006/relationships/image"/><Relationship Id="rId4" Target="../media/image34.svg" Type="http://schemas.openxmlformats.org/officeDocument/2006/relationships/image"/><Relationship Id="rId5" Target="../media/image54.png" Type="http://schemas.openxmlformats.org/officeDocument/2006/relationships/image"/><Relationship Id="rId6" Target="../media/image55.png" Type="http://schemas.openxmlformats.org/officeDocument/2006/relationships/image"/><Relationship Id="rId7" Target="../media/image5.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38.png" Type="http://schemas.openxmlformats.org/officeDocument/2006/relationships/image"/><Relationship Id="rId4" Target="../media/image39.svg" Type="http://schemas.openxmlformats.org/officeDocument/2006/relationships/image"/><Relationship Id="rId5" Target="../media/image5.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40.png" Type="http://schemas.openxmlformats.org/officeDocument/2006/relationships/image"/><Relationship Id="rId4" Target="../media/image41.svg" Type="http://schemas.openxmlformats.org/officeDocument/2006/relationships/image"/><Relationship Id="rId5" Target="../media/image5.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1.svg" Type="http://schemas.openxmlformats.org/officeDocument/2006/relationships/image"/><Relationship Id="rId11" Target="../media/image5.png" Type="http://schemas.openxmlformats.org/officeDocument/2006/relationships/image"/><Relationship Id="rId2" Target="../media/image11.jpeg" Type="http://schemas.openxmlformats.org/officeDocument/2006/relationships/image"/><Relationship Id="rId3" Target="../media/image56.png" Type="http://schemas.openxmlformats.org/officeDocument/2006/relationships/image"/><Relationship Id="rId4" Target="../media/image57.png" Type="http://schemas.openxmlformats.org/officeDocument/2006/relationships/image"/><Relationship Id="rId5" Target="../media/image33.png" Type="http://schemas.openxmlformats.org/officeDocument/2006/relationships/image"/><Relationship Id="rId6" Target="../media/image34.svg" Type="http://schemas.openxmlformats.org/officeDocument/2006/relationships/image"/><Relationship Id="rId7" Target="../media/image36.png" Type="http://schemas.openxmlformats.org/officeDocument/2006/relationships/image"/><Relationship Id="rId8" Target="../media/image37.svg" Type="http://schemas.openxmlformats.org/officeDocument/2006/relationships/image"/><Relationship Id="rId9" Target="../media/image30.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57.png" Type="http://schemas.openxmlformats.org/officeDocument/2006/relationships/image"/><Relationship Id="rId4" Target="../media/image36.png" Type="http://schemas.openxmlformats.org/officeDocument/2006/relationships/image"/><Relationship Id="rId5" Target="../media/image37.svg" Type="http://schemas.openxmlformats.org/officeDocument/2006/relationships/image"/><Relationship Id="rId6" Target="../media/image5.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3.png" Type="http://schemas.openxmlformats.org/officeDocument/2006/relationships/image"/><Relationship Id="rId11" Target="../media/image34.svg" Type="http://schemas.openxmlformats.org/officeDocument/2006/relationships/image"/><Relationship Id="rId12" Target="../media/image5.png" Type="http://schemas.openxmlformats.org/officeDocument/2006/relationships/image"/><Relationship Id="rId2" Target="../media/image11.jpeg" Type="http://schemas.openxmlformats.org/officeDocument/2006/relationships/image"/><Relationship Id="rId3" Target="../media/image58.png" Type="http://schemas.openxmlformats.org/officeDocument/2006/relationships/image"/><Relationship Id="rId4" Target="../media/image59.png" Type="http://schemas.openxmlformats.org/officeDocument/2006/relationships/image"/><Relationship Id="rId5" Target="../media/image60.png" Type="http://schemas.openxmlformats.org/officeDocument/2006/relationships/image"/><Relationship Id="rId6" Target="../media/image30.png" Type="http://schemas.openxmlformats.org/officeDocument/2006/relationships/image"/><Relationship Id="rId7" Target="../media/image31.svg" Type="http://schemas.openxmlformats.org/officeDocument/2006/relationships/image"/><Relationship Id="rId8" Target="../media/image28.png" Type="http://schemas.openxmlformats.org/officeDocument/2006/relationships/image"/><Relationship Id="rId9" Target="../media/image29.sv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48.png" Type="http://schemas.openxmlformats.org/officeDocument/2006/relationships/image"/><Relationship Id="rId4" Target="../media/image49.svg" Type="http://schemas.openxmlformats.org/officeDocument/2006/relationships/image"/><Relationship Id="rId5" Target="../media/image5.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26.png" Type="http://schemas.openxmlformats.org/officeDocument/2006/relationships/image"/><Relationship Id="rId4" Target="../media/image27.svg" Type="http://schemas.openxmlformats.org/officeDocument/2006/relationships/image"/><Relationship Id="rId5" Target="../media/image5.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5.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61.png" Type="http://schemas.openxmlformats.org/officeDocument/2006/relationships/image"/><Relationship Id="rId4" Target="../media/image5.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62.png" Type="http://schemas.openxmlformats.org/officeDocument/2006/relationships/image"/><Relationship Id="rId4" Target="../media/image5.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62.png" Type="http://schemas.openxmlformats.org/officeDocument/2006/relationships/image"/><Relationship Id="rId4" Target="../media/image36.png" Type="http://schemas.openxmlformats.org/officeDocument/2006/relationships/image"/><Relationship Id="rId5" Target="../media/image37.svg" Type="http://schemas.openxmlformats.org/officeDocument/2006/relationships/image"/><Relationship Id="rId6" Target="../media/image5.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63.png" Type="http://schemas.openxmlformats.org/officeDocument/2006/relationships/image"/><Relationship Id="rId4" Target="../media/image33.png" Type="http://schemas.openxmlformats.org/officeDocument/2006/relationships/image"/><Relationship Id="rId5" Target="../media/image34.svg" Type="http://schemas.openxmlformats.org/officeDocument/2006/relationships/image"/><Relationship Id="rId6" Target="../media/image5.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33.png" Type="http://schemas.openxmlformats.org/officeDocument/2006/relationships/image"/><Relationship Id="rId4" Target="../media/image34.svg" Type="http://schemas.openxmlformats.org/officeDocument/2006/relationships/image"/><Relationship Id="rId5" Target="../media/image64.png" Type="http://schemas.openxmlformats.org/officeDocument/2006/relationships/image"/><Relationship Id="rId6" Target="../media/image5.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38.png" Type="http://schemas.openxmlformats.org/officeDocument/2006/relationships/image"/><Relationship Id="rId4" Target="../media/image39.svg" Type="http://schemas.openxmlformats.org/officeDocument/2006/relationships/image"/><Relationship Id="rId5" Target="../media/image5.pn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5.pn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65.png" Type="http://schemas.openxmlformats.org/officeDocument/2006/relationships/image"/><Relationship Id="rId4" Target="../media/image5.pn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66.png" Type="http://schemas.openxmlformats.org/officeDocument/2006/relationships/image"/><Relationship Id="rId4" Target="../media/image67.png" Type="http://schemas.openxmlformats.org/officeDocument/2006/relationships/image"/><Relationship Id="rId5" Target="../media/image68.png" Type="http://schemas.openxmlformats.org/officeDocument/2006/relationships/image"/><Relationship Id="rId6" Target="../media/image5.pn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69.png" Type="http://schemas.openxmlformats.org/officeDocument/2006/relationships/image"/><Relationship Id="rId4" Target="../media/image70.png" Type="http://schemas.openxmlformats.org/officeDocument/2006/relationships/image"/><Relationship Id="rId5" Target="../media/image71.png" Type="http://schemas.openxmlformats.org/officeDocument/2006/relationships/image"/><Relationship Id="rId6" Target="../media/image72.png" Type="http://schemas.openxmlformats.org/officeDocument/2006/relationships/image"/><Relationship Id="rId7" Target="../media/image73.png" Type="http://schemas.openxmlformats.org/officeDocument/2006/relationships/image"/><Relationship Id="rId8" Target="../media/image74.png" Type="http://schemas.openxmlformats.org/officeDocument/2006/relationships/image"/><Relationship Id="rId9" Target="../media/image5.pn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75.png" Type="http://schemas.openxmlformats.org/officeDocument/2006/relationships/image"/><Relationship Id="rId4" Target="../media/image76.png" Type="http://schemas.openxmlformats.org/officeDocument/2006/relationships/image"/><Relationship Id="rId5" Target="../media/image77.png" Type="http://schemas.openxmlformats.org/officeDocument/2006/relationships/image"/><Relationship Id="rId6" Target="../media/image78.png" Type="http://schemas.openxmlformats.org/officeDocument/2006/relationships/image"/><Relationship Id="rId7" Target="../media/image79.png" Type="http://schemas.openxmlformats.org/officeDocument/2006/relationships/image"/><Relationship Id="rId8" Target="../media/image80.png" Type="http://schemas.openxmlformats.org/officeDocument/2006/relationships/image"/><Relationship Id="rId9" Target="../media/image5.pn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81.png" Type="http://schemas.openxmlformats.org/officeDocument/2006/relationships/image"/><Relationship Id="rId4" Target="../media/image82.png" Type="http://schemas.openxmlformats.org/officeDocument/2006/relationships/image"/><Relationship Id="rId5" Target="../media/image83.png" Type="http://schemas.openxmlformats.org/officeDocument/2006/relationships/image"/><Relationship Id="rId6" Target="../media/image5.png" Type="http://schemas.openxmlformats.org/officeDocument/2006/relationships/image"/></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1.png" Type="http://schemas.openxmlformats.org/officeDocument/2006/relationships/image"/><Relationship Id="rId11" Target="../media/image92.png" Type="http://schemas.openxmlformats.org/officeDocument/2006/relationships/image"/><Relationship Id="rId12" Target="../media/image5.png" Type="http://schemas.openxmlformats.org/officeDocument/2006/relationships/image"/><Relationship Id="rId2" Target="../media/image11.jpeg" Type="http://schemas.openxmlformats.org/officeDocument/2006/relationships/image"/><Relationship Id="rId3" Target="../media/image84.png" Type="http://schemas.openxmlformats.org/officeDocument/2006/relationships/image"/><Relationship Id="rId4" Target="../media/image85.png" Type="http://schemas.openxmlformats.org/officeDocument/2006/relationships/image"/><Relationship Id="rId5" Target="../media/image86.png" Type="http://schemas.openxmlformats.org/officeDocument/2006/relationships/image"/><Relationship Id="rId6" Target="../media/image87.png" Type="http://schemas.openxmlformats.org/officeDocument/2006/relationships/image"/><Relationship Id="rId7" Target="../media/image88.png" Type="http://schemas.openxmlformats.org/officeDocument/2006/relationships/image"/><Relationship Id="rId8" Target="../media/image89.png" Type="http://schemas.openxmlformats.org/officeDocument/2006/relationships/image"/><Relationship Id="rId9" Target="../media/image90.png" Type="http://schemas.openxmlformats.org/officeDocument/2006/relationships/image"/></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0.png" Type="http://schemas.openxmlformats.org/officeDocument/2006/relationships/image"/><Relationship Id="rId11" Target="../media/image101.png" Type="http://schemas.openxmlformats.org/officeDocument/2006/relationships/image"/><Relationship Id="rId12" Target="../media/image5.png" Type="http://schemas.openxmlformats.org/officeDocument/2006/relationships/image"/><Relationship Id="rId2" Target="../media/image11.jpeg" Type="http://schemas.openxmlformats.org/officeDocument/2006/relationships/image"/><Relationship Id="rId3" Target="../media/image93.png" Type="http://schemas.openxmlformats.org/officeDocument/2006/relationships/image"/><Relationship Id="rId4" Target="../media/image94.png" Type="http://schemas.openxmlformats.org/officeDocument/2006/relationships/image"/><Relationship Id="rId5" Target="../media/image95.png" Type="http://schemas.openxmlformats.org/officeDocument/2006/relationships/image"/><Relationship Id="rId6" Target="../media/image96.png" Type="http://schemas.openxmlformats.org/officeDocument/2006/relationships/image"/><Relationship Id="rId7" Target="../media/image97.png" Type="http://schemas.openxmlformats.org/officeDocument/2006/relationships/image"/><Relationship Id="rId8" Target="../media/image98.png" Type="http://schemas.openxmlformats.org/officeDocument/2006/relationships/image"/><Relationship Id="rId9" Target="../media/image99.png" Type="http://schemas.openxmlformats.org/officeDocument/2006/relationships/image"/></Relationships>
</file>

<file path=ppt/slides/_rels/slide5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102.png" Type="http://schemas.openxmlformats.org/officeDocument/2006/relationships/image"/><Relationship Id="rId4" Target="../media/image103.png" Type="http://schemas.openxmlformats.org/officeDocument/2006/relationships/image"/><Relationship Id="rId5" Target="../media/image104.png" Type="http://schemas.openxmlformats.org/officeDocument/2006/relationships/image"/><Relationship Id="rId6" Target="../media/image5.png" Type="http://schemas.openxmlformats.org/officeDocument/2006/relationships/image"/></Relationships>
</file>

<file path=ppt/slides/_rels/slide5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2.png" Type="http://schemas.openxmlformats.org/officeDocument/2006/relationships/image"/><Relationship Id="rId11" Target="../media/image113.png" Type="http://schemas.openxmlformats.org/officeDocument/2006/relationships/image"/><Relationship Id="rId12" Target="../media/image5.png" Type="http://schemas.openxmlformats.org/officeDocument/2006/relationships/image"/><Relationship Id="rId2" Target="../media/image11.jpeg" Type="http://schemas.openxmlformats.org/officeDocument/2006/relationships/image"/><Relationship Id="rId3" Target="../media/image105.png" Type="http://schemas.openxmlformats.org/officeDocument/2006/relationships/image"/><Relationship Id="rId4" Target="../media/image106.png" Type="http://schemas.openxmlformats.org/officeDocument/2006/relationships/image"/><Relationship Id="rId5" Target="../media/image107.png" Type="http://schemas.openxmlformats.org/officeDocument/2006/relationships/image"/><Relationship Id="rId6" Target="../media/image108.png" Type="http://schemas.openxmlformats.org/officeDocument/2006/relationships/image"/><Relationship Id="rId7" Target="../media/image109.png" Type="http://schemas.openxmlformats.org/officeDocument/2006/relationships/image"/><Relationship Id="rId8" Target="../media/image110.png" Type="http://schemas.openxmlformats.org/officeDocument/2006/relationships/image"/><Relationship Id="rId9" Target="../media/image111.png" Type="http://schemas.openxmlformats.org/officeDocument/2006/relationships/image"/></Relationships>
</file>

<file path=ppt/slides/_rels/slide5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1.png" Type="http://schemas.openxmlformats.org/officeDocument/2006/relationships/image"/><Relationship Id="rId11" Target="../media/image122.png" Type="http://schemas.openxmlformats.org/officeDocument/2006/relationships/image"/><Relationship Id="rId12" Target="../media/image5.png" Type="http://schemas.openxmlformats.org/officeDocument/2006/relationships/image"/><Relationship Id="rId2" Target="../media/image11.jpeg" Type="http://schemas.openxmlformats.org/officeDocument/2006/relationships/image"/><Relationship Id="rId3" Target="../media/image114.png" Type="http://schemas.openxmlformats.org/officeDocument/2006/relationships/image"/><Relationship Id="rId4" Target="../media/image115.png" Type="http://schemas.openxmlformats.org/officeDocument/2006/relationships/image"/><Relationship Id="rId5" Target="../media/image116.png" Type="http://schemas.openxmlformats.org/officeDocument/2006/relationships/image"/><Relationship Id="rId6" Target="../media/image117.png" Type="http://schemas.openxmlformats.org/officeDocument/2006/relationships/image"/><Relationship Id="rId7" Target="../media/image118.png" Type="http://schemas.openxmlformats.org/officeDocument/2006/relationships/image"/><Relationship Id="rId8" Target="../media/image119.png" Type="http://schemas.openxmlformats.org/officeDocument/2006/relationships/image"/><Relationship Id="rId9" Target="../media/image120.png" Type="http://schemas.openxmlformats.org/officeDocument/2006/relationships/image"/></Relationships>
</file>

<file path=ppt/slides/_rels/slide5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0.png" Type="http://schemas.openxmlformats.org/officeDocument/2006/relationships/image"/><Relationship Id="rId11" Target="../media/image131.png" Type="http://schemas.openxmlformats.org/officeDocument/2006/relationships/image"/><Relationship Id="rId12" Target="../media/image5.png" Type="http://schemas.openxmlformats.org/officeDocument/2006/relationships/image"/><Relationship Id="rId2" Target="../media/image11.jpeg" Type="http://schemas.openxmlformats.org/officeDocument/2006/relationships/image"/><Relationship Id="rId3" Target="../media/image123.png" Type="http://schemas.openxmlformats.org/officeDocument/2006/relationships/image"/><Relationship Id="rId4" Target="../media/image124.png" Type="http://schemas.openxmlformats.org/officeDocument/2006/relationships/image"/><Relationship Id="rId5" Target="../media/image125.png" Type="http://schemas.openxmlformats.org/officeDocument/2006/relationships/image"/><Relationship Id="rId6" Target="../media/image126.png" Type="http://schemas.openxmlformats.org/officeDocument/2006/relationships/image"/><Relationship Id="rId7" Target="../media/image127.png" Type="http://schemas.openxmlformats.org/officeDocument/2006/relationships/image"/><Relationship Id="rId8" Target="../media/image128.png" Type="http://schemas.openxmlformats.org/officeDocument/2006/relationships/image"/><Relationship Id="rId9" Target="../media/image129.png" Type="http://schemas.openxmlformats.org/officeDocument/2006/relationships/image"/></Relationships>
</file>

<file path=ppt/slides/_rels/slide5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125.png" Type="http://schemas.openxmlformats.org/officeDocument/2006/relationships/image"/><Relationship Id="rId4" Target="../media/image132.png" Type="http://schemas.openxmlformats.org/officeDocument/2006/relationships/image"/><Relationship Id="rId5" Target="../media/image133.png" Type="http://schemas.openxmlformats.org/officeDocument/2006/relationships/image"/><Relationship Id="rId6" Target="../media/image5.png" Type="http://schemas.openxmlformats.org/officeDocument/2006/relationships/image"/></Relationships>
</file>

<file path=ppt/slides/_rels/slide5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134.png" Type="http://schemas.openxmlformats.org/officeDocument/2006/relationships/image"/><Relationship Id="rId4" Target="../media/image135.png" Type="http://schemas.openxmlformats.org/officeDocument/2006/relationships/image"/><Relationship Id="rId5" Target="../media/image136.png" Type="http://schemas.openxmlformats.org/officeDocument/2006/relationships/image"/><Relationship Id="rId6" Target="../media/image5.png" Type="http://schemas.openxmlformats.org/officeDocument/2006/relationships/image"/></Relationships>
</file>

<file path=ppt/slides/_rels/slide5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137.png" Type="http://schemas.openxmlformats.org/officeDocument/2006/relationships/image"/><Relationship Id="rId4" Target="../media/image5.png" Type="http://schemas.openxmlformats.org/officeDocument/2006/relationships/image"/></Relationships>
</file>

<file path=ppt/slides/_rels/slide5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5.png" Type="http://schemas.openxmlformats.org/officeDocument/2006/relationships/image"/></Relationships>
</file>

<file path=ppt/slides/_rels/slide5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5.png" Type="http://schemas.openxmlformats.org/officeDocument/2006/relationships/image"/></Relationships>
</file>

<file path=ppt/slides/_rels/slide6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138.png" Type="http://schemas.openxmlformats.org/officeDocument/2006/relationships/image"/><Relationship Id="rId4" Target="../media/image139.png" Type="http://schemas.openxmlformats.org/officeDocument/2006/relationships/image"/><Relationship Id="rId5" Target="../media/image5.png" Type="http://schemas.openxmlformats.org/officeDocument/2006/relationships/image"/></Relationships>
</file>

<file path=ppt/slides/_rels/slide6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140.png" Type="http://schemas.openxmlformats.org/officeDocument/2006/relationships/image"/><Relationship Id="rId4" Target="../media/image141.png" Type="http://schemas.openxmlformats.org/officeDocument/2006/relationships/image"/><Relationship Id="rId5" Target="../media/image5.png" Type="http://schemas.openxmlformats.org/officeDocument/2006/relationships/image"/></Relationships>
</file>

<file path=ppt/slides/_rels/slide6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140.png" Type="http://schemas.openxmlformats.org/officeDocument/2006/relationships/image"/><Relationship Id="rId4" Target="../media/image141.png" Type="http://schemas.openxmlformats.org/officeDocument/2006/relationships/image"/><Relationship Id="rId5" Target="../media/image5.png" Type="http://schemas.openxmlformats.org/officeDocument/2006/relationships/image"/></Relationships>
</file>

<file path=ppt/slides/_rels/slide6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142.png" Type="http://schemas.openxmlformats.org/officeDocument/2006/relationships/image"/><Relationship Id="rId4" Target="../media/image143.png" Type="http://schemas.openxmlformats.org/officeDocument/2006/relationships/image"/><Relationship Id="rId5" Target="../media/image144.png" Type="http://schemas.openxmlformats.org/officeDocument/2006/relationships/image"/><Relationship Id="rId6" Target="../media/image5.png" Type="http://schemas.openxmlformats.org/officeDocument/2006/relationships/image"/></Relationships>
</file>

<file path=ppt/slides/_rels/slide6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145.png" Type="http://schemas.openxmlformats.org/officeDocument/2006/relationships/image"/><Relationship Id="rId4" Target="../media/image5.png" Type="http://schemas.openxmlformats.org/officeDocument/2006/relationships/image"/></Relationships>
</file>

<file path=ppt/slides/_rels/slide6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7.svg" Type="http://schemas.openxmlformats.org/officeDocument/2006/relationships/image"/><Relationship Id="rId11" Target="../media/image5.png" Type="http://schemas.openxmlformats.org/officeDocument/2006/relationships/image"/><Relationship Id="rId2" Target="../media/image12.jpeg" Type="http://schemas.openxmlformats.org/officeDocument/2006/relationships/image"/><Relationship Id="rId3" Target="../media/image13.png" Type="http://schemas.openxmlformats.org/officeDocument/2006/relationships/image"/><Relationship Id="rId4" Target="../media/image14.sv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 Id="rId7" Target="../media/image2.png" Type="http://schemas.openxmlformats.org/officeDocument/2006/relationships/image"/><Relationship Id="rId8" Target="../media/image3.svg" Type="http://schemas.openxmlformats.org/officeDocument/2006/relationships/image"/><Relationship Id="rId9" Target="../media/image146.png" Type="http://schemas.openxmlformats.org/officeDocument/2006/relationships/image"/></Relationships>
</file>

<file path=ppt/slides/_rels/slide6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5.png" Type="http://schemas.openxmlformats.org/officeDocument/2006/relationships/image"/></Relationships>
</file>

<file path=ppt/slides/_rels/slide6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148.png" Type="http://schemas.openxmlformats.org/officeDocument/2006/relationships/image"/><Relationship Id="rId4" Target="../media/image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894353" y="6745775"/>
            <a:ext cx="20076706" cy="4517259"/>
          </a:xfrm>
          <a:custGeom>
            <a:avLst/>
            <a:gdLst/>
            <a:ahLst/>
            <a:cxnLst/>
            <a:rect r="r" b="b" t="t" l="l"/>
            <a:pathLst>
              <a:path h="4517259" w="20076706">
                <a:moveTo>
                  <a:pt x="0" y="0"/>
                </a:moveTo>
                <a:lnTo>
                  <a:pt x="20076706" y="0"/>
                </a:lnTo>
                <a:lnTo>
                  <a:pt x="20076706" y="4517259"/>
                </a:lnTo>
                <a:lnTo>
                  <a:pt x="0" y="4517259"/>
                </a:lnTo>
                <a:lnTo>
                  <a:pt x="0" y="0"/>
                </a:lnTo>
                <a:close/>
              </a:path>
            </a:pathLst>
          </a:custGeom>
          <a:blipFill>
            <a:blip r:embed="rId2">
              <a:alphaModFix amt="31999"/>
            </a:blip>
            <a:stretch>
              <a:fillRect l="0" t="0" r="0" b="0"/>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100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5669932" y="-1017864"/>
            <a:ext cx="4077393" cy="4114800"/>
          </a:xfrm>
          <a:custGeom>
            <a:avLst/>
            <a:gdLst/>
            <a:ahLst/>
            <a:cxnLst/>
            <a:rect r="r" b="b" t="t" l="l"/>
            <a:pathLst>
              <a:path h="4114800" w="4077393">
                <a:moveTo>
                  <a:pt x="0" y="0"/>
                </a:moveTo>
                <a:lnTo>
                  <a:pt x="4077392" y="0"/>
                </a:lnTo>
                <a:lnTo>
                  <a:pt x="4077392" y="4114800"/>
                </a:lnTo>
                <a:lnTo>
                  <a:pt x="0" y="4114800"/>
                </a:lnTo>
                <a:lnTo>
                  <a:pt x="0" y="0"/>
                </a:lnTo>
                <a:close/>
              </a:path>
            </a:pathLst>
          </a:custGeom>
          <a:blipFill>
            <a:blip r:embed="rId3">
              <a:alphaModFix amt="14000"/>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8304904" y="4377652"/>
            <a:ext cx="8271372" cy="1115662"/>
          </a:xfrm>
          <a:prstGeom prst="rect">
            <a:avLst/>
          </a:prstGeom>
        </p:spPr>
        <p:txBody>
          <a:bodyPr anchor="t" rtlCol="false" tIns="0" lIns="0" bIns="0" rIns="0">
            <a:spAutoFit/>
          </a:bodyPr>
          <a:lstStyle/>
          <a:p>
            <a:pPr algn="l">
              <a:lnSpc>
                <a:spcPts val="9165"/>
              </a:lnSpc>
              <a:spcBef>
                <a:spcPct val="0"/>
              </a:spcBef>
            </a:pPr>
            <a:r>
              <a:rPr lang="en-US" sz="6546">
                <a:solidFill>
                  <a:srgbClr val="99C5FF"/>
                </a:solidFill>
                <a:latin typeface="HK Modular"/>
                <a:ea typeface="HK Modular"/>
                <a:cs typeface="HK Modular"/>
                <a:sym typeface="HK Modular"/>
              </a:rPr>
              <a:t>SEMANA 2</a:t>
            </a:r>
          </a:p>
        </p:txBody>
      </p:sp>
      <p:sp>
        <p:nvSpPr>
          <p:cNvPr name="TextBox 8" id="8"/>
          <p:cNvSpPr txBox="true"/>
          <p:nvPr/>
        </p:nvSpPr>
        <p:spPr>
          <a:xfrm rot="0">
            <a:off x="8304904" y="5916767"/>
            <a:ext cx="6621756" cy="892949"/>
          </a:xfrm>
          <a:prstGeom prst="rect">
            <a:avLst/>
          </a:prstGeom>
        </p:spPr>
        <p:txBody>
          <a:bodyPr anchor="t" rtlCol="false" tIns="0" lIns="0" bIns="0" rIns="0">
            <a:spAutoFit/>
          </a:bodyPr>
          <a:lstStyle/>
          <a:p>
            <a:pPr algn="l">
              <a:lnSpc>
                <a:spcPts val="7267"/>
              </a:lnSpc>
              <a:spcBef>
                <a:spcPct val="0"/>
              </a:spcBef>
            </a:pPr>
            <a:r>
              <a:rPr lang="en-US" sz="5191">
                <a:solidFill>
                  <a:srgbClr val="957F3B"/>
                </a:solidFill>
                <a:latin typeface="HK Modular"/>
                <a:ea typeface="HK Modular"/>
                <a:cs typeface="HK Modular"/>
                <a:sym typeface="HK Modular"/>
              </a:rPr>
              <a:t>GRUPO 2</a:t>
            </a:r>
          </a:p>
        </p:txBody>
      </p:sp>
      <p:sp>
        <p:nvSpPr>
          <p:cNvPr name="TextBox 9" id="9"/>
          <p:cNvSpPr txBox="true"/>
          <p:nvPr/>
        </p:nvSpPr>
        <p:spPr>
          <a:xfrm rot="0">
            <a:off x="8906723" y="2356120"/>
            <a:ext cx="4748826" cy="424049"/>
          </a:xfrm>
          <a:prstGeom prst="rect">
            <a:avLst/>
          </a:prstGeom>
        </p:spPr>
        <p:txBody>
          <a:bodyPr anchor="t" rtlCol="false" tIns="0" lIns="0" bIns="0" rIns="0">
            <a:spAutoFit/>
          </a:bodyPr>
          <a:lstStyle/>
          <a:p>
            <a:pPr algn="ctr">
              <a:lnSpc>
                <a:spcPts val="3402"/>
              </a:lnSpc>
              <a:spcBef>
                <a:spcPct val="0"/>
              </a:spcBef>
            </a:pPr>
            <a:r>
              <a:rPr lang="en-US" sz="2430">
                <a:solidFill>
                  <a:srgbClr val="FFFFFF"/>
                </a:solidFill>
                <a:latin typeface="RQND Pro"/>
                <a:ea typeface="RQND Pro"/>
                <a:cs typeface="RQND Pro"/>
                <a:sym typeface="RQND Pro"/>
              </a:rPr>
              <a:t>ESCUELA COLOMBIANA DE INGENIERIA</a:t>
            </a:r>
          </a:p>
        </p:txBody>
      </p:sp>
      <p:sp>
        <p:nvSpPr>
          <p:cNvPr name="Freeform 10" id="10"/>
          <p:cNvSpPr/>
          <p:nvPr/>
        </p:nvSpPr>
        <p:spPr>
          <a:xfrm flipH="false" flipV="false" rot="0">
            <a:off x="1163911" y="163050"/>
            <a:ext cx="6623053" cy="9668691"/>
          </a:xfrm>
          <a:custGeom>
            <a:avLst/>
            <a:gdLst/>
            <a:ahLst/>
            <a:cxnLst/>
            <a:rect r="r" b="b" t="t" l="l"/>
            <a:pathLst>
              <a:path h="9668691" w="6623053">
                <a:moveTo>
                  <a:pt x="0" y="0"/>
                </a:moveTo>
                <a:lnTo>
                  <a:pt x="6623054" y="0"/>
                </a:lnTo>
                <a:lnTo>
                  <a:pt x="6623054" y="9668691"/>
                </a:lnTo>
                <a:lnTo>
                  <a:pt x="0" y="9668691"/>
                </a:lnTo>
                <a:lnTo>
                  <a:pt x="0" y="0"/>
                </a:lnTo>
                <a:close/>
              </a:path>
            </a:pathLst>
          </a:custGeom>
          <a:blipFill>
            <a:blip r:embed="rId5"/>
            <a:stretch>
              <a:fillRect l="0" t="0" r="0" b="0"/>
            </a:stretch>
          </a:blipFill>
        </p:spPr>
      </p:sp>
      <p:sp>
        <p:nvSpPr>
          <p:cNvPr name="Freeform 11" id="11"/>
          <p:cNvSpPr/>
          <p:nvPr/>
        </p:nvSpPr>
        <p:spPr>
          <a:xfrm flipH="false" flipV="false" rot="0">
            <a:off x="1302528" y="1970590"/>
            <a:ext cx="6345820" cy="6345820"/>
          </a:xfrm>
          <a:custGeom>
            <a:avLst/>
            <a:gdLst/>
            <a:ahLst/>
            <a:cxnLst/>
            <a:rect r="r" b="b" t="t" l="l"/>
            <a:pathLst>
              <a:path h="6345820" w="6345820">
                <a:moveTo>
                  <a:pt x="0" y="0"/>
                </a:moveTo>
                <a:lnTo>
                  <a:pt x="6345820" y="0"/>
                </a:lnTo>
                <a:lnTo>
                  <a:pt x="6345820" y="6345820"/>
                </a:lnTo>
                <a:lnTo>
                  <a:pt x="0" y="6345820"/>
                </a:lnTo>
                <a:lnTo>
                  <a:pt x="0" y="0"/>
                </a:lnTo>
                <a:close/>
              </a:path>
            </a:pathLst>
          </a:custGeom>
          <a:blipFill>
            <a:blip r:embed="rId6"/>
            <a:stretch>
              <a:fillRect l="0" t="0" r="0" b="0"/>
            </a:stretch>
          </a:blipFill>
        </p:spPr>
      </p:sp>
      <p:sp>
        <p:nvSpPr>
          <p:cNvPr name="Freeform 12" id="12"/>
          <p:cNvSpPr/>
          <p:nvPr/>
        </p:nvSpPr>
        <p:spPr>
          <a:xfrm flipH="false" flipV="false" rot="0">
            <a:off x="8304904" y="2295809"/>
            <a:ext cx="601820" cy="601820"/>
          </a:xfrm>
          <a:custGeom>
            <a:avLst/>
            <a:gdLst/>
            <a:ahLst/>
            <a:cxnLst/>
            <a:rect r="r" b="b" t="t" l="l"/>
            <a:pathLst>
              <a:path h="601820" w="601820">
                <a:moveTo>
                  <a:pt x="0" y="0"/>
                </a:moveTo>
                <a:lnTo>
                  <a:pt x="601819" y="0"/>
                </a:lnTo>
                <a:lnTo>
                  <a:pt x="601819" y="601820"/>
                </a:lnTo>
                <a:lnTo>
                  <a:pt x="0" y="601820"/>
                </a:lnTo>
                <a:lnTo>
                  <a:pt x="0" y="0"/>
                </a:lnTo>
                <a:close/>
              </a:path>
            </a:pathLst>
          </a:custGeom>
          <a:blipFill>
            <a:blip r:embed="rId7"/>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894353" y="6745775"/>
            <a:ext cx="20076706" cy="4517259"/>
          </a:xfrm>
          <a:custGeom>
            <a:avLst/>
            <a:gdLst/>
            <a:ahLst/>
            <a:cxnLst/>
            <a:rect r="r" b="b" t="t" l="l"/>
            <a:pathLst>
              <a:path h="4517259" w="20076706">
                <a:moveTo>
                  <a:pt x="0" y="0"/>
                </a:moveTo>
                <a:lnTo>
                  <a:pt x="20076706" y="0"/>
                </a:lnTo>
                <a:lnTo>
                  <a:pt x="20076706" y="4517259"/>
                </a:lnTo>
                <a:lnTo>
                  <a:pt x="0" y="4517259"/>
                </a:lnTo>
                <a:lnTo>
                  <a:pt x="0" y="0"/>
                </a:lnTo>
                <a:close/>
              </a:path>
            </a:pathLst>
          </a:custGeom>
          <a:blipFill>
            <a:blip r:embed="rId2">
              <a:alphaModFix amt="31999"/>
            </a:blip>
            <a:stretch>
              <a:fillRect l="0" t="0" r="0" b="0"/>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100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5669932" y="-1017864"/>
            <a:ext cx="4077393" cy="4114800"/>
          </a:xfrm>
          <a:custGeom>
            <a:avLst/>
            <a:gdLst/>
            <a:ahLst/>
            <a:cxnLst/>
            <a:rect r="r" b="b" t="t" l="l"/>
            <a:pathLst>
              <a:path h="4114800" w="4077393">
                <a:moveTo>
                  <a:pt x="0" y="0"/>
                </a:moveTo>
                <a:lnTo>
                  <a:pt x="4077392" y="0"/>
                </a:lnTo>
                <a:lnTo>
                  <a:pt x="4077392" y="4114800"/>
                </a:lnTo>
                <a:lnTo>
                  <a:pt x="0" y="4114800"/>
                </a:lnTo>
                <a:lnTo>
                  <a:pt x="0" y="0"/>
                </a:lnTo>
                <a:close/>
              </a:path>
            </a:pathLst>
          </a:custGeom>
          <a:blipFill>
            <a:blip r:embed="rId3">
              <a:alphaModFix amt="14000"/>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8087875" y="1229153"/>
            <a:ext cx="9389196" cy="2273786"/>
          </a:xfrm>
          <a:prstGeom prst="rect">
            <a:avLst/>
          </a:prstGeom>
        </p:spPr>
        <p:txBody>
          <a:bodyPr anchor="t" rtlCol="false" tIns="0" lIns="0" bIns="0" rIns="0">
            <a:spAutoFit/>
          </a:bodyPr>
          <a:lstStyle/>
          <a:p>
            <a:pPr algn="l">
              <a:lnSpc>
                <a:spcPts val="9165"/>
              </a:lnSpc>
              <a:spcBef>
                <a:spcPct val="0"/>
              </a:spcBef>
            </a:pPr>
            <a:r>
              <a:rPr lang="en-US" sz="6546">
                <a:solidFill>
                  <a:srgbClr val="99C5FF"/>
                </a:solidFill>
                <a:latin typeface="HK Modular"/>
                <a:ea typeface="HK Modular"/>
                <a:cs typeface="HK Modular"/>
                <a:sym typeface="HK Modular"/>
              </a:rPr>
              <a:t>¿ QUE VAMOS A VER HOY?</a:t>
            </a:r>
          </a:p>
        </p:txBody>
      </p:sp>
      <p:sp>
        <p:nvSpPr>
          <p:cNvPr name="TextBox 8" id="8"/>
          <p:cNvSpPr txBox="true"/>
          <p:nvPr/>
        </p:nvSpPr>
        <p:spPr>
          <a:xfrm rot="0">
            <a:off x="8906723" y="498026"/>
            <a:ext cx="4748826" cy="424049"/>
          </a:xfrm>
          <a:prstGeom prst="rect">
            <a:avLst/>
          </a:prstGeom>
        </p:spPr>
        <p:txBody>
          <a:bodyPr anchor="t" rtlCol="false" tIns="0" lIns="0" bIns="0" rIns="0">
            <a:spAutoFit/>
          </a:bodyPr>
          <a:lstStyle/>
          <a:p>
            <a:pPr algn="ctr">
              <a:lnSpc>
                <a:spcPts val="3402"/>
              </a:lnSpc>
              <a:spcBef>
                <a:spcPct val="0"/>
              </a:spcBef>
            </a:pPr>
            <a:r>
              <a:rPr lang="en-US" sz="2430">
                <a:solidFill>
                  <a:srgbClr val="FFFFFF"/>
                </a:solidFill>
                <a:latin typeface="RQND Pro"/>
                <a:ea typeface="RQND Pro"/>
                <a:cs typeface="RQND Pro"/>
                <a:sym typeface="RQND Pro"/>
              </a:rPr>
              <a:t>ESCUELA COLOMBIANA DE INGENIERIA</a:t>
            </a:r>
          </a:p>
        </p:txBody>
      </p:sp>
      <p:sp>
        <p:nvSpPr>
          <p:cNvPr name="Freeform 9" id="9"/>
          <p:cNvSpPr/>
          <p:nvPr/>
        </p:nvSpPr>
        <p:spPr>
          <a:xfrm flipH="false" flipV="false" rot="0">
            <a:off x="8202204" y="426880"/>
            <a:ext cx="601820" cy="601820"/>
          </a:xfrm>
          <a:custGeom>
            <a:avLst/>
            <a:gdLst/>
            <a:ahLst/>
            <a:cxnLst/>
            <a:rect r="r" b="b" t="t" l="l"/>
            <a:pathLst>
              <a:path h="601820" w="601820">
                <a:moveTo>
                  <a:pt x="0" y="0"/>
                </a:moveTo>
                <a:lnTo>
                  <a:pt x="601820" y="0"/>
                </a:lnTo>
                <a:lnTo>
                  <a:pt x="601820" y="601820"/>
                </a:lnTo>
                <a:lnTo>
                  <a:pt x="0" y="601820"/>
                </a:lnTo>
                <a:lnTo>
                  <a:pt x="0" y="0"/>
                </a:lnTo>
                <a:close/>
              </a:path>
            </a:pathLst>
          </a:custGeom>
          <a:blipFill>
            <a:blip r:embed="rId5"/>
            <a:stretch>
              <a:fillRect l="0" t="0" r="0" b="0"/>
            </a:stretch>
          </a:blipFill>
        </p:spPr>
      </p:sp>
      <p:sp>
        <p:nvSpPr>
          <p:cNvPr name="Freeform 10" id="10"/>
          <p:cNvSpPr/>
          <p:nvPr/>
        </p:nvSpPr>
        <p:spPr>
          <a:xfrm flipH="false" flipV="false" rot="0">
            <a:off x="1163911" y="163050"/>
            <a:ext cx="6623053" cy="9668691"/>
          </a:xfrm>
          <a:custGeom>
            <a:avLst/>
            <a:gdLst/>
            <a:ahLst/>
            <a:cxnLst/>
            <a:rect r="r" b="b" t="t" l="l"/>
            <a:pathLst>
              <a:path h="9668691" w="6623053">
                <a:moveTo>
                  <a:pt x="0" y="0"/>
                </a:moveTo>
                <a:lnTo>
                  <a:pt x="6623054" y="0"/>
                </a:lnTo>
                <a:lnTo>
                  <a:pt x="6623054" y="9668691"/>
                </a:lnTo>
                <a:lnTo>
                  <a:pt x="0" y="9668691"/>
                </a:lnTo>
                <a:lnTo>
                  <a:pt x="0" y="0"/>
                </a:lnTo>
                <a:close/>
              </a:path>
            </a:pathLst>
          </a:custGeom>
          <a:blipFill>
            <a:blip r:embed="rId6"/>
            <a:stretch>
              <a:fillRect l="0" t="0" r="0" b="0"/>
            </a:stretch>
          </a:blipFill>
        </p:spPr>
      </p:sp>
      <p:sp>
        <p:nvSpPr>
          <p:cNvPr name="Freeform 11" id="11"/>
          <p:cNvSpPr/>
          <p:nvPr/>
        </p:nvSpPr>
        <p:spPr>
          <a:xfrm flipH="false" flipV="false" rot="0">
            <a:off x="1302528" y="1970590"/>
            <a:ext cx="6345820" cy="6345820"/>
          </a:xfrm>
          <a:custGeom>
            <a:avLst/>
            <a:gdLst/>
            <a:ahLst/>
            <a:cxnLst/>
            <a:rect r="r" b="b" t="t" l="l"/>
            <a:pathLst>
              <a:path h="6345820" w="6345820">
                <a:moveTo>
                  <a:pt x="0" y="0"/>
                </a:moveTo>
                <a:lnTo>
                  <a:pt x="6345820" y="0"/>
                </a:lnTo>
                <a:lnTo>
                  <a:pt x="6345820" y="6345820"/>
                </a:lnTo>
                <a:lnTo>
                  <a:pt x="0" y="6345820"/>
                </a:lnTo>
                <a:lnTo>
                  <a:pt x="0" y="0"/>
                </a:lnTo>
                <a:close/>
              </a:path>
            </a:pathLst>
          </a:custGeom>
          <a:blipFill>
            <a:blip r:embed="rId7"/>
            <a:stretch>
              <a:fillRect l="0" t="0" r="0" b="0"/>
            </a:stretch>
          </a:blipFill>
        </p:spPr>
      </p:sp>
      <p:sp>
        <p:nvSpPr>
          <p:cNvPr name="TextBox 12" id="12"/>
          <p:cNvSpPr txBox="true"/>
          <p:nvPr/>
        </p:nvSpPr>
        <p:spPr>
          <a:xfrm rot="0">
            <a:off x="8086787" y="3996384"/>
            <a:ext cx="6295246" cy="458072"/>
          </a:xfrm>
          <a:prstGeom prst="rect">
            <a:avLst/>
          </a:prstGeom>
        </p:spPr>
        <p:txBody>
          <a:bodyPr anchor="t" rtlCol="false" tIns="0" lIns="0" bIns="0" rIns="0">
            <a:spAutoFit/>
          </a:bodyPr>
          <a:lstStyle/>
          <a:p>
            <a:pPr algn="just">
              <a:lnSpc>
                <a:spcPts val="3790"/>
              </a:lnSpc>
              <a:spcBef>
                <a:spcPct val="0"/>
              </a:spcBef>
            </a:pPr>
            <a:r>
              <a:rPr lang="en-US" sz="2707">
                <a:solidFill>
                  <a:srgbClr val="FFFFFF"/>
                </a:solidFill>
                <a:latin typeface="HK Modular"/>
                <a:ea typeface="HK Modular"/>
                <a:cs typeface="HK Modular"/>
                <a:sym typeface="HK Modular"/>
              </a:rPr>
              <a:t>PRIMER </a:t>
            </a:r>
            <a:r>
              <a:rPr lang="en-US" sz="2707">
                <a:solidFill>
                  <a:srgbClr val="FFFFFF"/>
                </a:solidFill>
                <a:latin typeface="HK Modular"/>
                <a:ea typeface="HK Modular"/>
                <a:cs typeface="HK Modular"/>
                <a:sym typeface="HK Modular"/>
              </a:rPr>
              <a:t>QUIZ DEL CORTE</a:t>
            </a:r>
          </a:p>
        </p:txBody>
      </p:sp>
      <p:sp>
        <p:nvSpPr>
          <p:cNvPr name="TextBox 13" id="13"/>
          <p:cNvSpPr txBox="true"/>
          <p:nvPr/>
        </p:nvSpPr>
        <p:spPr>
          <a:xfrm rot="0">
            <a:off x="8074793" y="4669251"/>
            <a:ext cx="7261050" cy="474249"/>
          </a:xfrm>
          <a:prstGeom prst="rect">
            <a:avLst/>
          </a:prstGeom>
        </p:spPr>
        <p:txBody>
          <a:bodyPr anchor="t" rtlCol="false" tIns="0" lIns="0" bIns="0" rIns="0">
            <a:spAutoFit/>
          </a:bodyPr>
          <a:lstStyle/>
          <a:p>
            <a:pPr algn="l">
              <a:lnSpc>
                <a:spcPts val="3845"/>
              </a:lnSpc>
              <a:spcBef>
                <a:spcPct val="0"/>
              </a:spcBef>
            </a:pPr>
            <a:r>
              <a:rPr lang="en-US" sz="2747">
                <a:solidFill>
                  <a:srgbClr val="FFFFFF"/>
                </a:solidFill>
                <a:latin typeface="HK Modular"/>
                <a:ea typeface="HK Modular"/>
                <a:cs typeface="HK Modular"/>
                <a:sym typeface="HK Modular"/>
              </a:rPr>
              <a:t>PRUEBA TECNICA INICIAL</a:t>
            </a:r>
          </a:p>
        </p:txBody>
      </p:sp>
      <p:sp>
        <p:nvSpPr>
          <p:cNvPr name="TextBox 14" id="14"/>
          <p:cNvSpPr txBox="true"/>
          <p:nvPr/>
        </p:nvSpPr>
        <p:spPr>
          <a:xfrm rot="0">
            <a:off x="8074793" y="5307556"/>
            <a:ext cx="7261050" cy="474249"/>
          </a:xfrm>
          <a:prstGeom prst="rect">
            <a:avLst/>
          </a:prstGeom>
        </p:spPr>
        <p:txBody>
          <a:bodyPr anchor="t" rtlCol="false" tIns="0" lIns="0" bIns="0" rIns="0">
            <a:spAutoFit/>
          </a:bodyPr>
          <a:lstStyle/>
          <a:p>
            <a:pPr algn="l">
              <a:lnSpc>
                <a:spcPts val="3845"/>
              </a:lnSpc>
              <a:spcBef>
                <a:spcPct val="0"/>
              </a:spcBef>
            </a:pPr>
            <a:r>
              <a:rPr lang="en-US" sz="2747">
                <a:solidFill>
                  <a:srgbClr val="FFFFFF"/>
                </a:solidFill>
                <a:latin typeface="HK Modular"/>
                <a:ea typeface="HK Modular"/>
                <a:cs typeface="HK Modular"/>
                <a:sym typeface="HK Modular"/>
              </a:rPr>
              <a:t>NUEVOS TEMAS</a:t>
            </a:r>
          </a:p>
        </p:txBody>
      </p:sp>
      <p:sp>
        <p:nvSpPr>
          <p:cNvPr name="TextBox 15" id="15"/>
          <p:cNvSpPr txBox="true"/>
          <p:nvPr/>
        </p:nvSpPr>
        <p:spPr>
          <a:xfrm rot="0">
            <a:off x="8087875" y="5990616"/>
            <a:ext cx="3452805" cy="455122"/>
          </a:xfrm>
          <a:prstGeom prst="rect">
            <a:avLst/>
          </a:prstGeom>
        </p:spPr>
        <p:txBody>
          <a:bodyPr anchor="t" rtlCol="false" tIns="0" lIns="0" bIns="0" rIns="0">
            <a:spAutoFit/>
          </a:bodyPr>
          <a:lstStyle/>
          <a:p>
            <a:pPr algn="l" marL="584399" indent="-292199" lvl="1">
              <a:lnSpc>
                <a:spcPts val="3789"/>
              </a:lnSpc>
              <a:buFont typeface="Arial"/>
              <a:buChar char="•"/>
            </a:pPr>
            <a:r>
              <a:rPr lang="en-US" sz="2706">
                <a:solidFill>
                  <a:srgbClr val="FFFFFF"/>
                </a:solidFill>
                <a:latin typeface="HK Modular"/>
                <a:ea typeface="HK Modular"/>
                <a:cs typeface="HK Modular"/>
                <a:sym typeface="HK Modular"/>
              </a:rPr>
              <a:t>SOLID</a:t>
            </a:r>
          </a:p>
        </p:txBody>
      </p:sp>
      <p:sp>
        <p:nvSpPr>
          <p:cNvPr name="TextBox 16" id="16"/>
          <p:cNvSpPr txBox="true"/>
          <p:nvPr/>
        </p:nvSpPr>
        <p:spPr>
          <a:xfrm rot="0">
            <a:off x="8087875" y="6636238"/>
            <a:ext cx="5934259" cy="431179"/>
          </a:xfrm>
          <a:prstGeom prst="rect">
            <a:avLst/>
          </a:prstGeom>
        </p:spPr>
        <p:txBody>
          <a:bodyPr anchor="t" rtlCol="false" tIns="0" lIns="0" bIns="0" rIns="0">
            <a:spAutoFit/>
          </a:bodyPr>
          <a:lstStyle/>
          <a:p>
            <a:pPr algn="l" marL="545028" indent="-272514" lvl="1">
              <a:lnSpc>
                <a:spcPts val="3534"/>
              </a:lnSpc>
              <a:buFont typeface="Arial"/>
              <a:buChar char="•"/>
            </a:pPr>
            <a:r>
              <a:rPr lang="en-US" sz="2524">
                <a:solidFill>
                  <a:srgbClr val="FFFFFF"/>
                </a:solidFill>
                <a:latin typeface="HK Modular"/>
                <a:ea typeface="HK Modular"/>
                <a:cs typeface="HK Modular"/>
                <a:sym typeface="HK Modular"/>
              </a:rPr>
              <a:t>PATRONES DE DISEÑO</a:t>
            </a:r>
          </a:p>
        </p:txBody>
      </p:sp>
      <p:sp>
        <p:nvSpPr>
          <p:cNvPr name="TextBox 17" id="17"/>
          <p:cNvSpPr txBox="true"/>
          <p:nvPr/>
        </p:nvSpPr>
        <p:spPr>
          <a:xfrm rot="0">
            <a:off x="8086787" y="7248392"/>
            <a:ext cx="6735864" cy="455989"/>
          </a:xfrm>
          <a:prstGeom prst="rect">
            <a:avLst/>
          </a:prstGeom>
        </p:spPr>
        <p:txBody>
          <a:bodyPr anchor="t" rtlCol="false" tIns="0" lIns="0" bIns="0" rIns="0">
            <a:spAutoFit/>
          </a:bodyPr>
          <a:lstStyle/>
          <a:p>
            <a:pPr algn="l" marL="577031" indent="-288516" lvl="1">
              <a:lnSpc>
                <a:spcPts val="3741"/>
              </a:lnSpc>
              <a:buFont typeface="Arial"/>
              <a:buChar char="•"/>
            </a:pPr>
            <a:r>
              <a:rPr lang="en-US" sz="2672">
                <a:solidFill>
                  <a:srgbClr val="FFFFFF"/>
                </a:solidFill>
                <a:latin typeface="HK Modular"/>
                <a:ea typeface="HK Modular"/>
                <a:cs typeface="HK Modular"/>
                <a:sym typeface="HK Modular"/>
              </a:rPr>
              <a:t>DIAGRAMAS DE CLASES</a:t>
            </a:r>
          </a:p>
        </p:txBody>
      </p:sp>
      <p:sp>
        <p:nvSpPr>
          <p:cNvPr name="TextBox 18" id="18"/>
          <p:cNvSpPr txBox="true"/>
          <p:nvPr/>
        </p:nvSpPr>
        <p:spPr>
          <a:xfrm rot="0">
            <a:off x="8087875" y="7885962"/>
            <a:ext cx="3617444" cy="480419"/>
          </a:xfrm>
          <a:prstGeom prst="rect">
            <a:avLst/>
          </a:prstGeom>
        </p:spPr>
        <p:txBody>
          <a:bodyPr anchor="t" rtlCol="false" tIns="0" lIns="0" bIns="0" rIns="0">
            <a:spAutoFit/>
          </a:bodyPr>
          <a:lstStyle/>
          <a:p>
            <a:pPr algn="l" marL="612264" indent="-306132" lvl="1">
              <a:lnSpc>
                <a:spcPts val="3970"/>
              </a:lnSpc>
              <a:buFont typeface="Arial"/>
              <a:buChar char="•"/>
            </a:pPr>
            <a:r>
              <a:rPr lang="en-US" sz="2835">
                <a:solidFill>
                  <a:srgbClr val="FFFFFF"/>
                </a:solidFill>
                <a:latin typeface="HK Modular"/>
                <a:ea typeface="HK Modular"/>
                <a:cs typeface="HK Modular"/>
                <a:sym typeface="HK Modular"/>
              </a:rPr>
              <a:t>MAVEN</a:t>
            </a:r>
          </a:p>
        </p:txBody>
      </p:sp>
      <p:sp>
        <p:nvSpPr>
          <p:cNvPr name="TextBox 19" id="19"/>
          <p:cNvSpPr txBox="true"/>
          <p:nvPr/>
        </p:nvSpPr>
        <p:spPr>
          <a:xfrm rot="0">
            <a:off x="8087875" y="8657807"/>
            <a:ext cx="7582057" cy="502213"/>
          </a:xfrm>
          <a:prstGeom prst="rect">
            <a:avLst/>
          </a:prstGeom>
        </p:spPr>
        <p:txBody>
          <a:bodyPr anchor="t" rtlCol="false" tIns="0" lIns="0" bIns="0" rIns="0">
            <a:spAutoFit/>
          </a:bodyPr>
          <a:lstStyle/>
          <a:p>
            <a:pPr algn="l">
              <a:lnSpc>
                <a:spcPts val="4015"/>
              </a:lnSpc>
              <a:spcBef>
                <a:spcPct val="0"/>
              </a:spcBef>
            </a:pPr>
            <a:r>
              <a:rPr lang="en-US" sz="2868">
                <a:solidFill>
                  <a:srgbClr val="FFFFFF"/>
                </a:solidFill>
                <a:latin typeface="HK Modular"/>
                <a:ea typeface="HK Modular"/>
                <a:cs typeface="HK Modular"/>
                <a:sym typeface="HK Modular"/>
              </a:rPr>
              <a:t>INICIO DEL BOOTCAMP</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10800000">
            <a:off x="-1787219" y="2807845"/>
            <a:ext cx="7553143" cy="9506253"/>
            <a:chOff x="0" y="0"/>
            <a:chExt cx="2170403" cy="2731631"/>
          </a:xfrm>
        </p:grpSpPr>
        <p:sp>
          <p:nvSpPr>
            <p:cNvPr name="Freeform 4" id="4"/>
            <p:cNvSpPr/>
            <p:nvPr/>
          </p:nvSpPr>
          <p:spPr>
            <a:xfrm flipH="false" flipV="false" rot="0">
              <a:off x="0" y="0"/>
              <a:ext cx="2170403" cy="2731631"/>
            </a:xfrm>
            <a:custGeom>
              <a:avLst/>
              <a:gdLst/>
              <a:ahLst/>
              <a:cxnLst/>
              <a:rect r="r" b="b" t="t" l="l"/>
              <a:pathLst>
                <a:path h="2731631" w="2170403">
                  <a:moveTo>
                    <a:pt x="29725" y="0"/>
                  </a:moveTo>
                  <a:lnTo>
                    <a:pt x="2140678" y="0"/>
                  </a:lnTo>
                  <a:cubicBezTo>
                    <a:pt x="2148561" y="0"/>
                    <a:pt x="2156122" y="3132"/>
                    <a:pt x="2161696" y="8706"/>
                  </a:cubicBezTo>
                  <a:cubicBezTo>
                    <a:pt x="2167271" y="14281"/>
                    <a:pt x="2170403" y="21841"/>
                    <a:pt x="2170403" y="29725"/>
                  </a:cubicBezTo>
                  <a:lnTo>
                    <a:pt x="2170403" y="2701906"/>
                  </a:lnTo>
                  <a:cubicBezTo>
                    <a:pt x="2170403" y="2718322"/>
                    <a:pt x="2157094" y="2731631"/>
                    <a:pt x="2140678" y="2731631"/>
                  </a:cubicBezTo>
                  <a:lnTo>
                    <a:pt x="29725" y="2731631"/>
                  </a:lnTo>
                  <a:cubicBezTo>
                    <a:pt x="21841" y="2731631"/>
                    <a:pt x="14281" y="2728499"/>
                    <a:pt x="8706" y="2722924"/>
                  </a:cubicBezTo>
                  <a:cubicBezTo>
                    <a:pt x="3132" y="2717350"/>
                    <a:pt x="0" y="2709789"/>
                    <a:pt x="0" y="2701906"/>
                  </a:cubicBezTo>
                  <a:lnTo>
                    <a:pt x="0" y="29725"/>
                  </a:lnTo>
                  <a:cubicBezTo>
                    <a:pt x="0" y="21841"/>
                    <a:pt x="3132" y="14281"/>
                    <a:pt x="8706" y="8706"/>
                  </a:cubicBezTo>
                  <a:cubicBezTo>
                    <a:pt x="14281" y="3132"/>
                    <a:pt x="21841" y="0"/>
                    <a:pt x="29725" y="0"/>
                  </a:cubicBezTo>
                  <a:close/>
                </a:path>
              </a:pathLst>
            </a:custGeom>
            <a:gradFill rotWithShape="true">
              <a:gsLst>
                <a:gs pos="0">
                  <a:srgbClr val="000000">
                    <a:alpha val="0"/>
                  </a:srgbClr>
                </a:gs>
                <a:gs pos="100000">
                  <a:srgbClr val="A67D00">
                    <a:alpha val="100000"/>
                  </a:srgbClr>
                </a:gs>
              </a:gsLst>
              <a:lin ang="0"/>
            </a:gradFill>
          </p:spPr>
        </p:sp>
        <p:sp>
          <p:nvSpPr>
            <p:cNvPr name="TextBox 5" id="5"/>
            <p:cNvSpPr txBox="true"/>
            <p:nvPr/>
          </p:nvSpPr>
          <p:spPr>
            <a:xfrm>
              <a:off x="0" y="-38100"/>
              <a:ext cx="2170403" cy="2769731"/>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5400000">
            <a:off x="3940201" y="-7697568"/>
            <a:ext cx="10626331" cy="19778728"/>
            <a:chOff x="0" y="0"/>
            <a:chExt cx="2798705" cy="5209212"/>
          </a:xfrm>
        </p:grpSpPr>
        <p:sp>
          <p:nvSpPr>
            <p:cNvPr name="Freeform 7" id="7"/>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8" id="8"/>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5061148" y="2645920"/>
            <a:ext cx="12198152" cy="1370059"/>
          </a:xfrm>
          <a:prstGeom prst="rect">
            <a:avLst/>
          </a:prstGeom>
        </p:spPr>
        <p:txBody>
          <a:bodyPr anchor="t" rtlCol="false" tIns="0" lIns="0" bIns="0" rIns="0">
            <a:spAutoFit/>
          </a:bodyPr>
          <a:lstStyle/>
          <a:p>
            <a:pPr algn="ctr">
              <a:lnSpc>
                <a:spcPts val="11109"/>
              </a:lnSpc>
              <a:spcBef>
                <a:spcPct val="0"/>
              </a:spcBef>
            </a:pPr>
            <a:r>
              <a:rPr lang="en-US" sz="7935">
                <a:solidFill>
                  <a:srgbClr val="7B640E"/>
                </a:solidFill>
                <a:latin typeface="HK Modular"/>
                <a:ea typeface="HK Modular"/>
                <a:cs typeface="HK Modular"/>
                <a:sym typeface="HK Modular"/>
              </a:rPr>
              <a:t>QUIZ #1</a:t>
            </a:r>
          </a:p>
        </p:txBody>
      </p:sp>
      <p:grpSp>
        <p:nvGrpSpPr>
          <p:cNvPr name="Group 10" id="10"/>
          <p:cNvGrpSpPr/>
          <p:nvPr/>
        </p:nvGrpSpPr>
        <p:grpSpPr>
          <a:xfrm rot="0">
            <a:off x="572768" y="3822181"/>
            <a:ext cx="4125543" cy="4125543"/>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gradFill>
                <a:gsLst>
                  <a:gs pos="0">
                    <a:srgbClr val="5960DC">
                      <a:alpha val="100000"/>
                    </a:srgbClr>
                  </a:gs>
                  <a:gs pos="100000">
                    <a:srgbClr val="FF99FF">
                      <a:alpha val="100000"/>
                    </a:srgbClr>
                  </a:gs>
                </a:gsLst>
                <a:lin ang="0"/>
              </a:gradFill>
              <a:prstDash val="solid"/>
              <a:miter/>
            </a:ln>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3" id="13"/>
          <p:cNvGrpSpPr>
            <a:grpSpLocks noChangeAspect="true"/>
          </p:cNvGrpSpPr>
          <p:nvPr/>
        </p:nvGrpSpPr>
        <p:grpSpPr>
          <a:xfrm rot="0">
            <a:off x="902350" y="4151763"/>
            <a:ext cx="3466379" cy="3466379"/>
            <a:chOff x="0" y="0"/>
            <a:chExt cx="14840029" cy="14840029"/>
          </a:xfrm>
        </p:grpSpPr>
        <p:sp>
          <p:nvSpPr>
            <p:cNvPr name="Freeform 14" id="14"/>
            <p:cNvSpPr/>
            <p:nvPr/>
          </p:nvSpPr>
          <p:spPr>
            <a:xfrm flipH="false" flipV="false" rot="0">
              <a:off x="-33258" y="-75"/>
              <a:ext cx="14906544" cy="14840178"/>
            </a:xfrm>
            <a:custGeom>
              <a:avLst/>
              <a:gdLst/>
              <a:ahLst/>
              <a:cxnLst/>
              <a:rect r="r" b="b" t="t" l="l"/>
              <a:pathLst>
                <a:path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99C5FF"/>
            </a:solidFill>
          </p:spPr>
        </p:sp>
        <p:sp>
          <p:nvSpPr>
            <p:cNvPr name="Freeform 15" id="15"/>
            <p:cNvSpPr/>
            <p:nvPr/>
          </p:nvSpPr>
          <p:spPr>
            <a:xfrm flipH="false" flipV="false" rot="0">
              <a:off x="168022" y="200309"/>
              <a:ext cx="14503985" cy="14439411"/>
            </a:xfrm>
            <a:custGeom>
              <a:avLst/>
              <a:gdLst/>
              <a:ahLst/>
              <a:cxnLst/>
              <a:rect r="r" b="b" t="t" l="l"/>
              <a:pathLst>
                <a:path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solidFill>
          </p:spPr>
        </p:sp>
        <p:sp>
          <p:nvSpPr>
            <p:cNvPr name="Freeform 16" id="16"/>
            <p:cNvSpPr/>
            <p:nvPr/>
          </p:nvSpPr>
          <p:spPr>
            <a:xfrm flipH="false" flipV="false" rot="0">
              <a:off x="531276" y="561946"/>
              <a:ext cx="13777477" cy="13716137"/>
            </a:xfrm>
            <a:custGeom>
              <a:avLst/>
              <a:gdLst/>
              <a:ahLst/>
              <a:cxnLst/>
              <a:rect r="r" b="b" t="t" l="l"/>
              <a:pathLst>
                <a:path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3"/>
              <a:stretch>
                <a:fillRect l="-24712" t="0" r="-24712" b="0"/>
              </a:stretch>
            </a:blipFill>
          </p:spPr>
        </p:sp>
      </p:grpSp>
      <p:sp>
        <p:nvSpPr>
          <p:cNvPr name="TextBox 17" id="17"/>
          <p:cNvSpPr txBox="true"/>
          <p:nvPr/>
        </p:nvSpPr>
        <p:spPr>
          <a:xfrm rot="0">
            <a:off x="5061148" y="4888611"/>
            <a:ext cx="11651029"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Ingresen al  Codigo que se va a generar con Quizizz</a:t>
            </a:r>
          </a:p>
        </p:txBody>
      </p:sp>
      <p:sp>
        <p:nvSpPr>
          <p:cNvPr name="TextBox 18" id="18"/>
          <p:cNvSpPr txBox="true"/>
          <p:nvPr/>
        </p:nvSpPr>
        <p:spPr>
          <a:xfrm rot="0">
            <a:off x="5061148" y="5622697"/>
            <a:ext cx="11651029"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Solo van a tener un intento</a:t>
            </a:r>
          </a:p>
        </p:txBody>
      </p:sp>
      <p:sp>
        <p:nvSpPr>
          <p:cNvPr name="TextBox 19" id="19"/>
          <p:cNvSpPr txBox="true"/>
          <p:nvPr/>
        </p:nvSpPr>
        <p:spPr>
          <a:xfrm rot="0">
            <a:off x="5061148" y="7881049"/>
            <a:ext cx="11651029"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Los estudiantes que estan exonerados pueden presentarlo ya que les sirve para afianzar conocimientos</a:t>
            </a:r>
          </a:p>
        </p:txBody>
      </p:sp>
      <p:sp>
        <p:nvSpPr>
          <p:cNvPr name="TextBox 20" id="20"/>
          <p:cNvSpPr txBox="true"/>
          <p:nvPr/>
        </p:nvSpPr>
        <p:spPr>
          <a:xfrm rot="0">
            <a:off x="5061148" y="6356758"/>
            <a:ext cx="11651029"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15 preguntas de opcion multiple</a:t>
            </a:r>
          </a:p>
        </p:txBody>
      </p:sp>
      <p:sp>
        <p:nvSpPr>
          <p:cNvPr name="Freeform 21" id="21"/>
          <p:cNvSpPr/>
          <p:nvPr/>
        </p:nvSpPr>
        <p:spPr>
          <a:xfrm flipH="false" flipV="false" rot="0">
            <a:off x="7755480" y="-630396"/>
            <a:ext cx="3718782" cy="3718782"/>
          </a:xfrm>
          <a:custGeom>
            <a:avLst/>
            <a:gdLst/>
            <a:ahLst/>
            <a:cxnLst/>
            <a:rect r="r" b="b" t="t" l="l"/>
            <a:pathLst>
              <a:path h="3718782" w="3718782">
                <a:moveTo>
                  <a:pt x="0" y="0"/>
                </a:moveTo>
                <a:lnTo>
                  <a:pt x="3718782" y="0"/>
                </a:lnTo>
                <a:lnTo>
                  <a:pt x="3718782" y="3718782"/>
                </a:lnTo>
                <a:lnTo>
                  <a:pt x="0" y="3718782"/>
                </a:lnTo>
                <a:lnTo>
                  <a:pt x="0" y="0"/>
                </a:lnTo>
                <a:close/>
              </a:path>
            </a:pathLst>
          </a:custGeom>
          <a:blipFill>
            <a:blip r:embed="rId4"/>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894353" y="6745775"/>
            <a:ext cx="20076706" cy="4517259"/>
          </a:xfrm>
          <a:custGeom>
            <a:avLst/>
            <a:gdLst/>
            <a:ahLst/>
            <a:cxnLst/>
            <a:rect r="r" b="b" t="t" l="l"/>
            <a:pathLst>
              <a:path h="4517259" w="20076706">
                <a:moveTo>
                  <a:pt x="0" y="0"/>
                </a:moveTo>
                <a:lnTo>
                  <a:pt x="20076706" y="0"/>
                </a:lnTo>
                <a:lnTo>
                  <a:pt x="20076706" y="4517259"/>
                </a:lnTo>
                <a:lnTo>
                  <a:pt x="0" y="4517259"/>
                </a:lnTo>
                <a:lnTo>
                  <a:pt x="0" y="0"/>
                </a:lnTo>
                <a:close/>
              </a:path>
            </a:pathLst>
          </a:custGeom>
          <a:blipFill>
            <a:blip r:embed="rId2">
              <a:alphaModFix amt="31999"/>
            </a:blip>
            <a:stretch>
              <a:fillRect l="0" t="0" r="0" b="0"/>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100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5669932" y="-1017864"/>
            <a:ext cx="4077393" cy="4114800"/>
          </a:xfrm>
          <a:custGeom>
            <a:avLst/>
            <a:gdLst/>
            <a:ahLst/>
            <a:cxnLst/>
            <a:rect r="r" b="b" t="t" l="l"/>
            <a:pathLst>
              <a:path h="4114800" w="4077393">
                <a:moveTo>
                  <a:pt x="0" y="0"/>
                </a:moveTo>
                <a:lnTo>
                  <a:pt x="4077392" y="0"/>
                </a:lnTo>
                <a:lnTo>
                  <a:pt x="4077392" y="4114800"/>
                </a:lnTo>
                <a:lnTo>
                  <a:pt x="0" y="4114800"/>
                </a:lnTo>
                <a:lnTo>
                  <a:pt x="0" y="0"/>
                </a:lnTo>
                <a:close/>
              </a:path>
            </a:pathLst>
          </a:custGeom>
          <a:blipFill>
            <a:blip r:embed="rId3">
              <a:alphaModFix amt="14000"/>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8087875" y="1229153"/>
            <a:ext cx="9389196" cy="1119588"/>
          </a:xfrm>
          <a:prstGeom prst="rect">
            <a:avLst/>
          </a:prstGeom>
        </p:spPr>
        <p:txBody>
          <a:bodyPr anchor="t" rtlCol="false" tIns="0" lIns="0" bIns="0" rIns="0">
            <a:spAutoFit/>
          </a:bodyPr>
          <a:lstStyle/>
          <a:p>
            <a:pPr algn="ctr">
              <a:lnSpc>
                <a:spcPts val="9165"/>
              </a:lnSpc>
              <a:spcBef>
                <a:spcPct val="0"/>
              </a:spcBef>
            </a:pPr>
            <a:r>
              <a:rPr lang="en-US" sz="6546">
                <a:solidFill>
                  <a:srgbClr val="99C5FF"/>
                </a:solidFill>
                <a:latin typeface="HK Modular"/>
                <a:ea typeface="HK Modular"/>
                <a:cs typeface="HK Modular"/>
                <a:sym typeface="HK Modular"/>
              </a:rPr>
              <a:t>NOTICIAS</a:t>
            </a:r>
          </a:p>
        </p:txBody>
      </p:sp>
      <p:sp>
        <p:nvSpPr>
          <p:cNvPr name="TextBox 8" id="8"/>
          <p:cNvSpPr txBox="true"/>
          <p:nvPr/>
        </p:nvSpPr>
        <p:spPr>
          <a:xfrm rot="0">
            <a:off x="8906723" y="498026"/>
            <a:ext cx="4748826" cy="424049"/>
          </a:xfrm>
          <a:prstGeom prst="rect">
            <a:avLst/>
          </a:prstGeom>
        </p:spPr>
        <p:txBody>
          <a:bodyPr anchor="t" rtlCol="false" tIns="0" lIns="0" bIns="0" rIns="0">
            <a:spAutoFit/>
          </a:bodyPr>
          <a:lstStyle/>
          <a:p>
            <a:pPr algn="ctr">
              <a:lnSpc>
                <a:spcPts val="3402"/>
              </a:lnSpc>
              <a:spcBef>
                <a:spcPct val="0"/>
              </a:spcBef>
            </a:pPr>
            <a:r>
              <a:rPr lang="en-US" sz="2430">
                <a:solidFill>
                  <a:srgbClr val="FFFFFF"/>
                </a:solidFill>
                <a:latin typeface="RQND Pro"/>
                <a:ea typeface="RQND Pro"/>
                <a:cs typeface="RQND Pro"/>
                <a:sym typeface="RQND Pro"/>
              </a:rPr>
              <a:t>ESCUELA COLOMBIANA DE INGENIERIA</a:t>
            </a:r>
          </a:p>
        </p:txBody>
      </p:sp>
      <p:sp>
        <p:nvSpPr>
          <p:cNvPr name="Freeform 9" id="9"/>
          <p:cNvSpPr/>
          <p:nvPr/>
        </p:nvSpPr>
        <p:spPr>
          <a:xfrm flipH="false" flipV="false" rot="0">
            <a:off x="8202204" y="426880"/>
            <a:ext cx="601820" cy="601820"/>
          </a:xfrm>
          <a:custGeom>
            <a:avLst/>
            <a:gdLst/>
            <a:ahLst/>
            <a:cxnLst/>
            <a:rect r="r" b="b" t="t" l="l"/>
            <a:pathLst>
              <a:path h="601820" w="601820">
                <a:moveTo>
                  <a:pt x="0" y="0"/>
                </a:moveTo>
                <a:lnTo>
                  <a:pt x="601820" y="0"/>
                </a:lnTo>
                <a:lnTo>
                  <a:pt x="601820" y="601820"/>
                </a:lnTo>
                <a:lnTo>
                  <a:pt x="0" y="601820"/>
                </a:lnTo>
                <a:lnTo>
                  <a:pt x="0" y="0"/>
                </a:lnTo>
                <a:close/>
              </a:path>
            </a:pathLst>
          </a:custGeom>
          <a:blipFill>
            <a:blip r:embed="rId5"/>
            <a:stretch>
              <a:fillRect l="0" t="0" r="0" b="0"/>
            </a:stretch>
          </a:blipFill>
        </p:spPr>
      </p:sp>
      <p:sp>
        <p:nvSpPr>
          <p:cNvPr name="Freeform 10" id="10"/>
          <p:cNvSpPr/>
          <p:nvPr/>
        </p:nvSpPr>
        <p:spPr>
          <a:xfrm flipH="false" flipV="false" rot="0">
            <a:off x="1163911" y="163050"/>
            <a:ext cx="6623053" cy="9668691"/>
          </a:xfrm>
          <a:custGeom>
            <a:avLst/>
            <a:gdLst/>
            <a:ahLst/>
            <a:cxnLst/>
            <a:rect r="r" b="b" t="t" l="l"/>
            <a:pathLst>
              <a:path h="9668691" w="6623053">
                <a:moveTo>
                  <a:pt x="0" y="0"/>
                </a:moveTo>
                <a:lnTo>
                  <a:pt x="6623054" y="0"/>
                </a:lnTo>
                <a:lnTo>
                  <a:pt x="6623054" y="9668691"/>
                </a:lnTo>
                <a:lnTo>
                  <a:pt x="0" y="9668691"/>
                </a:lnTo>
                <a:lnTo>
                  <a:pt x="0" y="0"/>
                </a:lnTo>
                <a:close/>
              </a:path>
            </a:pathLst>
          </a:custGeom>
          <a:blipFill>
            <a:blip r:embed="rId6"/>
            <a:stretch>
              <a:fillRect l="0" t="0" r="0" b="0"/>
            </a:stretch>
          </a:blipFill>
        </p:spPr>
      </p:sp>
      <p:sp>
        <p:nvSpPr>
          <p:cNvPr name="Freeform 11" id="11"/>
          <p:cNvSpPr/>
          <p:nvPr/>
        </p:nvSpPr>
        <p:spPr>
          <a:xfrm flipH="false" flipV="false" rot="0">
            <a:off x="1302528" y="1970590"/>
            <a:ext cx="6345820" cy="6345820"/>
          </a:xfrm>
          <a:custGeom>
            <a:avLst/>
            <a:gdLst/>
            <a:ahLst/>
            <a:cxnLst/>
            <a:rect r="r" b="b" t="t" l="l"/>
            <a:pathLst>
              <a:path h="6345820" w="6345820">
                <a:moveTo>
                  <a:pt x="0" y="0"/>
                </a:moveTo>
                <a:lnTo>
                  <a:pt x="6345820" y="0"/>
                </a:lnTo>
                <a:lnTo>
                  <a:pt x="6345820" y="6345820"/>
                </a:lnTo>
                <a:lnTo>
                  <a:pt x="0" y="6345820"/>
                </a:lnTo>
                <a:lnTo>
                  <a:pt x="0" y="0"/>
                </a:lnTo>
                <a:close/>
              </a:path>
            </a:pathLst>
          </a:custGeom>
          <a:blipFill>
            <a:blip r:embed="rId7"/>
            <a:stretch>
              <a:fillRect l="0" t="0" r="0" b="0"/>
            </a:stretch>
          </a:blipFill>
        </p:spPr>
      </p:sp>
      <p:sp>
        <p:nvSpPr>
          <p:cNvPr name="Freeform 12" id="12"/>
          <p:cNvSpPr/>
          <p:nvPr/>
        </p:nvSpPr>
        <p:spPr>
          <a:xfrm flipH="false" flipV="false" rot="0">
            <a:off x="11163483" y="2592722"/>
            <a:ext cx="3469842" cy="3748544"/>
          </a:xfrm>
          <a:custGeom>
            <a:avLst/>
            <a:gdLst/>
            <a:ahLst/>
            <a:cxnLst/>
            <a:rect r="r" b="b" t="t" l="l"/>
            <a:pathLst>
              <a:path h="3748544" w="3469842">
                <a:moveTo>
                  <a:pt x="0" y="0"/>
                </a:moveTo>
                <a:lnTo>
                  <a:pt x="3469843" y="0"/>
                </a:lnTo>
                <a:lnTo>
                  <a:pt x="3469843" y="3748544"/>
                </a:lnTo>
                <a:lnTo>
                  <a:pt x="0" y="3748544"/>
                </a:lnTo>
                <a:lnTo>
                  <a:pt x="0" y="0"/>
                </a:lnTo>
                <a:close/>
              </a:path>
            </a:pathLst>
          </a:custGeom>
          <a:blipFill>
            <a:blip r:embed="rId8"/>
            <a:stretch>
              <a:fillRect l="0" t="0" r="0" b="0"/>
            </a:stretch>
          </a:blipFill>
        </p:spPr>
      </p:sp>
      <p:sp>
        <p:nvSpPr>
          <p:cNvPr name="TextBox 13" id="13"/>
          <p:cNvSpPr txBox="true"/>
          <p:nvPr/>
        </p:nvSpPr>
        <p:spPr>
          <a:xfrm rot="0">
            <a:off x="8192101" y="6518572"/>
            <a:ext cx="9621841" cy="986389"/>
          </a:xfrm>
          <a:prstGeom prst="rect">
            <a:avLst/>
          </a:prstGeom>
        </p:spPr>
        <p:txBody>
          <a:bodyPr anchor="t" rtlCol="false" tIns="0" lIns="0" bIns="0" rIns="0">
            <a:spAutoFit/>
          </a:bodyPr>
          <a:lstStyle/>
          <a:p>
            <a:pPr algn="ctr">
              <a:lnSpc>
                <a:spcPts val="3907"/>
              </a:lnSpc>
              <a:spcBef>
                <a:spcPct val="0"/>
              </a:spcBef>
            </a:pPr>
            <a:r>
              <a:rPr lang="en-US" sz="2790">
                <a:solidFill>
                  <a:srgbClr val="FFFFFF"/>
                </a:solidFill>
                <a:latin typeface="HK Modular"/>
                <a:ea typeface="HK Modular"/>
                <a:cs typeface="HK Modular"/>
                <a:sym typeface="HK Modular"/>
              </a:rPr>
              <a:t>YA TENEMOS MOODLE - YA ESTAN INSCRITOS</a:t>
            </a:r>
          </a:p>
        </p:txBody>
      </p:sp>
      <p:sp>
        <p:nvSpPr>
          <p:cNvPr name="TextBox 14" id="14"/>
          <p:cNvSpPr txBox="true"/>
          <p:nvPr/>
        </p:nvSpPr>
        <p:spPr>
          <a:xfrm rot="0">
            <a:off x="8192101" y="8018015"/>
            <a:ext cx="9621841" cy="986389"/>
          </a:xfrm>
          <a:prstGeom prst="rect">
            <a:avLst/>
          </a:prstGeom>
        </p:spPr>
        <p:txBody>
          <a:bodyPr anchor="t" rtlCol="false" tIns="0" lIns="0" bIns="0" rIns="0">
            <a:spAutoFit/>
          </a:bodyPr>
          <a:lstStyle/>
          <a:p>
            <a:pPr algn="ctr">
              <a:lnSpc>
                <a:spcPts val="3907"/>
              </a:lnSpc>
              <a:spcBef>
                <a:spcPct val="0"/>
              </a:spcBef>
            </a:pPr>
            <a:r>
              <a:rPr lang="en-US" sz="2790">
                <a:solidFill>
                  <a:srgbClr val="FFFFFF"/>
                </a:solidFill>
                <a:latin typeface="HK Modular"/>
                <a:ea typeface="HK Modular"/>
                <a:cs typeface="HK Modular"/>
                <a:sym typeface="HK Modular"/>
              </a:rPr>
              <a:t>AHI SUBEN LOS AVANCES Y LOS LABORATORIOS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3019718" y="2777828"/>
            <a:ext cx="12467298" cy="2232630"/>
          </a:xfrm>
          <a:prstGeom prst="rect">
            <a:avLst/>
          </a:prstGeom>
        </p:spPr>
        <p:txBody>
          <a:bodyPr anchor="t" rtlCol="false" tIns="0" lIns="0" bIns="0" rIns="0">
            <a:spAutoFit/>
          </a:bodyPr>
          <a:lstStyle/>
          <a:p>
            <a:pPr algn="ctr">
              <a:lnSpc>
                <a:spcPts val="8941"/>
              </a:lnSpc>
              <a:spcBef>
                <a:spcPct val="0"/>
              </a:spcBef>
            </a:pPr>
            <a:r>
              <a:rPr lang="en-US" sz="6387">
                <a:solidFill>
                  <a:srgbClr val="7B640E"/>
                </a:solidFill>
                <a:latin typeface="HK Modular"/>
                <a:ea typeface="HK Modular"/>
                <a:cs typeface="HK Modular"/>
                <a:sym typeface="HK Modular"/>
              </a:rPr>
              <a:t>PRUEBA TECNICA INICIAL</a:t>
            </a:r>
          </a:p>
        </p:txBody>
      </p:sp>
      <p:sp>
        <p:nvSpPr>
          <p:cNvPr name="TextBox 13" id="13"/>
          <p:cNvSpPr txBox="true"/>
          <p:nvPr/>
        </p:nvSpPr>
        <p:spPr>
          <a:xfrm rot="0">
            <a:off x="4757920" y="5942187"/>
            <a:ext cx="9163161" cy="1562775"/>
          </a:xfrm>
          <a:prstGeom prst="rect">
            <a:avLst/>
          </a:prstGeom>
        </p:spPr>
        <p:txBody>
          <a:bodyPr anchor="t" rtlCol="false" tIns="0" lIns="0" bIns="0" rIns="0">
            <a:spAutoFit/>
          </a:bodyPr>
          <a:lstStyle/>
          <a:p>
            <a:pPr algn="ctr">
              <a:lnSpc>
                <a:spcPts val="6262"/>
              </a:lnSpc>
              <a:spcBef>
                <a:spcPct val="0"/>
              </a:spcBef>
            </a:pPr>
            <a:r>
              <a:rPr lang="en-US" sz="4473">
                <a:solidFill>
                  <a:srgbClr val="99C5FF"/>
                </a:solidFill>
                <a:latin typeface="HK Modular"/>
                <a:ea typeface="HK Modular"/>
                <a:cs typeface="HK Modular"/>
                <a:sym typeface="HK Modular"/>
              </a:rPr>
              <a:t>FECHA LIMITE DE ENTREGA: VIERNES 30 </a:t>
            </a:r>
          </a:p>
        </p:txBody>
      </p:sp>
      <p:sp>
        <p:nvSpPr>
          <p:cNvPr name="Freeform 14" id="14"/>
          <p:cNvSpPr/>
          <p:nvPr/>
        </p:nvSpPr>
        <p:spPr>
          <a:xfrm flipH="false" flipV="false" rot="0">
            <a:off x="7755480" y="-630396"/>
            <a:ext cx="3718782" cy="3718782"/>
          </a:xfrm>
          <a:custGeom>
            <a:avLst/>
            <a:gdLst/>
            <a:ahLst/>
            <a:cxnLst/>
            <a:rect r="r" b="b" t="t" l="l"/>
            <a:pathLst>
              <a:path h="3718782" w="3718782">
                <a:moveTo>
                  <a:pt x="0" y="0"/>
                </a:moveTo>
                <a:lnTo>
                  <a:pt x="3718782" y="0"/>
                </a:lnTo>
                <a:lnTo>
                  <a:pt x="3718782" y="3718782"/>
                </a:lnTo>
                <a:lnTo>
                  <a:pt x="0" y="3718782"/>
                </a:lnTo>
                <a:lnTo>
                  <a:pt x="0" y="0"/>
                </a:lnTo>
                <a:close/>
              </a:path>
            </a:pathLst>
          </a:custGeom>
          <a:blipFill>
            <a:blip r:embed="rId3"/>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777" r="0" b="-8777"/>
            </a:stretch>
          </a:blipFill>
        </p:spPr>
      </p:sp>
      <p:sp>
        <p:nvSpPr>
          <p:cNvPr name="Freeform 3" id="3"/>
          <p:cNvSpPr/>
          <p:nvPr/>
        </p:nvSpPr>
        <p:spPr>
          <a:xfrm flipH="false" flipV="false" rot="0">
            <a:off x="8346232" y="-93621"/>
            <a:ext cx="7049995" cy="11271794"/>
          </a:xfrm>
          <a:custGeom>
            <a:avLst/>
            <a:gdLst/>
            <a:ahLst/>
            <a:cxnLst/>
            <a:rect r="r" b="b" t="t" l="l"/>
            <a:pathLst>
              <a:path h="11271794" w="7049995">
                <a:moveTo>
                  <a:pt x="0" y="0"/>
                </a:moveTo>
                <a:lnTo>
                  <a:pt x="7049994" y="0"/>
                </a:lnTo>
                <a:lnTo>
                  <a:pt x="7049994" y="11271794"/>
                </a:lnTo>
                <a:lnTo>
                  <a:pt x="0" y="1127179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5400000">
            <a:off x="3940201" y="-7697568"/>
            <a:ext cx="10626331" cy="19778728"/>
            <a:chOff x="0" y="0"/>
            <a:chExt cx="2798705" cy="5209212"/>
          </a:xfrm>
        </p:grpSpPr>
        <p:sp>
          <p:nvSpPr>
            <p:cNvPr name="Freeform 5" id="5"/>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6" id="6"/>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532442" y="5382267"/>
            <a:ext cx="7315200" cy="2349450"/>
          </a:xfrm>
          <a:custGeom>
            <a:avLst/>
            <a:gdLst/>
            <a:ahLst/>
            <a:cxnLst/>
            <a:rect r="r" b="b" t="t" l="l"/>
            <a:pathLst>
              <a:path h="2349450" w="7315200">
                <a:moveTo>
                  <a:pt x="0" y="0"/>
                </a:moveTo>
                <a:lnTo>
                  <a:pt x="7315200" y="0"/>
                </a:lnTo>
                <a:lnTo>
                  <a:pt x="7315200" y="2349449"/>
                </a:lnTo>
                <a:lnTo>
                  <a:pt x="0" y="2349449"/>
                </a:lnTo>
                <a:lnTo>
                  <a:pt x="0" y="0"/>
                </a:lnTo>
                <a:close/>
              </a:path>
            </a:pathLst>
          </a:custGeom>
          <a:blipFill>
            <a:blip r:embed="rId5">
              <a:alphaModFix amt="17000"/>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725042" y="3176984"/>
            <a:ext cx="6783956" cy="1562775"/>
          </a:xfrm>
          <a:prstGeom prst="rect">
            <a:avLst/>
          </a:prstGeom>
        </p:spPr>
        <p:txBody>
          <a:bodyPr anchor="t" rtlCol="false" tIns="0" lIns="0" bIns="0" rIns="0">
            <a:spAutoFit/>
          </a:bodyPr>
          <a:lstStyle/>
          <a:p>
            <a:pPr algn="ctr">
              <a:lnSpc>
                <a:spcPts val="6262"/>
              </a:lnSpc>
              <a:spcBef>
                <a:spcPct val="0"/>
              </a:spcBef>
            </a:pPr>
            <a:r>
              <a:rPr lang="en-US" sz="4473">
                <a:solidFill>
                  <a:srgbClr val="99C5FF"/>
                </a:solidFill>
                <a:latin typeface="HK Modular"/>
                <a:ea typeface="HK Modular"/>
                <a:cs typeface="HK Modular"/>
                <a:sym typeface="HK Modular"/>
              </a:rPr>
              <a:t>PRUEBA TECNICA INICIAL</a:t>
            </a:r>
          </a:p>
        </p:txBody>
      </p:sp>
      <p:sp>
        <p:nvSpPr>
          <p:cNvPr name="Freeform 9" id="9"/>
          <p:cNvSpPr/>
          <p:nvPr/>
        </p:nvSpPr>
        <p:spPr>
          <a:xfrm flipH="false" flipV="false" rot="0">
            <a:off x="-952235" y="7504962"/>
            <a:ext cx="4077393" cy="4114800"/>
          </a:xfrm>
          <a:custGeom>
            <a:avLst/>
            <a:gdLst/>
            <a:ahLst/>
            <a:cxnLst/>
            <a:rect r="r" b="b" t="t" l="l"/>
            <a:pathLst>
              <a:path h="4114800" w="4077393">
                <a:moveTo>
                  <a:pt x="0" y="0"/>
                </a:moveTo>
                <a:lnTo>
                  <a:pt x="4077393" y="0"/>
                </a:lnTo>
                <a:lnTo>
                  <a:pt x="4077393" y="4114800"/>
                </a:lnTo>
                <a:lnTo>
                  <a:pt x="0" y="4114800"/>
                </a:lnTo>
                <a:lnTo>
                  <a:pt x="0" y="0"/>
                </a:lnTo>
                <a:close/>
              </a:path>
            </a:pathLst>
          </a:custGeom>
          <a:blipFill>
            <a:blip r:embed="rId7">
              <a:alphaModFix amt="14000"/>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0">
            <a:off x="16962114" y="35055"/>
            <a:ext cx="4077393" cy="4114800"/>
          </a:xfrm>
          <a:custGeom>
            <a:avLst/>
            <a:gdLst/>
            <a:ahLst/>
            <a:cxnLst/>
            <a:rect r="r" b="b" t="t" l="l"/>
            <a:pathLst>
              <a:path h="4114800" w="4077393">
                <a:moveTo>
                  <a:pt x="0" y="0"/>
                </a:moveTo>
                <a:lnTo>
                  <a:pt x="4077393" y="0"/>
                </a:lnTo>
                <a:lnTo>
                  <a:pt x="4077393" y="4114800"/>
                </a:lnTo>
                <a:lnTo>
                  <a:pt x="0" y="4114800"/>
                </a:lnTo>
                <a:lnTo>
                  <a:pt x="0" y="0"/>
                </a:lnTo>
                <a:close/>
              </a:path>
            </a:pathLst>
          </a:custGeom>
          <a:blipFill>
            <a:blip r:embed="rId7">
              <a:alphaModFix amt="14000"/>
              <a:extLst>
                <a:ext uri="{96DAC541-7B7A-43D3-8B79-37D633B846F1}">
                  <asvg:svgBlip xmlns:asvg="http://schemas.microsoft.com/office/drawing/2016/SVG/main" r:embed="rId8"/>
                </a:ext>
              </a:extLst>
            </a:blip>
            <a:stretch>
              <a:fillRect l="0" t="0" r="0" b="0"/>
            </a:stretch>
          </a:blipFill>
        </p:spPr>
      </p:sp>
      <p:sp>
        <p:nvSpPr>
          <p:cNvPr name="Freeform 11" id="11"/>
          <p:cNvSpPr/>
          <p:nvPr/>
        </p:nvSpPr>
        <p:spPr>
          <a:xfrm flipH="false" flipV="false" rot="0">
            <a:off x="9144000" y="1864813"/>
            <a:ext cx="5690116" cy="6816285"/>
          </a:xfrm>
          <a:custGeom>
            <a:avLst/>
            <a:gdLst/>
            <a:ahLst/>
            <a:cxnLst/>
            <a:rect r="r" b="b" t="t" l="l"/>
            <a:pathLst>
              <a:path h="6816285" w="5690116">
                <a:moveTo>
                  <a:pt x="0" y="0"/>
                </a:moveTo>
                <a:lnTo>
                  <a:pt x="5690116" y="0"/>
                </a:lnTo>
                <a:lnTo>
                  <a:pt x="5690116" y="6816285"/>
                </a:lnTo>
                <a:lnTo>
                  <a:pt x="0" y="6816285"/>
                </a:lnTo>
                <a:lnTo>
                  <a:pt x="0" y="0"/>
                </a:lnTo>
                <a:close/>
              </a:path>
            </a:pathLst>
          </a:custGeom>
          <a:blipFill>
            <a:blip r:embed="rId9"/>
            <a:stretch>
              <a:fillRect l="0" t="0" r="0" b="0"/>
            </a:stretch>
          </a:blipFill>
        </p:spPr>
      </p:sp>
      <p:sp>
        <p:nvSpPr>
          <p:cNvPr name="TextBox 12" id="12"/>
          <p:cNvSpPr txBox="true"/>
          <p:nvPr/>
        </p:nvSpPr>
        <p:spPr>
          <a:xfrm rot="0">
            <a:off x="1479948" y="5386120"/>
            <a:ext cx="5548316"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¿Como les ha ido con el desafio?</a:t>
            </a:r>
          </a:p>
        </p:txBody>
      </p:sp>
      <p:sp>
        <p:nvSpPr>
          <p:cNvPr name="TextBox 13" id="13"/>
          <p:cNvSpPr txBox="true"/>
          <p:nvPr/>
        </p:nvSpPr>
        <p:spPr>
          <a:xfrm rot="0">
            <a:off x="1479948" y="6296981"/>
            <a:ext cx="5548316"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¿Que tan complejo sientieron los retos propuestos?</a:t>
            </a:r>
          </a:p>
        </p:txBody>
      </p:sp>
      <p:sp>
        <p:nvSpPr>
          <p:cNvPr name="Freeform 14" id="14"/>
          <p:cNvSpPr/>
          <p:nvPr/>
        </p:nvSpPr>
        <p:spPr>
          <a:xfrm flipH="false" flipV="false" rot="0">
            <a:off x="2257629" y="-93621"/>
            <a:ext cx="3718782" cy="3718782"/>
          </a:xfrm>
          <a:custGeom>
            <a:avLst/>
            <a:gdLst/>
            <a:ahLst/>
            <a:cxnLst/>
            <a:rect r="r" b="b" t="t" l="l"/>
            <a:pathLst>
              <a:path h="3718782" w="3718782">
                <a:moveTo>
                  <a:pt x="0" y="0"/>
                </a:moveTo>
                <a:lnTo>
                  <a:pt x="3718782" y="0"/>
                </a:lnTo>
                <a:lnTo>
                  <a:pt x="3718782" y="3718782"/>
                </a:lnTo>
                <a:lnTo>
                  <a:pt x="0" y="3718782"/>
                </a:lnTo>
                <a:lnTo>
                  <a:pt x="0" y="0"/>
                </a:lnTo>
                <a:close/>
              </a:path>
            </a:pathLst>
          </a:custGeom>
          <a:blipFill>
            <a:blip r:embed="rId10"/>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3933619" y="4222108"/>
            <a:ext cx="10944428" cy="1747534"/>
          </a:xfrm>
          <a:prstGeom prst="rect">
            <a:avLst/>
          </a:prstGeom>
        </p:spPr>
        <p:txBody>
          <a:bodyPr anchor="t" rtlCol="false" tIns="0" lIns="0" bIns="0" rIns="0">
            <a:spAutoFit/>
          </a:bodyPr>
          <a:lstStyle/>
          <a:p>
            <a:pPr algn="ctr">
              <a:lnSpc>
                <a:spcPts val="7012"/>
              </a:lnSpc>
              <a:spcBef>
                <a:spcPct val="0"/>
              </a:spcBef>
            </a:pPr>
            <a:r>
              <a:rPr lang="en-US" sz="5008">
                <a:solidFill>
                  <a:srgbClr val="99C5FF"/>
                </a:solidFill>
                <a:latin typeface="HK Modular"/>
                <a:ea typeface="HK Modular"/>
                <a:cs typeface="HK Modular"/>
                <a:sym typeface="HK Modular"/>
              </a:rPr>
              <a:t>JERARQUIA DE LAS RAMAS DE GIT</a:t>
            </a:r>
          </a:p>
        </p:txBody>
      </p:sp>
      <p:sp>
        <p:nvSpPr>
          <p:cNvPr name="Freeform 7" id="7"/>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3"/>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0546115" y="4309917"/>
            <a:ext cx="6713185" cy="2031367"/>
          </a:xfrm>
          <a:custGeom>
            <a:avLst/>
            <a:gdLst/>
            <a:ahLst/>
            <a:cxnLst/>
            <a:rect r="r" b="b" t="t" l="l"/>
            <a:pathLst>
              <a:path h="2031367" w="6713185">
                <a:moveTo>
                  <a:pt x="0" y="0"/>
                </a:moveTo>
                <a:lnTo>
                  <a:pt x="6713185" y="0"/>
                </a:lnTo>
                <a:lnTo>
                  <a:pt x="6713185" y="2031367"/>
                </a:lnTo>
                <a:lnTo>
                  <a:pt x="0" y="2031367"/>
                </a:lnTo>
                <a:lnTo>
                  <a:pt x="0" y="0"/>
                </a:lnTo>
                <a:close/>
              </a:path>
            </a:pathLst>
          </a:custGeom>
          <a:blipFill>
            <a:blip r:embed="rId3"/>
            <a:stretch>
              <a:fillRect l="0" t="0" r="0" b="0"/>
            </a:stretch>
          </a:blipFill>
        </p:spPr>
      </p:sp>
      <p:sp>
        <p:nvSpPr>
          <p:cNvPr name="TextBox 7" id="7"/>
          <p:cNvSpPr txBox="true"/>
          <p:nvPr/>
        </p:nvSpPr>
        <p:spPr>
          <a:xfrm rot="0">
            <a:off x="3781153" y="2096546"/>
            <a:ext cx="10944428" cy="857781"/>
          </a:xfrm>
          <a:prstGeom prst="rect">
            <a:avLst/>
          </a:prstGeom>
        </p:spPr>
        <p:txBody>
          <a:bodyPr anchor="t" rtlCol="false" tIns="0" lIns="0" bIns="0" rIns="0">
            <a:spAutoFit/>
          </a:bodyPr>
          <a:lstStyle/>
          <a:p>
            <a:pPr algn="ctr">
              <a:lnSpc>
                <a:spcPts val="7012"/>
              </a:lnSpc>
              <a:spcBef>
                <a:spcPct val="0"/>
              </a:spcBef>
            </a:pPr>
            <a:r>
              <a:rPr lang="en-US" sz="5008">
                <a:solidFill>
                  <a:srgbClr val="99C5FF"/>
                </a:solidFill>
                <a:latin typeface="HK Modular"/>
                <a:ea typeface="HK Modular"/>
                <a:cs typeface="HK Modular"/>
                <a:sym typeface="HK Modular"/>
              </a:rPr>
              <a:t>EJERCICIOS DE REPASO</a:t>
            </a:r>
          </a:p>
        </p:txBody>
      </p:sp>
      <p:sp>
        <p:nvSpPr>
          <p:cNvPr name="TextBox 8" id="8"/>
          <p:cNvSpPr txBox="true"/>
          <p:nvPr/>
        </p:nvSpPr>
        <p:spPr>
          <a:xfrm rot="0">
            <a:off x="1390914" y="3271934"/>
            <a:ext cx="6948934" cy="374397"/>
          </a:xfrm>
          <a:prstGeom prst="rect">
            <a:avLst/>
          </a:prstGeom>
        </p:spPr>
        <p:txBody>
          <a:bodyPr anchor="t" rtlCol="false" tIns="0" lIns="0" bIns="0" rIns="0">
            <a:spAutoFit/>
          </a:bodyPr>
          <a:lstStyle/>
          <a:p>
            <a:pPr algn="l">
              <a:lnSpc>
                <a:spcPts val="2988"/>
              </a:lnSpc>
            </a:pPr>
            <a:r>
              <a:rPr lang="en-US" sz="2134">
                <a:solidFill>
                  <a:srgbClr val="FFFFFF"/>
                </a:solidFill>
                <a:latin typeface="Poppins"/>
                <a:ea typeface="Poppins"/>
                <a:cs typeface="Poppins"/>
                <a:sym typeface="Poppins"/>
              </a:rPr>
              <a:t>EJERCICIO # 1: </a:t>
            </a:r>
          </a:p>
        </p:txBody>
      </p:sp>
      <p:sp>
        <p:nvSpPr>
          <p:cNvPr name="TextBox 9" id="9"/>
          <p:cNvSpPr txBox="true"/>
          <p:nvPr/>
        </p:nvSpPr>
        <p:spPr>
          <a:xfrm rot="0">
            <a:off x="1390914" y="4639611"/>
            <a:ext cx="6948934" cy="3346197"/>
          </a:xfrm>
          <a:prstGeom prst="rect">
            <a:avLst/>
          </a:prstGeom>
        </p:spPr>
        <p:txBody>
          <a:bodyPr anchor="t" rtlCol="false" tIns="0" lIns="0" bIns="0" rIns="0">
            <a:spAutoFit/>
          </a:bodyPr>
          <a:lstStyle/>
          <a:p>
            <a:pPr algn="l">
              <a:lnSpc>
                <a:spcPts val="2988"/>
              </a:lnSpc>
            </a:pPr>
            <a:r>
              <a:rPr lang="en-US" sz="2134">
                <a:solidFill>
                  <a:srgbClr val="FFFFFF"/>
                </a:solidFill>
                <a:latin typeface="Poppins"/>
                <a:ea typeface="Poppins"/>
                <a:cs typeface="Poppins"/>
                <a:sym typeface="Poppins"/>
              </a:rPr>
              <a:t>Dada una lista de numeros enteros, necesitamos obtener una nueva lista solo con los numeros pares mayores a diez</a:t>
            </a:r>
          </a:p>
          <a:p>
            <a:pPr algn="l">
              <a:lnSpc>
                <a:spcPts val="2988"/>
              </a:lnSpc>
            </a:pPr>
          </a:p>
          <a:p>
            <a:pPr algn="l">
              <a:lnSpc>
                <a:spcPts val="2988"/>
              </a:lnSpc>
            </a:pPr>
            <a:r>
              <a:rPr lang="en-US" sz="2134">
                <a:solidFill>
                  <a:srgbClr val="FFFFFF"/>
                </a:solidFill>
                <a:latin typeface="Poppins"/>
                <a:ea typeface="Poppins"/>
                <a:cs typeface="Poppins"/>
                <a:sym typeface="Poppins"/>
              </a:rPr>
              <a:t>Datos de Entrada:</a:t>
            </a:r>
          </a:p>
          <a:p>
            <a:pPr algn="l">
              <a:lnSpc>
                <a:spcPts val="2988"/>
              </a:lnSpc>
            </a:pPr>
            <a:r>
              <a:rPr lang="en-US" sz="2134">
                <a:solidFill>
                  <a:srgbClr val="FFFFFF"/>
                </a:solidFill>
                <a:latin typeface="Poppins"/>
                <a:ea typeface="Poppins"/>
                <a:cs typeface="Poppins"/>
                <a:sym typeface="Poppins"/>
              </a:rPr>
              <a:t>List&lt;Integer&gt; numbers = List.of(3,8,10,12,15,18,20)</a:t>
            </a:r>
          </a:p>
          <a:p>
            <a:pPr algn="l">
              <a:lnSpc>
                <a:spcPts val="2988"/>
              </a:lnSpc>
            </a:pPr>
            <a:r>
              <a:rPr lang="en-US" sz="2134">
                <a:solidFill>
                  <a:srgbClr val="FFFFFF"/>
                </a:solidFill>
                <a:latin typeface="Poppins"/>
                <a:ea typeface="Poppins"/>
                <a:cs typeface="Poppins"/>
                <a:sym typeface="Poppins"/>
              </a:rPr>
              <a:t>Resultado: </a:t>
            </a:r>
          </a:p>
          <a:p>
            <a:pPr algn="l">
              <a:lnSpc>
                <a:spcPts val="2988"/>
              </a:lnSpc>
            </a:pPr>
            <a:r>
              <a:rPr lang="en-US" sz="2134">
                <a:solidFill>
                  <a:srgbClr val="FFFFFF"/>
                </a:solidFill>
                <a:latin typeface="Poppins"/>
                <a:ea typeface="Poppins"/>
                <a:cs typeface="Poppins"/>
                <a:sym typeface="Poppins"/>
              </a:rPr>
              <a:t>List&lt;Integer&gt;</a:t>
            </a:r>
          </a:p>
          <a:p>
            <a:pPr algn="l">
              <a:lnSpc>
                <a:spcPts val="2988"/>
              </a:lnSpc>
            </a:pPr>
          </a:p>
        </p:txBody>
      </p:sp>
      <p:sp>
        <p:nvSpPr>
          <p:cNvPr name="Freeform 10" id="10"/>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4"/>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9777314" y="3829807"/>
            <a:ext cx="7630921" cy="4416751"/>
          </a:xfrm>
          <a:custGeom>
            <a:avLst/>
            <a:gdLst/>
            <a:ahLst/>
            <a:cxnLst/>
            <a:rect r="r" b="b" t="t" l="l"/>
            <a:pathLst>
              <a:path h="4416751" w="7630921">
                <a:moveTo>
                  <a:pt x="0" y="0"/>
                </a:moveTo>
                <a:lnTo>
                  <a:pt x="7630920" y="0"/>
                </a:lnTo>
                <a:lnTo>
                  <a:pt x="7630920" y="4416751"/>
                </a:lnTo>
                <a:lnTo>
                  <a:pt x="0" y="4416751"/>
                </a:lnTo>
                <a:lnTo>
                  <a:pt x="0" y="0"/>
                </a:lnTo>
                <a:close/>
              </a:path>
            </a:pathLst>
          </a:custGeom>
          <a:blipFill>
            <a:blip r:embed="rId3"/>
            <a:stretch>
              <a:fillRect l="0" t="0" r="0" b="0"/>
            </a:stretch>
          </a:blipFill>
        </p:spPr>
      </p:sp>
      <p:sp>
        <p:nvSpPr>
          <p:cNvPr name="TextBox 7" id="7"/>
          <p:cNvSpPr txBox="true"/>
          <p:nvPr/>
        </p:nvSpPr>
        <p:spPr>
          <a:xfrm rot="0">
            <a:off x="3781153" y="2096546"/>
            <a:ext cx="10944428" cy="857781"/>
          </a:xfrm>
          <a:prstGeom prst="rect">
            <a:avLst/>
          </a:prstGeom>
        </p:spPr>
        <p:txBody>
          <a:bodyPr anchor="t" rtlCol="false" tIns="0" lIns="0" bIns="0" rIns="0">
            <a:spAutoFit/>
          </a:bodyPr>
          <a:lstStyle/>
          <a:p>
            <a:pPr algn="ctr">
              <a:lnSpc>
                <a:spcPts val="7012"/>
              </a:lnSpc>
              <a:spcBef>
                <a:spcPct val="0"/>
              </a:spcBef>
            </a:pPr>
            <a:r>
              <a:rPr lang="en-US" sz="5008">
                <a:solidFill>
                  <a:srgbClr val="99C5FF"/>
                </a:solidFill>
                <a:latin typeface="HK Modular"/>
                <a:ea typeface="HK Modular"/>
                <a:cs typeface="HK Modular"/>
                <a:sym typeface="HK Modular"/>
              </a:rPr>
              <a:t>EJERCICIOS DE REPASO</a:t>
            </a:r>
          </a:p>
        </p:txBody>
      </p:sp>
      <p:sp>
        <p:nvSpPr>
          <p:cNvPr name="TextBox 8" id="8"/>
          <p:cNvSpPr txBox="true"/>
          <p:nvPr/>
        </p:nvSpPr>
        <p:spPr>
          <a:xfrm rot="0">
            <a:off x="1390914" y="3271934"/>
            <a:ext cx="6948934" cy="374397"/>
          </a:xfrm>
          <a:prstGeom prst="rect">
            <a:avLst/>
          </a:prstGeom>
        </p:spPr>
        <p:txBody>
          <a:bodyPr anchor="t" rtlCol="false" tIns="0" lIns="0" bIns="0" rIns="0">
            <a:spAutoFit/>
          </a:bodyPr>
          <a:lstStyle/>
          <a:p>
            <a:pPr algn="l">
              <a:lnSpc>
                <a:spcPts val="2988"/>
              </a:lnSpc>
            </a:pPr>
            <a:r>
              <a:rPr lang="en-US" sz="2134">
                <a:solidFill>
                  <a:srgbClr val="FFFFFF"/>
                </a:solidFill>
                <a:latin typeface="Poppins"/>
                <a:ea typeface="Poppins"/>
                <a:cs typeface="Poppins"/>
                <a:sym typeface="Poppins"/>
              </a:rPr>
              <a:t>EJERCICIO # 2: </a:t>
            </a:r>
          </a:p>
        </p:txBody>
      </p:sp>
      <p:sp>
        <p:nvSpPr>
          <p:cNvPr name="TextBox 9" id="9"/>
          <p:cNvSpPr txBox="true"/>
          <p:nvPr/>
        </p:nvSpPr>
        <p:spPr>
          <a:xfrm rot="0">
            <a:off x="1390914" y="4132105"/>
            <a:ext cx="6948934" cy="4460622"/>
          </a:xfrm>
          <a:prstGeom prst="rect">
            <a:avLst/>
          </a:prstGeom>
        </p:spPr>
        <p:txBody>
          <a:bodyPr anchor="t" rtlCol="false" tIns="0" lIns="0" bIns="0" rIns="0">
            <a:spAutoFit/>
          </a:bodyPr>
          <a:lstStyle/>
          <a:p>
            <a:pPr algn="l">
              <a:lnSpc>
                <a:spcPts val="2988"/>
              </a:lnSpc>
            </a:pPr>
            <a:r>
              <a:rPr lang="en-US" sz="2134">
                <a:solidFill>
                  <a:srgbClr val="FFFFFF"/>
                </a:solidFill>
                <a:latin typeface="Poppins"/>
                <a:ea typeface="Poppins"/>
                <a:cs typeface="Poppins"/>
                <a:sym typeface="Poppins"/>
              </a:rPr>
              <a:t>Dada una lista de palabras, s</a:t>
            </a:r>
            <a:r>
              <a:rPr lang="en-US" sz="2134">
                <a:solidFill>
                  <a:srgbClr val="FFFFFF"/>
                </a:solidFill>
                <a:latin typeface="Poppins"/>
                <a:ea typeface="Poppins"/>
                <a:cs typeface="Poppins"/>
                <a:sym typeface="Poppins"/>
              </a:rPr>
              <a:t>e requiere:</a:t>
            </a:r>
          </a:p>
          <a:p>
            <a:pPr algn="l" marL="460941" indent="-230470" lvl="1">
              <a:lnSpc>
                <a:spcPts val="2988"/>
              </a:lnSpc>
              <a:buFont typeface="Arial"/>
              <a:buChar char="•"/>
            </a:pPr>
            <a:r>
              <a:rPr lang="en-US" sz="2134">
                <a:solidFill>
                  <a:srgbClr val="FFFFFF"/>
                </a:solidFill>
                <a:latin typeface="Poppins"/>
                <a:ea typeface="Poppins"/>
                <a:cs typeface="Poppins"/>
                <a:sym typeface="Poppins"/>
              </a:rPr>
              <a:t>Filtrar las palabras que tengan mas de 4 caracteres</a:t>
            </a:r>
          </a:p>
          <a:p>
            <a:pPr algn="l" marL="460941" indent="-230470" lvl="1">
              <a:lnSpc>
                <a:spcPts val="2988"/>
              </a:lnSpc>
              <a:buFont typeface="Arial"/>
              <a:buChar char="•"/>
            </a:pPr>
            <a:r>
              <a:rPr lang="en-US" sz="2134">
                <a:solidFill>
                  <a:srgbClr val="FFFFFF"/>
                </a:solidFill>
                <a:latin typeface="Poppins"/>
                <a:ea typeface="Poppins"/>
                <a:cs typeface="Poppins"/>
                <a:sym typeface="Poppins"/>
              </a:rPr>
              <a:t>Convertirlas en Mayusculas</a:t>
            </a:r>
          </a:p>
          <a:p>
            <a:pPr algn="l" marL="460941" indent="-230470" lvl="1">
              <a:lnSpc>
                <a:spcPts val="2988"/>
              </a:lnSpc>
              <a:buFont typeface="Arial"/>
              <a:buChar char="•"/>
            </a:pPr>
            <a:r>
              <a:rPr lang="en-US" sz="2134">
                <a:solidFill>
                  <a:srgbClr val="FFFFFF"/>
                </a:solidFill>
                <a:latin typeface="Poppins"/>
                <a:ea typeface="Poppins"/>
                <a:cs typeface="Poppins"/>
                <a:sym typeface="Poppins"/>
              </a:rPr>
              <a:t>Ordenarlas alfabeticamente</a:t>
            </a:r>
          </a:p>
          <a:p>
            <a:pPr algn="l" marL="460941" indent="-230470" lvl="1">
              <a:lnSpc>
                <a:spcPts val="2988"/>
              </a:lnSpc>
              <a:buFont typeface="Arial"/>
              <a:buChar char="•"/>
            </a:pPr>
            <a:r>
              <a:rPr lang="en-US" sz="2134">
                <a:solidFill>
                  <a:srgbClr val="FFFFFF"/>
                </a:solidFill>
                <a:latin typeface="Poppins"/>
                <a:ea typeface="Poppins"/>
                <a:cs typeface="Poppins"/>
                <a:sym typeface="Poppins"/>
              </a:rPr>
              <a:t>Obtener la cantidad total de palabras resultantes </a:t>
            </a:r>
          </a:p>
          <a:p>
            <a:pPr algn="l">
              <a:lnSpc>
                <a:spcPts val="2988"/>
              </a:lnSpc>
            </a:pPr>
          </a:p>
          <a:p>
            <a:pPr algn="l">
              <a:lnSpc>
                <a:spcPts val="2988"/>
              </a:lnSpc>
            </a:pPr>
            <a:r>
              <a:rPr lang="en-US" sz="2134">
                <a:solidFill>
                  <a:srgbClr val="FFFFFF"/>
                </a:solidFill>
                <a:latin typeface="Poppins"/>
                <a:ea typeface="Poppins"/>
                <a:cs typeface="Poppins"/>
                <a:sym typeface="Poppins"/>
              </a:rPr>
              <a:t>Datos de Entrada: </a:t>
            </a:r>
          </a:p>
          <a:p>
            <a:pPr algn="l">
              <a:lnSpc>
                <a:spcPts val="2988"/>
              </a:lnSpc>
            </a:pPr>
            <a:r>
              <a:rPr lang="en-US" sz="2134">
                <a:solidFill>
                  <a:srgbClr val="FFFFFF"/>
                </a:solidFill>
                <a:latin typeface="Poppins"/>
                <a:ea typeface="Poppins"/>
                <a:cs typeface="Poppins"/>
                <a:sym typeface="Poppins"/>
              </a:rPr>
              <a:t>List&lt;String&gt; words = List.of(“java”,”stream”,”api”,”functional”,”code”,”git”)</a:t>
            </a:r>
          </a:p>
          <a:p>
            <a:pPr algn="l">
              <a:lnSpc>
                <a:spcPts val="2988"/>
              </a:lnSpc>
            </a:pPr>
          </a:p>
        </p:txBody>
      </p:sp>
      <p:sp>
        <p:nvSpPr>
          <p:cNvPr name="Freeform 10" id="10"/>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4"/>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0401312" y="4093540"/>
            <a:ext cx="6322608" cy="2990694"/>
          </a:xfrm>
          <a:custGeom>
            <a:avLst/>
            <a:gdLst/>
            <a:ahLst/>
            <a:cxnLst/>
            <a:rect r="r" b="b" t="t" l="l"/>
            <a:pathLst>
              <a:path h="2990694" w="6322608">
                <a:moveTo>
                  <a:pt x="0" y="0"/>
                </a:moveTo>
                <a:lnTo>
                  <a:pt x="6322608" y="0"/>
                </a:lnTo>
                <a:lnTo>
                  <a:pt x="6322608" y="2990694"/>
                </a:lnTo>
                <a:lnTo>
                  <a:pt x="0" y="2990694"/>
                </a:lnTo>
                <a:lnTo>
                  <a:pt x="0" y="0"/>
                </a:lnTo>
                <a:close/>
              </a:path>
            </a:pathLst>
          </a:custGeom>
          <a:blipFill>
            <a:blip r:embed="rId3"/>
            <a:stretch>
              <a:fillRect l="0" t="0" r="0" b="0"/>
            </a:stretch>
          </a:blipFill>
        </p:spPr>
      </p:sp>
      <p:sp>
        <p:nvSpPr>
          <p:cNvPr name="TextBox 7" id="7"/>
          <p:cNvSpPr txBox="true"/>
          <p:nvPr/>
        </p:nvSpPr>
        <p:spPr>
          <a:xfrm rot="0">
            <a:off x="3781153" y="2096546"/>
            <a:ext cx="10944428" cy="857781"/>
          </a:xfrm>
          <a:prstGeom prst="rect">
            <a:avLst/>
          </a:prstGeom>
        </p:spPr>
        <p:txBody>
          <a:bodyPr anchor="t" rtlCol="false" tIns="0" lIns="0" bIns="0" rIns="0">
            <a:spAutoFit/>
          </a:bodyPr>
          <a:lstStyle/>
          <a:p>
            <a:pPr algn="ctr">
              <a:lnSpc>
                <a:spcPts val="7012"/>
              </a:lnSpc>
              <a:spcBef>
                <a:spcPct val="0"/>
              </a:spcBef>
            </a:pPr>
            <a:r>
              <a:rPr lang="en-US" sz="5008">
                <a:solidFill>
                  <a:srgbClr val="99C5FF"/>
                </a:solidFill>
                <a:latin typeface="HK Modular"/>
                <a:ea typeface="HK Modular"/>
                <a:cs typeface="HK Modular"/>
                <a:sym typeface="HK Modular"/>
              </a:rPr>
              <a:t>EJERCICIOS DE REPASO</a:t>
            </a:r>
          </a:p>
        </p:txBody>
      </p:sp>
      <p:sp>
        <p:nvSpPr>
          <p:cNvPr name="TextBox 8" id="8"/>
          <p:cNvSpPr txBox="true"/>
          <p:nvPr/>
        </p:nvSpPr>
        <p:spPr>
          <a:xfrm rot="0">
            <a:off x="1390914" y="3609771"/>
            <a:ext cx="6948934" cy="374397"/>
          </a:xfrm>
          <a:prstGeom prst="rect">
            <a:avLst/>
          </a:prstGeom>
        </p:spPr>
        <p:txBody>
          <a:bodyPr anchor="t" rtlCol="false" tIns="0" lIns="0" bIns="0" rIns="0">
            <a:spAutoFit/>
          </a:bodyPr>
          <a:lstStyle/>
          <a:p>
            <a:pPr algn="l">
              <a:lnSpc>
                <a:spcPts val="2988"/>
              </a:lnSpc>
            </a:pPr>
            <a:r>
              <a:rPr lang="en-US" sz="2134">
                <a:solidFill>
                  <a:srgbClr val="FFFFFF"/>
                </a:solidFill>
                <a:latin typeface="Poppins"/>
                <a:ea typeface="Poppins"/>
                <a:cs typeface="Poppins"/>
                <a:sym typeface="Poppins"/>
              </a:rPr>
              <a:t>EJERCICIO # 3: </a:t>
            </a:r>
          </a:p>
        </p:txBody>
      </p:sp>
      <p:sp>
        <p:nvSpPr>
          <p:cNvPr name="TextBox 9" id="9"/>
          <p:cNvSpPr txBox="true"/>
          <p:nvPr/>
        </p:nvSpPr>
        <p:spPr>
          <a:xfrm rot="0">
            <a:off x="1390914" y="4639611"/>
            <a:ext cx="6948934" cy="4832097"/>
          </a:xfrm>
          <a:prstGeom prst="rect">
            <a:avLst/>
          </a:prstGeom>
        </p:spPr>
        <p:txBody>
          <a:bodyPr anchor="t" rtlCol="false" tIns="0" lIns="0" bIns="0" rIns="0">
            <a:spAutoFit/>
          </a:bodyPr>
          <a:lstStyle/>
          <a:p>
            <a:pPr algn="l">
              <a:lnSpc>
                <a:spcPts val="2988"/>
              </a:lnSpc>
            </a:pPr>
            <a:r>
              <a:rPr lang="en-US" sz="2134">
                <a:solidFill>
                  <a:srgbClr val="FFFFFF"/>
                </a:solidFill>
                <a:latin typeface="Poppins"/>
                <a:ea typeface="Poppins"/>
                <a:cs typeface="Poppins"/>
                <a:sym typeface="Poppins"/>
              </a:rPr>
              <a:t>Dada una lista de usuarios con los atributos:</a:t>
            </a:r>
          </a:p>
          <a:p>
            <a:pPr algn="l" marL="460941" indent="-230470" lvl="1">
              <a:lnSpc>
                <a:spcPts val="2988"/>
              </a:lnSpc>
              <a:buFont typeface="Arial"/>
              <a:buChar char="•"/>
            </a:pPr>
            <a:r>
              <a:rPr lang="en-US" sz="2134">
                <a:solidFill>
                  <a:srgbClr val="FFFFFF"/>
                </a:solidFill>
                <a:latin typeface="Poppins"/>
                <a:ea typeface="Poppins"/>
                <a:cs typeface="Poppins"/>
                <a:sym typeface="Poppins"/>
              </a:rPr>
              <a:t>id</a:t>
            </a:r>
          </a:p>
          <a:p>
            <a:pPr algn="l" marL="460941" indent="-230470" lvl="1">
              <a:lnSpc>
                <a:spcPts val="2988"/>
              </a:lnSpc>
              <a:buFont typeface="Arial"/>
              <a:buChar char="•"/>
            </a:pPr>
            <a:r>
              <a:rPr lang="en-US" sz="2134">
                <a:solidFill>
                  <a:srgbClr val="FFFFFF"/>
                </a:solidFill>
                <a:latin typeface="Poppins"/>
                <a:ea typeface="Poppins"/>
                <a:cs typeface="Poppins"/>
                <a:sym typeface="Poppins"/>
              </a:rPr>
              <a:t>name</a:t>
            </a:r>
          </a:p>
          <a:p>
            <a:pPr algn="l" marL="460941" indent="-230470" lvl="1">
              <a:lnSpc>
                <a:spcPts val="2988"/>
              </a:lnSpc>
              <a:buFont typeface="Arial"/>
              <a:buChar char="•"/>
            </a:pPr>
            <a:r>
              <a:rPr lang="en-US" sz="2134">
                <a:solidFill>
                  <a:srgbClr val="FFFFFF"/>
                </a:solidFill>
                <a:latin typeface="Poppins"/>
                <a:ea typeface="Poppins"/>
                <a:cs typeface="Poppins"/>
                <a:sym typeface="Poppins"/>
              </a:rPr>
              <a:t>age</a:t>
            </a:r>
          </a:p>
          <a:p>
            <a:pPr algn="l" marL="460941" indent="-230470" lvl="1">
              <a:lnSpc>
                <a:spcPts val="2988"/>
              </a:lnSpc>
              <a:buFont typeface="Arial"/>
              <a:buChar char="•"/>
            </a:pPr>
            <a:r>
              <a:rPr lang="en-US" sz="2134">
                <a:solidFill>
                  <a:srgbClr val="FFFFFF"/>
                </a:solidFill>
                <a:latin typeface="Poppins"/>
                <a:ea typeface="Poppins"/>
                <a:cs typeface="Poppins"/>
                <a:sym typeface="Poppins"/>
              </a:rPr>
              <a:t>active</a:t>
            </a:r>
          </a:p>
          <a:p>
            <a:pPr algn="l">
              <a:lnSpc>
                <a:spcPts val="2988"/>
              </a:lnSpc>
            </a:pPr>
          </a:p>
          <a:p>
            <a:pPr algn="l">
              <a:lnSpc>
                <a:spcPts val="2988"/>
              </a:lnSpc>
            </a:pPr>
            <a:r>
              <a:rPr lang="en-US" sz="2134">
                <a:solidFill>
                  <a:srgbClr val="FFFFFF"/>
                </a:solidFill>
                <a:latin typeface="Poppins"/>
                <a:ea typeface="Poppins"/>
                <a:cs typeface="Poppins"/>
                <a:sym typeface="Poppins"/>
              </a:rPr>
              <a:t>Filtra unicamente los usuarios activos</a:t>
            </a:r>
          </a:p>
          <a:p>
            <a:pPr algn="l">
              <a:lnSpc>
                <a:spcPts val="2988"/>
              </a:lnSpc>
            </a:pPr>
            <a:r>
              <a:rPr lang="en-US" sz="2134">
                <a:solidFill>
                  <a:srgbClr val="FFFFFF"/>
                </a:solidFill>
                <a:latin typeface="Poppins"/>
                <a:ea typeface="Poppins"/>
                <a:cs typeface="Poppins"/>
                <a:sym typeface="Poppins"/>
              </a:rPr>
              <a:t>Obten una lista con los nombres en mayuscula</a:t>
            </a:r>
          </a:p>
          <a:p>
            <a:pPr algn="l">
              <a:lnSpc>
                <a:spcPts val="2988"/>
              </a:lnSpc>
            </a:pPr>
            <a:r>
              <a:rPr lang="en-US" sz="2134">
                <a:solidFill>
                  <a:srgbClr val="FFFFFF"/>
                </a:solidFill>
                <a:latin typeface="Poppins"/>
                <a:ea typeface="Poppins"/>
                <a:cs typeface="Poppins"/>
                <a:sym typeface="Poppins"/>
              </a:rPr>
              <a:t>Ordena alfabeticamente el resultado</a:t>
            </a:r>
          </a:p>
          <a:p>
            <a:pPr algn="l">
              <a:lnSpc>
                <a:spcPts val="2988"/>
              </a:lnSpc>
            </a:pPr>
          </a:p>
          <a:p>
            <a:pPr algn="l">
              <a:lnSpc>
                <a:spcPts val="2988"/>
              </a:lnSpc>
            </a:pPr>
            <a:r>
              <a:rPr lang="en-US" sz="2134">
                <a:solidFill>
                  <a:srgbClr val="FFFFFF"/>
                </a:solidFill>
                <a:latin typeface="Poppins"/>
                <a:ea typeface="Poppins"/>
                <a:cs typeface="Poppins"/>
                <a:sym typeface="Poppins"/>
              </a:rPr>
              <a:t>Datos de Entrada:  users = List&lt;Users&gt;</a:t>
            </a:r>
          </a:p>
          <a:p>
            <a:pPr algn="l">
              <a:lnSpc>
                <a:spcPts val="2988"/>
              </a:lnSpc>
            </a:pPr>
            <a:r>
              <a:rPr lang="en-US" sz="2134">
                <a:solidFill>
                  <a:srgbClr val="FFFFFF"/>
                </a:solidFill>
                <a:latin typeface="Poppins"/>
                <a:ea typeface="Poppins"/>
                <a:cs typeface="Poppins"/>
                <a:sym typeface="Poppins"/>
              </a:rPr>
              <a:t>Resultado: List&lt;String&gt;</a:t>
            </a:r>
          </a:p>
          <a:p>
            <a:pPr algn="l">
              <a:lnSpc>
                <a:spcPts val="2988"/>
              </a:lnSpc>
            </a:pPr>
          </a:p>
        </p:txBody>
      </p:sp>
      <p:sp>
        <p:nvSpPr>
          <p:cNvPr name="Freeform 10" id="10"/>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4"/>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283256" y="4303060"/>
            <a:ext cx="15721487" cy="1509431"/>
          </a:xfrm>
          <a:prstGeom prst="rect">
            <a:avLst/>
          </a:prstGeom>
        </p:spPr>
        <p:txBody>
          <a:bodyPr anchor="t" rtlCol="false" tIns="0" lIns="0" bIns="0" rIns="0">
            <a:spAutoFit/>
          </a:bodyPr>
          <a:lstStyle/>
          <a:p>
            <a:pPr algn="ctr">
              <a:lnSpc>
                <a:spcPts val="12353"/>
              </a:lnSpc>
              <a:spcBef>
                <a:spcPct val="0"/>
              </a:spcBef>
            </a:pPr>
            <a:r>
              <a:rPr lang="en-US" sz="8823">
                <a:solidFill>
                  <a:srgbClr val="99C5FF"/>
                </a:solidFill>
                <a:latin typeface="HK Modular"/>
                <a:ea typeface="HK Modular"/>
                <a:cs typeface="HK Modular"/>
                <a:sym typeface="HK Modular"/>
              </a:rPr>
              <a:t>S.O.L.I.D</a:t>
            </a:r>
          </a:p>
        </p:txBody>
      </p:sp>
      <p:sp>
        <p:nvSpPr>
          <p:cNvPr name="Freeform 13" id="13"/>
          <p:cNvSpPr/>
          <p:nvPr/>
        </p:nvSpPr>
        <p:spPr>
          <a:xfrm flipH="false" flipV="false" rot="0">
            <a:off x="7959586"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3"/>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1466401" y="3947226"/>
            <a:ext cx="5267686" cy="3292304"/>
          </a:xfrm>
          <a:custGeom>
            <a:avLst/>
            <a:gdLst/>
            <a:ahLst/>
            <a:cxnLst/>
            <a:rect r="r" b="b" t="t" l="l"/>
            <a:pathLst>
              <a:path h="3292304" w="5267686">
                <a:moveTo>
                  <a:pt x="0" y="0"/>
                </a:moveTo>
                <a:lnTo>
                  <a:pt x="5267686" y="0"/>
                </a:lnTo>
                <a:lnTo>
                  <a:pt x="5267686" y="3292304"/>
                </a:lnTo>
                <a:lnTo>
                  <a:pt x="0" y="3292304"/>
                </a:lnTo>
                <a:lnTo>
                  <a:pt x="0" y="0"/>
                </a:lnTo>
                <a:close/>
              </a:path>
            </a:pathLst>
          </a:custGeom>
          <a:blipFill>
            <a:blip r:embed="rId3"/>
            <a:stretch>
              <a:fillRect l="0" t="0" r="0" b="0"/>
            </a:stretch>
          </a:blipFill>
        </p:spPr>
      </p:sp>
      <p:sp>
        <p:nvSpPr>
          <p:cNvPr name="Freeform 7" id="7"/>
          <p:cNvSpPr/>
          <p:nvPr/>
        </p:nvSpPr>
        <p:spPr>
          <a:xfrm flipH="false" flipV="false" rot="0">
            <a:off x="3985000" y="6475311"/>
            <a:ext cx="2405730" cy="3164915"/>
          </a:xfrm>
          <a:custGeom>
            <a:avLst/>
            <a:gdLst/>
            <a:ahLst/>
            <a:cxnLst/>
            <a:rect r="r" b="b" t="t" l="l"/>
            <a:pathLst>
              <a:path h="3164915" w="2405730">
                <a:moveTo>
                  <a:pt x="0" y="0"/>
                </a:moveTo>
                <a:lnTo>
                  <a:pt x="2405730" y="0"/>
                </a:lnTo>
                <a:lnTo>
                  <a:pt x="2405730" y="3164915"/>
                </a:lnTo>
                <a:lnTo>
                  <a:pt x="0" y="3164915"/>
                </a:lnTo>
                <a:lnTo>
                  <a:pt x="0" y="0"/>
                </a:lnTo>
                <a:close/>
              </a:path>
            </a:pathLst>
          </a:custGeom>
          <a:blipFill>
            <a:blip r:embed="rId4"/>
            <a:stretch>
              <a:fillRect l="0" t="0" r="0" b="0"/>
            </a:stretch>
          </a:blipFill>
        </p:spPr>
      </p:sp>
      <p:sp>
        <p:nvSpPr>
          <p:cNvPr name="TextBox 8" id="8"/>
          <p:cNvSpPr txBox="true"/>
          <p:nvPr/>
        </p:nvSpPr>
        <p:spPr>
          <a:xfrm rot="0">
            <a:off x="6533606" y="2096546"/>
            <a:ext cx="5439523" cy="857781"/>
          </a:xfrm>
          <a:prstGeom prst="rect">
            <a:avLst/>
          </a:prstGeom>
        </p:spPr>
        <p:txBody>
          <a:bodyPr anchor="t" rtlCol="false" tIns="0" lIns="0" bIns="0" rIns="0">
            <a:spAutoFit/>
          </a:bodyPr>
          <a:lstStyle/>
          <a:p>
            <a:pPr algn="ctr">
              <a:lnSpc>
                <a:spcPts val="7012"/>
              </a:lnSpc>
              <a:spcBef>
                <a:spcPct val="0"/>
              </a:spcBef>
            </a:pPr>
            <a:r>
              <a:rPr lang="en-US" sz="5008">
                <a:solidFill>
                  <a:srgbClr val="7B640E"/>
                </a:solidFill>
                <a:latin typeface="HK Modular"/>
                <a:ea typeface="HK Modular"/>
                <a:cs typeface="HK Modular"/>
                <a:sym typeface="HK Modular"/>
              </a:rPr>
              <a:t>CLEAN CODE</a:t>
            </a:r>
          </a:p>
        </p:txBody>
      </p:sp>
      <p:sp>
        <p:nvSpPr>
          <p:cNvPr name="TextBox 9" id="9"/>
          <p:cNvSpPr txBox="true"/>
          <p:nvPr/>
        </p:nvSpPr>
        <p:spPr>
          <a:xfrm rot="0">
            <a:off x="1864138" y="4035968"/>
            <a:ext cx="6647454" cy="2167440"/>
          </a:xfrm>
          <a:prstGeom prst="rect">
            <a:avLst/>
          </a:prstGeom>
        </p:spPr>
        <p:txBody>
          <a:bodyPr anchor="t" rtlCol="false" tIns="0" lIns="0" bIns="0" rIns="0">
            <a:spAutoFit/>
          </a:bodyPr>
          <a:lstStyle/>
          <a:p>
            <a:pPr algn="l" marL="441024" indent="-220512" lvl="1">
              <a:lnSpc>
                <a:spcPts val="2859"/>
              </a:lnSpc>
              <a:buFont typeface="Arial"/>
              <a:buChar char="•"/>
            </a:pPr>
            <a:r>
              <a:rPr lang="en-US" sz="2042">
                <a:solidFill>
                  <a:srgbClr val="FFFFFF"/>
                </a:solidFill>
                <a:latin typeface="Open Sans"/>
                <a:ea typeface="Open Sans"/>
                <a:cs typeface="Open Sans"/>
                <a:sym typeface="Open Sans"/>
              </a:rPr>
              <a:t>Es una Filosofia utilizada en el desarrollo de software cuyo objetivo es hacer mas facil la lectura y escritura de codigo. Se basa en la aplicacion de tecnicas sencillas con las que generamos un codigo claro e intuitivo que es mas facil de modificar</a:t>
            </a:r>
          </a:p>
          <a:p>
            <a:pPr algn="l">
              <a:lnSpc>
                <a:spcPts val="2859"/>
              </a:lnSpc>
            </a:pPr>
          </a:p>
        </p:txBody>
      </p:sp>
      <p:sp>
        <p:nvSpPr>
          <p:cNvPr name="TextBox 10" id="10"/>
          <p:cNvSpPr txBox="true"/>
          <p:nvPr/>
        </p:nvSpPr>
        <p:spPr>
          <a:xfrm rot="0">
            <a:off x="10822152" y="7809762"/>
            <a:ext cx="6948934" cy="1474534"/>
          </a:xfrm>
          <a:prstGeom prst="rect">
            <a:avLst/>
          </a:prstGeom>
        </p:spPr>
        <p:txBody>
          <a:bodyPr anchor="t" rtlCol="false" tIns="0" lIns="0" bIns="0" rIns="0">
            <a:spAutoFit/>
          </a:bodyPr>
          <a:lstStyle/>
          <a:p>
            <a:pPr algn="l" marL="460941" indent="-230470" lvl="1">
              <a:lnSpc>
                <a:spcPts val="2988"/>
              </a:lnSpc>
              <a:buFont typeface="Arial"/>
              <a:buChar char="•"/>
            </a:pPr>
            <a:r>
              <a:rPr lang="en-US" sz="2134">
                <a:solidFill>
                  <a:srgbClr val="FFFFFF"/>
                </a:solidFill>
                <a:latin typeface="Open Sans"/>
                <a:ea typeface="Open Sans"/>
                <a:cs typeface="Open Sans"/>
                <a:sym typeface="Open Sans"/>
              </a:rPr>
              <a:t>Robert J.Martin (tambien conocido como el tio Bob), Introdujo el concepto de SOLID, pero el acronimo fue introducido por Michael Feathers.</a:t>
            </a:r>
          </a:p>
          <a:p>
            <a:pPr algn="l">
              <a:lnSpc>
                <a:spcPts val="2988"/>
              </a:lnSpc>
            </a:pPr>
          </a:p>
        </p:txBody>
      </p:sp>
      <p:sp>
        <p:nvSpPr>
          <p:cNvPr name="Freeform 11" id="11"/>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5"/>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903191" y="4270189"/>
            <a:ext cx="8486127" cy="4587550"/>
          </a:xfrm>
          <a:custGeom>
            <a:avLst/>
            <a:gdLst/>
            <a:ahLst/>
            <a:cxnLst/>
            <a:rect r="r" b="b" t="t" l="l"/>
            <a:pathLst>
              <a:path h="4587550" w="8486127">
                <a:moveTo>
                  <a:pt x="0" y="0"/>
                </a:moveTo>
                <a:lnTo>
                  <a:pt x="8486127" y="0"/>
                </a:lnTo>
                <a:lnTo>
                  <a:pt x="8486127" y="4587550"/>
                </a:lnTo>
                <a:lnTo>
                  <a:pt x="0" y="4587550"/>
                </a:lnTo>
                <a:lnTo>
                  <a:pt x="0" y="0"/>
                </a:lnTo>
                <a:close/>
              </a:path>
            </a:pathLst>
          </a:custGeom>
          <a:blipFill>
            <a:blip r:embed="rId3"/>
            <a:stretch>
              <a:fillRect l="0" t="0" r="0" b="0"/>
            </a:stretch>
          </a:blipFill>
        </p:spPr>
      </p:sp>
      <p:sp>
        <p:nvSpPr>
          <p:cNvPr name="TextBox 7" id="7"/>
          <p:cNvSpPr txBox="true"/>
          <p:nvPr/>
        </p:nvSpPr>
        <p:spPr>
          <a:xfrm rot="0">
            <a:off x="5113667" y="2519506"/>
            <a:ext cx="8279399" cy="857781"/>
          </a:xfrm>
          <a:prstGeom prst="rect">
            <a:avLst/>
          </a:prstGeom>
        </p:spPr>
        <p:txBody>
          <a:bodyPr anchor="t" rtlCol="false" tIns="0" lIns="0" bIns="0" rIns="0">
            <a:spAutoFit/>
          </a:bodyPr>
          <a:lstStyle/>
          <a:p>
            <a:pPr algn="ctr">
              <a:lnSpc>
                <a:spcPts val="7012"/>
              </a:lnSpc>
              <a:spcBef>
                <a:spcPct val="0"/>
              </a:spcBef>
            </a:pPr>
            <a:r>
              <a:rPr lang="en-US" sz="5008">
                <a:solidFill>
                  <a:srgbClr val="7B640E"/>
                </a:solidFill>
                <a:latin typeface="HK Modular"/>
                <a:ea typeface="HK Modular"/>
                <a:cs typeface="HK Modular"/>
                <a:sym typeface="HK Modular"/>
              </a:rPr>
              <a:t>¿QUE ES SOLID?</a:t>
            </a:r>
          </a:p>
        </p:txBody>
      </p:sp>
      <p:sp>
        <p:nvSpPr>
          <p:cNvPr name="TextBox 8" id="8"/>
          <p:cNvSpPr txBox="true"/>
          <p:nvPr/>
        </p:nvSpPr>
        <p:spPr>
          <a:xfrm rot="0">
            <a:off x="10201101" y="4107514"/>
            <a:ext cx="6948934" cy="1613258"/>
          </a:xfrm>
          <a:prstGeom prst="rect">
            <a:avLst/>
          </a:prstGeom>
        </p:spPr>
        <p:txBody>
          <a:bodyPr anchor="t" rtlCol="false" tIns="0" lIns="0" bIns="0" rIns="0">
            <a:spAutoFit/>
          </a:bodyPr>
          <a:lstStyle/>
          <a:p>
            <a:pPr algn="l">
              <a:lnSpc>
                <a:spcPts val="3268"/>
              </a:lnSpc>
            </a:pPr>
            <a:r>
              <a:rPr lang="en-US" sz="2334">
                <a:solidFill>
                  <a:srgbClr val="FFFFFF"/>
                </a:solidFill>
                <a:latin typeface="Open Sans"/>
                <a:ea typeface="Open Sans"/>
                <a:cs typeface="Open Sans"/>
                <a:sym typeface="Open Sans"/>
              </a:rPr>
              <a:t>Conjunto de reglas y mejores practicas a seguir al diseñar una estructura de clase</a:t>
            </a:r>
          </a:p>
          <a:p>
            <a:pPr algn="l">
              <a:lnSpc>
                <a:spcPts val="3268"/>
              </a:lnSpc>
            </a:pPr>
          </a:p>
          <a:p>
            <a:pPr algn="l">
              <a:lnSpc>
                <a:spcPts val="3268"/>
              </a:lnSpc>
            </a:pPr>
          </a:p>
        </p:txBody>
      </p:sp>
      <p:sp>
        <p:nvSpPr>
          <p:cNvPr name="TextBox 9" id="9"/>
          <p:cNvSpPr txBox="true"/>
          <p:nvPr/>
        </p:nvSpPr>
        <p:spPr>
          <a:xfrm rot="0">
            <a:off x="10201101" y="5673147"/>
            <a:ext cx="6948934" cy="2019493"/>
          </a:xfrm>
          <a:prstGeom prst="rect">
            <a:avLst/>
          </a:prstGeom>
        </p:spPr>
        <p:txBody>
          <a:bodyPr anchor="t" rtlCol="false" tIns="0" lIns="0" bIns="0" rIns="0">
            <a:spAutoFit/>
          </a:bodyPr>
          <a:lstStyle/>
          <a:p>
            <a:pPr algn="l">
              <a:lnSpc>
                <a:spcPts val="3268"/>
              </a:lnSpc>
            </a:pPr>
            <a:r>
              <a:rPr lang="en-US" sz="2334">
                <a:solidFill>
                  <a:srgbClr val="FFFFFF"/>
                </a:solidFill>
                <a:latin typeface="Open Sans"/>
                <a:ea typeface="Open Sans"/>
                <a:cs typeface="Open Sans"/>
                <a:sym typeface="Open Sans"/>
              </a:rPr>
              <a:t>Estos principios nos ayudan a comprender la necesidad de ciertos patrones de diseño y arquitectura de software en general</a:t>
            </a:r>
          </a:p>
          <a:p>
            <a:pPr algn="l">
              <a:lnSpc>
                <a:spcPts val="3268"/>
              </a:lnSpc>
            </a:pPr>
          </a:p>
          <a:p>
            <a:pPr algn="l">
              <a:lnSpc>
                <a:spcPts val="3268"/>
              </a:lnSpc>
            </a:pPr>
          </a:p>
        </p:txBody>
      </p:sp>
      <p:sp>
        <p:nvSpPr>
          <p:cNvPr name="TextBox 10" id="10"/>
          <p:cNvSpPr txBox="true"/>
          <p:nvPr/>
        </p:nvSpPr>
        <p:spPr>
          <a:xfrm rot="0">
            <a:off x="10201101" y="7457337"/>
            <a:ext cx="6948934" cy="2831963"/>
          </a:xfrm>
          <a:prstGeom prst="rect">
            <a:avLst/>
          </a:prstGeom>
        </p:spPr>
        <p:txBody>
          <a:bodyPr anchor="t" rtlCol="false" tIns="0" lIns="0" bIns="0" rIns="0">
            <a:spAutoFit/>
          </a:bodyPr>
          <a:lstStyle/>
          <a:p>
            <a:pPr algn="l">
              <a:lnSpc>
                <a:spcPts val="3268"/>
              </a:lnSpc>
            </a:pPr>
            <a:r>
              <a:rPr lang="en-US" sz="2334">
                <a:solidFill>
                  <a:srgbClr val="FFFFFF"/>
                </a:solidFill>
                <a:latin typeface="Open Sans"/>
                <a:ea typeface="Open Sans"/>
                <a:cs typeface="Open Sans"/>
                <a:sym typeface="Open Sans"/>
              </a:rPr>
              <a:t>Todos tienen el mismo proposito: Crear codigo mantenible mas facil y rapido, permite añadir nuevas funcionalidades de forma sencilla, favorece una mayor reusabilidad y calidad del codigo</a:t>
            </a:r>
          </a:p>
          <a:p>
            <a:pPr algn="l">
              <a:lnSpc>
                <a:spcPts val="3268"/>
              </a:lnSpc>
            </a:pPr>
          </a:p>
          <a:p>
            <a:pPr algn="l">
              <a:lnSpc>
                <a:spcPts val="3268"/>
              </a:lnSpc>
            </a:pPr>
          </a:p>
        </p:txBody>
      </p:sp>
      <p:sp>
        <p:nvSpPr>
          <p:cNvPr name="Freeform 11" id="11"/>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4"/>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8865852" y="2632172"/>
            <a:ext cx="8600272" cy="6213733"/>
          </a:xfrm>
          <a:custGeom>
            <a:avLst/>
            <a:gdLst/>
            <a:ahLst/>
            <a:cxnLst/>
            <a:rect r="r" b="b" t="t" l="l"/>
            <a:pathLst>
              <a:path h="6213733" w="8600272">
                <a:moveTo>
                  <a:pt x="0" y="0"/>
                </a:moveTo>
                <a:lnTo>
                  <a:pt x="8600272" y="0"/>
                </a:lnTo>
                <a:lnTo>
                  <a:pt x="8600272" y="6213733"/>
                </a:lnTo>
                <a:lnTo>
                  <a:pt x="0" y="6213733"/>
                </a:lnTo>
                <a:lnTo>
                  <a:pt x="0" y="0"/>
                </a:lnTo>
                <a:close/>
              </a:path>
            </a:pathLst>
          </a:custGeom>
          <a:blipFill>
            <a:blip r:embed="rId3"/>
            <a:stretch>
              <a:fillRect l="0" t="0" r="0" b="0"/>
            </a:stretch>
          </a:blipFill>
        </p:spPr>
      </p:sp>
      <p:sp>
        <p:nvSpPr>
          <p:cNvPr name="Freeform 7" id="7"/>
          <p:cNvSpPr/>
          <p:nvPr/>
        </p:nvSpPr>
        <p:spPr>
          <a:xfrm flipH="false" flipV="false" rot="0">
            <a:off x="766462" y="3202114"/>
            <a:ext cx="7610772" cy="5073848"/>
          </a:xfrm>
          <a:custGeom>
            <a:avLst/>
            <a:gdLst/>
            <a:ahLst/>
            <a:cxnLst/>
            <a:rect r="r" b="b" t="t" l="l"/>
            <a:pathLst>
              <a:path h="5073848" w="7610772">
                <a:moveTo>
                  <a:pt x="0" y="0"/>
                </a:moveTo>
                <a:lnTo>
                  <a:pt x="7610773" y="0"/>
                </a:lnTo>
                <a:lnTo>
                  <a:pt x="7610773" y="5073849"/>
                </a:lnTo>
                <a:lnTo>
                  <a:pt x="0" y="5073849"/>
                </a:lnTo>
                <a:lnTo>
                  <a:pt x="0" y="0"/>
                </a:lnTo>
                <a:close/>
              </a:path>
            </a:pathLst>
          </a:custGeom>
          <a:blipFill>
            <a:blip r:embed="rId4"/>
            <a:stretch>
              <a:fillRect l="0" t="0" r="0" b="0"/>
            </a:stretch>
          </a:blipFill>
        </p:spPr>
      </p:sp>
      <p:sp>
        <p:nvSpPr>
          <p:cNvPr name="Freeform 8" id="8"/>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5"/>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726096" y="7897680"/>
            <a:ext cx="1586363" cy="1358323"/>
          </a:xfrm>
          <a:custGeom>
            <a:avLst/>
            <a:gdLst/>
            <a:ahLst/>
            <a:cxnLst/>
            <a:rect r="r" b="b" t="t" l="l"/>
            <a:pathLst>
              <a:path h="1358323" w="1586363">
                <a:moveTo>
                  <a:pt x="0" y="0"/>
                </a:moveTo>
                <a:lnTo>
                  <a:pt x="1586363" y="0"/>
                </a:lnTo>
                <a:lnTo>
                  <a:pt x="1586363" y="1358324"/>
                </a:lnTo>
                <a:lnTo>
                  <a:pt x="0" y="13583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2655360" y="2306714"/>
            <a:ext cx="12977281" cy="857781"/>
          </a:xfrm>
          <a:prstGeom prst="rect">
            <a:avLst/>
          </a:prstGeom>
        </p:spPr>
        <p:txBody>
          <a:bodyPr anchor="t" rtlCol="false" tIns="0" lIns="0" bIns="0" rIns="0">
            <a:spAutoFit/>
          </a:bodyPr>
          <a:lstStyle/>
          <a:p>
            <a:pPr algn="ctr">
              <a:lnSpc>
                <a:spcPts val="7012"/>
              </a:lnSpc>
              <a:spcBef>
                <a:spcPct val="0"/>
              </a:spcBef>
            </a:pPr>
            <a:r>
              <a:rPr lang="en-US" sz="5008">
                <a:solidFill>
                  <a:srgbClr val="7B640E"/>
                </a:solidFill>
                <a:latin typeface="HK Modular"/>
                <a:ea typeface="HK Modular"/>
                <a:cs typeface="HK Modular"/>
                <a:sym typeface="HK Modular"/>
              </a:rPr>
              <a:t>S: SINGLE RESPONSIBILITY</a:t>
            </a:r>
          </a:p>
        </p:txBody>
      </p:sp>
      <p:sp>
        <p:nvSpPr>
          <p:cNvPr name="TextBox 8" id="8"/>
          <p:cNvSpPr txBox="true"/>
          <p:nvPr/>
        </p:nvSpPr>
        <p:spPr>
          <a:xfrm rot="0">
            <a:off x="2850208" y="3576172"/>
            <a:ext cx="12587585"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Establece que una clase, componente o servicio debe ser responsable de una sola cosa (desacople)</a:t>
            </a:r>
          </a:p>
        </p:txBody>
      </p:sp>
      <p:sp>
        <p:nvSpPr>
          <p:cNvPr name="TextBox 9" id="9"/>
          <p:cNvSpPr txBox="true"/>
          <p:nvPr/>
        </p:nvSpPr>
        <p:spPr>
          <a:xfrm rot="0">
            <a:off x="2339685" y="5076825"/>
            <a:ext cx="13827363"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Si una clase realiza multiples responsabilidades, sera mas dificil de mantener y modificar sin afectar otras partes del sistema</a:t>
            </a:r>
          </a:p>
        </p:txBody>
      </p:sp>
      <p:sp>
        <p:nvSpPr>
          <p:cNvPr name="TextBox 10" id="10"/>
          <p:cNvSpPr txBox="true"/>
          <p:nvPr/>
        </p:nvSpPr>
        <p:spPr>
          <a:xfrm rot="0">
            <a:off x="3185606" y="7942925"/>
            <a:ext cx="13827363"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Reune las cosas que cambian por las mismas razones y separa aquellas que cambian por razones diferentes</a:t>
            </a:r>
          </a:p>
        </p:txBody>
      </p:sp>
      <p:sp>
        <p:nvSpPr>
          <p:cNvPr name="TextBox 11" id="11"/>
          <p:cNvSpPr txBox="true"/>
          <p:nvPr/>
        </p:nvSpPr>
        <p:spPr>
          <a:xfrm rot="0">
            <a:off x="5115512" y="7171774"/>
            <a:ext cx="8056975" cy="599701"/>
          </a:xfrm>
          <a:prstGeom prst="rect">
            <a:avLst/>
          </a:prstGeom>
        </p:spPr>
        <p:txBody>
          <a:bodyPr anchor="t" rtlCol="false" tIns="0" lIns="0" bIns="0" rIns="0">
            <a:spAutoFit/>
          </a:bodyPr>
          <a:lstStyle/>
          <a:p>
            <a:pPr algn="ctr">
              <a:lnSpc>
                <a:spcPts val="4927"/>
              </a:lnSpc>
              <a:spcBef>
                <a:spcPct val="0"/>
              </a:spcBef>
            </a:pPr>
            <a:r>
              <a:rPr lang="en-US" sz="3519">
                <a:solidFill>
                  <a:srgbClr val="99C5FF"/>
                </a:solidFill>
                <a:latin typeface="HK Modular"/>
                <a:ea typeface="HK Modular"/>
                <a:cs typeface="HK Modular"/>
                <a:sym typeface="HK Modular"/>
              </a:rPr>
              <a:t>CONSEJO DE APLICACION</a:t>
            </a:r>
          </a:p>
        </p:txBody>
      </p:sp>
      <p:sp>
        <p:nvSpPr>
          <p:cNvPr name="TextBox 12" id="12"/>
          <p:cNvSpPr txBox="true"/>
          <p:nvPr/>
        </p:nvSpPr>
        <p:spPr>
          <a:xfrm rot="0">
            <a:off x="3185606" y="9029410"/>
            <a:ext cx="13827363"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Utiliza el encapsulamento para proteger los datos internos de un objeto.</a:t>
            </a:r>
          </a:p>
        </p:txBody>
      </p:sp>
      <p:sp>
        <p:nvSpPr>
          <p:cNvPr name="Freeform 13" id="13"/>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5"/>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655360" y="2306714"/>
            <a:ext cx="12977281" cy="857781"/>
          </a:xfrm>
          <a:prstGeom prst="rect">
            <a:avLst/>
          </a:prstGeom>
        </p:spPr>
        <p:txBody>
          <a:bodyPr anchor="t" rtlCol="false" tIns="0" lIns="0" bIns="0" rIns="0">
            <a:spAutoFit/>
          </a:bodyPr>
          <a:lstStyle/>
          <a:p>
            <a:pPr algn="ctr">
              <a:lnSpc>
                <a:spcPts val="7012"/>
              </a:lnSpc>
              <a:spcBef>
                <a:spcPct val="0"/>
              </a:spcBef>
            </a:pPr>
            <a:r>
              <a:rPr lang="en-US" sz="5008">
                <a:solidFill>
                  <a:srgbClr val="7B640E"/>
                </a:solidFill>
                <a:latin typeface="HK Modular"/>
                <a:ea typeface="HK Modular"/>
                <a:cs typeface="HK Modular"/>
                <a:sym typeface="HK Modular"/>
              </a:rPr>
              <a:t>S: SINGLE RESPONSIBILITY</a:t>
            </a:r>
          </a:p>
        </p:txBody>
      </p:sp>
      <p:sp>
        <p:nvSpPr>
          <p:cNvPr name="TextBox 7" id="7"/>
          <p:cNvSpPr txBox="true"/>
          <p:nvPr/>
        </p:nvSpPr>
        <p:spPr>
          <a:xfrm rot="0">
            <a:off x="5224879" y="3579971"/>
            <a:ext cx="8056975" cy="599701"/>
          </a:xfrm>
          <a:prstGeom prst="rect">
            <a:avLst/>
          </a:prstGeom>
        </p:spPr>
        <p:txBody>
          <a:bodyPr anchor="t" rtlCol="false" tIns="0" lIns="0" bIns="0" rIns="0">
            <a:spAutoFit/>
          </a:bodyPr>
          <a:lstStyle/>
          <a:p>
            <a:pPr algn="ctr">
              <a:lnSpc>
                <a:spcPts val="4927"/>
              </a:lnSpc>
              <a:spcBef>
                <a:spcPct val="0"/>
              </a:spcBef>
            </a:pPr>
            <a:r>
              <a:rPr lang="en-US" sz="3519">
                <a:solidFill>
                  <a:srgbClr val="99C5FF"/>
                </a:solidFill>
                <a:latin typeface="HK Modular"/>
                <a:ea typeface="HK Modular"/>
                <a:cs typeface="HK Modular"/>
                <a:sym typeface="HK Modular"/>
              </a:rPr>
              <a:t>ENCAPSULAMIENTO</a:t>
            </a:r>
          </a:p>
        </p:txBody>
      </p:sp>
      <p:sp>
        <p:nvSpPr>
          <p:cNvPr name="TextBox 8" id="8"/>
          <p:cNvSpPr txBox="true"/>
          <p:nvPr/>
        </p:nvSpPr>
        <p:spPr>
          <a:xfrm rot="0">
            <a:off x="5466472" y="4472743"/>
            <a:ext cx="7355056" cy="18294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C</a:t>
            </a:r>
            <a:r>
              <a:rPr lang="en-US" sz="2599">
                <a:solidFill>
                  <a:srgbClr val="FFFFFF"/>
                </a:solidFill>
                <a:latin typeface="Poppins"/>
                <a:ea typeface="Poppins"/>
                <a:cs typeface="Poppins"/>
                <a:sym typeface="Poppins"/>
              </a:rPr>
              <a:t>onsiste en ocultar los detalles internos de una clase y permitir el acceso a su información únicamente a través de operaciones definidas para ese objeto</a:t>
            </a:r>
          </a:p>
        </p:txBody>
      </p:sp>
      <p:sp>
        <p:nvSpPr>
          <p:cNvPr name="TextBox 9" id="9"/>
          <p:cNvSpPr txBox="true"/>
          <p:nvPr/>
        </p:nvSpPr>
        <p:spPr>
          <a:xfrm rot="0">
            <a:off x="1617421" y="8026550"/>
            <a:ext cx="4378016" cy="877729"/>
          </a:xfrm>
          <a:prstGeom prst="rect">
            <a:avLst/>
          </a:prstGeom>
        </p:spPr>
        <p:txBody>
          <a:bodyPr anchor="t" rtlCol="false" tIns="0" lIns="0" bIns="0" rIns="0">
            <a:spAutoFit/>
          </a:bodyPr>
          <a:lstStyle/>
          <a:p>
            <a:pPr algn="ctr">
              <a:lnSpc>
                <a:spcPts val="3539"/>
              </a:lnSpc>
              <a:spcBef>
                <a:spcPct val="0"/>
              </a:spcBef>
            </a:pPr>
            <a:r>
              <a:rPr lang="en-US" sz="2528">
                <a:solidFill>
                  <a:srgbClr val="99C5FF"/>
                </a:solidFill>
                <a:latin typeface="HK Modular"/>
                <a:ea typeface="HK Modular"/>
                <a:cs typeface="HK Modular"/>
                <a:sym typeface="HK Modular"/>
              </a:rPr>
              <a:t>NIVELES DE ENCAPSULAMIENTO</a:t>
            </a:r>
          </a:p>
        </p:txBody>
      </p:sp>
      <p:sp>
        <p:nvSpPr>
          <p:cNvPr name="TextBox 10" id="10"/>
          <p:cNvSpPr txBox="true"/>
          <p:nvPr/>
        </p:nvSpPr>
        <p:spPr>
          <a:xfrm rot="0">
            <a:off x="7687912" y="6963494"/>
            <a:ext cx="4378016" cy="430567"/>
          </a:xfrm>
          <a:prstGeom prst="rect">
            <a:avLst/>
          </a:prstGeom>
        </p:spPr>
        <p:txBody>
          <a:bodyPr anchor="t" rtlCol="false" tIns="0" lIns="0" bIns="0" rIns="0">
            <a:spAutoFit/>
          </a:bodyPr>
          <a:lstStyle/>
          <a:p>
            <a:pPr algn="ctr">
              <a:lnSpc>
                <a:spcPts val="3539"/>
              </a:lnSpc>
              <a:spcBef>
                <a:spcPct val="0"/>
              </a:spcBef>
            </a:pPr>
            <a:r>
              <a:rPr lang="en-US" sz="2528">
                <a:solidFill>
                  <a:srgbClr val="99C5FF"/>
                </a:solidFill>
                <a:latin typeface="HK Modular"/>
                <a:ea typeface="HK Modular"/>
                <a:cs typeface="HK Modular"/>
                <a:sym typeface="HK Modular"/>
              </a:rPr>
              <a:t>PUBLIC</a:t>
            </a:r>
          </a:p>
        </p:txBody>
      </p:sp>
      <p:sp>
        <p:nvSpPr>
          <p:cNvPr name="TextBox 11" id="11"/>
          <p:cNvSpPr txBox="true"/>
          <p:nvPr/>
        </p:nvSpPr>
        <p:spPr>
          <a:xfrm rot="0">
            <a:off x="7687912" y="7947221"/>
            <a:ext cx="4378016" cy="430567"/>
          </a:xfrm>
          <a:prstGeom prst="rect">
            <a:avLst/>
          </a:prstGeom>
        </p:spPr>
        <p:txBody>
          <a:bodyPr anchor="t" rtlCol="false" tIns="0" lIns="0" bIns="0" rIns="0">
            <a:spAutoFit/>
          </a:bodyPr>
          <a:lstStyle/>
          <a:p>
            <a:pPr algn="ctr">
              <a:lnSpc>
                <a:spcPts val="3539"/>
              </a:lnSpc>
              <a:spcBef>
                <a:spcPct val="0"/>
              </a:spcBef>
            </a:pPr>
            <a:r>
              <a:rPr lang="en-US" sz="2528">
                <a:solidFill>
                  <a:srgbClr val="99C5FF"/>
                </a:solidFill>
                <a:latin typeface="HK Modular"/>
                <a:ea typeface="HK Modular"/>
                <a:cs typeface="HK Modular"/>
                <a:sym typeface="HK Modular"/>
              </a:rPr>
              <a:t>PRIVATE</a:t>
            </a:r>
          </a:p>
        </p:txBody>
      </p:sp>
      <p:sp>
        <p:nvSpPr>
          <p:cNvPr name="TextBox 12" id="12"/>
          <p:cNvSpPr txBox="true"/>
          <p:nvPr/>
        </p:nvSpPr>
        <p:spPr>
          <a:xfrm rot="0">
            <a:off x="7687912" y="9172462"/>
            <a:ext cx="4378016" cy="430567"/>
          </a:xfrm>
          <a:prstGeom prst="rect">
            <a:avLst/>
          </a:prstGeom>
        </p:spPr>
        <p:txBody>
          <a:bodyPr anchor="t" rtlCol="false" tIns="0" lIns="0" bIns="0" rIns="0">
            <a:spAutoFit/>
          </a:bodyPr>
          <a:lstStyle/>
          <a:p>
            <a:pPr algn="ctr">
              <a:lnSpc>
                <a:spcPts val="3539"/>
              </a:lnSpc>
              <a:spcBef>
                <a:spcPct val="0"/>
              </a:spcBef>
            </a:pPr>
            <a:r>
              <a:rPr lang="en-US" sz="2528">
                <a:solidFill>
                  <a:srgbClr val="99C5FF"/>
                </a:solidFill>
                <a:latin typeface="HK Modular"/>
                <a:ea typeface="HK Modular"/>
                <a:cs typeface="HK Modular"/>
                <a:sym typeface="HK Modular"/>
              </a:rPr>
              <a:t>PROTECTED</a:t>
            </a:r>
          </a:p>
        </p:txBody>
      </p:sp>
      <p:sp>
        <p:nvSpPr>
          <p:cNvPr name="Freeform 13" id="13"/>
          <p:cNvSpPr/>
          <p:nvPr/>
        </p:nvSpPr>
        <p:spPr>
          <a:xfrm flipH="false" flipV="false" rot="8953216">
            <a:off x="3629927" y="6727915"/>
            <a:ext cx="1819785" cy="566408"/>
          </a:xfrm>
          <a:custGeom>
            <a:avLst/>
            <a:gdLst/>
            <a:ahLst/>
            <a:cxnLst/>
            <a:rect r="r" b="b" t="t" l="l"/>
            <a:pathLst>
              <a:path h="566408" w="1819785">
                <a:moveTo>
                  <a:pt x="0" y="0"/>
                </a:moveTo>
                <a:lnTo>
                  <a:pt x="1819785" y="0"/>
                </a:lnTo>
                <a:lnTo>
                  <a:pt x="1819785" y="566408"/>
                </a:lnTo>
                <a:lnTo>
                  <a:pt x="0" y="56640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6427656" y="7414038"/>
            <a:ext cx="2039032" cy="1320273"/>
          </a:xfrm>
          <a:custGeom>
            <a:avLst/>
            <a:gdLst/>
            <a:ahLst/>
            <a:cxnLst/>
            <a:rect r="r" b="b" t="t" l="l"/>
            <a:pathLst>
              <a:path h="1320273" w="2039032">
                <a:moveTo>
                  <a:pt x="0" y="0"/>
                </a:moveTo>
                <a:lnTo>
                  <a:pt x="2039032" y="0"/>
                </a:lnTo>
                <a:lnTo>
                  <a:pt x="2039032" y="1320274"/>
                </a:lnTo>
                <a:lnTo>
                  <a:pt x="0" y="132027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5" id="15"/>
          <p:cNvSpPr txBox="true"/>
          <p:nvPr/>
        </p:nvSpPr>
        <p:spPr>
          <a:xfrm rot="0">
            <a:off x="12200273" y="6886257"/>
            <a:ext cx="3599239"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Acceso para todos</a:t>
            </a:r>
          </a:p>
        </p:txBody>
      </p:sp>
      <p:sp>
        <p:nvSpPr>
          <p:cNvPr name="TextBox 16" id="16"/>
          <p:cNvSpPr txBox="true"/>
          <p:nvPr/>
        </p:nvSpPr>
        <p:spPr>
          <a:xfrm rot="0">
            <a:off x="12334178" y="9029587"/>
            <a:ext cx="3599239"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Accesible solo a la propia clase</a:t>
            </a:r>
          </a:p>
        </p:txBody>
      </p:sp>
      <p:sp>
        <p:nvSpPr>
          <p:cNvPr name="TextBox 17" id="17"/>
          <p:cNvSpPr txBox="true"/>
          <p:nvPr/>
        </p:nvSpPr>
        <p:spPr>
          <a:xfrm rot="0">
            <a:off x="11318076" y="7819276"/>
            <a:ext cx="5631443"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Uso para la clase y sus subclases no es de acceso publico</a:t>
            </a:r>
          </a:p>
        </p:txBody>
      </p:sp>
      <p:sp>
        <p:nvSpPr>
          <p:cNvPr name="Freeform 18" id="18"/>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7"/>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2181227" y="5330661"/>
            <a:ext cx="6108333" cy="2617857"/>
          </a:xfrm>
          <a:custGeom>
            <a:avLst/>
            <a:gdLst/>
            <a:ahLst/>
            <a:cxnLst/>
            <a:rect r="r" b="b" t="t" l="l"/>
            <a:pathLst>
              <a:path h="2617857" w="6108333">
                <a:moveTo>
                  <a:pt x="0" y="0"/>
                </a:moveTo>
                <a:lnTo>
                  <a:pt x="6108332" y="0"/>
                </a:lnTo>
                <a:lnTo>
                  <a:pt x="6108332" y="2617857"/>
                </a:lnTo>
                <a:lnTo>
                  <a:pt x="0" y="2617857"/>
                </a:lnTo>
                <a:lnTo>
                  <a:pt x="0" y="0"/>
                </a:lnTo>
                <a:close/>
              </a:path>
            </a:pathLst>
          </a:custGeom>
          <a:blipFill>
            <a:blip r:embed="rId3"/>
            <a:stretch>
              <a:fillRect l="0" t="0" r="0" b="0"/>
            </a:stretch>
          </a:blipFill>
        </p:spPr>
      </p:sp>
      <p:sp>
        <p:nvSpPr>
          <p:cNvPr name="Freeform 7" id="7"/>
          <p:cNvSpPr/>
          <p:nvPr/>
        </p:nvSpPr>
        <p:spPr>
          <a:xfrm flipH="false" flipV="false" rot="0">
            <a:off x="13605037" y="8367350"/>
            <a:ext cx="1540769" cy="1319284"/>
          </a:xfrm>
          <a:custGeom>
            <a:avLst/>
            <a:gdLst/>
            <a:ahLst/>
            <a:cxnLst/>
            <a:rect r="r" b="b" t="t" l="l"/>
            <a:pathLst>
              <a:path h="1319284" w="1540769">
                <a:moveTo>
                  <a:pt x="0" y="0"/>
                </a:moveTo>
                <a:lnTo>
                  <a:pt x="1540769" y="0"/>
                </a:lnTo>
                <a:lnTo>
                  <a:pt x="1540769" y="1319284"/>
                </a:lnTo>
                <a:lnTo>
                  <a:pt x="0" y="13192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1687699" y="5143500"/>
            <a:ext cx="5375444" cy="2934247"/>
          </a:xfrm>
          <a:custGeom>
            <a:avLst/>
            <a:gdLst/>
            <a:ahLst/>
            <a:cxnLst/>
            <a:rect r="r" b="b" t="t" l="l"/>
            <a:pathLst>
              <a:path h="2934247" w="5375444">
                <a:moveTo>
                  <a:pt x="0" y="0"/>
                </a:moveTo>
                <a:lnTo>
                  <a:pt x="5375444" y="0"/>
                </a:lnTo>
                <a:lnTo>
                  <a:pt x="5375444" y="2934247"/>
                </a:lnTo>
                <a:lnTo>
                  <a:pt x="0" y="2934247"/>
                </a:lnTo>
                <a:lnTo>
                  <a:pt x="0" y="0"/>
                </a:lnTo>
                <a:close/>
              </a:path>
            </a:pathLst>
          </a:custGeom>
          <a:blipFill>
            <a:blip r:embed="rId6"/>
            <a:stretch>
              <a:fillRect l="0" t="0" r="0" b="0"/>
            </a:stretch>
          </a:blipFill>
        </p:spPr>
      </p:sp>
      <p:sp>
        <p:nvSpPr>
          <p:cNvPr name="Freeform 9" id="9"/>
          <p:cNvSpPr/>
          <p:nvPr/>
        </p:nvSpPr>
        <p:spPr>
          <a:xfrm flipH="false" flipV="false" rot="0">
            <a:off x="4473309" y="8264908"/>
            <a:ext cx="1524168" cy="1524168"/>
          </a:xfrm>
          <a:custGeom>
            <a:avLst/>
            <a:gdLst/>
            <a:ahLst/>
            <a:cxnLst/>
            <a:rect r="r" b="b" t="t" l="l"/>
            <a:pathLst>
              <a:path h="1524168" w="1524168">
                <a:moveTo>
                  <a:pt x="0" y="0"/>
                </a:moveTo>
                <a:lnTo>
                  <a:pt x="1524168" y="0"/>
                </a:lnTo>
                <a:lnTo>
                  <a:pt x="1524168" y="1524168"/>
                </a:lnTo>
                <a:lnTo>
                  <a:pt x="0" y="152416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0" id="10"/>
          <p:cNvSpPr txBox="true"/>
          <p:nvPr/>
        </p:nvSpPr>
        <p:spPr>
          <a:xfrm rot="0">
            <a:off x="1683290" y="4176737"/>
            <a:ext cx="7104206"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¿Por que este codigo viola el principio?</a:t>
            </a:r>
          </a:p>
        </p:txBody>
      </p:sp>
      <p:sp>
        <p:nvSpPr>
          <p:cNvPr name="TextBox 11" id="11"/>
          <p:cNvSpPr txBox="true"/>
          <p:nvPr/>
        </p:nvSpPr>
        <p:spPr>
          <a:xfrm rot="0">
            <a:off x="10657435" y="4176737"/>
            <a:ext cx="7104206"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¿Como podria mejorar?</a:t>
            </a:r>
          </a:p>
        </p:txBody>
      </p:sp>
      <p:sp>
        <p:nvSpPr>
          <p:cNvPr name="TextBox 12" id="12"/>
          <p:cNvSpPr txBox="true"/>
          <p:nvPr/>
        </p:nvSpPr>
        <p:spPr>
          <a:xfrm rot="0">
            <a:off x="2655360" y="2306714"/>
            <a:ext cx="12977281" cy="857781"/>
          </a:xfrm>
          <a:prstGeom prst="rect">
            <a:avLst/>
          </a:prstGeom>
        </p:spPr>
        <p:txBody>
          <a:bodyPr anchor="t" rtlCol="false" tIns="0" lIns="0" bIns="0" rIns="0">
            <a:spAutoFit/>
          </a:bodyPr>
          <a:lstStyle/>
          <a:p>
            <a:pPr algn="ctr">
              <a:lnSpc>
                <a:spcPts val="7012"/>
              </a:lnSpc>
              <a:spcBef>
                <a:spcPct val="0"/>
              </a:spcBef>
            </a:pPr>
            <a:r>
              <a:rPr lang="en-US" sz="5008">
                <a:solidFill>
                  <a:srgbClr val="7B640E"/>
                </a:solidFill>
                <a:latin typeface="HK Modular"/>
                <a:ea typeface="HK Modular"/>
                <a:cs typeface="HK Modular"/>
                <a:sym typeface="HK Modular"/>
              </a:rPr>
              <a:t>S: SINGLE RESPONSIBILITY</a:t>
            </a:r>
          </a:p>
        </p:txBody>
      </p:sp>
      <p:sp>
        <p:nvSpPr>
          <p:cNvPr name="Freeform 13" id="13"/>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9"/>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3045063" y="2321035"/>
            <a:ext cx="11723240" cy="1533000"/>
          </a:xfrm>
          <a:prstGeom prst="rect">
            <a:avLst/>
          </a:prstGeom>
        </p:spPr>
        <p:txBody>
          <a:bodyPr anchor="t" rtlCol="false" tIns="0" lIns="0" bIns="0" rIns="0">
            <a:spAutoFit/>
          </a:bodyPr>
          <a:lstStyle/>
          <a:p>
            <a:pPr algn="ctr">
              <a:lnSpc>
                <a:spcPts val="6101"/>
              </a:lnSpc>
              <a:spcBef>
                <a:spcPct val="0"/>
              </a:spcBef>
            </a:pPr>
            <a:r>
              <a:rPr lang="en-US" sz="4358">
                <a:solidFill>
                  <a:srgbClr val="7B640E"/>
                </a:solidFill>
                <a:latin typeface="HK Modular"/>
                <a:ea typeface="HK Modular"/>
                <a:cs typeface="HK Modular"/>
                <a:sym typeface="HK Modular"/>
              </a:rPr>
              <a:t>SINGLE RESPONSIBILITY FALLA SI...</a:t>
            </a:r>
          </a:p>
        </p:txBody>
      </p:sp>
      <p:sp>
        <p:nvSpPr>
          <p:cNvPr name="Freeform 7" id="7"/>
          <p:cNvSpPr/>
          <p:nvPr/>
        </p:nvSpPr>
        <p:spPr>
          <a:xfrm flipH="false" flipV="false" rot="0">
            <a:off x="3362879" y="4303218"/>
            <a:ext cx="965256" cy="965256"/>
          </a:xfrm>
          <a:custGeom>
            <a:avLst/>
            <a:gdLst/>
            <a:ahLst/>
            <a:cxnLst/>
            <a:rect r="r" b="b" t="t" l="l"/>
            <a:pathLst>
              <a:path h="965256" w="965256">
                <a:moveTo>
                  <a:pt x="0" y="0"/>
                </a:moveTo>
                <a:lnTo>
                  <a:pt x="965256" y="0"/>
                </a:lnTo>
                <a:lnTo>
                  <a:pt x="965256" y="965256"/>
                </a:lnTo>
                <a:lnTo>
                  <a:pt x="0" y="9652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3467109" y="4523591"/>
            <a:ext cx="12391210"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En una clase estan involucradas dos capas de arquitectura</a:t>
            </a:r>
          </a:p>
        </p:txBody>
      </p:sp>
      <p:sp>
        <p:nvSpPr>
          <p:cNvPr name="Freeform 9" id="9"/>
          <p:cNvSpPr/>
          <p:nvPr/>
        </p:nvSpPr>
        <p:spPr>
          <a:xfrm flipH="false" flipV="false" rot="0">
            <a:off x="3362879" y="5513019"/>
            <a:ext cx="965256" cy="965256"/>
          </a:xfrm>
          <a:custGeom>
            <a:avLst/>
            <a:gdLst/>
            <a:ahLst/>
            <a:cxnLst/>
            <a:rect r="r" b="b" t="t" l="l"/>
            <a:pathLst>
              <a:path h="965256" w="965256">
                <a:moveTo>
                  <a:pt x="0" y="0"/>
                </a:moveTo>
                <a:lnTo>
                  <a:pt x="965256" y="0"/>
                </a:lnTo>
                <a:lnTo>
                  <a:pt x="965256" y="965256"/>
                </a:lnTo>
                <a:lnTo>
                  <a:pt x="0" y="9652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0" id="10"/>
          <p:cNvSpPr txBox="true"/>
          <p:nvPr/>
        </p:nvSpPr>
        <p:spPr>
          <a:xfrm rot="0">
            <a:off x="4767019" y="5648176"/>
            <a:ext cx="12391210" cy="457836"/>
          </a:xfrm>
          <a:prstGeom prst="rect">
            <a:avLst/>
          </a:prstGeom>
        </p:spPr>
        <p:txBody>
          <a:bodyPr anchor="t" rtlCol="false" tIns="0" lIns="0" bIns="0" rIns="0">
            <a:spAutoFit/>
          </a:bodyPr>
          <a:lstStyle/>
          <a:p>
            <a:pPr algn="l">
              <a:lnSpc>
                <a:spcPts val="3639"/>
              </a:lnSpc>
              <a:spcBef>
                <a:spcPct val="0"/>
              </a:spcBef>
            </a:pPr>
            <a:r>
              <a:rPr lang="en-US" sz="2599">
                <a:solidFill>
                  <a:srgbClr val="FFFFFF"/>
                </a:solidFill>
                <a:latin typeface="Poppins"/>
                <a:ea typeface="Poppins"/>
                <a:cs typeface="Poppins"/>
                <a:sym typeface="Poppins"/>
              </a:rPr>
              <a:t>Si contiene demasiados metodos publicos</a:t>
            </a:r>
          </a:p>
        </p:txBody>
      </p:sp>
      <p:sp>
        <p:nvSpPr>
          <p:cNvPr name="Freeform 11" id="11"/>
          <p:cNvSpPr/>
          <p:nvPr/>
        </p:nvSpPr>
        <p:spPr>
          <a:xfrm flipH="false" flipV="false" rot="0">
            <a:off x="3362879" y="6725925"/>
            <a:ext cx="965256" cy="965256"/>
          </a:xfrm>
          <a:custGeom>
            <a:avLst/>
            <a:gdLst/>
            <a:ahLst/>
            <a:cxnLst/>
            <a:rect r="r" b="b" t="t" l="l"/>
            <a:pathLst>
              <a:path h="965256" w="965256">
                <a:moveTo>
                  <a:pt x="0" y="0"/>
                </a:moveTo>
                <a:lnTo>
                  <a:pt x="965256" y="0"/>
                </a:lnTo>
                <a:lnTo>
                  <a:pt x="965256" y="965256"/>
                </a:lnTo>
                <a:lnTo>
                  <a:pt x="0" y="9652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2" id="12"/>
          <p:cNvSpPr txBox="true"/>
          <p:nvPr/>
        </p:nvSpPr>
        <p:spPr>
          <a:xfrm rot="0">
            <a:off x="4767019" y="6946298"/>
            <a:ext cx="12391210" cy="457836"/>
          </a:xfrm>
          <a:prstGeom prst="rect">
            <a:avLst/>
          </a:prstGeom>
        </p:spPr>
        <p:txBody>
          <a:bodyPr anchor="t" rtlCol="false" tIns="0" lIns="0" bIns="0" rIns="0">
            <a:spAutoFit/>
          </a:bodyPr>
          <a:lstStyle/>
          <a:p>
            <a:pPr algn="l">
              <a:lnSpc>
                <a:spcPts val="3639"/>
              </a:lnSpc>
              <a:spcBef>
                <a:spcPct val="0"/>
              </a:spcBef>
            </a:pPr>
            <a:r>
              <a:rPr lang="en-US" sz="2599">
                <a:solidFill>
                  <a:srgbClr val="FFFFFF"/>
                </a:solidFill>
                <a:latin typeface="Poppins"/>
                <a:ea typeface="Poppins"/>
                <a:cs typeface="Poppins"/>
                <a:sym typeface="Poppins"/>
              </a:rPr>
              <a:t>Es dificil de Probar (pruebas unitarias y granularidad)</a:t>
            </a:r>
          </a:p>
        </p:txBody>
      </p:sp>
      <p:sp>
        <p:nvSpPr>
          <p:cNvPr name="Freeform 13" id="13"/>
          <p:cNvSpPr/>
          <p:nvPr/>
        </p:nvSpPr>
        <p:spPr>
          <a:xfrm flipH="false" flipV="false" rot="0">
            <a:off x="3362879" y="7938831"/>
            <a:ext cx="965256" cy="965256"/>
          </a:xfrm>
          <a:custGeom>
            <a:avLst/>
            <a:gdLst/>
            <a:ahLst/>
            <a:cxnLst/>
            <a:rect r="r" b="b" t="t" l="l"/>
            <a:pathLst>
              <a:path h="965256" w="965256">
                <a:moveTo>
                  <a:pt x="0" y="0"/>
                </a:moveTo>
                <a:lnTo>
                  <a:pt x="965256" y="0"/>
                </a:lnTo>
                <a:lnTo>
                  <a:pt x="965256" y="965256"/>
                </a:lnTo>
                <a:lnTo>
                  <a:pt x="0" y="9652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4" id="14"/>
          <p:cNvSpPr txBox="true"/>
          <p:nvPr/>
        </p:nvSpPr>
        <p:spPr>
          <a:xfrm rot="0">
            <a:off x="4767019" y="8159203"/>
            <a:ext cx="12391210" cy="457836"/>
          </a:xfrm>
          <a:prstGeom prst="rect">
            <a:avLst/>
          </a:prstGeom>
        </p:spPr>
        <p:txBody>
          <a:bodyPr anchor="t" rtlCol="false" tIns="0" lIns="0" bIns="0" rIns="0">
            <a:spAutoFit/>
          </a:bodyPr>
          <a:lstStyle/>
          <a:p>
            <a:pPr algn="l">
              <a:lnSpc>
                <a:spcPts val="3639"/>
              </a:lnSpc>
              <a:spcBef>
                <a:spcPct val="0"/>
              </a:spcBef>
            </a:pPr>
            <a:r>
              <a:rPr lang="en-US" sz="2599">
                <a:solidFill>
                  <a:srgbClr val="FFFFFF"/>
                </a:solidFill>
                <a:latin typeface="Poppins"/>
                <a:ea typeface="Poppins"/>
                <a:cs typeface="Poppins"/>
                <a:sym typeface="Poppins"/>
              </a:rPr>
              <a:t>Una nueva funcionalidad la afecta</a:t>
            </a:r>
          </a:p>
        </p:txBody>
      </p:sp>
      <p:sp>
        <p:nvSpPr>
          <p:cNvPr name="Freeform 15" id="15"/>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5"/>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263845" y="7899977"/>
            <a:ext cx="1586363" cy="1358323"/>
          </a:xfrm>
          <a:custGeom>
            <a:avLst/>
            <a:gdLst/>
            <a:ahLst/>
            <a:cxnLst/>
            <a:rect r="r" b="b" t="t" l="l"/>
            <a:pathLst>
              <a:path h="1358323" w="1586363">
                <a:moveTo>
                  <a:pt x="0" y="0"/>
                </a:moveTo>
                <a:lnTo>
                  <a:pt x="1586363" y="0"/>
                </a:lnTo>
                <a:lnTo>
                  <a:pt x="1586363" y="1358323"/>
                </a:lnTo>
                <a:lnTo>
                  <a:pt x="0" y="13583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3312459" y="2306714"/>
            <a:ext cx="11663082" cy="853854"/>
          </a:xfrm>
          <a:prstGeom prst="rect">
            <a:avLst/>
          </a:prstGeom>
        </p:spPr>
        <p:txBody>
          <a:bodyPr anchor="t" rtlCol="false" tIns="0" lIns="0" bIns="0" rIns="0">
            <a:spAutoFit/>
          </a:bodyPr>
          <a:lstStyle/>
          <a:p>
            <a:pPr algn="ctr">
              <a:lnSpc>
                <a:spcPts val="7012"/>
              </a:lnSpc>
              <a:spcBef>
                <a:spcPct val="0"/>
              </a:spcBef>
            </a:pPr>
            <a:r>
              <a:rPr lang="en-US" sz="5008">
                <a:solidFill>
                  <a:srgbClr val="99C5FF"/>
                </a:solidFill>
                <a:latin typeface="HK Modular"/>
                <a:ea typeface="HK Modular"/>
                <a:cs typeface="HK Modular"/>
                <a:sym typeface="HK Modular"/>
              </a:rPr>
              <a:t>O: OPEN/CLOSED</a:t>
            </a:r>
          </a:p>
        </p:txBody>
      </p:sp>
      <p:sp>
        <p:nvSpPr>
          <p:cNvPr name="TextBox 8" id="8"/>
          <p:cNvSpPr txBox="true"/>
          <p:nvPr/>
        </p:nvSpPr>
        <p:spPr>
          <a:xfrm rot="0">
            <a:off x="2850208" y="3576172"/>
            <a:ext cx="12587585" cy="13722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Establece que las entidades de software (clases, modulos y funciones) deberian estar abiertos para su extension pero cerrados para su modificacion</a:t>
            </a:r>
          </a:p>
        </p:txBody>
      </p:sp>
      <p:sp>
        <p:nvSpPr>
          <p:cNvPr name="TextBox 9" id="9"/>
          <p:cNvSpPr txBox="true"/>
          <p:nvPr/>
        </p:nvSpPr>
        <p:spPr>
          <a:xfrm rot="0">
            <a:off x="2339685" y="5367508"/>
            <a:ext cx="13827363"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Deberiamos agregar nuevas funciones sin tocar el codigo existente, evitando el riesgo de crear errores potenciales</a:t>
            </a:r>
          </a:p>
        </p:txBody>
      </p:sp>
      <p:sp>
        <p:nvSpPr>
          <p:cNvPr name="TextBox 10" id="10"/>
          <p:cNvSpPr txBox="true"/>
          <p:nvPr/>
        </p:nvSpPr>
        <p:spPr>
          <a:xfrm rot="0">
            <a:off x="3185606" y="8181050"/>
            <a:ext cx="13827363"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Se suele resolver utilizando POLIMORFISMO al no obligar a la clase principal a saber como realizar la operacion, se le delega a los objetos que lo utiliza</a:t>
            </a:r>
          </a:p>
        </p:txBody>
      </p:sp>
      <p:sp>
        <p:nvSpPr>
          <p:cNvPr name="TextBox 11" id="11"/>
          <p:cNvSpPr txBox="true"/>
          <p:nvPr/>
        </p:nvSpPr>
        <p:spPr>
          <a:xfrm rot="0">
            <a:off x="5115512" y="7171774"/>
            <a:ext cx="8056975" cy="599701"/>
          </a:xfrm>
          <a:prstGeom prst="rect">
            <a:avLst/>
          </a:prstGeom>
        </p:spPr>
        <p:txBody>
          <a:bodyPr anchor="t" rtlCol="false" tIns="0" lIns="0" bIns="0" rIns="0">
            <a:spAutoFit/>
          </a:bodyPr>
          <a:lstStyle/>
          <a:p>
            <a:pPr algn="ctr">
              <a:lnSpc>
                <a:spcPts val="4927"/>
              </a:lnSpc>
              <a:spcBef>
                <a:spcPct val="0"/>
              </a:spcBef>
            </a:pPr>
            <a:r>
              <a:rPr lang="en-US" sz="3519">
                <a:solidFill>
                  <a:srgbClr val="7B640E"/>
                </a:solidFill>
                <a:latin typeface="HK Modular"/>
                <a:ea typeface="HK Modular"/>
                <a:cs typeface="HK Modular"/>
                <a:sym typeface="HK Modular"/>
              </a:rPr>
              <a:t>CONSEJO DE APLICACION</a:t>
            </a:r>
          </a:p>
        </p:txBody>
      </p:sp>
      <p:sp>
        <p:nvSpPr>
          <p:cNvPr name="Freeform 12" id="12"/>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5"/>
            <a:stretch>
              <a:fillRect l="0" t="0" r="0" b="0"/>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0113955" y="3376377"/>
            <a:ext cx="2354484" cy="1524528"/>
          </a:xfrm>
          <a:custGeom>
            <a:avLst/>
            <a:gdLst/>
            <a:ahLst/>
            <a:cxnLst/>
            <a:rect r="r" b="b" t="t" l="l"/>
            <a:pathLst>
              <a:path h="1524528" w="2354484">
                <a:moveTo>
                  <a:pt x="0" y="0"/>
                </a:moveTo>
                <a:lnTo>
                  <a:pt x="2354484" y="0"/>
                </a:lnTo>
                <a:lnTo>
                  <a:pt x="2354484" y="1524528"/>
                </a:lnTo>
                <a:lnTo>
                  <a:pt x="0" y="152452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028700" y="6380664"/>
            <a:ext cx="3605734" cy="3440428"/>
          </a:xfrm>
          <a:custGeom>
            <a:avLst/>
            <a:gdLst/>
            <a:ahLst/>
            <a:cxnLst/>
            <a:rect r="r" b="b" t="t" l="l"/>
            <a:pathLst>
              <a:path h="3440428" w="3605734">
                <a:moveTo>
                  <a:pt x="0" y="0"/>
                </a:moveTo>
                <a:lnTo>
                  <a:pt x="3605734" y="0"/>
                </a:lnTo>
                <a:lnTo>
                  <a:pt x="3605734" y="3440428"/>
                </a:lnTo>
                <a:lnTo>
                  <a:pt x="0" y="3440428"/>
                </a:lnTo>
                <a:lnTo>
                  <a:pt x="0" y="0"/>
                </a:lnTo>
                <a:close/>
              </a:path>
            </a:pathLst>
          </a:custGeom>
          <a:blipFill>
            <a:blip r:embed="rId5"/>
            <a:stretch>
              <a:fillRect l="0" t="0" r="0" b="0"/>
            </a:stretch>
          </a:blipFill>
        </p:spPr>
      </p:sp>
      <p:sp>
        <p:nvSpPr>
          <p:cNvPr name="Freeform 8" id="8"/>
          <p:cNvSpPr/>
          <p:nvPr/>
        </p:nvSpPr>
        <p:spPr>
          <a:xfrm flipH="false" flipV="false" rot="0">
            <a:off x="6175659" y="6380664"/>
            <a:ext cx="3280707" cy="3516788"/>
          </a:xfrm>
          <a:custGeom>
            <a:avLst/>
            <a:gdLst/>
            <a:ahLst/>
            <a:cxnLst/>
            <a:rect r="r" b="b" t="t" l="l"/>
            <a:pathLst>
              <a:path h="3516788" w="3280707">
                <a:moveTo>
                  <a:pt x="0" y="0"/>
                </a:moveTo>
                <a:lnTo>
                  <a:pt x="3280707" y="0"/>
                </a:lnTo>
                <a:lnTo>
                  <a:pt x="3280707" y="3516788"/>
                </a:lnTo>
                <a:lnTo>
                  <a:pt x="0" y="3516788"/>
                </a:lnTo>
                <a:lnTo>
                  <a:pt x="0" y="0"/>
                </a:lnTo>
                <a:close/>
              </a:path>
            </a:pathLst>
          </a:custGeom>
          <a:blipFill>
            <a:blip r:embed="rId6"/>
            <a:stretch>
              <a:fillRect l="0" t="0" r="0" b="0"/>
            </a:stretch>
          </a:blipFill>
        </p:spPr>
      </p:sp>
      <p:sp>
        <p:nvSpPr>
          <p:cNvPr name="TextBox 9" id="9"/>
          <p:cNvSpPr txBox="true"/>
          <p:nvPr/>
        </p:nvSpPr>
        <p:spPr>
          <a:xfrm rot="0">
            <a:off x="3253873" y="3488940"/>
            <a:ext cx="4213916" cy="1251777"/>
          </a:xfrm>
          <a:prstGeom prst="rect">
            <a:avLst/>
          </a:prstGeom>
        </p:spPr>
        <p:txBody>
          <a:bodyPr anchor="t" rtlCol="false" tIns="0" lIns="0" bIns="0" rIns="0">
            <a:spAutoFit/>
          </a:bodyPr>
          <a:lstStyle/>
          <a:p>
            <a:pPr algn="ctr">
              <a:lnSpc>
                <a:spcPts val="2486"/>
              </a:lnSpc>
              <a:spcBef>
                <a:spcPct val="0"/>
              </a:spcBef>
            </a:pPr>
            <a:r>
              <a:rPr lang="en-US" sz="1776">
                <a:solidFill>
                  <a:srgbClr val="FFFFFF"/>
                </a:solidFill>
                <a:latin typeface="Poppins"/>
                <a:ea typeface="Poppins"/>
                <a:cs typeface="Poppins"/>
                <a:sym typeface="Poppins"/>
              </a:rPr>
              <a:t>Capacidad de los objetos de una clase en ofrecer respuestas distintas e independientes en funcion de sus parametros durante su ejecucion</a:t>
            </a:r>
          </a:p>
        </p:txBody>
      </p:sp>
      <p:sp>
        <p:nvSpPr>
          <p:cNvPr name="TextBox 10" id="10"/>
          <p:cNvSpPr txBox="true"/>
          <p:nvPr/>
        </p:nvSpPr>
        <p:spPr>
          <a:xfrm rot="0">
            <a:off x="1332343" y="2717152"/>
            <a:ext cx="8056975" cy="599701"/>
          </a:xfrm>
          <a:prstGeom prst="rect">
            <a:avLst/>
          </a:prstGeom>
        </p:spPr>
        <p:txBody>
          <a:bodyPr anchor="t" rtlCol="false" tIns="0" lIns="0" bIns="0" rIns="0">
            <a:spAutoFit/>
          </a:bodyPr>
          <a:lstStyle/>
          <a:p>
            <a:pPr algn="ctr">
              <a:lnSpc>
                <a:spcPts val="4927"/>
              </a:lnSpc>
              <a:spcBef>
                <a:spcPct val="0"/>
              </a:spcBef>
            </a:pPr>
            <a:r>
              <a:rPr lang="en-US" sz="3519">
                <a:solidFill>
                  <a:srgbClr val="7B640E"/>
                </a:solidFill>
                <a:latin typeface="HK Modular"/>
                <a:ea typeface="HK Modular"/>
                <a:cs typeface="HK Modular"/>
                <a:sym typeface="HK Modular"/>
              </a:rPr>
              <a:t>POLIMORFISMO</a:t>
            </a:r>
          </a:p>
        </p:txBody>
      </p:sp>
      <p:sp>
        <p:nvSpPr>
          <p:cNvPr name="TextBox 11" id="11"/>
          <p:cNvSpPr txBox="true"/>
          <p:nvPr/>
        </p:nvSpPr>
        <p:spPr>
          <a:xfrm rot="0">
            <a:off x="1511309" y="5612364"/>
            <a:ext cx="2618095" cy="589450"/>
          </a:xfrm>
          <a:prstGeom prst="rect">
            <a:avLst/>
          </a:prstGeom>
        </p:spPr>
        <p:txBody>
          <a:bodyPr anchor="t" rtlCol="false" tIns="0" lIns="0" bIns="0" rIns="0">
            <a:spAutoFit/>
          </a:bodyPr>
          <a:lstStyle/>
          <a:p>
            <a:pPr algn="ctr">
              <a:lnSpc>
                <a:spcPts val="2324"/>
              </a:lnSpc>
              <a:spcBef>
                <a:spcPct val="0"/>
              </a:spcBef>
            </a:pPr>
            <a:r>
              <a:rPr lang="en-US" sz="1660">
                <a:solidFill>
                  <a:srgbClr val="FFFFFF"/>
                </a:solidFill>
                <a:latin typeface="Poppins"/>
                <a:ea typeface="Poppins"/>
                <a:cs typeface="Poppins"/>
                <a:sym typeface="Poppins"/>
              </a:rPr>
              <a:t>Un mismo metodo con firmas distintas</a:t>
            </a:r>
          </a:p>
        </p:txBody>
      </p:sp>
      <p:sp>
        <p:nvSpPr>
          <p:cNvPr name="TextBox 12" id="12"/>
          <p:cNvSpPr txBox="true"/>
          <p:nvPr/>
        </p:nvSpPr>
        <p:spPr>
          <a:xfrm rot="0">
            <a:off x="6690963" y="5691929"/>
            <a:ext cx="2453037" cy="612535"/>
          </a:xfrm>
          <a:prstGeom prst="rect">
            <a:avLst/>
          </a:prstGeom>
        </p:spPr>
        <p:txBody>
          <a:bodyPr anchor="t" rtlCol="false" tIns="0" lIns="0" bIns="0" rIns="0">
            <a:spAutoFit/>
          </a:bodyPr>
          <a:lstStyle/>
          <a:p>
            <a:pPr algn="ctr">
              <a:lnSpc>
                <a:spcPts val="2423"/>
              </a:lnSpc>
              <a:spcBef>
                <a:spcPct val="0"/>
              </a:spcBef>
            </a:pPr>
            <a:r>
              <a:rPr lang="en-US" sz="1731">
                <a:solidFill>
                  <a:srgbClr val="FFFFFF"/>
                </a:solidFill>
                <a:latin typeface="Poppins"/>
                <a:ea typeface="Poppins"/>
                <a:cs typeface="Poppins"/>
                <a:sym typeface="Poppins"/>
              </a:rPr>
              <a:t>Un mismo metodo sobreescrito</a:t>
            </a:r>
          </a:p>
        </p:txBody>
      </p:sp>
      <p:sp>
        <p:nvSpPr>
          <p:cNvPr name="TextBox 13" id="13"/>
          <p:cNvSpPr txBox="true"/>
          <p:nvPr/>
        </p:nvSpPr>
        <p:spPr>
          <a:xfrm rot="0">
            <a:off x="807945" y="5148185"/>
            <a:ext cx="4024822" cy="511804"/>
          </a:xfrm>
          <a:prstGeom prst="rect">
            <a:avLst/>
          </a:prstGeom>
        </p:spPr>
        <p:txBody>
          <a:bodyPr anchor="t" rtlCol="false" tIns="0" lIns="0" bIns="0" rIns="0">
            <a:spAutoFit/>
          </a:bodyPr>
          <a:lstStyle/>
          <a:p>
            <a:pPr algn="ctr">
              <a:lnSpc>
                <a:spcPts val="4202"/>
              </a:lnSpc>
              <a:spcBef>
                <a:spcPct val="0"/>
              </a:spcBef>
            </a:pPr>
            <a:r>
              <a:rPr lang="en-US" sz="3001">
                <a:solidFill>
                  <a:srgbClr val="7B640E"/>
                </a:solidFill>
                <a:latin typeface="HK Modular"/>
                <a:ea typeface="HK Modular"/>
                <a:cs typeface="HK Modular"/>
                <a:sym typeface="HK Modular"/>
              </a:rPr>
              <a:t>OVERLOADING</a:t>
            </a:r>
          </a:p>
        </p:txBody>
      </p:sp>
      <p:sp>
        <p:nvSpPr>
          <p:cNvPr name="TextBox 14" id="14"/>
          <p:cNvSpPr txBox="true"/>
          <p:nvPr/>
        </p:nvSpPr>
        <p:spPr>
          <a:xfrm rot="0">
            <a:off x="6082789" y="5126589"/>
            <a:ext cx="3466447" cy="533400"/>
          </a:xfrm>
          <a:prstGeom prst="rect">
            <a:avLst/>
          </a:prstGeom>
        </p:spPr>
        <p:txBody>
          <a:bodyPr anchor="t" rtlCol="false" tIns="0" lIns="0" bIns="0" rIns="0">
            <a:spAutoFit/>
          </a:bodyPr>
          <a:lstStyle/>
          <a:p>
            <a:pPr algn="ctr">
              <a:lnSpc>
                <a:spcPts val="4200"/>
              </a:lnSpc>
              <a:spcBef>
                <a:spcPct val="0"/>
              </a:spcBef>
            </a:pPr>
            <a:r>
              <a:rPr lang="en-US" sz="3000">
                <a:solidFill>
                  <a:srgbClr val="7B640E"/>
                </a:solidFill>
                <a:latin typeface="HK Modular"/>
                <a:ea typeface="HK Modular"/>
                <a:cs typeface="HK Modular"/>
                <a:sym typeface="HK Modular"/>
              </a:rPr>
              <a:t>OVERRIDING</a:t>
            </a:r>
          </a:p>
        </p:txBody>
      </p:sp>
      <p:sp>
        <p:nvSpPr>
          <p:cNvPr name="TextBox 15" id="15"/>
          <p:cNvSpPr txBox="true"/>
          <p:nvPr/>
        </p:nvSpPr>
        <p:spPr>
          <a:xfrm rot="0">
            <a:off x="12988948" y="3154800"/>
            <a:ext cx="3724614" cy="908879"/>
          </a:xfrm>
          <a:prstGeom prst="rect">
            <a:avLst/>
          </a:prstGeom>
        </p:spPr>
        <p:txBody>
          <a:bodyPr anchor="t" rtlCol="false" tIns="0" lIns="0" bIns="0" rIns="0">
            <a:spAutoFit/>
          </a:bodyPr>
          <a:lstStyle/>
          <a:p>
            <a:pPr algn="ctr">
              <a:lnSpc>
                <a:spcPts val="3672"/>
              </a:lnSpc>
              <a:spcBef>
                <a:spcPct val="0"/>
              </a:spcBef>
            </a:pPr>
            <a:r>
              <a:rPr lang="en-US" sz="2623">
                <a:solidFill>
                  <a:srgbClr val="7B640E"/>
                </a:solidFill>
                <a:latin typeface="HK Modular"/>
                <a:ea typeface="HK Modular"/>
                <a:cs typeface="HK Modular"/>
                <a:sym typeface="HK Modular"/>
              </a:rPr>
              <a:t>CLASES ABSTRACTAS</a:t>
            </a:r>
          </a:p>
        </p:txBody>
      </p:sp>
      <p:sp>
        <p:nvSpPr>
          <p:cNvPr name="TextBox 16" id="16"/>
          <p:cNvSpPr txBox="true"/>
          <p:nvPr/>
        </p:nvSpPr>
        <p:spPr>
          <a:xfrm rot="0">
            <a:off x="13168515" y="5396132"/>
            <a:ext cx="3545047" cy="470564"/>
          </a:xfrm>
          <a:prstGeom prst="rect">
            <a:avLst/>
          </a:prstGeom>
        </p:spPr>
        <p:txBody>
          <a:bodyPr anchor="t" rtlCol="false" tIns="0" lIns="0" bIns="0" rIns="0">
            <a:spAutoFit/>
          </a:bodyPr>
          <a:lstStyle/>
          <a:p>
            <a:pPr algn="ctr">
              <a:lnSpc>
                <a:spcPts val="3821"/>
              </a:lnSpc>
              <a:spcBef>
                <a:spcPct val="0"/>
              </a:spcBef>
            </a:pPr>
            <a:r>
              <a:rPr lang="en-US" sz="2729">
                <a:solidFill>
                  <a:srgbClr val="7B640E"/>
                </a:solidFill>
                <a:latin typeface="HK Modular"/>
                <a:ea typeface="HK Modular"/>
                <a:cs typeface="HK Modular"/>
                <a:sym typeface="HK Modular"/>
              </a:rPr>
              <a:t>INTERFACES</a:t>
            </a:r>
          </a:p>
        </p:txBody>
      </p:sp>
      <p:sp>
        <p:nvSpPr>
          <p:cNvPr name="TextBox 17" id="17"/>
          <p:cNvSpPr txBox="true"/>
          <p:nvPr/>
        </p:nvSpPr>
        <p:spPr>
          <a:xfrm rot="0">
            <a:off x="12643876" y="7197280"/>
            <a:ext cx="4995657" cy="1854944"/>
          </a:xfrm>
          <a:prstGeom prst="rect">
            <a:avLst/>
          </a:prstGeom>
        </p:spPr>
        <p:txBody>
          <a:bodyPr anchor="t" rtlCol="false" tIns="0" lIns="0" bIns="0" rIns="0">
            <a:spAutoFit/>
          </a:bodyPr>
          <a:lstStyle/>
          <a:p>
            <a:pPr algn="ctr">
              <a:lnSpc>
                <a:spcPts val="2947"/>
              </a:lnSpc>
              <a:spcBef>
                <a:spcPct val="0"/>
              </a:spcBef>
            </a:pPr>
            <a:r>
              <a:rPr lang="en-US" sz="2105">
                <a:solidFill>
                  <a:srgbClr val="FFFFFF"/>
                </a:solidFill>
                <a:latin typeface="Poppins"/>
                <a:ea typeface="Poppins"/>
                <a:cs typeface="Poppins"/>
                <a:sym typeface="Poppins"/>
              </a:rPr>
              <a:t>una interface proporciona un contrato/mecanismo de encapsulación de los protocolos de los métodos sin forzar al usuario a utilizar la herencia. </a:t>
            </a:r>
          </a:p>
        </p:txBody>
      </p:sp>
      <p:sp>
        <p:nvSpPr>
          <p:cNvPr name="TextBox 18" id="18"/>
          <p:cNvSpPr txBox="true"/>
          <p:nvPr/>
        </p:nvSpPr>
        <p:spPr>
          <a:xfrm rot="0">
            <a:off x="13429712" y="4090737"/>
            <a:ext cx="2843087" cy="359034"/>
          </a:xfrm>
          <a:prstGeom prst="rect">
            <a:avLst/>
          </a:prstGeom>
        </p:spPr>
        <p:txBody>
          <a:bodyPr anchor="t" rtlCol="false" tIns="0" lIns="0" bIns="0" rIns="0">
            <a:spAutoFit/>
          </a:bodyPr>
          <a:lstStyle/>
          <a:p>
            <a:pPr algn="ctr">
              <a:lnSpc>
                <a:spcPts val="2809"/>
              </a:lnSpc>
              <a:spcBef>
                <a:spcPct val="0"/>
              </a:spcBef>
            </a:pPr>
            <a:r>
              <a:rPr lang="en-US" sz="2006">
                <a:solidFill>
                  <a:srgbClr val="FFFFFF"/>
                </a:solidFill>
                <a:latin typeface="Poppins"/>
                <a:ea typeface="Poppins"/>
                <a:cs typeface="Poppins"/>
                <a:sym typeface="Poppins"/>
              </a:rPr>
              <a:t>extends</a:t>
            </a:r>
          </a:p>
        </p:txBody>
      </p:sp>
      <p:sp>
        <p:nvSpPr>
          <p:cNvPr name="TextBox 19" id="19"/>
          <p:cNvSpPr txBox="true"/>
          <p:nvPr/>
        </p:nvSpPr>
        <p:spPr>
          <a:xfrm rot="0">
            <a:off x="13544724" y="5895271"/>
            <a:ext cx="2843087" cy="359034"/>
          </a:xfrm>
          <a:prstGeom prst="rect">
            <a:avLst/>
          </a:prstGeom>
        </p:spPr>
        <p:txBody>
          <a:bodyPr anchor="t" rtlCol="false" tIns="0" lIns="0" bIns="0" rIns="0">
            <a:spAutoFit/>
          </a:bodyPr>
          <a:lstStyle/>
          <a:p>
            <a:pPr algn="ctr">
              <a:lnSpc>
                <a:spcPts val="2809"/>
              </a:lnSpc>
              <a:spcBef>
                <a:spcPct val="0"/>
              </a:spcBef>
            </a:pPr>
            <a:r>
              <a:rPr lang="en-US" sz="2006">
                <a:solidFill>
                  <a:srgbClr val="FFFFFF"/>
                </a:solidFill>
                <a:latin typeface="Poppins"/>
                <a:ea typeface="Poppins"/>
                <a:cs typeface="Poppins"/>
                <a:sym typeface="Poppins"/>
              </a:rPr>
              <a:t>implements</a:t>
            </a:r>
          </a:p>
        </p:txBody>
      </p:sp>
      <p:sp>
        <p:nvSpPr>
          <p:cNvPr name="TextBox 20" id="20"/>
          <p:cNvSpPr txBox="true"/>
          <p:nvPr/>
        </p:nvSpPr>
        <p:spPr>
          <a:xfrm rot="0">
            <a:off x="3478622" y="1529608"/>
            <a:ext cx="11663082" cy="853854"/>
          </a:xfrm>
          <a:prstGeom prst="rect">
            <a:avLst/>
          </a:prstGeom>
        </p:spPr>
        <p:txBody>
          <a:bodyPr anchor="t" rtlCol="false" tIns="0" lIns="0" bIns="0" rIns="0">
            <a:spAutoFit/>
          </a:bodyPr>
          <a:lstStyle/>
          <a:p>
            <a:pPr algn="ctr">
              <a:lnSpc>
                <a:spcPts val="7012"/>
              </a:lnSpc>
              <a:spcBef>
                <a:spcPct val="0"/>
              </a:spcBef>
            </a:pPr>
            <a:r>
              <a:rPr lang="en-US" sz="5008">
                <a:solidFill>
                  <a:srgbClr val="99C5FF"/>
                </a:solidFill>
                <a:latin typeface="HK Modular"/>
                <a:ea typeface="HK Modular"/>
                <a:cs typeface="HK Modular"/>
                <a:sym typeface="HK Modular"/>
              </a:rPr>
              <a:t>O: OPEN/CLOSED</a:t>
            </a:r>
          </a:p>
        </p:txBody>
      </p:sp>
      <p:sp>
        <p:nvSpPr>
          <p:cNvPr name="Freeform 21" id="21"/>
          <p:cNvSpPr/>
          <p:nvPr/>
        </p:nvSpPr>
        <p:spPr>
          <a:xfrm flipH="false" flipV="false" rot="2699999">
            <a:off x="9866570" y="6417592"/>
            <a:ext cx="2459973" cy="765667"/>
          </a:xfrm>
          <a:custGeom>
            <a:avLst/>
            <a:gdLst/>
            <a:ahLst/>
            <a:cxnLst/>
            <a:rect r="r" b="b" t="t" l="l"/>
            <a:pathLst>
              <a:path h="765667" w="2459973">
                <a:moveTo>
                  <a:pt x="0" y="0"/>
                </a:moveTo>
                <a:lnTo>
                  <a:pt x="2459973" y="0"/>
                </a:lnTo>
                <a:lnTo>
                  <a:pt x="2459973" y="765666"/>
                </a:lnTo>
                <a:lnTo>
                  <a:pt x="0" y="76566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2" id="22"/>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9"/>
            <a:stretch>
              <a:fillRect l="0" t="0" r="0" b="0"/>
            </a:stretch>
          </a:blipFill>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362703" y="5143500"/>
            <a:ext cx="7183101" cy="3153279"/>
          </a:xfrm>
          <a:custGeom>
            <a:avLst/>
            <a:gdLst/>
            <a:ahLst/>
            <a:cxnLst/>
            <a:rect r="r" b="b" t="t" l="l"/>
            <a:pathLst>
              <a:path h="3153279" w="7183101">
                <a:moveTo>
                  <a:pt x="0" y="0"/>
                </a:moveTo>
                <a:lnTo>
                  <a:pt x="7183101" y="0"/>
                </a:lnTo>
                <a:lnTo>
                  <a:pt x="7183101" y="3153279"/>
                </a:lnTo>
                <a:lnTo>
                  <a:pt x="0" y="3153279"/>
                </a:lnTo>
                <a:lnTo>
                  <a:pt x="0" y="0"/>
                </a:lnTo>
                <a:close/>
              </a:path>
            </a:pathLst>
          </a:custGeom>
          <a:blipFill>
            <a:blip r:embed="rId3"/>
            <a:stretch>
              <a:fillRect l="0" t="0" r="0" b="0"/>
            </a:stretch>
          </a:blipFill>
        </p:spPr>
      </p:sp>
      <p:sp>
        <p:nvSpPr>
          <p:cNvPr name="Freeform 7" id="7"/>
          <p:cNvSpPr/>
          <p:nvPr/>
        </p:nvSpPr>
        <p:spPr>
          <a:xfrm flipH="false" flipV="false" rot="0">
            <a:off x="10299743" y="6720140"/>
            <a:ext cx="6814908" cy="1658259"/>
          </a:xfrm>
          <a:custGeom>
            <a:avLst/>
            <a:gdLst/>
            <a:ahLst/>
            <a:cxnLst/>
            <a:rect r="r" b="b" t="t" l="l"/>
            <a:pathLst>
              <a:path h="1658259" w="6814908">
                <a:moveTo>
                  <a:pt x="0" y="0"/>
                </a:moveTo>
                <a:lnTo>
                  <a:pt x="6814908" y="0"/>
                </a:lnTo>
                <a:lnTo>
                  <a:pt x="6814908" y="1658258"/>
                </a:lnTo>
                <a:lnTo>
                  <a:pt x="0" y="1658258"/>
                </a:lnTo>
                <a:lnTo>
                  <a:pt x="0" y="0"/>
                </a:lnTo>
                <a:close/>
              </a:path>
            </a:pathLst>
          </a:custGeom>
          <a:blipFill>
            <a:blip r:embed="rId4"/>
            <a:stretch>
              <a:fillRect l="0" t="0" r="0" b="0"/>
            </a:stretch>
          </a:blipFill>
        </p:spPr>
      </p:sp>
      <p:sp>
        <p:nvSpPr>
          <p:cNvPr name="Freeform 8" id="8"/>
          <p:cNvSpPr/>
          <p:nvPr/>
        </p:nvSpPr>
        <p:spPr>
          <a:xfrm flipH="false" flipV="false" rot="0">
            <a:off x="12375307" y="5143500"/>
            <a:ext cx="2854981" cy="1292378"/>
          </a:xfrm>
          <a:custGeom>
            <a:avLst/>
            <a:gdLst/>
            <a:ahLst/>
            <a:cxnLst/>
            <a:rect r="r" b="b" t="t" l="l"/>
            <a:pathLst>
              <a:path h="1292378" w="2854981">
                <a:moveTo>
                  <a:pt x="0" y="0"/>
                </a:moveTo>
                <a:lnTo>
                  <a:pt x="2854981" y="0"/>
                </a:lnTo>
                <a:lnTo>
                  <a:pt x="2854981" y="1292378"/>
                </a:lnTo>
                <a:lnTo>
                  <a:pt x="0" y="1292378"/>
                </a:lnTo>
                <a:lnTo>
                  <a:pt x="0" y="0"/>
                </a:lnTo>
                <a:close/>
              </a:path>
            </a:pathLst>
          </a:custGeom>
          <a:blipFill>
            <a:blip r:embed="rId5"/>
            <a:stretch>
              <a:fillRect l="0" t="0" r="0" b="0"/>
            </a:stretch>
          </a:blipFill>
        </p:spPr>
      </p:sp>
      <p:sp>
        <p:nvSpPr>
          <p:cNvPr name="TextBox 9" id="9"/>
          <p:cNvSpPr txBox="true"/>
          <p:nvPr/>
        </p:nvSpPr>
        <p:spPr>
          <a:xfrm rot="0">
            <a:off x="1441599" y="3768198"/>
            <a:ext cx="7104206"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¿Por que este codigo viola el principio sI añadimos un nuevo coche de otra marca?</a:t>
            </a:r>
          </a:p>
        </p:txBody>
      </p:sp>
      <p:sp>
        <p:nvSpPr>
          <p:cNvPr name="TextBox 10" id="10"/>
          <p:cNvSpPr txBox="true"/>
          <p:nvPr/>
        </p:nvSpPr>
        <p:spPr>
          <a:xfrm rot="0">
            <a:off x="10155094" y="3996798"/>
            <a:ext cx="7104206"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Tendriamos que modificar el metodo que hemos creado anteriormente</a:t>
            </a:r>
          </a:p>
        </p:txBody>
      </p:sp>
      <p:sp>
        <p:nvSpPr>
          <p:cNvPr name="Freeform 11" id="11"/>
          <p:cNvSpPr/>
          <p:nvPr/>
        </p:nvSpPr>
        <p:spPr>
          <a:xfrm flipH="false" flipV="false" rot="0">
            <a:off x="4416663" y="8681261"/>
            <a:ext cx="1154077" cy="1154077"/>
          </a:xfrm>
          <a:custGeom>
            <a:avLst/>
            <a:gdLst/>
            <a:ahLst/>
            <a:cxnLst/>
            <a:rect r="r" b="b" t="t" l="l"/>
            <a:pathLst>
              <a:path h="1154077" w="1154077">
                <a:moveTo>
                  <a:pt x="0" y="0"/>
                </a:moveTo>
                <a:lnTo>
                  <a:pt x="1154077" y="0"/>
                </a:lnTo>
                <a:lnTo>
                  <a:pt x="1154077" y="1154078"/>
                </a:lnTo>
                <a:lnTo>
                  <a:pt x="0" y="115407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0">
            <a:off x="13330385" y="8606998"/>
            <a:ext cx="1154077" cy="1154077"/>
          </a:xfrm>
          <a:custGeom>
            <a:avLst/>
            <a:gdLst/>
            <a:ahLst/>
            <a:cxnLst/>
            <a:rect r="r" b="b" t="t" l="l"/>
            <a:pathLst>
              <a:path h="1154077" w="1154077">
                <a:moveTo>
                  <a:pt x="0" y="0"/>
                </a:moveTo>
                <a:lnTo>
                  <a:pt x="1154077" y="0"/>
                </a:lnTo>
                <a:lnTo>
                  <a:pt x="1154077" y="1154078"/>
                </a:lnTo>
                <a:lnTo>
                  <a:pt x="0" y="115407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3" id="13"/>
          <p:cNvSpPr txBox="true"/>
          <p:nvPr/>
        </p:nvSpPr>
        <p:spPr>
          <a:xfrm rot="0">
            <a:off x="3312459" y="2306714"/>
            <a:ext cx="11663082" cy="853854"/>
          </a:xfrm>
          <a:prstGeom prst="rect">
            <a:avLst/>
          </a:prstGeom>
        </p:spPr>
        <p:txBody>
          <a:bodyPr anchor="t" rtlCol="false" tIns="0" lIns="0" bIns="0" rIns="0">
            <a:spAutoFit/>
          </a:bodyPr>
          <a:lstStyle/>
          <a:p>
            <a:pPr algn="ctr">
              <a:lnSpc>
                <a:spcPts val="7012"/>
              </a:lnSpc>
              <a:spcBef>
                <a:spcPct val="0"/>
              </a:spcBef>
            </a:pPr>
            <a:r>
              <a:rPr lang="en-US" sz="5008">
                <a:solidFill>
                  <a:srgbClr val="99C5FF"/>
                </a:solidFill>
                <a:latin typeface="HK Modular"/>
                <a:ea typeface="HK Modular"/>
                <a:cs typeface="HK Modular"/>
                <a:sym typeface="HK Modular"/>
              </a:rPr>
              <a:t>O: OPEN/CLOSED</a:t>
            </a:r>
          </a:p>
        </p:txBody>
      </p:sp>
      <p:sp>
        <p:nvSpPr>
          <p:cNvPr name="Freeform 14" id="14"/>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8"/>
            <a:stretch>
              <a:fillRect l="0" t="0" r="0" b="0"/>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3145312" y="4562388"/>
            <a:ext cx="4670701" cy="5273120"/>
          </a:xfrm>
          <a:custGeom>
            <a:avLst/>
            <a:gdLst/>
            <a:ahLst/>
            <a:cxnLst/>
            <a:rect r="r" b="b" t="t" l="l"/>
            <a:pathLst>
              <a:path h="5273120" w="4670701">
                <a:moveTo>
                  <a:pt x="0" y="0"/>
                </a:moveTo>
                <a:lnTo>
                  <a:pt x="4670701" y="0"/>
                </a:lnTo>
                <a:lnTo>
                  <a:pt x="4670701" y="5273119"/>
                </a:lnTo>
                <a:lnTo>
                  <a:pt x="0" y="5273119"/>
                </a:lnTo>
                <a:lnTo>
                  <a:pt x="0" y="0"/>
                </a:lnTo>
                <a:close/>
              </a:path>
            </a:pathLst>
          </a:custGeom>
          <a:blipFill>
            <a:blip r:embed="rId3"/>
            <a:stretch>
              <a:fillRect l="0" t="0" r="0" b="0"/>
            </a:stretch>
          </a:blipFill>
        </p:spPr>
      </p:sp>
      <p:sp>
        <p:nvSpPr>
          <p:cNvPr name="TextBox 7" id="7"/>
          <p:cNvSpPr txBox="true"/>
          <p:nvPr/>
        </p:nvSpPr>
        <p:spPr>
          <a:xfrm rot="0">
            <a:off x="3312459" y="2306714"/>
            <a:ext cx="11663082" cy="853854"/>
          </a:xfrm>
          <a:prstGeom prst="rect">
            <a:avLst/>
          </a:prstGeom>
        </p:spPr>
        <p:txBody>
          <a:bodyPr anchor="t" rtlCol="false" tIns="0" lIns="0" bIns="0" rIns="0">
            <a:spAutoFit/>
          </a:bodyPr>
          <a:lstStyle/>
          <a:p>
            <a:pPr algn="ctr">
              <a:lnSpc>
                <a:spcPts val="7012"/>
              </a:lnSpc>
              <a:spcBef>
                <a:spcPct val="0"/>
              </a:spcBef>
            </a:pPr>
            <a:r>
              <a:rPr lang="en-US" sz="5008">
                <a:solidFill>
                  <a:srgbClr val="99C5FF"/>
                </a:solidFill>
                <a:latin typeface="HK Modular"/>
                <a:ea typeface="HK Modular"/>
                <a:cs typeface="HK Modular"/>
                <a:sym typeface="HK Modular"/>
              </a:rPr>
              <a:t>O: OPEN/CLOSED</a:t>
            </a:r>
          </a:p>
        </p:txBody>
      </p:sp>
      <p:sp>
        <p:nvSpPr>
          <p:cNvPr name="TextBox 8" id="8"/>
          <p:cNvSpPr txBox="true"/>
          <p:nvPr/>
        </p:nvSpPr>
        <p:spPr>
          <a:xfrm rot="0">
            <a:off x="1928560" y="3737986"/>
            <a:ext cx="7104206" cy="915036"/>
          </a:xfrm>
          <a:prstGeom prst="rect">
            <a:avLst/>
          </a:prstGeom>
        </p:spPr>
        <p:txBody>
          <a:bodyPr anchor="t" rtlCol="false" tIns="0" lIns="0" bIns="0" rIns="0">
            <a:spAutoFit/>
          </a:bodyPr>
          <a:lstStyle/>
          <a:p>
            <a:pPr algn="ctr">
              <a:lnSpc>
                <a:spcPts val="3639"/>
              </a:lnSpc>
            </a:pPr>
            <a:r>
              <a:rPr lang="en-US" sz="2599">
                <a:solidFill>
                  <a:srgbClr val="FFFFFF"/>
                </a:solidFill>
                <a:latin typeface="Poppins"/>
                <a:ea typeface="Poppins"/>
                <a:cs typeface="Poppins"/>
                <a:sym typeface="Poppins"/>
              </a:rPr>
              <a:t>¿Como podria mejorar?</a:t>
            </a:r>
          </a:p>
          <a:p>
            <a:pPr algn="ctr">
              <a:lnSpc>
                <a:spcPts val="3639"/>
              </a:lnSpc>
              <a:spcBef>
                <a:spcPct val="0"/>
              </a:spcBef>
            </a:pPr>
          </a:p>
        </p:txBody>
      </p:sp>
      <p:sp>
        <p:nvSpPr>
          <p:cNvPr name="TextBox 9" id="9"/>
          <p:cNvSpPr txBox="true"/>
          <p:nvPr/>
        </p:nvSpPr>
        <p:spPr>
          <a:xfrm rot="0">
            <a:off x="11418449" y="4195245"/>
            <a:ext cx="5725842" cy="1109405"/>
          </a:xfrm>
          <a:prstGeom prst="rect">
            <a:avLst/>
          </a:prstGeom>
        </p:spPr>
        <p:txBody>
          <a:bodyPr anchor="t" rtlCol="false" tIns="0" lIns="0" bIns="0" rIns="0">
            <a:spAutoFit/>
          </a:bodyPr>
          <a:lstStyle/>
          <a:p>
            <a:pPr algn="ctr">
              <a:lnSpc>
                <a:spcPts val="2933"/>
              </a:lnSpc>
              <a:spcBef>
                <a:spcPct val="0"/>
              </a:spcBef>
            </a:pPr>
            <a:r>
              <a:rPr lang="en-US" sz="2095">
                <a:solidFill>
                  <a:srgbClr val="FFFFFF"/>
                </a:solidFill>
                <a:latin typeface="Poppins"/>
                <a:ea typeface="Poppins"/>
                <a:cs typeface="Poppins"/>
                <a:sym typeface="Poppins"/>
              </a:rPr>
              <a:t>Cada coche extiende la clase abstracta Coche e implementa el metodo abstracto precioMedioCoche()</a:t>
            </a:r>
          </a:p>
        </p:txBody>
      </p:sp>
      <p:sp>
        <p:nvSpPr>
          <p:cNvPr name="Freeform 10" id="10"/>
          <p:cNvSpPr/>
          <p:nvPr/>
        </p:nvSpPr>
        <p:spPr>
          <a:xfrm flipH="false" flipV="false" rot="0">
            <a:off x="10110122" y="5849932"/>
            <a:ext cx="852502" cy="729955"/>
          </a:xfrm>
          <a:custGeom>
            <a:avLst/>
            <a:gdLst/>
            <a:ahLst/>
            <a:cxnLst/>
            <a:rect r="r" b="b" t="t" l="l"/>
            <a:pathLst>
              <a:path h="729955" w="852502">
                <a:moveTo>
                  <a:pt x="0" y="0"/>
                </a:moveTo>
                <a:lnTo>
                  <a:pt x="852502" y="0"/>
                </a:lnTo>
                <a:lnTo>
                  <a:pt x="852502" y="729955"/>
                </a:lnTo>
                <a:lnTo>
                  <a:pt x="0" y="72995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11533458" y="5631632"/>
            <a:ext cx="5725842" cy="1477898"/>
          </a:xfrm>
          <a:prstGeom prst="rect">
            <a:avLst/>
          </a:prstGeom>
        </p:spPr>
        <p:txBody>
          <a:bodyPr anchor="t" rtlCol="false" tIns="0" lIns="0" bIns="0" rIns="0">
            <a:spAutoFit/>
          </a:bodyPr>
          <a:lstStyle/>
          <a:p>
            <a:pPr algn="ctr">
              <a:lnSpc>
                <a:spcPts val="2933"/>
              </a:lnSpc>
              <a:spcBef>
                <a:spcPct val="0"/>
              </a:spcBef>
            </a:pPr>
            <a:r>
              <a:rPr lang="en-US" sz="2095">
                <a:solidFill>
                  <a:srgbClr val="FFFFFF"/>
                </a:solidFill>
                <a:latin typeface="Poppins"/>
                <a:ea typeface="Poppins"/>
                <a:cs typeface="Poppins"/>
                <a:sym typeface="Poppins"/>
              </a:rPr>
              <a:t>Cada coche tiene su propia implementacion del metodo, por lo que el metodo imprimirPrecioMedioCoche itera el array y solo llama al metodo</a:t>
            </a:r>
          </a:p>
        </p:txBody>
      </p:sp>
      <p:sp>
        <p:nvSpPr>
          <p:cNvPr name="Freeform 12" id="12"/>
          <p:cNvSpPr/>
          <p:nvPr/>
        </p:nvSpPr>
        <p:spPr>
          <a:xfrm flipH="false" flipV="false" rot="0">
            <a:off x="10110122" y="7648856"/>
            <a:ext cx="852502" cy="729955"/>
          </a:xfrm>
          <a:custGeom>
            <a:avLst/>
            <a:gdLst/>
            <a:ahLst/>
            <a:cxnLst/>
            <a:rect r="r" b="b" t="t" l="l"/>
            <a:pathLst>
              <a:path h="729955" w="852502">
                <a:moveTo>
                  <a:pt x="0" y="0"/>
                </a:moveTo>
                <a:lnTo>
                  <a:pt x="852502" y="0"/>
                </a:lnTo>
                <a:lnTo>
                  <a:pt x="852502" y="729955"/>
                </a:lnTo>
                <a:lnTo>
                  <a:pt x="0" y="72995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11533458" y="7591706"/>
            <a:ext cx="5725842" cy="1109405"/>
          </a:xfrm>
          <a:prstGeom prst="rect">
            <a:avLst/>
          </a:prstGeom>
        </p:spPr>
        <p:txBody>
          <a:bodyPr anchor="t" rtlCol="false" tIns="0" lIns="0" bIns="0" rIns="0">
            <a:spAutoFit/>
          </a:bodyPr>
          <a:lstStyle/>
          <a:p>
            <a:pPr algn="ctr">
              <a:lnSpc>
                <a:spcPts val="2933"/>
              </a:lnSpc>
              <a:spcBef>
                <a:spcPct val="0"/>
              </a:spcBef>
            </a:pPr>
            <a:r>
              <a:rPr lang="en-US" sz="2095">
                <a:solidFill>
                  <a:srgbClr val="FFFFFF"/>
                </a:solidFill>
                <a:latin typeface="Poppins"/>
                <a:ea typeface="Poppins"/>
                <a:cs typeface="Poppins"/>
                <a:sym typeface="Poppins"/>
              </a:rPr>
              <a:t>Si añadimos un nuevo coche, precioMedioCoche no tendra que ser modificado</a:t>
            </a:r>
          </a:p>
        </p:txBody>
      </p:sp>
      <p:sp>
        <p:nvSpPr>
          <p:cNvPr name="Freeform 14" id="14"/>
          <p:cNvSpPr/>
          <p:nvPr/>
        </p:nvSpPr>
        <p:spPr>
          <a:xfrm flipH="false" flipV="false" rot="0">
            <a:off x="10110122" y="4252395"/>
            <a:ext cx="852502" cy="729955"/>
          </a:xfrm>
          <a:custGeom>
            <a:avLst/>
            <a:gdLst/>
            <a:ahLst/>
            <a:cxnLst/>
            <a:rect r="r" b="b" t="t" l="l"/>
            <a:pathLst>
              <a:path h="729955" w="852502">
                <a:moveTo>
                  <a:pt x="0" y="0"/>
                </a:moveTo>
                <a:lnTo>
                  <a:pt x="852502" y="0"/>
                </a:lnTo>
                <a:lnTo>
                  <a:pt x="852502" y="729955"/>
                </a:lnTo>
                <a:lnTo>
                  <a:pt x="0" y="72995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5" id="15"/>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6"/>
            <a:stretch>
              <a:fillRect l="0" t="0" r="0" b="0"/>
            </a:stretch>
          </a:blipFill>
        </p:spPr>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3045063" y="2321035"/>
            <a:ext cx="11723240" cy="758774"/>
          </a:xfrm>
          <a:prstGeom prst="rect">
            <a:avLst/>
          </a:prstGeom>
        </p:spPr>
        <p:txBody>
          <a:bodyPr anchor="t" rtlCol="false" tIns="0" lIns="0" bIns="0" rIns="0">
            <a:spAutoFit/>
          </a:bodyPr>
          <a:lstStyle/>
          <a:p>
            <a:pPr algn="ctr">
              <a:lnSpc>
                <a:spcPts val="6101"/>
              </a:lnSpc>
              <a:spcBef>
                <a:spcPct val="0"/>
              </a:spcBef>
            </a:pPr>
            <a:r>
              <a:rPr lang="en-US" sz="4358">
                <a:solidFill>
                  <a:srgbClr val="99C5FF"/>
                </a:solidFill>
                <a:latin typeface="HK Modular"/>
                <a:ea typeface="HK Modular"/>
                <a:cs typeface="HK Modular"/>
                <a:sym typeface="HK Modular"/>
              </a:rPr>
              <a:t>OPEN/CLOSED FALLA SI...</a:t>
            </a:r>
          </a:p>
        </p:txBody>
      </p:sp>
      <p:sp>
        <p:nvSpPr>
          <p:cNvPr name="Freeform 7" id="7"/>
          <p:cNvSpPr/>
          <p:nvPr/>
        </p:nvSpPr>
        <p:spPr>
          <a:xfrm flipH="false" flipV="false" rot="0">
            <a:off x="2261075" y="4357025"/>
            <a:ext cx="965256" cy="965256"/>
          </a:xfrm>
          <a:custGeom>
            <a:avLst/>
            <a:gdLst/>
            <a:ahLst/>
            <a:cxnLst/>
            <a:rect r="r" b="b" t="t" l="l"/>
            <a:pathLst>
              <a:path h="965256" w="965256">
                <a:moveTo>
                  <a:pt x="0" y="0"/>
                </a:moveTo>
                <a:lnTo>
                  <a:pt x="965256" y="0"/>
                </a:lnTo>
                <a:lnTo>
                  <a:pt x="965256" y="965256"/>
                </a:lnTo>
                <a:lnTo>
                  <a:pt x="0" y="9652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3527690" y="4348798"/>
            <a:ext cx="12391210" cy="915036"/>
          </a:xfrm>
          <a:prstGeom prst="rect">
            <a:avLst/>
          </a:prstGeom>
        </p:spPr>
        <p:txBody>
          <a:bodyPr anchor="t" rtlCol="false" tIns="0" lIns="0" bIns="0" rIns="0">
            <a:spAutoFit/>
          </a:bodyPr>
          <a:lstStyle/>
          <a:p>
            <a:pPr algn="l">
              <a:lnSpc>
                <a:spcPts val="3639"/>
              </a:lnSpc>
              <a:spcBef>
                <a:spcPct val="0"/>
              </a:spcBef>
            </a:pPr>
            <a:r>
              <a:rPr lang="en-US" sz="2599">
                <a:solidFill>
                  <a:srgbClr val="FFFFFF"/>
                </a:solidFill>
                <a:latin typeface="Poppins"/>
                <a:ea typeface="Poppins"/>
                <a:cs typeface="Poppins"/>
                <a:sym typeface="Poppins"/>
              </a:rPr>
              <a:t>Se detecta si es una clase que se debe modificar muy a menudo y estos cambios afectan lo ya modificado</a:t>
            </a:r>
          </a:p>
        </p:txBody>
      </p:sp>
      <p:sp>
        <p:nvSpPr>
          <p:cNvPr name="TextBox 9" id="9"/>
          <p:cNvSpPr txBox="true"/>
          <p:nvPr/>
        </p:nvSpPr>
        <p:spPr>
          <a:xfrm rot="0">
            <a:off x="3527690" y="5770079"/>
            <a:ext cx="12391210" cy="457836"/>
          </a:xfrm>
          <a:prstGeom prst="rect">
            <a:avLst/>
          </a:prstGeom>
        </p:spPr>
        <p:txBody>
          <a:bodyPr anchor="t" rtlCol="false" tIns="0" lIns="0" bIns="0" rIns="0">
            <a:spAutoFit/>
          </a:bodyPr>
          <a:lstStyle/>
          <a:p>
            <a:pPr algn="l">
              <a:lnSpc>
                <a:spcPts val="3639"/>
              </a:lnSpc>
              <a:spcBef>
                <a:spcPct val="0"/>
              </a:spcBef>
            </a:pPr>
            <a:r>
              <a:rPr lang="en-US" sz="2599">
                <a:solidFill>
                  <a:srgbClr val="FFFFFF"/>
                </a:solidFill>
                <a:latin typeface="Poppins"/>
                <a:ea typeface="Poppins"/>
                <a:cs typeface="Poppins"/>
                <a:sym typeface="Poppins"/>
              </a:rPr>
              <a:t>Uso excesivo de if/else o switch en vez de polimorfismo</a:t>
            </a:r>
          </a:p>
        </p:txBody>
      </p:sp>
      <p:sp>
        <p:nvSpPr>
          <p:cNvPr name="Freeform 10" id="10"/>
          <p:cNvSpPr/>
          <p:nvPr/>
        </p:nvSpPr>
        <p:spPr>
          <a:xfrm flipH="false" flipV="false" rot="0">
            <a:off x="2261075" y="5549706"/>
            <a:ext cx="965256" cy="965256"/>
          </a:xfrm>
          <a:custGeom>
            <a:avLst/>
            <a:gdLst/>
            <a:ahLst/>
            <a:cxnLst/>
            <a:rect r="r" b="b" t="t" l="l"/>
            <a:pathLst>
              <a:path h="965256" w="965256">
                <a:moveTo>
                  <a:pt x="0" y="0"/>
                </a:moveTo>
                <a:lnTo>
                  <a:pt x="965256" y="0"/>
                </a:lnTo>
                <a:lnTo>
                  <a:pt x="965256" y="965256"/>
                </a:lnTo>
                <a:lnTo>
                  <a:pt x="0" y="9652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2261075" y="6743562"/>
            <a:ext cx="965256" cy="965256"/>
          </a:xfrm>
          <a:custGeom>
            <a:avLst/>
            <a:gdLst/>
            <a:ahLst/>
            <a:cxnLst/>
            <a:rect r="r" b="b" t="t" l="l"/>
            <a:pathLst>
              <a:path h="965256" w="965256">
                <a:moveTo>
                  <a:pt x="0" y="0"/>
                </a:moveTo>
                <a:lnTo>
                  <a:pt x="965256" y="0"/>
                </a:lnTo>
                <a:lnTo>
                  <a:pt x="965256" y="965256"/>
                </a:lnTo>
                <a:lnTo>
                  <a:pt x="0" y="9652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2" id="12"/>
          <p:cNvSpPr txBox="true"/>
          <p:nvPr/>
        </p:nvSpPr>
        <p:spPr>
          <a:xfrm rot="0">
            <a:off x="3527690" y="6963935"/>
            <a:ext cx="12391210" cy="457836"/>
          </a:xfrm>
          <a:prstGeom prst="rect">
            <a:avLst/>
          </a:prstGeom>
        </p:spPr>
        <p:txBody>
          <a:bodyPr anchor="t" rtlCol="false" tIns="0" lIns="0" bIns="0" rIns="0">
            <a:spAutoFit/>
          </a:bodyPr>
          <a:lstStyle/>
          <a:p>
            <a:pPr algn="l">
              <a:lnSpc>
                <a:spcPts val="3639"/>
              </a:lnSpc>
              <a:spcBef>
                <a:spcPct val="0"/>
              </a:spcBef>
            </a:pPr>
            <a:r>
              <a:rPr lang="en-US" sz="2599">
                <a:solidFill>
                  <a:srgbClr val="FFFFFF"/>
                </a:solidFill>
                <a:latin typeface="Poppins"/>
                <a:ea typeface="Poppins"/>
                <a:cs typeface="Poppins"/>
                <a:sym typeface="Poppins"/>
              </a:rPr>
              <a:t>Codigo duplicado con variaciones minimas</a:t>
            </a:r>
          </a:p>
        </p:txBody>
      </p:sp>
      <p:sp>
        <p:nvSpPr>
          <p:cNvPr name="Freeform 13" id="13"/>
          <p:cNvSpPr/>
          <p:nvPr/>
        </p:nvSpPr>
        <p:spPr>
          <a:xfrm flipH="false" flipV="false" rot="0">
            <a:off x="2261075" y="7937418"/>
            <a:ext cx="965256" cy="965256"/>
          </a:xfrm>
          <a:custGeom>
            <a:avLst/>
            <a:gdLst/>
            <a:ahLst/>
            <a:cxnLst/>
            <a:rect r="r" b="b" t="t" l="l"/>
            <a:pathLst>
              <a:path h="965256" w="965256">
                <a:moveTo>
                  <a:pt x="0" y="0"/>
                </a:moveTo>
                <a:lnTo>
                  <a:pt x="965256" y="0"/>
                </a:lnTo>
                <a:lnTo>
                  <a:pt x="965256" y="965256"/>
                </a:lnTo>
                <a:lnTo>
                  <a:pt x="0" y="9652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4" id="14"/>
          <p:cNvSpPr txBox="true"/>
          <p:nvPr/>
        </p:nvSpPr>
        <p:spPr>
          <a:xfrm rot="0">
            <a:off x="3527690" y="8009787"/>
            <a:ext cx="12391210" cy="1372236"/>
          </a:xfrm>
          <a:prstGeom prst="rect">
            <a:avLst/>
          </a:prstGeom>
        </p:spPr>
        <p:txBody>
          <a:bodyPr anchor="t" rtlCol="false" tIns="0" lIns="0" bIns="0" rIns="0">
            <a:spAutoFit/>
          </a:bodyPr>
          <a:lstStyle/>
          <a:p>
            <a:pPr algn="l">
              <a:lnSpc>
                <a:spcPts val="3639"/>
              </a:lnSpc>
              <a:spcBef>
                <a:spcPct val="0"/>
              </a:spcBef>
            </a:pPr>
            <a:r>
              <a:rPr lang="en-US" sz="2599">
                <a:solidFill>
                  <a:srgbClr val="FFFFFF"/>
                </a:solidFill>
                <a:latin typeface="Poppins"/>
                <a:ea typeface="Poppins"/>
                <a:cs typeface="Poppins"/>
                <a:sym typeface="Poppins"/>
              </a:rPr>
              <a:t>Si modificar una funcionalidad obliga a tocar muchas clases o metodos no relacionados con la nueva extension, el sitema no esta bien cerrado a modificaciones</a:t>
            </a:r>
          </a:p>
        </p:txBody>
      </p:sp>
      <p:sp>
        <p:nvSpPr>
          <p:cNvPr name="Freeform 15" id="15"/>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5"/>
            <a:stretch>
              <a:fillRect l="0" t="0" r="0" b="0"/>
            </a:stretch>
          </a:blipFill>
        </p:spPr>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626176" y="6825800"/>
            <a:ext cx="1586363" cy="1358323"/>
          </a:xfrm>
          <a:custGeom>
            <a:avLst/>
            <a:gdLst/>
            <a:ahLst/>
            <a:cxnLst/>
            <a:rect r="r" b="b" t="t" l="l"/>
            <a:pathLst>
              <a:path h="1358323" w="1586363">
                <a:moveTo>
                  <a:pt x="0" y="0"/>
                </a:moveTo>
                <a:lnTo>
                  <a:pt x="1586363" y="0"/>
                </a:lnTo>
                <a:lnTo>
                  <a:pt x="1586363" y="1358323"/>
                </a:lnTo>
                <a:lnTo>
                  <a:pt x="0" y="13583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3312459" y="2306714"/>
            <a:ext cx="11663082" cy="853854"/>
          </a:xfrm>
          <a:prstGeom prst="rect">
            <a:avLst/>
          </a:prstGeom>
        </p:spPr>
        <p:txBody>
          <a:bodyPr anchor="t" rtlCol="false" tIns="0" lIns="0" bIns="0" rIns="0">
            <a:spAutoFit/>
          </a:bodyPr>
          <a:lstStyle/>
          <a:p>
            <a:pPr algn="ctr">
              <a:lnSpc>
                <a:spcPts val="7012"/>
              </a:lnSpc>
              <a:spcBef>
                <a:spcPct val="0"/>
              </a:spcBef>
            </a:pPr>
            <a:r>
              <a:rPr lang="en-US" sz="5008">
                <a:solidFill>
                  <a:srgbClr val="7B640E"/>
                </a:solidFill>
                <a:latin typeface="HK Modular"/>
                <a:ea typeface="HK Modular"/>
                <a:cs typeface="HK Modular"/>
                <a:sym typeface="HK Modular"/>
              </a:rPr>
              <a:t>L: LISKOV SUBSTITUTION</a:t>
            </a:r>
          </a:p>
        </p:txBody>
      </p:sp>
      <p:sp>
        <p:nvSpPr>
          <p:cNvPr name="TextBox 8" id="8"/>
          <p:cNvSpPr txBox="true"/>
          <p:nvPr/>
        </p:nvSpPr>
        <p:spPr>
          <a:xfrm rot="0">
            <a:off x="5224879" y="6158718"/>
            <a:ext cx="8056975" cy="599701"/>
          </a:xfrm>
          <a:prstGeom prst="rect">
            <a:avLst/>
          </a:prstGeom>
        </p:spPr>
        <p:txBody>
          <a:bodyPr anchor="t" rtlCol="false" tIns="0" lIns="0" bIns="0" rIns="0">
            <a:spAutoFit/>
          </a:bodyPr>
          <a:lstStyle/>
          <a:p>
            <a:pPr algn="ctr">
              <a:lnSpc>
                <a:spcPts val="4927"/>
              </a:lnSpc>
              <a:spcBef>
                <a:spcPct val="0"/>
              </a:spcBef>
            </a:pPr>
            <a:r>
              <a:rPr lang="en-US" sz="3519">
                <a:solidFill>
                  <a:srgbClr val="99C5FF"/>
                </a:solidFill>
                <a:latin typeface="HK Modular"/>
                <a:ea typeface="HK Modular"/>
                <a:cs typeface="HK Modular"/>
                <a:sym typeface="HK Modular"/>
              </a:rPr>
              <a:t>CONSEJO DE APLICACION</a:t>
            </a:r>
          </a:p>
        </p:txBody>
      </p:sp>
      <p:sp>
        <p:nvSpPr>
          <p:cNvPr name="TextBox 9" id="9"/>
          <p:cNvSpPr txBox="true"/>
          <p:nvPr/>
        </p:nvSpPr>
        <p:spPr>
          <a:xfrm rot="0">
            <a:off x="2850208" y="3576172"/>
            <a:ext cx="12587585"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Las clases derivadas (subclase) deben poder sustituirse por sus clases base (superclase)</a:t>
            </a:r>
          </a:p>
        </p:txBody>
      </p:sp>
      <p:sp>
        <p:nvSpPr>
          <p:cNvPr name="TextBox 10" id="10"/>
          <p:cNvSpPr txBox="true"/>
          <p:nvPr/>
        </p:nvSpPr>
        <p:spPr>
          <a:xfrm rot="0">
            <a:off x="2850208" y="4910308"/>
            <a:ext cx="12587585"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Al extender una clase no se altera el comportamiento de la clase padre</a:t>
            </a:r>
          </a:p>
        </p:txBody>
      </p:sp>
      <p:sp>
        <p:nvSpPr>
          <p:cNvPr name="TextBox 11" id="11"/>
          <p:cNvSpPr txBox="true"/>
          <p:nvPr/>
        </p:nvSpPr>
        <p:spPr>
          <a:xfrm rot="0">
            <a:off x="3212539" y="7269088"/>
            <a:ext cx="12587585"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Con INMUTABILIDAD se puede respetar este principio, ya que con ella podremos utilizar herencia de forma correcta</a:t>
            </a:r>
          </a:p>
        </p:txBody>
      </p:sp>
      <p:sp>
        <p:nvSpPr>
          <p:cNvPr name="TextBox 12" id="12"/>
          <p:cNvSpPr txBox="true"/>
          <p:nvPr/>
        </p:nvSpPr>
        <p:spPr>
          <a:xfrm rot="0">
            <a:off x="2850208" y="8800464"/>
            <a:ext cx="12587585"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PATO DE GOMA VS PATO ANIMAL</a:t>
            </a:r>
          </a:p>
        </p:txBody>
      </p:sp>
      <p:sp>
        <p:nvSpPr>
          <p:cNvPr name="Freeform 13" id="13"/>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5"/>
            <a:stretch>
              <a:fillRect l="0" t="0" r="0" b="0"/>
            </a:stretch>
          </a:blipFill>
        </p:spPr>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8953216">
            <a:off x="1475914" y="6782200"/>
            <a:ext cx="1819785" cy="566408"/>
          </a:xfrm>
          <a:custGeom>
            <a:avLst/>
            <a:gdLst/>
            <a:ahLst/>
            <a:cxnLst/>
            <a:rect r="r" b="b" t="t" l="l"/>
            <a:pathLst>
              <a:path h="566408" w="1819785">
                <a:moveTo>
                  <a:pt x="0" y="0"/>
                </a:moveTo>
                <a:lnTo>
                  <a:pt x="1819785" y="0"/>
                </a:lnTo>
                <a:lnTo>
                  <a:pt x="1819785" y="566408"/>
                </a:lnTo>
                <a:lnTo>
                  <a:pt x="0" y="56640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3038648">
            <a:off x="7236324" y="6593420"/>
            <a:ext cx="1457866" cy="943969"/>
          </a:xfrm>
          <a:custGeom>
            <a:avLst/>
            <a:gdLst/>
            <a:ahLst/>
            <a:cxnLst/>
            <a:rect r="r" b="b" t="t" l="l"/>
            <a:pathLst>
              <a:path h="943969" w="1457866">
                <a:moveTo>
                  <a:pt x="0" y="0"/>
                </a:moveTo>
                <a:lnTo>
                  <a:pt x="1457866" y="0"/>
                </a:lnTo>
                <a:lnTo>
                  <a:pt x="1457866" y="943968"/>
                </a:lnTo>
                <a:lnTo>
                  <a:pt x="0" y="94396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2008745" y="3882286"/>
            <a:ext cx="3817144" cy="5611202"/>
          </a:xfrm>
          <a:custGeom>
            <a:avLst/>
            <a:gdLst/>
            <a:ahLst/>
            <a:cxnLst/>
            <a:rect r="r" b="b" t="t" l="l"/>
            <a:pathLst>
              <a:path h="5611202" w="3817144">
                <a:moveTo>
                  <a:pt x="0" y="0"/>
                </a:moveTo>
                <a:lnTo>
                  <a:pt x="3817144" y="0"/>
                </a:lnTo>
                <a:lnTo>
                  <a:pt x="3817144" y="5611202"/>
                </a:lnTo>
                <a:lnTo>
                  <a:pt x="0" y="5611202"/>
                </a:lnTo>
                <a:lnTo>
                  <a:pt x="0" y="0"/>
                </a:lnTo>
                <a:close/>
              </a:path>
            </a:pathLst>
          </a:custGeom>
          <a:blipFill>
            <a:blip r:embed="rId7"/>
            <a:stretch>
              <a:fillRect l="0" t="0" r="0" b="0"/>
            </a:stretch>
          </a:blipFill>
        </p:spPr>
      </p:sp>
      <p:sp>
        <p:nvSpPr>
          <p:cNvPr name="TextBox 9" id="9"/>
          <p:cNvSpPr txBox="true"/>
          <p:nvPr/>
        </p:nvSpPr>
        <p:spPr>
          <a:xfrm rot="0">
            <a:off x="3312459" y="2306714"/>
            <a:ext cx="11663082" cy="853854"/>
          </a:xfrm>
          <a:prstGeom prst="rect">
            <a:avLst/>
          </a:prstGeom>
        </p:spPr>
        <p:txBody>
          <a:bodyPr anchor="t" rtlCol="false" tIns="0" lIns="0" bIns="0" rIns="0">
            <a:spAutoFit/>
          </a:bodyPr>
          <a:lstStyle/>
          <a:p>
            <a:pPr algn="ctr">
              <a:lnSpc>
                <a:spcPts val="7012"/>
              </a:lnSpc>
              <a:spcBef>
                <a:spcPct val="0"/>
              </a:spcBef>
            </a:pPr>
            <a:r>
              <a:rPr lang="en-US" sz="5008">
                <a:solidFill>
                  <a:srgbClr val="7B640E"/>
                </a:solidFill>
                <a:latin typeface="HK Modular"/>
                <a:ea typeface="HK Modular"/>
                <a:cs typeface="HK Modular"/>
                <a:sym typeface="HK Modular"/>
              </a:rPr>
              <a:t>L: LISKOV SUBSTITUTION</a:t>
            </a:r>
          </a:p>
        </p:txBody>
      </p:sp>
      <p:sp>
        <p:nvSpPr>
          <p:cNvPr name="TextBox 10" id="10"/>
          <p:cNvSpPr txBox="true"/>
          <p:nvPr/>
        </p:nvSpPr>
        <p:spPr>
          <a:xfrm rot="0">
            <a:off x="1253188" y="4348333"/>
            <a:ext cx="8056975" cy="599701"/>
          </a:xfrm>
          <a:prstGeom prst="rect">
            <a:avLst/>
          </a:prstGeom>
        </p:spPr>
        <p:txBody>
          <a:bodyPr anchor="t" rtlCol="false" tIns="0" lIns="0" bIns="0" rIns="0">
            <a:spAutoFit/>
          </a:bodyPr>
          <a:lstStyle/>
          <a:p>
            <a:pPr algn="ctr">
              <a:lnSpc>
                <a:spcPts val="4927"/>
              </a:lnSpc>
              <a:spcBef>
                <a:spcPct val="0"/>
              </a:spcBef>
            </a:pPr>
            <a:r>
              <a:rPr lang="en-US" sz="3519">
                <a:solidFill>
                  <a:srgbClr val="7B640E"/>
                </a:solidFill>
                <a:latin typeface="HK Modular"/>
                <a:ea typeface="HK Modular"/>
                <a:cs typeface="HK Modular"/>
                <a:sym typeface="HK Modular"/>
              </a:rPr>
              <a:t>INMUTABILIDAD</a:t>
            </a:r>
          </a:p>
        </p:txBody>
      </p:sp>
      <p:sp>
        <p:nvSpPr>
          <p:cNvPr name="TextBox 11" id="11"/>
          <p:cNvSpPr txBox="true"/>
          <p:nvPr/>
        </p:nvSpPr>
        <p:spPr>
          <a:xfrm rot="0">
            <a:off x="3138936" y="5315651"/>
            <a:ext cx="4285479" cy="13722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Una vez que se ha creado un objeto no puede volver a modificarse</a:t>
            </a:r>
          </a:p>
        </p:txBody>
      </p:sp>
      <p:sp>
        <p:nvSpPr>
          <p:cNvPr name="TextBox 12" id="12"/>
          <p:cNvSpPr txBox="true"/>
          <p:nvPr/>
        </p:nvSpPr>
        <p:spPr>
          <a:xfrm rot="0">
            <a:off x="739266" y="8000262"/>
            <a:ext cx="4285479" cy="13722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Mejor uso de memoria ya que todo su estado es final</a:t>
            </a:r>
          </a:p>
        </p:txBody>
      </p:sp>
      <p:sp>
        <p:nvSpPr>
          <p:cNvPr name="TextBox 13" id="13"/>
          <p:cNvSpPr txBox="true"/>
          <p:nvPr/>
        </p:nvSpPr>
        <p:spPr>
          <a:xfrm rot="0">
            <a:off x="5822518" y="8000262"/>
            <a:ext cx="4285479"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Seguridad en multiples hilos de ejecucion</a:t>
            </a:r>
          </a:p>
        </p:txBody>
      </p:sp>
      <p:sp>
        <p:nvSpPr>
          <p:cNvPr name="Freeform 14" id="14"/>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8"/>
            <a:stretch>
              <a:fillRect l="0" t="0" r="0" b="0"/>
            </a:stretch>
          </a:blipFill>
        </p:spPr>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346200" y="5143500"/>
            <a:ext cx="6811505" cy="3037213"/>
          </a:xfrm>
          <a:custGeom>
            <a:avLst/>
            <a:gdLst/>
            <a:ahLst/>
            <a:cxnLst/>
            <a:rect r="r" b="b" t="t" l="l"/>
            <a:pathLst>
              <a:path h="3037213" w="6811505">
                <a:moveTo>
                  <a:pt x="0" y="0"/>
                </a:moveTo>
                <a:lnTo>
                  <a:pt x="6811506" y="0"/>
                </a:lnTo>
                <a:lnTo>
                  <a:pt x="6811506" y="3037213"/>
                </a:lnTo>
                <a:lnTo>
                  <a:pt x="0" y="3037213"/>
                </a:lnTo>
                <a:lnTo>
                  <a:pt x="0" y="0"/>
                </a:lnTo>
                <a:close/>
              </a:path>
            </a:pathLst>
          </a:custGeom>
          <a:blipFill>
            <a:blip r:embed="rId3"/>
            <a:stretch>
              <a:fillRect l="0" t="0" r="-65914" b="0"/>
            </a:stretch>
          </a:blipFill>
        </p:spPr>
      </p:sp>
      <p:sp>
        <p:nvSpPr>
          <p:cNvPr name="Freeform 7" id="7"/>
          <p:cNvSpPr/>
          <p:nvPr/>
        </p:nvSpPr>
        <p:spPr>
          <a:xfrm flipH="false" flipV="false" rot="0">
            <a:off x="9930768" y="4654877"/>
            <a:ext cx="7049270" cy="4991179"/>
          </a:xfrm>
          <a:custGeom>
            <a:avLst/>
            <a:gdLst/>
            <a:ahLst/>
            <a:cxnLst/>
            <a:rect r="r" b="b" t="t" l="l"/>
            <a:pathLst>
              <a:path h="4991179" w="7049270">
                <a:moveTo>
                  <a:pt x="0" y="0"/>
                </a:moveTo>
                <a:lnTo>
                  <a:pt x="7049270" y="0"/>
                </a:lnTo>
                <a:lnTo>
                  <a:pt x="7049270" y="4991178"/>
                </a:lnTo>
                <a:lnTo>
                  <a:pt x="0" y="4991178"/>
                </a:lnTo>
                <a:lnTo>
                  <a:pt x="0" y="0"/>
                </a:lnTo>
                <a:close/>
              </a:path>
            </a:pathLst>
          </a:custGeom>
          <a:blipFill>
            <a:blip r:embed="rId4"/>
            <a:stretch>
              <a:fillRect l="0" t="0" r="0" b="0"/>
            </a:stretch>
          </a:blipFill>
        </p:spPr>
      </p:sp>
      <p:sp>
        <p:nvSpPr>
          <p:cNvPr name="TextBox 8" id="8"/>
          <p:cNvSpPr txBox="true"/>
          <p:nvPr/>
        </p:nvSpPr>
        <p:spPr>
          <a:xfrm rot="0">
            <a:off x="3312459" y="2306714"/>
            <a:ext cx="11663082" cy="853854"/>
          </a:xfrm>
          <a:prstGeom prst="rect">
            <a:avLst/>
          </a:prstGeom>
        </p:spPr>
        <p:txBody>
          <a:bodyPr anchor="t" rtlCol="false" tIns="0" lIns="0" bIns="0" rIns="0">
            <a:spAutoFit/>
          </a:bodyPr>
          <a:lstStyle/>
          <a:p>
            <a:pPr algn="ctr">
              <a:lnSpc>
                <a:spcPts val="7012"/>
              </a:lnSpc>
              <a:spcBef>
                <a:spcPct val="0"/>
              </a:spcBef>
            </a:pPr>
            <a:r>
              <a:rPr lang="en-US" sz="5008">
                <a:solidFill>
                  <a:srgbClr val="7B640E"/>
                </a:solidFill>
                <a:latin typeface="HK Modular"/>
                <a:ea typeface="HK Modular"/>
                <a:cs typeface="HK Modular"/>
                <a:sym typeface="HK Modular"/>
              </a:rPr>
              <a:t>L: LISKOV SUBSTITUTION</a:t>
            </a:r>
          </a:p>
        </p:txBody>
      </p:sp>
      <p:sp>
        <p:nvSpPr>
          <p:cNvPr name="TextBox 9" id="9"/>
          <p:cNvSpPr txBox="true"/>
          <p:nvPr/>
        </p:nvSpPr>
        <p:spPr>
          <a:xfrm rot="0">
            <a:off x="1199850" y="4099842"/>
            <a:ext cx="7104206"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¿Por que este codigo viola el principio?</a:t>
            </a:r>
          </a:p>
        </p:txBody>
      </p:sp>
      <p:sp>
        <p:nvSpPr>
          <p:cNvPr name="TextBox 10" id="10"/>
          <p:cNvSpPr txBox="true"/>
          <p:nvPr/>
        </p:nvSpPr>
        <p:spPr>
          <a:xfrm rot="0">
            <a:off x="9875832" y="3904262"/>
            <a:ext cx="7104206"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Y si agregamos un nuevo tipo de Coche</a:t>
            </a:r>
          </a:p>
        </p:txBody>
      </p:sp>
      <p:sp>
        <p:nvSpPr>
          <p:cNvPr name="Freeform 11" id="11"/>
          <p:cNvSpPr/>
          <p:nvPr/>
        </p:nvSpPr>
        <p:spPr>
          <a:xfrm flipH="false" flipV="false" rot="0">
            <a:off x="3975564" y="8491978"/>
            <a:ext cx="1154077" cy="1154077"/>
          </a:xfrm>
          <a:custGeom>
            <a:avLst/>
            <a:gdLst/>
            <a:ahLst/>
            <a:cxnLst/>
            <a:rect r="r" b="b" t="t" l="l"/>
            <a:pathLst>
              <a:path h="1154077" w="1154077">
                <a:moveTo>
                  <a:pt x="0" y="0"/>
                </a:moveTo>
                <a:lnTo>
                  <a:pt x="1154078" y="0"/>
                </a:lnTo>
                <a:lnTo>
                  <a:pt x="1154078" y="1154077"/>
                </a:lnTo>
                <a:lnTo>
                  <a:pt x="0" y="115407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7"/>
            <a:stretch>
              <a:fillRect l="0" t="0" r="0" b="0"/>
            </a:stretch>
          </a:blipFill>
        </p:spPr>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9904601" y="4033520"/>
            <a:ext cx="852502" cy="729955"/>
          </a:xfrm>
          <a:custGeom>
            <a:avLst/>
            <a:gdLst/>
            <a:ahLst/>
            <a:cxnLst/>
            <a:rect r="r" b="b" t="t" l="l"/>
            <a:pathLst>
              <a:path h="729955" w="852502">
                <a:moveTo>
                  <a:pt x="0" y="0"/>
                </a:moveTo>
                <a:lnTo>
                  <a:pt x="852502" y="0"/>
                </a:lnTo>
                <a:lnTo>
                  <a:pt x="852502" y="729954"/>
                </a:lnTo>
                <a:lnTo>
                  <a:pt x="0" y="72995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9904601" y="7504962"/>
            <a:ext cx="852502" cy="729955"/>
          </a:xfrm>
          <a:custGeom>
            <a:avLst/>
            <a:gdLst/>
            <a:ahLst/>
            <a:cxnLst/>
            <a:rect r="r" b="b" t="t" l="l"/>
            <a:pathLst>
              <a:path h="729955" w="852502">
                <a:moveTo>
                  <a:pt x="0" y="0"/>
                </a:moveTo>
                <a:lnTo>
                  <a:pt x="852502" y="0"/>
                </a:lnTo>
                <a:lnTo>
                  <a:pt x="852502" y="729954"/>
                </a:lnTo>
                <a:lnTo>
                  <a:pt x="0" y="72995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1310697" y="5651795"/>
            <a:ext cx="7890738" cy="2361462"/>
          </a:xfrm>
          <a:custGeom>
            <a:avLst/>
            <a:gdLst/>
            <a:ahLst/>
            <a:cxnLst/>
            <a:rect r="r" b="b" t="t" l="l"/>
            <a:pathLst>
              <a:path h="2361462" w="7890738">
                <a:moveTo>
                  <a:pt x="0" y="0"/>
                </a:moveTo>
                <a:lnTo>
                  <a:pt x="7890738" y="0"/>
                </a:lnTo>
                <a:lnTo>
                  <a:pt x="7890738" y="2361462"/>
                </a:lnTo>
                <a:lnTo>
                  <a:pt x="0" y="2361462"/>
                </a:lnTo>
                <a:lnTo>
                  <a:pt x="0" y="0"/>
                </a:lnTo>
                <a:close/>
              </a:path>
            </a:pathLst>
          </a:custGeom>
          <a:blipFill>
            <a:blip r:embed="rId5"/>
            <a:stretch>
              <a:fillRect l="0" t="0" r="0" b="0"/>
            </a:stretch>
          </a:blipFill>
        </p:spPr>
      </p:sp>
      <p:sp>
        <p:nvSpPr>
          <p:cNvPr name="TextBox 9" id="9"/>
          <p:cNvSpPr txBox="true"/>
          <p:nvPr/>
        </p:nvSpPr>
        <p:spPr>
          <a:xfrm rot="0">
            <a:off x="3312459" y="2306714"/>
            <a:ext cx="11663082" cy="853854"/>
          </a:xfrm>
          <a:prstGeom prst="rect">
            <a:avLst/>
          </a:prstGeom>
        </p:spPr>
        <p:txBody>
          <a:bodyPr anchor="t" rtlCol="false" tIns="0" lIns="0" bIns="0" rIns="0">
            <a:spAutoFit/>
          </a:bodyPr>
          <a:lstStyle/>
          <a:p>
            <a:pPr algn="ctr">
              <a:lnSpc>
                <a:spcPts val="7012"/>
              </a:lnSpc>
              <a:spcBef>
                <a:spcPct val="0"/>
              </a:spcBef>
            </a:pPr>
            <a:r>
              <a:rPr lang="en-US" sz="5008">
                <a:solidFill>
                  <a:srgbClr val="7B640E"/>
                </a:solidFill>
                <a:latin typeface="HK Modular"/>
                <a:ea typeface="HK Modular"/>
                <a:cs typeface="HK Modular"/>
                <a:sym typeface="HK Modular"/>
              </a:rPr>
              <a:t>L: LISKOV SUBSTITUTION</a:t>
            </a:r>
          </a:p>
        </p:txBody>
      </p:sp>
      <p:sp>
        <p:nvSpPr>
          <p:cNvPr name="TextBox 10" id="10"/>
          <p:cNvSpPr txBox="true"/>
          <p:nvPr/>
        </p:nvSpPr>
        <p:spPr>
          <a:xfrm rot="0">
            <a:off x="1703963" y="4125107"/>
            <a:ext cx="7104206"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¿Como podria mejorar?</a:t>
            </a:r>
          </a:p>
        </p:txBody>
      </p:sp>
      <p:sp>
        <p:nvSpPr>
          <p:cNvPr name="TextBox 11" id="11"/>
          <p:cNvSpPr txBox="true"/>
          <p:nvPr/>
        </p:nvSpPr>
        <p:spPr>
          <a:xfrm rot="0">
            <a:off x="10757103" y="3966845"/>
            <a:ext cx="7104206" cy="22866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Si la super clase Coche tiene un metodo que acepta un parametro del tipo de la super clase entonces su subclase deberia aceptar como argumento un tipo de la super clase o un tipo de la subclase</a:t>
            </a:r>
          </a:p>
        </p:txBody>
      </p:sp>
      <p:sp>
        <p:nvSpPr>
          <p:cNvPr name="TextBox 12" id="12"/>
          <p:cNvSpPr txBox="true"/>
          <p:nvPr/>
        </p:nvSpPr>
        <p:spPr>
          <a:xfrm rot="0">
            <a:off x="10868103" y="7438287"/>
            <a:ext cx="7104206" cy="18294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Si la superclase devuelve un tipo de ella misma (Coche) entonces su subclase deberia devolver un tipo de la superclase o un tipo de la subclase</a:t>
            </a:r>
          </a:p>
        </p:txBody>
      </p:sp>
      <p:sp>
        <p:nvSpPr>
          <p:cNvPr name="TextBox 13" id="13"/>
          <p:cNvSpPr txBox="true"/>
          <p:nvPr/>
        </p:nvSpPr>
        <p:spPr>
          <a:xfrm rot="0">
            <a:off x="1703963" y="8800464"/>
            <a:ext cx="7104206"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Al metodo no le importa el tipo de la clase</a:t>
            </a:r>
          </a:p>
        </p:txBody>
      </p:sp>
      <p:sp>
        <p:nvSpPr>
          <p:cNvPr name="Freeform 14" id="14"/>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6"/>
            <a:stretch>
              <a:fillRect l="0" t="0" r="0" b="0"/>
            </a:stretch>
          </a:blipFill>
        </p:spPr>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9478350" y="4413545"/>
            <a:ext cx="852502" cy="729955"/>
          </a:xfrm>
          <a:custGeom>
            <a:avLst/>
            <a:gdLst/>
            <a:ahLst/>
            <a:cxnLst/>
            <a:rect r="r" b="b" t="t" l="l"/>
            <a:pathLst>
              <a:path h="729955" w="852502">
                <a:moveTo>
                  <a:pt x="0" y="0"/>
                </a:moveTo>
                <a:lnTo>
                  <a:pt x="852502" y="0"/>
                </a:lnTo>
                <a:lnTo>
                  <a:pt x="852502" y="729955"/>
                </a:lnTo>
                <a:lnTo>
                  <a:pt x="0" y="72995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9478350" y="6775007"/>
            <a:ext cx="852502" cy="729955"/>
          </a:xfrm>
          <a:custGeom>
            <a:avLst/>
            <a:gdLst/>
            <a:ahLst/>
            <a:cxnLst/>
            <a:rect r="r" b="b" t="t" l="l"/>
            <a:pathLst>
              <a:path h="729955" w="852502">
                <a:moveTo>
                  <a:pt x="0" y="0"/>
                </a:moveTo>
                <a:lnTo>
                  <a:pt x="852502" y="0"/>
                </a:lnTo>
                <a:lnTo>
                  <a:pt x="852502" y="729955"/>
                </a:lnTo>
                <a:lnTo>
                  <a:pt x="0" y="72995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2727942" y="4686300"/>
            <a:ext cx="4703191" cy="1774789"/>
          </a:xfrm>
          <a:custGeom>
            <a:avLst/>
            <a:gdLst/>
            <a:ahLst/>
            <a:cxnLst/>
            <a:rect r="r" b="b" t="t" l="l"/>
            <a:pathLst>
              <a:path h="1774789" w="4703191">
                <a:moveTo>
                  <a:pt x="0" y="0"/>
                </a:moveTo>
                <a:lnTo>
                  <a:pt x="4703190" y="0"/>
                </a:lnTo>
                <a:lnTo>
                  <a:pt x="4703190" y="1774789"/>
                </a:lnTo>
                <a:lnTo>
                  <a:pt x="0" y="1774789"/>
                </a:lnTo>
                <a:lnTo>
                  <a:pt x="0" y="0"/>
                </a:lnTo>
                <a:close/>
              </a:path>
            </a:pathLst>
          </a:custGeom>
          <a:blipFill>
            <a:blip r:embed="rId5"/>
            <a:stretch>
              <a:fillRect l="0" t="0" r="0" b="0"/>
            </a:stretch>
          </a:blipFill>
        </p:spPr>
      </p:sp>
      <p:sp>
        <p:nvSpPr>
          <p:cNvPr name="Freeform 9" id="9"/>
          <p:cNvSpPr/>
          <p:nvPr/>
        </p:nvSpPr>
        <p:spPr>
          <a:xfrm flipH="false" flipV="false" rot="0">
            <a:off x="2957010" y="6918289"/>
            <a:ext cx="4245055" cy="2854949"/>
          </a:xfrm>
          <a:custGeom>
            <a:avLst/>
            <a:gdLst/>
            <a:ahLst/>
            <a:cxnLst/>
            <a:rect r="r" b="b" t="t" l="l"/>
            <a:pathLst>
              <a:path h="2854949" w="4245055">
                <a:moveTo>
                  <a:pt x="0" y="0"/>
                </a:moveTo>
                <a:lnTo>
                  <a:pt x="4245055" y="0"/>
                </a:lnTo>
                <a:lnTo>
                  <a:pt x="4245055" y="2854949"/>
                </a:lnTo>
                <a:lnTo>
                  <a:pt x="0" y="2854949"/>
                </a:lnTo>
                <a:lnTo>
                  <a:pt x="0" y="0"/>
                </a:lnTo>
                <a:close/>
              </a:path>
            </a:pathLst>
          </a:custGeom>
          <a:blipFill>
            <a:blip r:embed="rId6"/>
            <a:stretch>
              <a:fillRect l="0" t="0" r="0" b="0"/>
            </a:stretch>
          </a:blipFill>
        </p:spPr>
      </p:sp>
      <p:sp>
        <p:nvSpPr>
          <p:cNvPr name="TextBox 10" id="10"/>
          <p:cNvSpPr txBox="true"/>
          <p:nvPr/>
        </p:nvSpPr>
        <p:spPr>
          <a:xfrm rot="0">
            <a:off x="3312459" y="2306714"/>
            <a:ext cx="11663082" cy="853854"/>
          </a:xfrm>
          <a:prstGeom prst="rect">
            <a:avLst/>
          </a:prstGeom>
        </p:spPr>
        <p:txBody>
          <a:bodyPr anchor="t" rtlCol="false" tIns="0" lIns="0" bIns="0" rIns="0">
            <a:spAutoFit/>
          </a:bodyPr>
          <a:lstStyle/>
          <a:p>
            <a:pPr algn="ctr">
              <a:lnSpc>
                <a:spcPts val="7012"/>
              </a:lnSpc>
              <a:spcBef>
                <a:spcPct val="0"/>
              </a:spcBef>
            </a:pPr>
            <a:r>
              <a:rPr lang="en-US" sz="5008">
                <a:solidFill>
                  <a:srgbClr val="7B640E"/>
                </a:solidFill>
                <a:latin typeface="HK Modular"/>
                <a:ea typeface="HK Modular"/>
                <a:cs typeface="HK Modular"/>
                <a:sym typeface="HK Modular"/>
              </a:rPr>
              <a:t>L: LISKOV SUBSTITUTION</a:t>
            </a:r>
          </a:p>
        </p:txBody>
      </p:sp>
      <p:sp>
        <p:nvSpPr>
          <p:cNvPr name="TextBox 11" id="11"/>
          <p:cNvSpPr txBox="true"/>
          <p:nvPr/>
        </p:nvSpPr>
        <p:spPr>
          <a:xfrm rot="0">
            <a:off x="1625195" y="3771264"/>
            <a:ext cx="7104206"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¿Como podria mejorar?</a:t>
            </a:r>
          </a:p>
        </p:txBody>
      </p:sp>
      <p:sp>
        <p:nvSpPr>
          <p:cNvPr name="TextBox 12" id="12"/>
          <p:cNvSpPr txBox="true"/>
          <p:nvPr/>
        </p:nvSpPr>
        <p:spPr>
          <a:xfrm rot="0">
            <a:off x="10330852" y="4424045"/>
            <a:ext cx="7104206" cy="13722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La superclase debe definir el nuevo metodo y las subclases deben implementar dicho metodo</a:t>
            </a:r>
          </a:p>
        </p:txBody>
      </p:sp>
      <p:sp>
        <p:nvSpPr>
          <p:cNvPr name="TextBox 13" id="13"/>
          <p:cNvSpPr txBox="true"/>
          <p:nvPr/>
        </p:nvSpPr>
        <p:spPr>
          <a:xfrm rot="0">
            <a:off x="10490018" y="6708332"/>
            <a:ext cx="7104206" cy="2743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El metodo imprimirNumAsientos() no necesita saber con que tipo de coche se va a realizar su logica, simplemente llama al metodo numAsientos() del tipo Coche , ya que por contrato una subclase debe implementarlo</a:t>
            </a:r>
          </a:p>
        </p:txBody>
      </p:sp>
      <p:sp>
        <p:nvSpPr>
          <p:cNvPr name="Freeform 14" id="14"/>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7"/>
            <a:stretch>
              <a:fillRect l="0" t="0" r="0" b="0"/>
            </a:stretch>
          </a:blipFill>
        </p:spPr>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3391747" y="2216619"/>
            <a:ext cx="11723240" cy="1533000"/>
          </a:xfrm>
          <a:prstGeom prst="rect">
            <a:avLst/>
          </a:prstGeom>
        </p:spPr>
        <p:txBody>
          <a:bodyPr anchor="t" rtlCol="false" tIns="0" lIns="0" bIns="0" rIns="0">
            <a:spAutoFit/>
          </a:bodyPr>
          <a:lstStyle/>
          <a:p>
            <a:pPr algn="ctr">
              <a:lnSpc>
                <a:spcPts val="6101"/>
              </a:lnSpc>
              <a:spcBef>
                <a:spcPct val="0"/>
              </a:spcBef>
            </a:pPr>
            <a:r>
              <a:rPr lang="en-US" sz="4358">
                <a:solidFill>
                  <a:srgbClr val="7B640E"/>
                </a:solidFill>
                <a:latin typeface="HK Modular"/>
                <a:ea typeface="HK Modular"/>
                <a:cs typeface="HK Modular"/>
                <a:sym typeface="HK Modular"/>
              </a:rPr>
              <a:t>LISKOV SUBSTITUTION FALLA SI...</a:t>
            </a:r>
          </a:p>
        </p:txBody>
      </p:sp>
      <p:sp>
        <p:nvSpPr>
          <p:cNvPr name="Freeform 7" id="7"/>
          <p:cNvSpPr/>
          <p:nvPr/>
        </p:nvSpPr>
        <p:spPr>
          <a:xfrm flipH="false" flipV="false" rot="0">
            <a:off x="2959575" y="4178244"/>
            <a:ext cx="965256" cy="965256"/>
          </a:xfrm>
          <a:custGeom>
            <a:avLst/>
            <a:gdLst/>
            <a:ahLst/>
            <a:cxnLst/>
            <a:rect r="r" b="b" t="t" l="l"/>
            <a:pathLst>
              <a:path h="965256" w="965256">
                <a:moveTo>
                  <a:pt x="0" y="0"/>
                </a:moveTo>
                <a:lnTo>
                  <a:pt x="965256" y="0"/>
                </a:lnTo>
                <a:lnTo>
                  <a:pt x="965256" y="965256"/>
                </a:lnTo>
                <a:lnTo>
                  <a:pt x="0" y="9652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2959575" y="5459364"/>
            <a:ext cx="965256" cy="965256"/>
          </a:xfrm>
          <a:custGeom>
            <a:avLst/>
            <a:gdLst/>
            <a:ahLst/>
            <a:cxnLst/>
            <a:rect r="r" b="b" t="t" l="l"/>
            <a:pathLst>
              <a:path h="965256" w="965256">
                <a:moveTo>
                  <a:pt x="0" y="0"/>
                </a:moveTo>
                <a:lnTo>
                  <a:pt x="965256" y="0"/>
                </a:lnTo>
                <a:lnTo>
                  <a:pt x="965256" y="965256"/>
                </a:lnTo>
                <a:lnTo>
                  <a:pt x="0" y="9652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2959575" y="6738945"/>
            <a:ext cx="965256" cy="965256"/>
          </a:xfrm>
          <a:custGeom>
            <a:avLst/>
            <a:gdLst/>
            <a:ahLst/>
            <a:cxnLst/>
            <a:rect r="r" b="b" t="t" l="l"/>
            <a:pathLst>
              <a:path h="965256" w="965256">
                <a:moveTo>
                  <a:pt x="0" y="0"/>
                </a:moveTo>
                <a:lnTo>
                  <a:pt x="965256" y="0"/>
                </a:lnTo>
                <a:lnTo>
                  <a:pt x="965256" y="965256"/>
                </a:lnTo>
                <a:lnTo>
                  <a:pt x="0" y="9652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0" id="10"/>
          <p:cNvSpPr txBox="true"/>
          <p:nvPr/>
        </p:nvSpPr>
        <p:spPr>
          <a:xfrm rot="0">
            <a:off x="2959575" y="4383943"/>
            <a:ext cx="12587585"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Un metodo sobreescrito no hace nada o lanza una excepcion</a:t>
            </a:r>
          </a:p>
        </p:txBody>
      </p:sp>
      <p:sp>
        <p:nvSpPr>
          <p:cNvPr name="TextBox 11" id="11"/>
          <p:cNvSpPr txBox="true"/>
          <p:nvPr/>
        </p:nvSpPr>
        <p:spPr>
          <a:xfrm rot="0">
            <a:off x="2178619" y="5661984"/>
            <a:ext cx="12587585"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Si las pruebas padre no funcionan para la clase hija</a:t>
            </a:r>
          </a:p>
        </p:txBody>
      </p:sp>
      <p:sp>
        <p:nvSpPr>
          <p:cNvPr name="TextBox 12" id="12"/>
          <p:cNvSpPr txBox="true"/>
          <p:nvPr/>
        </p:nvSpPr>
        <p:spPr>
          <a:xfrm rot="0">
            <a:off x="4132056" y="6789165"/>
            <a:ext cx="12587585" cy="915036"/>
          </a:xfrm>
          <a:prstGeom prst="rect">
            <a:avLst/>
          </a:prstGeom>
        </p:spPr>
        <p:txBody>
          <a:bodyPr anchor="t" rtlCol="false" tIns="0" lIns="0" bIns="0" rIns="0">
            <a:spAutoFit/>
          </a:bodyPr>
          <a:lstStyle/>
          <a:p>
            <a:pPr algn="l">
              <a:lnSpc>
                <a:spcPts val="3639"/>
              </a:lnSpc>
              <a:spcBef>
                <a:spcPct val="0"/>
              </a:spcBef>
            </a:pPr>
            <a:r>
              <a:rPr lang="en-US" sz="2599">
                <a:solidFill>
                  <a:srgbClr val="FFFFFF"/>
                </a:solidFill>
                <a:latin typeface="Poppins"/>
                <a:ea typeface="Poppins"/>
                <a:cs typeface="Poppins"/>
                <a:sym typeface="Poppins"/>
              </a:rPr>
              <a:t>Si el método en la subclase exige más condiciones de entrada que el de la clase padre.</a:t>
            </a:r>
          </a:p>
        </p:txBody>
      </p:sp>
      <p:sp>
        <p:nvSpPr>
          <p:cNvPr name="TextBox 13" id="13"/>
          <p:cNvSpPr txBox="true"/>
          <p:nvPr/>
        </p:nvSpPr>
        <p:spPr>
          <a:xfrm rot="0">
            <a:off x="4132056" y="8258190"/>
            <a:ext cx="12587585" cy="1829436"/>
          </a:xfrm>
          <a:prstGeom prst="rect">
            <a:avLst/>
          </a:prstGeom>
        </p:spPr>
        <p:txBody>
          <a:bodyPr anchor="t" rtlCol="false" tIns="0" lIns="0" bIns="0" rIns="0">
            <a:spAutoFit/>
          </a:bodyPr>
          <a:lstStyle/>
          <a:p>
            <a:pPr algn="l">
              <a:lnSpc>
                <a:spcPts val="3639"/>
              </a:lnSpc>
            </a:pPr>
            <a:r>
              <a:rPr lang="en-US" sz="2599">
                <a:solidFill>
                  <a:srgbClr val="FFFFFF"/>
                </a:solidFill>
                <a:latin typeface="Poppins"/>
                <a:ea typeface="Poppins"/>
                <a:cs typeface="Poppins"/>
                <a:sym typeface="Poppins"/>
              </a:rPr>
              <a:t>Si el hijo no respeta las reglas de uso, garantías y contratos del padre, lo que genera errores, comportamientos inesperados o la necesidad de tratar al hijo de forma distinta.</a:t>
            </a:r>
          </a:p>
          <a:p>
            <a:pPr algn="l">
              <a:lnSpc>
                <a:spcPts val="3639"/>
              </a:lnSpc>
              <a:spcBef>
                <a:spcPct val="0"/>
              </a:spcBef>
            </a:pPr>
          </a:p>
        </p:txBody>
      </p:sp>
      <p:sp>
        <p:nvSpPr>
          <p:cNvPr name="Freeform 14" id="14"/>
          <p:cNvSpPr/>
          <p:nvPr/>
        </p:nvSpPr>
        <p:spPr>
          <a:xfrm flipH="false" flipV="false" rot="0">
            <a:off x="2959575" y="8240989"/>
            <a:ext cx="965256" cy="965256"/>
          </a:xfrm>
          <a:custGeom>
            <a:avLst/>
            <a:gdLst/>
            <a:ahLst/>
            <a:cxnLst/>
            <a:rect r="r" b="b" t="t" l="l"/>
            <a:pathLst>
              <a:path h="965256" w="965256">
                <a:moveTo>
                  <a:pt x="0" y="0"/>
                </a:moveTo>
                <a:lnTo>
                  <a:pt x="965256" y="0"/>
                </a:lnTo>
                <a:lnTo>
                  <a:pt x="965256" y="965256"/>
                </a:lnTo>
                <a:lnTo>
                  <a:pt x="0" y="9652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5" id="15"/>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5"/>
            <a:stretch>
              <a:fillRect l="0" t="0" r="0" b="0"/>
            </a:stretch>
          </a:blipFill>
        </p:spPr>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028700" y="6850711"/>
            <a:ext cx="1586363" cy="1358323"/>
          </a:xfrm>
          <a:custGeom>
            <a:avLst/>
            <a:gdLst/>
            <a:ahLst/>
            <a:cxnLst/>
            <a:rect r="r" b="b" t="t" l="l"/>
            <a:pathLst>
              <a:path h="1358323" w="1586363">
                <a:moveTo>
                  <a:pt x="0" y="0"/>
                </a:moveTo>
                <a:lnTo>
                  <a:pt x="1586363" y="0"/>
                </a:lnTo>
                <a:lnTo>
                  <a:pt x="1586363" y="1358323"/>
                </a:lnTo>
                <a:lnTo>
                  <a:pt x="0" y="13583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2964154" y="192937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99C5FF"/>
                </a:solidFill>
                <a:latin typeface="HK Modular"/>
                <a:ea typeface="HK Modular"/>
                <a:cs typeface="HK Modular"/>
                <a:sym typeface="HK Modular"/>
              </a:rPr>
              <a:t>I: INTERFACE SEGREGATION</a:t>
            </a:r>
          </a:p>
        </p:txBody>
      </p:sp>
      <p:sp>
        <p:nvSpPr>
          <p:cNvPr name="TextBox 8" id="8"/>
          <p:cNvSpPr txBox="true"/>
          <p:nvPr/>
        </p:nvSpPr>
        <p:spPr>
          <a:xfrm rot="0">
            <a:off x="5115512" y="6210717"/>
            <a:ext cx="8056975" cy="599701"/>
          </a:xfrm>
          <a:prstGeom prst="rect">
            <a:avLst/>
          </a:prstGeom>
        </p:spPr>
        <p:txBody>
          <a:bodyPr anchor="t" rtlCol="false" tIns="0" lIns="0" bIns="0" rIns="0">
            <a:spAutoFit/>
          </a:bodyPr>
          <a:lstStyle/>
          <a:p>
            <a:pPr algn="ctr">
              <a:lnSpc>
                <a:spcPts val="4927"/>
              </a:lnSpc>
              <a:spcBef>
                <a:spcPct val="0"/>
              </a:spcBef>
            </a:pPr>
            <a:r>
              <a:rPr lang="en-US" sz="3519">
                <a:solidFill>
                  <a:srgbClr val="7B640E"/>
                </a:solidFill>
                <a:latin typeface="HK Modular"/>
                <a:ea typeface="HK Modular"/>
                <a:cs typeface="HK Modular"/>
                <a:sym typeface="HK Modular"/>
              </a:rPr>
              <a:t>CONSEJO DE APLICACION</a:t>
            </a:r>
          </a:p>
        </p:txBody>
      </p:sp>
      <p:sp>
        <p:nvSpPr>
          <p:cNvPr name="TextBox 9" id="9"/>
          <p:cNvSpPr txBox="true"/>
          <p:nvPr/>
        </p:nvSpPr>
        <p:spPr>
          <a:xfrm rot="0">
            <a:off x="2850208" y="3009046"/>
            <a:ext cx="12587585"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Este principio establece que los clientes no deberian verse forzados a depender de interfaces que no usan</a:t>
            </a:r>
          </a:p>
        </p:txBody>
      </p:sp>
      <p:sp>
        <p:nvSpPr>
          <p:cNvPr name="TextBox 10" id="10"/>
          <p:cNvSpPr txBox="true"/>
          <p:nvPr/>
        </p:nvSpPr>
        <p:spPr>
          <a:xfrm rot="0">
            <a:off x="2734798" y="4152681"/>
            <a:ext cx="12587585" cy="18294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Cuando un cliente depende de una clase que implementa una interfaz cuya funcionalidad este cliente no usa pero otros clientes si, este cliente esta siendo afectado por los cambios que fuercen otros clientes en dicha interfaz</a:t>
            </a:r>
          </a:p>
        </p:txBody>
      </p:sp>
      <p:sp>
        <p:nvSpPr>
          <p:cNvPr name="TextBox 11" id="11"/>
          <p:cNvSpPr txBox="true"/>
          <p:nvPr/>
        </p:nvSpPr>
        <p:spPr>
          <a:xfrm rot="0">
            <a:off x="3095526" y="7039017"/>
            <a:ext cx="12587585"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Es necesario definir una interfaz para cada tipo de cliente y no una general que agrupe metodos sin uso</a:t>
            </a:r>
          </a:p>
        </p:txBody>
      </p:sp>
      <p:sp>
        <p:nvSpPr>
          <p:cNvPr name="TextBox 12" id="12"/>
          <p:cNvSpPr txBox="true"/>
          <p:nvPr/>
        </p:nvSpPr>
        <p:spPr>
          <a:xfrm rot="0">
            <a:off x="2961101" y="8314463"/>
            <a:ext cx="12587585"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Cada clase que implemente una interfaz debe utilizar TODOS los metodos</a:t>
            </a:r>
          </a:p>
        </p:txBody>
      </p:sp>
      <p:sp>
        <p:nvSpPr>
          <p:cNvPr name="TextBox 13" id="13"/>
          <p:cNvSpPr txBox="true"/>
          <p:nvPr/>
        </p:nvSpPr>
        <p:spPr>
          <a:xfrm rot="0">
            <a:off x="3095526" y="9134249"/>
            <a:ext cx="12587585"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Una interfaz ayuda a desacoplar modulos entre si</a:t>
            </a:r>
          </a:p>
        </p:txBody>
      </p:sp>
      <p:sp>
        <p:nvSpPr>
          <p:cNvPr name="Freeform 14" id="14"/>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5"/>
            <a:stretch>
              <a:fillRect l="0" t="0" r="0" b="0"/>
            </a:stretch>
          </a:blipFill>
        </p:spPr>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3685763" y="4089938"/>
            <a:ext cx="3282027" cy="5743548"/>
          </a:xfrm>
          <a:custGeom>
            <a:avLst/>
            <a:gdLst/>
            <a:ahLst/>
            <a:cxnLst/>
            <a:rect r="r" b="b" t="t" l="l"/>
            <a:pathLst>
              <a:path h="5743548" w="3282027">
                <a:moveTo>
                  <a:pt x="0" y="0"/>
                </a:moveTo>
                <a:lnTo>
                  <a:pt x="3282027" y="0"/>
                </a:lnTo>
                <a:lnTo>
                  <a:pt x="3282027" y="5743548"/>
                </a:lnTo>
                <a:lnTo>
                  <a:pt x="0" y="5743548"/>
                </a:lnTo>
                <a:lnTo>
                  <a:pt x="0" y="0"/>
                </a:lnTo>
                <a:close/>
              </a:path>
            </a:pathLst>
          </a:custGeom>
          <a:blipFill>
            <a:blip r:embed="rId3"/>
            <a:stretch>
              <a:fillRect l="0" t="0" r="0" b="0"/>
            </a:stretch>
          </a:blipFill>
        </p:spPr>
      </p:sp>
      <p:sp>
        <p:nvSpPr>
          <p:cNvPr name="Freeform 7" id="7"/>
          <p:cNvSpPr/>
          <p:nvPr/>
        </p:nvSpPr>
        <p:spPr>
          <a:xfrm flipH="false" flipV="false" rot="0">
            <a:off x="13472020" y="3759450"/>
            <a:ext cx="2574226" cy="6385418"/>
          </a:xfrm>
          <a:custGeom>
            <a:avLst/>
            <a:gdLst/>
            <a:ahLst/>
            <a:cxnLst/>
            <a:rect r="r" b="b" t="t" l="l"/>
            <a:pathLst>
              <a:path h="6385418" w="2574226">
                <a:moveTo>
                  <a:pt x="0" y="0"/>
                </a:moveTo>
                <a:lnTo>
                  <a:pt x="2574226" y="0"/>
                </a:lnTo>
                <a:lnTo>
                  <a:pt x="2574226" y="6385419"/>
                </a:lnTo>
                <a:lnTo>
                  <a:pt x="0" y="6385419"/>
                </a:lnTo>
                <a:lnTo>
                  <a:pt x="0" y="0"/>
                </a:lnTo>
                <a:close/>
              </a:path>
            </a:pathLst>
          </a:custGeom>
          <a:blipFill>
            <a:blip r:embed="rId4"/>
            <a:stretch>
              <a:fillRect l="0" t="0" r="0" b="0"/>
            </a:stretch>
          </a:blipFill>
        </p:spPr>
      </p:sp>
      <p:sp>
        <p:nvSpPr>
          <p:cNvPr name="TextBox 8" id="8"/>
          <p:cNvSpPr txBox="true"/>
          <p:nvPr/>
        </p:nvSpPr>
        <p:spPr>
          <a:xfrm rot="0">
            <a:off x="2961101" y="192937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99C5FF"/>
                </a:solidFill>
                <a:latin typeface="HK Modular"/>
                <a:ea typeface="HK Modular"/>
                <a:cs typeface="HK Modular"/>
                <a:sym typeface="HK Modular"/>
              </a:rPr>
              <a:t>I: INTERFACE SEGREGATION</a:t>
            </a:r>
          </a:p>
        </p:txBody>
      </p:sp>
      <p:sp>
        <p:nvSpPr>
          <p:cNvPr name="TextBox 9" id="9"/>
          <p:cNvSpPr txBox="true"/>
          <p:nvPr/>
        </p:nvSpPr>
        <p:spPr>
          <a:xfrm rot="0">
            <a:off x="3130905" y="2584301"/>
            <a:ext cx="11818448" cy="1301987"/>
          </a:xfrm>
          <a:prstGeom prst="rect">
            <a:avLst/>
          </a:prstGeom>
        </p:spPr>
        <p:txBody>
          <a:bodyPr anchor="t" rtlCol="false" tIns="0" lIns="0" bIns="0" rIns="0">
            <a:spAutoFit/>
          </a:bodyPr>
          <a:lstStyle/>
          <a:p>
            <a:pPr algn="ctr">
              <a:lnSpc>
                <a:spcPts val="3417"/>
              </a:lnSpc>
            </a:pPr>
          </a:p>
          <a:p>
            <a:pPr algn="ctr">
              <a:lnSpc>
                <a:spcPts val="3417"/>
              </a:lnSpc>
              <a:spcBef>
                <a:spcPct val="0"/>
              </a:spcBef>
            </a:pPr>
            <a:r>
              <a:rPr lang="en-US" sz="2441">
                <a:solidFill>
                  <a:srgbClr val="FFFFFF"/>
                </a:solidFill>
                <a:latin typeface="Poppins"/>
                <a:ea typeface="Poppins"/>
                <a:cs typeface="Poppins"/>
                <a:sym typeface="Poppins"/>
              </a:rPr>
              <a:t>¿Porque este codigo esta bien pero si implementamos Pinguinos se esta violando el principio?</a:t>
            </a:r>
          </a:p>
        </p:txBody>
      </p:sp>
      <p:sp>
        <p:nvSpPr>
          <p:cNvPr name="Freeform 10" id="10"/>
          <p:cNvSpPr/>
          <p:nvPr/>
        </p:nvSpPr>
        <p:spPr>
          <a:xfrm flipH="false" flipV="false" rot="0">
            <a:off x="2499886" y="6137847"/>
            <a:ext cx="852502" cy="729955"/>
          </a:xfrm>
          <a:custGeom>
            <a:avLst/>
            <a:gdLst/>
            <a:ahLst/>
            <a:cxnLst/>
            <a:rect r="r" b="b" t="t" l="l"/>
            <a:pathLst>
              <a:path h="729955" w="852502">
                <a:moveTo>
                  <a:pt x="0" y="0"/>
                </a:moveTo>
                <a:lnTo>
                  <a:pt x="852502" y="0"/>
                </a:lnTo>
                <a:lnTo>
                  <a:pt x="852502" y="729955"/>
                </a:lnTo>
                <a:lnTo>
                  <a:pt x="0" y="72995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12220871" y="5950027"/>
            <a:ext cx="917775" cy="917775"/>
          </a:xfrm>
          <a:custGeom>
            <a:avLst/>
            <a:gdLst/>
            <a:ahLst/>
            <a:cxnLst/>
            <a:rect r="r" b="b" t="t" l="l"/>
            <a:pathLst>
              <a:path h="917775" w="917775">
                <a:moveTo>
                  <a:pt x="0" y="0"/>
                </a:moveTo>
                <a:lnTo>
                  <a:pt x="917774" y="0"/>
                </a:lnTo>
                <a:lnTo>
                  <a:pt x="917774" y="917775"/>
                </a:lnTo>
                <a:lnTo>
                  <a:pt x="0" y="91777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705390">
            <a:off x="8359342" y="5054279"/>
            <a:ext cx="2375242" cy="1537969"/>
          </a:xfrm>
          <a:custGeom>
            <a:avLst/>
            <a:gdLst/>
            <a:ahLst/>
            <a:cxnLst/>
            <a:rect r="r" b="b" t="t" l="l"/>
            <a:pathLst>
              <a:path h="1537969" w="2375242">
                <a:moveTo>
                  <a:pt x="0" y="0"/>
                </a:moveTo>
                <a:lnTo>
                  <a:pt x="2375241" y="0"/>
                </a:lnTo>
                <a:lnTo>
                  <a:pt x="2375241" y="1537969"/>
                </a:lnTo>
                <a:lnTo>
                  <a:pt x="0" y="153796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3" id="13"/>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11"/>
            <a:stretch>
              <a:fillRect l="0" t="0" r="0" b="0"/>
            </a:stretch>
          </a:blipFill>
        </p:spPr>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3405520" y="3586161"/>
            <a:ext cx="2574226" cy="6385418"/>
          </a:xfrm>
          <a:custGeom>
            <a:avLst/>
            <a:gdLst/>
            <a:ahLst/>
            <a:cxnLst/>
            <a:rect r="r" b="b" t="t" l="l"/>
            <a:pathLst>
              <a:path h="6385418" w="2574226">
                <a:moveTo>
                  <a:pt x="0" y="0"/>
                </a:moveTo>
                <a:lnTo>
                  <a:pt x="2574226" y="0"/>
                </a:lnTo>
                <a:lnTo>
                  <a:pt x="2574226" y="6385419"/>
                </a:lnTo>
                <a:lnTo>
                  <a:pt x="0" y="6385419"/>
                </a:lnTo>
                <a:lnTo>
                  <a:pt x="0" y="0"/>
                </a:lnTo>
                <a:close/>
              </a:path>
            </a:pathLst>
          </a:custGeom>
          <a:blipFill>
            <a:blip r:embed="rId3"/>
            <a:stretch>
              <a:fillRect l="0" t="0" r="0" b="0"/>
            </a:stretch>
          </a:blipFill>
        </p:spPr>
      </p:sp>
      <p:sp>
        <p:nvSpPr>
          <p:cNvPr name="TextBox 7" id="7"/>
          <p:cNvSpPr txBox="true"/>
          <p:nvPr/>
        </p:nvSpPr>
        <p:spPr>
          <a:xfrm rot="0">
            <a:off x="2961101" y="192937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99C5FF"/>
                </a:solidFill>
                <a:latin typeface="HK Modular"/>
                <a:ea typeface="HK Modular"/>
                <a:cs typeface="HK Modular"/>
                <a:sym typeface="HK Modular"/>
              </a:rPr>
              <a:t>I: INTERFACE SEGREGATION</a:t>
            </a:r>
          </a:p>
        </p:txBody>
      </p:sp>
      <p:sp>
        <p:nvSpPr>
          <p:cNvPr name="TextBox 8" id="8"/>
          <p:cNvSpPr txBox="true"/>
          <p:nvPr/>
        </p:nvSpPr>
        <p:spPr>
          <a:xfrm rot="0">
            <a:off x="3564793" y="2508830"/>
            <a:ext cx="11158413" cy="1214480"/>
          </a:xfrm>
          <a:prstGeom prst="rect">
            <a:avLst/>
          </a:prstGeom>
        </p:spPr>
        <p:txBody>
          <a:bodyPr anchor="t" rtlCol="false" tIns="0" lIns="0" bIns="0" rIns="0">
            <a:spAutoFit/>
          </a:bodyPr>
          <a:lstStyle/>
          <a:p>
            <a:pPr algn="ctr">
              <a:lnSpc>
                <a:spcPts val="3226"/>
              </a:lnSpc>
            </a:pPr>
          </a:p>
          <a:p>
            <a:pPr algn="ctr">
              <a:lnSpc>
                <a:spcPts val="3226"/>
              </a:lnSpc>
              <a:spcBef>
                <a:spcPct val="0"/>
              </a:spcBef>
            </a:pPr>
            <a:r>
              <a:rPr lang="en-US" sz="2304">
                <a:solidFill>
                  <a:srgbClr val="FFFFFF"/>
                </a:solidFill>
                <a:latin typeface="Poppins"/>
                <a:ea typeface="Poppins"/>
                <a:cs typeface="Poppins"/>
                <a:sym typeface="Poppins"/>
              </a:rPr>
              <a:t>¿Porque este codigo esta bien pero si implementamos Pinguinos se esta violando el principio?</a:t>
            </a:r>
          </a:p>
        </p:txBody>
      </p:sp>
      <p:sp>
        <p:nvSpPr>
          <p:cNvPr name="Freeform 9" id="9"/>
          <p:cNvSpPr/>
          <p:nvPr/>
        </p:nvSpPr>
        <p:spPr>
          <a:xfrm flipH="false" flipV="false" rot="0">
            <a:off x="6898238" y="4542831"/>
            <a:ext cx="917775" cy="917775"/>
          </a:xfrm>
          <a:custGeom>
            <a:avLst/>
            <a:gdLst/>
            <a:ahLst/>
            <a:cxnLst/>
            <a:rect r="r" b="b" t="t" l="l"/>
            <a:pathLst>
              <a:path h="917775" w="917775">
                <a:moveTo>
                  <a:pt x="0" y="0"/>
                </a:moveTo>
                <a:lnTo>
                  <a:pt x="917775" y="0"/>
                </a:lnTo>
                <a:lnTo>
                  <a:pt x="917775" y="917775"/>
                </a:lnTo>
                <a:lnTo>
                  <a:pt x="0" y="9177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7550859" y="4387908"/>
            <a:ext cx="9126209" cy="809189"/>
          </a:xfrm>
          <a:prstGeom prst="rect">
            <a:avLst/>
          </a:prstGeom>
        </p:spPr>
        <p:txBody>
          <a:bodyPr anchor="t" rtlCol="false" tIns="0" lIns="0" bIns="0" rIns="0">
            <a:spAutoFit/>
          </a:bodyPr>
          <a:lstStyle/>
          <a:p>
            <a:pPr algn="ctr">
              <a:lnSpc>
                <a:spcPts val="3226"/>
              </a:lnSpc>
            </a:pPr>
          </a:p>
          <a:p>
            <a:pPr algn="ctr">
              <a:lnSpc>
                <a:spcPts val="3226"/>
              </a:lnSpc>
              <a:spcBef>
                <a:spcPct val="0"/>
              </a:spcBef>
            </a:pPr>
            <a:r>
              <a:rPr lang="en-US" sz="2304">
                <a:solidFill>
                  <a:srgbClr val="FFFFFF"/>
                </a:solidFill>
                <a:latin typeface="Poppins"/>
                <a:ea typeface="Poppins"/>
                <a:cs typeface="Poppins"/>
                <a:sym typeface="Poppins"/>
              </a:rPr>
              <a:t>El problema es que el loro no nada y el pinguino no vuela</a:t>
            </a:r>
          </a:p>
        </p:txBody>
      </p:sp>
      <p:sp>
        <p:nvSpPr>
          <p:cNvPr name="TextBox 11" id="11"/>
          <p:cNvSpPr txBox="true"/>
          <p:nvPr/>
        </p:nvSpPr>
        <p:spPr>
          <a:xfrm rot="0">
            <a:off x="7928944" y="5403456"/>
            <a:ext cx="9126209" cy="2046484"/>
          </a:xfrm>
          <a:prstGeom prst="rect">
            <a:avLst/>
          </a:prstGeom>
        </p:spPr>
        <p:txBody>
          <a:bodyPr anchor="t" rtlCol="false" tIns="0" lIns="0" bIns="0" rIns="0">
            <a:spAutoFit/>
          </a:bodyPr>
          <a:lstStyle/>
          <a:p>
            <a:pPr algn="l">
              <a:lnSpc>
                <a:spcPts val="3226"/>
              </a:lnSpc>
            </a:pPr>
          </a:p>
          <a:p>
            <a:pPr algn="l">
              <a:lnSpc>
                <a:spcPts val="3226"/>
              </a:lnSpc>
              <a:spcBef>
                <a:spcPct val="0"/>
              </a:spcBef>
            </a:pPr>
            <a:r>
              <a:rPr lang="en-US" sz="2304">
                <a:solidFill>
                  <a:srgbClr val="FFFFFF"/>
                </a:solidFill>
                <a:latin typeface="Poppins"/>
                <a:ea typeface="Poppins"/>
                <a:cs typeface="Poppins"/>
                <a:sym typeface="Poppins"/>
              </a:rPr>
              <a:t>Si quisieramos añadir otro metodo a la interfaz IAve tendriamos que recorrer cada una de las clases que la implementa e ir añadiendo la implementacion de dicho metodo en todas ellas</a:t>
            </a:r>
          </a:p>
        </p:txBody>
      </p:sp>
      <p:sp>
        <p:nvSpPr>
          <p:cNvPr name="TextBox 12" id="12"/>
          <p:cNvSpPr txBox="true"/>
          <p:nvPr/>
        </p:nvSpPr>
        <p:spPr>
          <a:xfrm rot="0">
            <a:off x="7550859" y="7447812"/>
            <a:ext cx="9126209" cy="403899"/>
          </a:xfrm>
          <a:prstGeom prst="rect">
            <a:avLst/>
          </a:prstGeom>
        </p:spPr>
        <p:txBody>
          <a:bodyPr anchor="t" rtlCol="false" tIns="0" lIns="0" bIns="0" rIns="0">
            <a:spAutoFit/>
          </a:bodyPr>
          <a:lstStyle/>
          <a:p>
            <a:pPr algn="ctr">
              <a:lnSpc>
                <a:spcPts val="3226"/>
              </a:lnSpc>
              <a:spcBef>
                <a:spcPct val="0"/>
              </a:spcBef>
            </a:pPr>
          </a:p>
        </p:txBody>
      </p:sp>
      <p:sp>
        <p:nvSpPr>
          <p:cNvPr name="TextBox 13" id="13"/>
          <p:cNvSpPr txBox="true"/>
          <p:nvPr/>
        </p:nvSpPr>
        <p:spPr>
          <a:xfrm rot="0">
            <a:off x="7928944" y="7392789"/>
            <a:ext cx="9126209" cy="1227334"/>
          </a:xfrm>
          <a:prstGeom prst="rect">
            <a:avLst/>
          </a:prstGeom>
        </p:spPr>
        <p:txBody>
          <a:bodyPr anchor="t" rtlCol="false" tIns="0" lIns="0" bIns="0" rIns="0">
            <a:spAutoFit/>
          </a:bodyPr>
          <a:lstStyle/>
          <a:p>
            <a:pPr algn="l">
              <a:lnSpc>
                <a:spcPts val="3226"/>
              </a:lnSpc>
            </a:pPr>
          </a:p>
          <a:p>
            <a:pPr algn="l">
              <a:lnSpc>
                <a:spcPts val="3226"/>
              </a:lnSpc>
              <a:spcBef>
                <a:spcPct val="0"/>
              </a:spcBef>
            </a:pPr>
            <a:r>
              <a:rPr lang="en-US" sz="2304">
                <a:solidFill>
                  <a:srgbClr val="FFFFFF"/>
                </a:solidFill>
                <a:latin typeface="Poppins"/>
                <a:ea typeface="Poppins"/>
                <a:cs typeface="Poppins"/>
                <a:sym typeface="Poppins"/>
              </a:rPr>
              <a:t>Los clientes no tienen porque depender de metodos que no usan</a:t>
            </a:r>
          </a:p>
        </p:txBody>
      </p:sp>
      <p:sp>
        <p:nvSpPr>
          <p:cNvPr name="Freeform 14" id="14"/>
          <p:cNvSpPr/>
          <p:nvPr/>
        </p:nvSpPr>
        <p:spPr>
          <a:xfrm flipH="false" flipV="false" rot="0">
            <a:off x="6898238" y="5861096"/>
            <a:ext cx="917775" cy="917775"/>
          </a:xfrm>
          <a:custGeom>
            <a:avLst/>
            <a:gdLst/>
            <a:ahLst/>
            <a:cxnLst/>
            <a:rect r="r" b="b" t="t" l="l"/>
            <a:pathLst>
              <a:path h="917775" w="917775">
                <a:moveTo>
                  <a:pt x="0" y="0"/>
                </a:moveTo>
                <a:lnTo>
                  <a:pt x="917775" y="0"/>
                </a:lnTo>
                <a:lnTo>
                  <a:pt x="917775" y="917775"/>
                </a:lnTo>
                <a:lnTo>
                  <a:pt x="0" y="9177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5" id="15"/>
          <p:cNvSpPr/>
          <p:nvPr/>
        </p:nvSpPr>
        <p:spPr>
          <a:xfrm flipH="false" flipV="false" rot="0">
            <a:off x="6898238" y="7851711"/>
            <a:ext cx="917775" cy="917775"/>
          </a:xfrm>
          <a:custGeom>
            <a:avLst/>
            <a:gdLst/>
            <a:ahLst/>
            <a:cxnLst/>
            <a:rect r="r" b="b" t="t" l="l"/>
            <a:pathLst>
              <a:path h="917775" w="917775">
                <a:moveTo>
                  <a:pt x="0" y="0"/>
                </a:moveTo>
                <a:lnTo>
                  <a:pt x="917775" y="0"/>
                </a:lnTo>
                <a:lnTo>
                  <a:pt x="917775" y="917774"/>
                </a:lnTo>
                <a:lnTo>
                  <a:pt x="0" y="9177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6"/>
            <a:stretch>
              <a:fillRect l="0" t="0" r="0" b="0"/>
            </a:stretch>
          </a:blipFill>
        </p:spPr>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3184813" y="3919801"/>
            <a:ext cx="2843642" cy="2447397"/>
          </a:xfrm>
          <a:custGeom>
            <a:avLst/>
            <a:gdLst/>
            <a:ahLst/>
            <a:cxnLst/>
            <a:rect r="r" b="b" t="t" l="l"/>
            <a:pathLst>
              <a:path h="2447397" w="2843642">
                <a:moveTo>
                  <a:pt x="0" y="0"/>
                </a:moveTo>
                <a:lnTo>
                  <a:pt x="2843642" y="0"/>
                </a:lnTo>
                <a:lnTo>
                  <a:pt x="2843642" y="2447398"/>
                </a:lnTo>
                <a:lnTo>
                  <a:pt x="0" y="2447398"/>
                </a:lnTo>
                <a:lnTo>
                  <a:pt x="0" y="0"/>
                </a:lnTo>
                <a:close/>
              </a:path>
            </a:pathLst>
          </a:custGeom>
          <a:blipFill>
            <a:blip r:embed="rId3"/>
            <a:stretch>
              <a:fillRect l="0" t="0" r="0" b="0"/>
            </a:stretch>
          </a:blipFill>
        </p:spPr>
      </p:sp>
      <p:sp>
        <p:nvSpPr>
          <p:cNvPr name="Freeform 7" id="7"/>
          <p:cNvSpPr/>
          <p:nvPr/>
        </p:nvSpPr>
        <p:spPr>
          <a:xfrm flipH="false" flipV="false" rot="0">
            <a:off x="511863" y="7008366"/>
            <a:ext cx="3678153" cy="2249934"/>
          </a:xfrm>
          <a:custGeom>
            <a:avLst/>
            <a:gdLst/>
            <a:ahLst/>
            <a:cxnLst/>
            <a:rect r="r" b="b" t="t" l="l"/>
            <a:pathLst>
              <a:path h="2249934" w="3678153">
                <a:moveTo>
                  <a:pt x="0" y="0"/>
                </a:moveTo>
                <a:lnTo>
                  <a:pt x="3678153" y="0"/>
                </a:lnTo>
                <a:lnTo>
                  <a:pt x="3678153" y="2249934"/>
                </a:lnTo>
                <a:lnTo>
                  <a:pt x="0" y="2249934"/>
                </a:lnTo>
                <a:lnTo>
                  <a:pt x="0" y="0"/>
                </a:lnTo>
                <a:close/>
              </a:path>
            </a:pathLst>
          </a:custGeom>
          <a:blipFill>
            <a:blip r:embed="rId4"/>
            <a:stretch>
              <a:fillRect l="0" t="0" r="0" b="0"/>
            </a:stretch>
          </a:blipFill>
        </p:spPr>
      </p:sp>
      <p:sp>
        <p:nvSpPr>
          <p:cNvPr name="Freeform 8" id="8"/>
          <p:cNvSpPr/>
          <p:nvPr/>
        </p:nvSpPr>
        <p:spPr>
          <a:xfrm flipH="false" flipV="false" rot="0">
            <a:off x="4606634" y="7008366"/>
            <a:ext cx="4163605" cy="2296105"/>
          </a:xfrm>
          <a:custGeom>
            <a:avLst/>
            <a:gdLst/>
            <a:ahLst/>
            <a:cxnLst/>
            <a:rect r="r" b="b" t="t" l="l"/>
            <a:pathLst>
              <a:path h="2296105" w="4163605">
                <a:moveTo>
                  <a:pt x="0" y="0"/>
                </a:moveTo>
                <a:lnTo>
                  <a:pt x="4163604" y="0"/>
                </a:lnTo>
                <a:lnTo>
                  <a:pt x="4163604" y="2296106"/>
                </a:lnTo>
                <a:lnTo>
                  <a:pt x="0" y="2296106"/>
                </a:lnTo>
                <a:lnTo>
                  <a:pt x="0" y="0"/>
                </a:lnTo>
                <a:close/>
              </a:path>
            </a:pathLst>
          </a:custGeom>
          <a:blipFill>
            <a:blip r:embed="rId5"/>
            <a:stretch>
              <a:fillRect l="0" t="0" r="0" b="0"/>
            </a:stretch>
          </a:blipFill>
        </p:spPr>
      </p:sp>
      <p:sp>
        <p:nvSpPr>
          <p:cNvPr name="TextBox 9" id="9"/>
          <p:cNvSpPr txBox="true"/>
          <p:nvPr/>
        </p:nvSpPr>
        <p:spPr>
          <a:xfrm rot="0">
            <a:off x="2961101" y="192937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99C5FF"/>
                </a:solidFill>
                <a:latin typeface="HK Modular"/>
                <a:ea typeface="HK Modular"/>
                <a:cs typeface="HK Modular"/>
                <a:sym typeface="HK Modular"/>
              </a:rPr>
              <a:t>I: INTERFACE SEGREGATION</a:t>
            </a:r>
          </a:p>
        </p:txBody>
      </p:sp>
      <p:sp>
        <p:nvSpPr>
          <p:cNvPr name="TextBox 10" id="10"/>
          <p:cNvSpPr txBox="true"/>
          <p:nvPr/>
        </p:nvSpPr>
        <p:spPr>
          <a:xfrm rot="0">
            <a:off x="3810112" y="2616953"/>
            <a:ext cx="11158413" cy="809189"/>
          </a:xfrm>
          <a:prstGeom prst="rect">
            <a:avLst/>
          </a:prstGeom>
        </p:spPr>
        <p:txBody>
          <a:bodyPr anchor="t" rtlCol="false" tIns="0" lIns="0" bIns="0" rIns="0">
            <a:spAutoFit/>
          </a:bodyPr>
          <a:lstStyle/>
          <a:p>
            <a:pPr algn="ctr">
              <a:lnSpc>
                <a:spcPts val="3226"/>
              </a:lnSpc>
            </a:pPr>
          </a:p>
          <a:p>
            <a:pPr algn="ctr">
              <a:lnSpc>
                <a:spcPts val="3226"/>
              </a:lnSpc>
              <a:spcBef>
                <a:spcPct val="0"/>
              </a:spcBef>
            </a:pPr>
            <a:r>
              <a:rPr lang="en-US" sz="2304">
                <a:solidFill>
                  <a:srgbClr val="FFFFFF"/>
                </a:solidFill>
                <a:latin typeface="Poppins"/>
                <a:ea typeface="Poppins"/>
                <a:cs typeface="Poppins"/>
                <a:sym typeface="Poppins"/>
              </a:rPr>
              <a:t>¿Como se podria arreglar esto?</a:t>
            </a:r>
          </a:p>
        </p:txBody>
      </p:sp>
      <p:sp>
        <p:nvSpPr>
          <p:cNvPr name="TextBox 11" id="11"/>
          <p:cNvSpPr txBox="true"/>
          <p:nvPr/>
        </p:nvSpPr>
        <p:spPr>
          <a:xfrm rot="0">
            <a:off x="7550859" y="7447812"/>
            <a:ext cx="9126209" cy="403899"/>
          </a:xfrm>
          <a:prstGeom prst="rect">
            <a:avLst/>
          </a:prstGeom>
        </p:spPr>
        <p:txBody>
          <a:bodyPr anchor="t" rtlCol="false" tIns="0" lIns="0" bIns="0" rIns="0">
            <a:spAutoFit/>
          </a:bodyPr>
          <a:lstStyle/>
          <a:p>
            <a:pPr algn="ctr">
              <a:lnSpc>
                <a:spcPts val="3226"/>
              </a:lnSpc>
              <a:spcBef>
                <a:spcPct val="0"/>
              </a:spcBef>
            </a:pPr>
          </a:p>
        </p:txBody>
      </p:sp>
      <p:sp>
        <p:nvSpPr>
          <p:cNvPr name="TextBox 12" id="12"/>
          <p:cNvSpPr txBox="true"/>
          <p:nvPr/>
        </p:nvSpPr>
        <p:spPr>
          <a:xfrm rot="0">
            <a:off x="10228958" y="4026441"/>
            <a:ext cx="7645378" cy="1227334"/>
          </a:xfrm>
          <a:prstGeom prst="rect">
            <a:avLst/>
          </a:prstGeom>
        </p:spPr>
        <p:txBody>
          <a:bodyPr anchor="t" rtlCol="false" tIns="0" lIns="0" bIns="0" rIns="0">
            <a:spAutoFit/>
          </a:bodyPr>
          <a:lstStyle/>
          <a:p>
            <a:pPr algn="l">
              <a:lnSpc>
                <a:spcPts val="3226"/>
              </a:lnSpc>
            </a:pPr>
          </a:p>
          <a:p>
            <a:pPr algn="l">
              <a:lnSpc>
                <a:spcPts val="3226"/>
              </a:lnSpc>
              <a:spcBef>
                <a:spcPct val="0"/>
              </a:spcBef>
            </a:pPr>
            <a:r>
              <a:rPr lang="en-US" sz="2304">
                <a:solidFill>
                  <a:srgbClr val="FFFFFF"/>
                </a:solidFill>
                <a:latin typeface="Poppins"/>
                <a:ea typeface="Poppins"/>
                <a:cs typeface="Poppins"/>
                <a:sym typeface="Poppins"/>
              </a:rPr>
              <a:t>Cada clase implementa las interfaces de la que realmente necesita implementar sus metodos</a:t>
            </a:r>
          </a:p>
        </p:txBody>
      </p:sp>
      <p:sp>
        <p:nvSpPr>
          <p:cNvPr name="Freeform 13" id="13"/>
          <p:cNvSpPr/>
          <p:nvPr/>
        </p:nvSpPr>
        <p:spPr>
          <a:xfrm flipH="false" flipV="false" rot="3573287">
            <a:off x="6259441" y="5625207"/>
            <a:ext cx="1368802" cy="886299"/>
          </a:xfrm>
          <a:custGeom>
            <a:avLst/>
            <a:gdLst/>
            <a:ahLst/>
            <a:cxnLst/>
            <a:rect r="r" b="b" t="t" l="l"/>
            <a:pathLst>
              <a:path h="886299" w="1368802">
                <a:moveTo>
                  <a:pt x="0" y="0"/>
                </a:moveTo>
                <a:lnTo>
                  <a:pt x="1368802" y="0"/>
                </a:lnTo>
                <a:lnTo>
                  <a:pt x="1368802" y="886299"/>
                </a:lnTo>
                <a:lnTo>
                  <a:pt x="0" y="88629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8953216">
            <a:off x="1261038" y="5964526"/>
            <a:ext cx="1684548" cy="524316"/>
          </a:xfrm>
          <a:custGeom>
            <a:avLst/>
            <a:gdLst/>
            <a:ahLst/>
            <a:cxnLst/>
            <a:rect r="r" b="b" t="t" l="l"/>
            <a:pathLst>
              <a:path h="524316" w="1684548">
                <a:moveTo>
                  <a:pt x="0" y="0"/>
                </a:moveTo>
                <a:lnTo>
                  <a:pt x="1684549" y="0"/>
                </a:lnTo>
                <a:lnTo>
                  <a:pt x="1684549" y="524315"/>
                </a:lnTo>
                <a:lnTo>
                  <a:pt x="0" y="52431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false" rot="0">
            <a:off x="9144000" y="4523820"/>
            <a:ext cx="852502" cy="729955"/>
          </a:xfrm>
          <a:custGeom>
            <a:avLst/>
            <a:gdLst/>
            <a:ahLst/>
            <a:cxnLst/>
            <a:rect r="r" b="b" t="t" l="l"/>
            <a:pathLst>
              <a:path h="729955" w="852502">
                <a:moveTo>
                  <a:pt x="0" y="0"/>
                </a:moveTo>
                <a:lnTo>
                  <a:pt x="852502" y="0"/>
                </a:lnTo>
                <a:lnTo>
                  <a:pt x="852502" y="729955"/>
                </a:lnTo>
                <a:lnTo>
                  <a:pt x="0" y="72995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6" id="16"/>
          <p:cNvSpPr txBox="true"/>
          <p:nvPr/>
        </p:nvSpPr>
        <p:spPr>
          <a:xfrm rot="0">
            <a:off x="10228958" y="5584442"/>
            <a:ext cx="7645378" cy="1227334"/>
          </a:xfrm>
          <a:prstGeom prst="rect">
            <a:avLst/>
          </a:prstGeom>
        </p:spPr>
        <p:txBody>
          <a:bodyPr anchor="t" rtlCol="false" tIns="0" lIns="0" bIns="0" rIns="0">
            <a:spAutoFit/>
          </a:bodyPr>
          <a:lstStyle/>
          <a:p>
            <a:pPr algn="l">
              <a:lnSpc>
                <a:spcPts val="3226"/>
              </a:lnSpc>
            </a:pPr>
          </a:p>
          <a:p>
            <a:pPr algn="l">
              <a:lnSpc>
                <a:spcPts val="3226"/>
              </a:lnSpc>
              <a:spcBef>
                <a:spcPct val="0"/>
              </a:spcBef>
            </a:pPr>
            <a:r>
              <a:rPr lang="en-US" sz="2304">
                <a:solidFill>
                  <a:srgbClr val="FFFFFF"/>
                </a:solidFill>
                <a:latin typeface="Poppins"/>
                <a:ea typeface="Poppins"/>
                <a:cs typeface="Poppins"/>
                <a:sym typeface="Poppins"/>
              </a:rPr>
              <a:t>Esto nos ahorra tiempo y nos permite añadir nuevas funcionalidades</a:t>
            </a:r>
          </a:p>
        </p:txBody>
      </p:sp>
      <p:sp>
        <p:nvSpPr>
          <p:cNvPr name="Freeform 17" id="17"/>
          <p:cNvSpPr/>
          <p:nvPr/>
        </p:nvSpPr>
        <p:spPr>
          <a:xfrm flipH="false" flipV="false" rot="0">
            <a:off x="9144000" y="6081821"/>
            <a:ext cx="852502" cy="729955"/>
          </a:xfrm>
          <a:custGeom>
            <a:avLst/>
            <a:gdLst/>
            <a:ahLst/>
            <a:cxnLst/>
            <a:rect r="r" b="b" t="t" l="l"/>
            <a:pathLst>
              <a:path h="729955" w="852502">
                <a:moveTo>
                  <a:pt x="0" y="0"/>
                </a:moveTo>
                <a:lnTo>
                  <a:pt x="852502" y="0"/>
                </a:lnTo>
                <a:lnTo>
                  <a:pt x="852502" y="729954"/>
                </a:lnTo>
                <a:lnTo>
                  <a:pt x="0" y="72995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8" id="18"/>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12"/>
            <a:stretch>
              <a:fillRect l="0" t="0" r="0" b="0"/>
            </a:stretch>
          </a:blipFill>
        </p:spPr>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3527699" y="1969104"/>
            <a:ext cx="11723240" cy="1533000"/>
          </a:xfrm>
          <a:prstGeom prst="rect">
            <a:avLst/>
          </a:prstGeom>
        </p:spPr>
        <p:txBody>
          <a:bodyPr anchor="t" rtlCol="false" tIns="0" lIns="0" bIns="0" rIns="0">
            <a:spAutoFit/>
          </a:bodyPr>
          <a:lstStyle/>
          <a:p>
            <a:pPr algn="ctr">
              <a:lnSpc>
                <a:spcPts val="6101"/>
              </a:lnSpc>
              <a:spcBef>
                <a:spcPct val="0"/>
              </a:spcBef>
            </a:pPr>
            <a:r>
              <a:rPr lang="en-US" sz="4358">
                <a:solidFill>
                  <a:srgbClr val="99C5FF"/>
                </a:solidFill>
                <a:latin typeface="HK Modular"/>
                <a:ea typeface="HK Modular"/>
                <a:cs typeface="HK Modular"/>
                <a:sym typeface="HK Modular"/>
              </a:rPr>
              <a:t>INTERFACE SEGREGATION FALLA SI...</a:t>
            </a:r>
          </a:p>
        </p:txBody>
      </p:sp>
      <p:sp>
        <p:nvSpPr>
          <p:cNvPr name="Freeform 7" id="7"/>
          <p:cNvSpPr/>
          <p:nvPr/>
        </p:nvSpPr>
        <p:spPr>
          <a:xfrm flipH="false" flipV="false" rot="0">
            <a:off x="2261075" y="4357025"/>
            <a:ext cx="965256" cy="965256"/>
          </a:xfrm>
          <a:custGeom>
            <a:avLst/>
            <a:gdLst/>
            <a:ahLst/>
            <a:cxnLst/>
            <a:rect r="r" b="b" t="t" l="l"/>
            <a:pathLst>
              <a:path h="965256" w="965256">
                <a:moveTo>
                  <a:pt x="0" y="0"/>
                </a:moveTo>
                <a:lnTo>
                  <a:pt x="965256" y="0"/>
                </a:lnTo>
                <a:lnTo>
                  <a:pt x="965256" y="965256"/>
                </a:lnTo>
                <a:lnTo>
                  <a:pt x="0" y="9652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2261075" y="5549706"/>
            <a:ext cx="965256" cy="965256"/>
          </a:xfrm>
          <a:custGeom>
            <a:avLst/>
            <a:gdLst/>
            <a:ahLst/>
            <a:cxnLst/>
            <a:rect r="r" b="b" t="t" l="l"/>
            <a:pathLst>
              <a:path h="965256" w="965256">
                <a:moveTo>
                  <a:pt x="0" y="0"/>
                </a:moveTo>
                <a:lnTo>
                  <a:pt x="965256" y="0"/>
                </a:lnTo>
                <a:lnTo>
                  <a:pt x="965256" y="965256"/>
                </a:lnTo>
                <a:lnTo>
                  <a:pt x="0" y="9652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2261075" y="6743562"/>
            <a:ext cx="965256" cy="965256"/>
          </a:xfrm>
          <a:custGeom>
            <a:avLst/>
            <a:gdLst/>
            <a:ahLst/>
            <a:cxnLst/>
            <a:rect r="r" b="b" t="t" l="l"/>
            <a:pathLst>
              <a:path h="965256" w="965256">
                <a:moveTo>
                  <a:pt x="0" y="0"/>
                </a:moveTo>
                <a:lnTo>
                  <a:pt x="965256" y="0"/>
                </a:lnTo>
                <a:lnTo>
                  <a:pt x="965256" y="965256"/>
                </a:lnTo>
                <a:lnTo>
                  <a:pt x="0" y="9652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2261075" y="7937418"/>
            <a:ext cx="965256" cy="965256"/>
          </a:xfrm>
          <a:custGeom>
            <a:avLst/>
            <a:gdLst/>
            <a:ahLst/>
            <a:cxnLst/>
            <a:rect r="r" b="b" t="t" l="l"/>
            <a:pathLst>
              <a:path h="965256" w="965256">
                <a:moveTo>
                  <a:pt x="0" y="0"/>
                </a:moveTo>
                <a:lnTo>
                  <a:pt x="965256" y="0"/>
                </a:lnTo>
                <a:lnTo>
                  <a:pt x="965256" y="965256"/>
                </a:lnTo>
                <a:lnTo>
                  <a:pt x="0" y="9652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1" id="11"/>
          <p:cNvSpPr txBox="true"/>
          <p:nvPr/>
        </p:nvSpPr>
        <p:spPr>
          <a:xfrm rot="0">
            <a:off x="3411767" y="4299875"/>
            <a:ext cx="12308420" cy="817759"/>
          </a:xfrm>
          <a:prstGeom prst="rect">
            <a:avLst/>
          </a:prstGeom>
        </p:spPr>
        <p:txBody>
          <a:bodyPr anchor="t" rtlCol="false" tIns="0" lIns="0" bIns="0" rIns="0">
            <a:spAutoFit/>
          </a:bodyPr>
          <a:lstStyle/>
          <a:p>
            <a:pPr algn="l">
              <a:lnSpc>
                <a:spcPts val="3226"/>
              </a:lnSpc>
            </a:pPr>
          </a:p>
          <a:p>
            <a:pPr algn="l">
              <a:lnSpc>
                <a:spcPts val="3226"/>
              </a:lnSpc>
              <a:spcBef>
                <a:spcPct val="0"/>
              </a:spcBef>
            </a:pPr>
            <a:r>
              <a:rPr lang="en-US" sz="2304">
                <a:solidFill>
                  <a:srgbClr val="FFFFFF"/>
                </a:solidFill>
                <a:latin typeface="Poppins"/>
                <a:ea typeface="Poppins"/>
                <a:cs typeface="Poppins"/>
                <a:sym typeface="Poppins"/>
              </a:rPr>
              <a:t>Una interfaz tiene demasiados metodos</a:t>
            </a:r>
          </a:p>
        </p:txBody>
      </p:sp>
      <p:sp>
        <p:nvSpPr>
          <p:cNvPr name="TextBox 12" id="12"/>
          <p:cNvSpPr txBox="true"/>
          <p:nvPr/>
        </p:nvSpPr>
        <p:spPr>
          <a:xfrm rot="0">
            <a:off x="3411767" y="5381733"/>
            <a:ext cx="12308420" cy="1227334"/>
          </a:xfrm>
          <a:prstGeom prst="rect">
            <a:avLst/>
          </a:prstGeom>
        </p:spPr>
        <p:txBody>
          <a:bodyPr anchor="t" rtlCol="false" tIns="0" lIns="0" bIns="0" rIns="0">
            <a:spAutoFit/>
          </a:bodyPr>
          <a:lstStyle/>
          <a:p>
            <a:pPr algn="l">
              <a:lnSpc>
                <a:spcPts val="3226"/>
              </a:lnSpc>
            </a:pPr>
          </a:p>
          <a:p>
            <a:pPr algn="l">
              <a:lnSpc>
                <a:spcPts val="3226"/>
              </a:lnSpc>
              <a:spcBef>
                <a:spcPct val="0"/>
              </a:spcBef>
            </a:pPr>
            <a:r>
              <a:rPr lang="en-US" sz="2304">
                <a:solidFill>
                  <a:srgbClr val="FFFFFF"/>
                </a:solidFill>
                <a:latin typeface="Poppins"/>
                <a:ea typeface="Poppins"/>
                <a:cs typeface="Poppins"/>
                <a:sym typeface="Poppins"/>
              </a:rPr>
              <a:t>Una clase que implementa la interfaz se ve obligada a poner metodos vacios o sin sentido</a:t>
            </a:r>
          </a:p>
        </p:txBody>
      </p:sp>
      <p:sp>
        <p:nvSpPr>
          <p:cNvPr name="TextBox 13" id="13"/>
          <p:cNvSpPr txBox="true"/>
          <p:nvPr/>
        </p:nvSpPr>
        <p:spPr>
          <a:xfrm rot="0">
            <a:off x="3411767" y="6686412"/>
            <a:ext cx="12308420" cy="817759"/>
          </a:xfrm>
          <a:prstGeom prst="rect">
            <a:avLst/>
          </a:prstGeom>
        </p:spPr>
        <p:txBody>
          <a:bodyPr anchor="t" rtlCol="false" tIns="0" lIns="0" bIns="0" rIns="0">
            <a:spAutoFit/>
          </a:bodyPr>
          <a:lstStyle/>
          <a:p>
            <a:pPr algn="l">
              <a:lnSpc>
                <a:spcPts val="3226"/>
              </a:lnSpc>
            </a:pPr>
          </a:p>
          <a:p>
            <a:pPr algn="l">
              <a:lnSpc>
                <a:spcPts val="3226"/>
              </a:lnSpc>
              <a:spcBef>
                <a:spcPct val="0"/>
              </a:spcBef>
            </a:pPr>
            <a:r>
              <a:rPr lang="en-US" sz="2304">
                <a:solidFill>
                  <a:srgbClr val="FFFFFF"/>
                </a:solidFill>
                <a:latin typeface="Poppins"/>
                <a:ea typeface="Poppins"/>
                <a:cs typeface="Poppins"/>
                <a:sym typeface="Poppins"/>
              </a:rPr>
              <a:t>La interfaz mezcla responsabilidades diferentes</a:t>
            </a:r>
          </a:p>
        </p:txBody>
      </p:sp>
      <p:sp>
        <p:nvSpPr>
          <p:cNvPr name="TextBox 14" id="14"/>
          <p:cNvSpPr txBox="true"/>
          <p:nvPr/>
        </p:nvSpPr>
        <p:spPr>
          <a:xfrm rot="0">
            <a:off x="3411767" y="7771662"/>
            <a:ext cx="12308420" cy="817759"/>
          </a:xfrm>
          <a:prstGeom prst="rect">
            <a:avLst/>
          </a:prstGeom>
        </p:spPr>
        <p:txBody>
          <a:bodyPr anchor="t" rtlCol="false" tIns="0" lIns="0" bIns="0" rIns="0">
            <a:spAutoFit/>
          </a:bodyPr>
          <a:lstStyle/>
          <a:p>
            <a:pPr algn="l">
              <a:lnSpc>
                <a:spcPts val="3226"/>
              </a:lnSpc>
            </a:pPr>
          </a:p>
          <a:p>
            <a:pPr algn="l">
              <a:lnSpc>
                <a:spcPts val="3226"/>
              </a:lnSpc>
              <a:spcBef>
                <a:spcPct val="0"/>
              </a:spcBef>
            </a:pPr>
            <a:r>
              <a:rPr lang="en-US" sz="2304">
                <a:solidFill>
                  <a:srgbClr val="FFFFFF"/>
                </a:solidFill>
                <a:latin typeface="Poppins"/>
                <a:ea typeface="Poppins"/>
                <a:cs typeface="Poppins"/>
                <a:sym typeface="Poppins"/>
              </a:rPr>
              <a:t>Si una interfaz obliga a las clases a implementar metodos que no usan</a:t>
            </a:r>
          </a:p>
        </p:txBody>
      </p:sp>
      <p:sp>
        <p:nvSpPr>
          <p:cNvPr name="Freeform 15" id="15"/>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5"/>
            <a:stretch>
              <a:fillRect l="0" t="0" r="0" b="0"/>
            </a:stretch>
          </a:blipFill>
        </p:spPr>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831342" y="8036885"/>
            <a:ext cx="1586363" cy="1358323"/>
          </a:xfrm>
          <a:custGeom>
            <a:avLst/>
            <a:gdLst/>
            <a:ahLst/>
            <a:cxnLst/>
            <a:rect r="r" b="b" t="t" l="l"/>
            <a:pathLst>
              <a:path h="1358323" w="1586363">
                <a:moveTo>
                  <a:pt x="0" y="0"/>
                </a:moveTo>
                <a:lnTo>
                  <a:pt x="1586363" y="0"/>
                </a:lnTo>
                <a:lnTo>
                  <a:pt x="1586363" y="1358323"/>
                </a:lnTo>
                <a:lnTo>
                  <a:pt x="0" y="13583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2961101" y="2308677"/>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7B640E"/>
                </a:solidFill>
                <a:latin typeface="HK Modular"/>
                <a:ea typeface="HK Modular"/>
                <a:cs typeface="HK Modular"/>
                <a:sym typeface="HK Modular"/>
              </a:rPr>
              <a:t>D: DEPENDENCY INVERSION</a:t>
            </a:r>
          </a:p>
        </p:txBody>
      </p:sp>
      <p:sp>
        <p:nvSpPr>
          <p:cNvPr name="TextBox 8" id="8"/>
          <p:cNvSpPr txBox="true"/>
          <p:nvPr/>
        </p:nvSpPr>
        <p:spPr>
          <a:xfrm rot="0">
            <a:off x="5115512" y="7364096"/>
            <a:ext cx="8056975" cy="599701"/>
          </a:xfrm>
          <a:prstGeom prst="rect">
            <a:avLst/>
          </a:prstGeom>
        </p:spPr>
        <p:txBody>
          <a:bodyPr anchor="t" rtlCol="false" tIns="0" lIns="0" bIns="0" rIns="0">
            <a:spAutoFit/>
          </a:bodyPr>
          <a:lstStyle/>
          <a:p>
            <a:pPr algn="ctr">
              <a:lnSpc>
                <a:spcPts val="4927"/>
              </a:lnSpc>
              <a:spcBef>
                <a:spcPct val="0"/>
              </a:spcBef>
            </a:pPr>
            <a:r>
              <a:rPr lang="en-US" sz="3519">
                <a:solidFill>
                  <a:srgbClr val="99C5FF"/>
                </a:solidFill>
                <a:latin typeface="HK Modular"/>
                <a:ea typeface="HK Modular"/>
                <a:cs typeface="HK Modular"/>
                <a:sym typeface="HK Modular"/>
              </a:rPr>
              <a:t>CONSEJO DE APLICACION</a:t>
            </a:r>
          </a:p>
        </p:txBody>
      </p:sp>
      <p:sp>
        <p:nvSpPr>
          <p:cNvPr name="TextBox 9" id="9"/>
          <p:cNvSpPr txBox="true"/>
          <p:nvPr/>
        </p:nvSpPr>
        <p:spPr>
          <a:xfrm rot="0">
            <a:off x="2850208" y="3662160"/>
            <a:ext cx="12587585"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Establece que las dependencias deben estar en las abstracciones, no en los detalles de la implementacion</a:t>
            </a:r>
          </a:p>
        </p:txBody>
      </p:sp>
      <p:sp>
        <p:nvSpPr>
          <p:cNvPr name="TextBox 10" id="10"/>
          <p:cNvSpPr txBox="true"/>
          <p:nvPr/>
        </p:nvSpPr>
        <p:spPr>
          <a:xfrm rot="0">
            <a:off x="2850208" y="5076825"/>
            <a:ext cx="12587585"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Los modulos de alto nivel no deberian depender de modulos de bajo nivel</a:t>
            </a:r>
          </a:p>
        </p:txBody>
      </p:sp>
      <p:sp>
        <p:nvSpPr>
          <p:cNvPr name="TextBox 11" id="11"/>
          <p:cNvSpPr txBox="true"/>
          <p:nvPr/>
        </p:nvSpPr>
        <p:spPr>
          <a:xfrm rot="0">
            <a:off x="3417705" y="8225191"/>
            <a:ext cx="12587585"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Definido mediante interfaces lo que ayuda a que la aplicacion nucleo no tendra que concoer la implementacion real para funcionar</a:t>
            </a:r>
          </a:p>
        </p:txBody>
      </p:sp>
      <p:sp>
        <p:nvSpPr>
          <p:cNvPr name="TextBox 12" id="12"/>
          <p:cNvSpPr txBox="true"/>
          <p:nvPr/>
        </p:nvSpPr>
        <p:spPr>
          <a:xfrm rot="0">
            <a:off x="2961101" y="9404733"/>
            <a:ext cx="12587585"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Permite tener bajo ACOPLAMIENTO y alta COHESION</a:t>
            </a:r>
          </a:p>
        </p:txBody>
      </p:sp>
      <p:sp>
        <p:nvSpPr>
          <p:cNvPr name="TextBox 13" id="13"/>
          <p:cNvSpPr txBox="true"/>
          <p:nvPr/>
        </p:nvSpPr>
        <p:spPr>
          <a:xfrm rot="0">
            <a:off x="2961101" y="5865063"/>
            <a:ext cx="12587585"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En lugar de depender directamente de clases concretas, las clases deben depender de interfaces o abstracciones para mayor flexibilidad</a:t>
            </a:r>
          </a:p>
        </p:txBody>
      </p:sp>
      <p:sp>
        <p:nvSpPr>
          <p:cNvPr name="Freeform 14" id="14"/>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5"/>
            <a:stretch>
              <a:fillRect l="0" t="0" r="0" b="0"/>
            </a:stretch>
          </a:blipFill>
        </p:spPr>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3227767" y="1568262"/>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7B640E"/>
                </a:solidFill>
                <a:latin typeface="HK Modular"/>
                <a:ea typeface="HK Modular"/>
                <a:cs typeface="HK Modular"/>
                <a:sym typeface="HK Modular"/>
              </a:rPr>
              <a:t>D: DEPENDENCY INVERSION</a:t>
            </a:r>
          </a:p>
        </p:txBody>
      </p:sp>
      <p:sp>
        <p:nvSpPr>
          <p:cNvPr name="TextBox 7" id="7"/>
          <p:cNvSpPr txBox="true"/>
          <p:nvPr/>
        </p:nvSpPr>
        <p:spPr>
          <a:xfrm rot="0">
            <a:off x="1696998" y="3046334"/>
            <a:ext cx="5426137" cy="599701"/>
          </a:xfrm>
          <a:prstGeom prst="rect">
            <a:avLst/>
          </a:prstGeom>
        </p:spPr>
        <p:txBody>
          <a:bodyPr anchor="t" rtlCol="false" tIns="0" lIns="0" bIns="0" rIns="0">
            <a:spAutoFit/>
          </a:bodyPr>
          <a:lstStyle/>
          <a:p>
            <a:pPr algn="ctr">
              <a:lnSpc>
                <a:spcPts val="4927"/>
              </a:lnSpc>
              <a:spcBef>
                <a:spcPct val="0"/>
              </a:spcBef>
            </a:pPr>
            <a:r>
              <a:rPr lang="en-US" sz="3519">
                <a:solidFill>
                  <a:srgbClr val="99C5FF"/>
                </a:solidFill>
                <a:latin typeface="HK Modular"/>
                <a:ea typeface="HK Modular"/>
                <a:cs typeface="HK Modular"/>
                <a:sym typeface="HK Modular"/>
              </a:rPr>
              <a:t>ACOPLAMIENTO</a:t>
            </a:r>
          </a:p>
        </p:txBody>
      </p:sp>
      <p:sp>
        <p:nvSpPr>
          <p:cNvPr name="TextBox 8" id="8"/>
          <p:cNvSpPr txBox="true"/>
          <p:nvPr/>
        </p:nvSpPr>
        <p:spPr>
          <a:xfrm rot="0">
            <a:off x="11065208" y="3046334"/>
            <a:ext cx="5426137" cy="599701"/>
          </a:xfrm>
          <a:prstGeom prst="rect">
            <a:avLst/>
          </a:prstGeom>
        </p:spPr>
        <p:txBody>
          <a:bodyPr anchor="t" rtlCol="false" tIns="0" lIns="0" bIns="0" rIns="0">
            <a:spAutoFit/>
          </a:bodyPr>
          <a:lstStyle/>
          <a:p>
            <a:pPr algn="ctr">
              <a:lnSpc>
                <a:spcPts val="4927"/>
              </a:lnSpc>
              <a:spcBef>
                <a:spcPct val="0"/>
              </a:spcBef>
            </a:pPr>
            <a:r>
              <a:rPr lang="en-US" sz="3519">
                <a:solidFill>
                  <a:srgbClr val="99C5FF"/>
                </a:solidFill>
                <a:latin typeface="HK Modular"/>
                <a:ea typeface="HK Modular"/>
                <a:cs typeface="HK Modular"/>
                <a:sym typeface="HK Modular"/>
              </a:rPr>
              <a:t>COHESION</a:t>
            </a:r>
          </a:p>
        </p:txBody>
      </p:sp>
      <p:sp>
        <p:nvSpPr>
          <p:cNvPr name="TextBox 9" id="9"/>
          <p:cNvSpPr txBox="true"/>
          <p:nvPr/>
        </p:nvSpPr>
        <p:spPr>
          <a:xfrm rot="0">
            <a:off x="1443845" y="4137077"/>
            <a:ext cx="5932443"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Grado de interdependencia de dos unidades de software entre si</a:t>
            </a:r>
          </a:p>
        </p:txBody>
      </p:sp>
      <p:sp>
        <p:nvSpPr>
          <p:cNvPr name="TextBox 10" id="10"/>
          <p:cNvSpPr txBox="true"/>
          <p:nvPr/>
        </p:nvSpPr>
        <p:spPr>
          <a:xfrm rot="0">
            <a:off x="1443845" y="5585584"/>
            <a:ext cx="5932443"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Si son independientes una de la otra hay desacople</a:t>
            </a:r>
          </a:p>
        </p:txBody>
      </p:sp>
      <p:sp>
        <p:nvSpPr>
          <p:cNvPr name="TextBox 11" id="11"/>
          <p:cNvSpPr txBox="true"/>
          <p:nvPr/>
        </p:nvSpPr>
        <p:spPr>
          <a:xfrm rot="0">
            <a:off x="10812055" y="3822824"/>
            <a:ext cx="5932443" cy="18294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Grado en que los elementos de un sistema permanecen unidos para alcanzar un mejor resultado que si trabajaran solos.</a:t>
            </a:r>
          </a:p>
        </p:txBody>
      </p:sp>
      <p:sp>
        <p:nvSpPr>
          <p:cNvPr name="TextBox 12" id="12"/>
          <p:cNvSpPr txBox="true"/>
          <p:nvPr/>
        </p:nvSpPr>
        <p:spPr>
          <a:xfrm rot="0">
            <a:off x="10812055" y="5814113"/>
            <a:ext cx="5932443"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Agrupar diversas unidades para crear una unidad mayor</a:t>
            </a:r>
          </a:p>
        </p:txBody>
      </p:sp>
      <p:sp>
        <p:nvSpPr>
          <p:cNvPr name="TextBox 13" id="13"/>
          <p:cNvSpPr txBox="true"/>
          <p:nvPr/>
        </p:nvSpPr>
        <p:spPr>
          <a:xfrm rot="0">
            <a:off x="2207891" y="7685937"/>
            <a:ext cx="13336598" cy="18294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La alta cohesión significa que los elementos dentro de un módulo están estrechamente relacionados y trabajan juntos hacia un objetivo común, mientras que el bajo acoplamiento implica que los módulos son independientes entre sí y tienen poca dependencia mutua</a:t>
            </a:r>
          </a:p>
        </p:txBody>
      </p:sp>
      <p:sp>
        <p:nvSpPr>
          <p:cNvPr name="Freeform 14" id="14"/>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3"/>
            <a:stretch>
              <a:fillRect l="0" t="0" r="0" b="0"/>
            </a:stretch>
          </a:blipFill>
        </p:spPr>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9767276" y="5984549"/>
            <a:ext cx="7913430" cy="2821310"/>
          </a:xfrm>
          <a:custGeom>
            <a:avLst/>
            <a:gdLst/>
            <a:ahLst/>
            <a:cxnLst/>
            <a:rect r="r" b="b" t="t" l="l"/>
            <a:pathLst>
              <a:path h="2821310" w="7913430">
                <a:moveTo>
                  <a:pt x="0" y="0"/>
                </a:moveTo>
                <a:lnTo>
                  <a:pt x="7913430" y="0"/>
                </a:lnTo>
                <a:lnTo>
                  <a:pt x="7913430" y="2821309"/>
                </a:lnTo>
                <a:lnTo>
                  <a:pt x="0" y="2821309"/>
                </a:lnTo>
                <a:lnTo>
                  <a:pt x="0" y="0"/>
                </a:lnTo>
                <a:close/>
              </a:path>
            </a:pathLst>
          </a:custGeom>
          <a:blipFill>
            <a:blip r:embed="rId3"/>
            <a:stretch>
              <a:fillRect l="0" t="0" r="0" b="0"/>
            </a:stretch>
          </a:blipFill>
        </p:spPr>
      </p:sp>
      <p:sp>
        <p:nvSpPr>
          <p:cNvPr name="TextBox 7" id="7"/>
          <p:cNvSpPr txBox="true"/>
          <p:nvPr/>
        </p:nvSpPr>
        <p:spPr>
          <a:xfrm rot="0">
            <a:off x="2961101" y="1606970"/>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7B640E"/>
                </a:solidFill>
                <a:latin typeface="HK Modular"/>
                <a:ea typeface="HK Modular"/>
                <a:cs typeface="HK Modular"/>
                <a:sym typeface="HK Modular"/>
              </a:rPr>
              <a:t>D: DEPENDENCY INVERSION</a:t>
            </a:r>
          </a:p>
        </p:txBody>
      </p:sp>
      <p:sp>
        <p:nvSpPr>
          <p:cNvPr name="TextBox 8" id="8"/>
          <p:cNvSpPr txBox="true"/>
          <p:nvPr/>
        </p:nvSpPr>
        <p:spPr>
          <a:xfrm rot="0">
            <a:off x="4311175" y="2981089"/>
            <a:ext cx="9884384" cy="599701"/>
          </a:xfrm>
          <a:prstGeom prst="rect">
            <a:avLst/>
          </a:prstGeom>
        </p:spPr>
        <p:txBody>
          <a:bodyPr anchor="t" rtlCol="false" tIns="0" lIns="0" bIns="0" rIns="0">
            <a:spAutoFit/>
          </a:bodyPr>
          <a:lstStyle/>
          <a:p>
            <a:pPr algn="ctr">
              <a:lnSpc>
                <a:spcPts val="4927"/>
              </a:lnSpc>
              <a:spcBef>
                <a:spcPct val="0"/>
              </a:spcBef>
            </a:pPr>
            <a:r>
              <a:rPr lang="en-US" sz="3519">
                <a:solidFill>
                  <a:srgbClr val="99C5FF"/>
                </a:solidFill>
                <a:latin typeface="HK Modular"/>
                <a:ea typeface="HK Modular"/>
                <a:cs typeface="HK Modular"/>
                <a:sym typeface="HK Modular"/>
              </a:rPr>
              <a:t>INJECCION DE DEPENDENCIAS</a:t>
            </a:r>
          </a:p>
        </p:txBody>
      </p:sp>
      <p:sp>
        <p:nvSpPr>
          <p:cNvPr name="TextBox 9" id="9"/>
          <p:cNvSpPr txBox="true"/>
          <p:nvPr/>
        </p:nvSpPr>
        <p:spPr>
          <a:xfrm rot="0">
            <a:off x="3506649" y="3912014"/>
            <a:ext cx="11493436"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Es un patron que permite a un objeto recibir sus dependencias de una fuente externa, en lugar de crearlas directamente</a:t>
            </a:r>
          </a:p>
        </p:txBody>
      </p:sp>
      <p:sp>
        <p:nvSpPr>
          <p:cNvPr name="TextBox 10" id="10"/>
          <p:cNvSpPr txBox="true"/>
          <p:nvPr/>
        </p:nvSpPr>
        <p:spPr>
          <a:xfrm rot="0">
            <a:off x="637150" y="5632346"/>
            <a:ext cx="8173227" cy="915036"/>
          </a:xfrm>
          <a:prstGeom prst="rect">
            <a:avLst/>
          </a:prstGeom>
        </p:spPr>
        <p:txBody>
          <a:bodyPr anchor="t" rtlCol="false" tIns="0" lIns="0" bIns="0" rIns="0">
            <a:spAutoFit/>
          </a:bodyPr>
          <a:lstStyle/>
          <a:p>
            <a:pPr algn="l" marL="561336" indent="-280668" lvl="1">
              <a:lnSpc>
                <a:spcPts val="3639"/>
              </a:lnSpc>
              <a:buFont typeface="Arial"/>
              <a:buChar char="•"/>
            </a:pPr>
            <a:r>
              <a:rPr lang="en-US" sz="2599">
                <a:solidFill>
                  <a:srgbClr val="FFFFFF"/>
                </a:solidFill>
                <a:latin typeface="Poppins"/>
                <a:ea typeface="Poppins"/>
                <a:cs typeface="Poppins"/>
                <a:sym typeface="Poppins"/>
              </a:rPr>
              <a:t>Se definen interfaces o clases abstractas para representar las dependencias</a:t>
            </a:r>
          </a:p>
        </p:txBody>
      </p:sp>
      <p:sp>
        <p:nvSpPr>
          <p:cNvPr name="TextBox 11" id="11"/>
          <p:cNvSpPr txBox="true"/>
          <p:nvPr/>
        </p:nvSpPr>
        <p:spPr>
          <a:xfrm rot="0">
            <a:off x="637150" y="7014106"/>
            <a:ext cx="8173227" cy="915036"/>
          </a:xfrm>
          <a:prstGeom prst="rect">
            <a:avLst/>
          </a:prstGeom>
        </p:spPr>
        <p:txBody>
          <a:bodyPr anchor="t" rtlCol="false" tIns="0" lIns="0" bIns="0" rIns="0">
            <a:spAutoFit/>
          </a:bodyPr>
          <a:lstStyle/>
          <a:p>
            <a:pPr algn="l" marL="561336" indent="-280668" lvl="1">
              <a:lnSpc>
                <a:spcPts val="3639"/>
              </a:lnSpc>
              <a:buFont typeface="Arial"/>
              <a:buChar char="•"/>
            </a:pPr>
            <a:r>
              <a:rPr lang="en-US" sz="2599">
                <a:solidFill>
                  <a:srgbClr val="FFFFFF"/>
                </a:solidFill>
                <a:latin typeface="Poppins"/>
                <a:ea typeface="Poppins"/>
                <a:cs typeface="Poppins"/>
                <a:sym typeface="Poppins"/>
              </a:rPr>
              <a:t>Se crean clases concretas que implementan esas interfaces</a:t>
            </a:r>
          </a:p>
        </p:txBody>
      </p:sp>
      <p:sp>
        <p:nvSpPr>
          <p:cNvPr name="TextBox 12" id="12"/>
          <p:cNvSpPr txBox="true"/>
          <p:nvPr/>
        </p:nvSpPr>
        <p:spPr>
          <a:xfrm rot="0">
            <a:off x="637150" y="8395867"/>
            <a:ext cx="8173227" cy="1372236"/>
          </a:xfrm>
          <a:prstGeom prst="rect">
            <a:avLst/>
          </a:prstGeom>
        </p:spPr>
        <p:txBody>
          <a:bodyPr anchor="t" rtlCol="false" tIns="0" lIns="0" bIns="0" rIns="0">
            <a:spAutoFit/>
          </a:bodyPr>
          <a:lstStyle/>
          <a:p>
            <a:pPr algn="l" marL="561336" indent="-280668" lvl="1">
              <a:lnSpc>
                <a:spcPts val="3639"/>
              </a:lnSpc>
              <a:buFont typeface="Arial"/>
              <a:buChar char="•"/>
            </a:pPr>
            <a:r>
              <a:rPr lang="en-US" sz="2599">
                <a:solidFill>
                  <a:srgbClr val="FFFFFF"/>
                </a:solidFill>
                <a:latin typeface="Poppins"/>
                <a:ea typeface="Poppins"/>
                <a:cs typeface="Poppins"/>
                <a:sym typeface="Poppins"/>
              </a:rPr>
              <a:t>El objeto que necesita las dependencias las recibe de una fuente externa en lugar de crearlas por si mismo</a:t>
            </a:r>
          </a:p>
        </p:txBody>
      </p:sp>
      <p:sp>
        <p:nvSpPr>
          <p:cNvPr name="Freeform 13" id="13"/>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4"/>
            <a:stretch>
              <a:fillRect l="0" t="0" r="0" b="0"/>
            </a:stretch>
          </a:blipFill>
        </p:spPr>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6576387" y="6621166"/>
            <a:ext cx="5135226" cy="3401003"/>
          </a:xfrm>
          <a:custGeom>
            <a:avLst/>
            <a:gdLst/>
            <a:ahLst/>
            <a:cxnLst/>
            <a:rect r="r" b="b" t="t" l="l"/>
            <a:pathLst>
              <a:path h="3401003" w="5135226">
                <a:moveTo>
                  <a:pt x="0" y="0"/>
                </a:moveTo>
                <a:lnTo>
                  <a:pt x="5135226" y="0"/>
                </a:lnTo>
                <a:lnTo>
                  <a:pt x="5135226" y="3401003"/>
                </a:lnTo>
                <a:lnTo>
                  <a:pt x="0" y="3401003"/>
                </a:lnTo>
                <a:lnTo>
                  <a:pt x="0" y="0"/>
                </a:lnTo>
                <a:close/>
              </a:path>
            </a:pathLst>
          </a:custGeom>
          <a:blipFill>
            <a:blip r:embed="rId3"/>
            <a:stretch>
              <a:fillRect l="0" t="0" r="0" b="0"/>
            </a:stretch>
          </a:blipFill>
        </p:spPr>
      </p:sp>
      <p:sp>
        <p:nvSpPr>
          <p:cNvPr name="TextBox 7" id="7"/>
          <p:cNvSpPr txBox="true"/>
          <p:nvPr/>
        </p:nvSpPr>
        <p:spPr>
          <a:xfrm rot="0">
            <a:off x="3136135"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7B640E"/>
                </a:solidFill>
                <a:latin typeface="HK Modular"/>
                <a:ea typeface="HK Modular"/>
                <a:cs typeface="HK Modular"/>
                <a:sym typeface="HK Modular"/>
              </a:rPr>
              <a:t>D: DEPENDENCY INVERSION</a:t>
            </a:r>
          </a:p>
        </p:txBody>
      </p:sp>
      <p:sp>
        <p:nvSpPr>
          <p:cNvPr name="TextBox 8" id="8"/>
          <p:cNvSpPr txBox="true"/>
          <p:nvPr/>
        </p:nvSpPr>
        <p:spPr>
          <a:xfrm rot="0">
            <a:off x="1608350" y="3382615"/>
            <a:ext cx="15290035"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En algun momento nuestra aplicacion llegara a estar formado por muchos modulos, ahi es cuando debemos utilizar INYECCION DE DEPENDENCIAS</a:t>
            </a:r>
          </a:p>
        </p:txBody>
      </p:sp>
      <p:sp>
        <p:nvSpPr>
          <p:cNvPr name="TextBox 9" id="9"/>
          <p:cNvSpPr txBox="true"/>
          <p:nvPr/>
        </p:nvSpPr>
        <p:spPr>
          <a:xfrm rot="0">
            <a:off x="1521705" y="4726275"/>
            <a:ext cx="15463324"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Esto nos permitira controlar las funcionalidades desde un sitio concreto en vez de tenerlas esparcidas</a:t>
            </a:r>
          </a:p>
        </p:txBody>
      </p:sp>
      <p:sp>
        <p:nvSpPr>
          <p:cNvPr name="TextBox 10" id="10"/>
          <p:cNvSpPr txBox="true"/>
          <p:nvPr/>
        </p:nvSpPr>
        <p:spPr>
          <a:xfrm rot="0">
            <a:off x="1269649" y="5868055"/>
            <a:ext cx="15463324"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Imaginemos que nuestro servicio tiene este Acceso a Datos</a:t>
            </a:r>
          </a:p>
        </p:txBody>
      </p:sp>
      <p:sp>
        <p:nvSpPr>
          <p:cNvPr name="Freeform 11" id="11"/>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4"/>
            <a:stretch>
              <a:fillRect l="0" t="0" r="0" b="0"/>
            </a:stretch>
          </a:blipFill>
        </p:spPr>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3136135"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7B640E"/>
                </a:solidFill>
                <a:latin typeface="HK Modular"/>
                <a:ea typeface="HK Modular"/>
                <a:cs typeface="HK Modular"/>
                <a:sym typeface="HK Modular"/>
              </a:rPr>
              <a:t>D: DEPENDENCY INVERSION</a:t>
            </a:r>
          </a:p>
        </p:txBody>
      </p:sp>
      <p:sp>
        <p:nvSpPr>
          <p:cNvPr name="TextBox 7" id="7"/>
          <p:cNvSpPr txBox="true"/>
          <p:nvPr/>
        </p:nvSpPr>
        <p:spPr>
          <a:xfrm rot="0">
            <a:off x="1521705" y="3284478"/>
            <a:ext cx="15463324"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¿Que pasa si queremos cambiar el servicio de Base de datos por un servicio que conecta con un servicio externo?</a:t>
            </a:r>
          </a:p>
        </p:txBody>
      </p:sp>
      <p:sp>
        <p:nvSpPr>
          <p:cNvPr name="TextBox 8" id="8"/>
          <p:cNvSpPr txBox="true"/>
          <p:nvPr/>
        </p:nvSpPr>
        <p:spPr>
          <a:xfrm rot="0">
            <a:off x="11068339" y="4913888"/>
            <a:ext cx="5522851" cy="13722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Tendriamos que modificar todas las instancias de la clase AccesoADatos una por una</a:t>
            </a:r>
          </a:p>
        </p:txBody>
      </p:sp>
      <p:sp>
        <p:nvSpPr>
          <p:cNvPr name="Freeform 9" id="9"/>
          <p:cNvSpPr/>
          <p:nvPr/>
        </p:nvSpPr>
        <p:spPr>
          <a:xfrm flipH="false" flipV="false" rot="0">
            <a:off x="2196908" y="4980563"/>
            <a:ext cx="6505993" cy="4308847"/>
          </a:xfrm>
          <a:custGeom>
            <a:avLst/>
            <a:gdLst/>
            <a:ahLst/>
            <a:cxnLst/>
            <a:rect r="r" b="b" t="t" l="l"/>
            <a:pathLst>
              <a:path h="4308847" w="6505993">
                <a:moveTo>
                  <a:pt x="0" y="0"/>
                </a:moveTo>
                <a:lnTo>
                  <a:pt x="6505993" y="0"/>
                </a:lnTo>
                <a:lnTo>
                  <a:pt x="6505993" y="4308848"/>
                </a:lnTo>
                <a:lnTo>
                  <a:pt x="0" y="4308848"/>
                </a:lnTo>
                <a:lnTo>
                  <a:pt x="0" y="0"/>
                </a:lnTo>
                <a:close/>
              </a:path>
            </a:pathLst>
          </a:custGeom>
          <a:blipFill>
            <a:blip r:embed="rId3"/>
            <a:stretch>
              <a:fillRect l="0" t="0" r="0" b="0"/>
            </a:stretch>
          </a:blipFill>
        </p:spPr>
      </p:sp>
      <p:sp>
        <p:nvSpPr>
          <p:cNvPr name="Freeform 10" id="10"/>
          <p:cNvSpPr/>
          <p:nvPr/>
        </p:nvSpPr>
        <p:spPr>
          <a:xfrm flipH="false" flipV="false" rot="0">
            <a:off x="9894281" y="4980563"/>
            <a:ext cx="917775" cy="917775"/>
          </a:xfrm>
          <a:custGeom>
            <a:avLst/>
            <a:gdLst/>
            <a:ahLst/>
            <a:cxnLst/>
            <a:rect r="r" b="b" t="t" l="l"/>
            <a:pathLst>
              <a:path h="917775" w="917775">
                <a:moveTo>
                  <a:pt x="0" y="0"/>
                </a:moveTo>
                <a:lnTo>
                  <a:pt x="917774" y="0"/>
                </a:lnTo>
                <a:lnTo>
                  <a:pt x="917774" y="917775"/>
                </a:lnTo>
                <a:lnTo>
                  <a:pt x="0" y="9177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11068339" y="6785506"/>
            <a:ext cx="5522851" cy="18294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Nuestro modulo de alto nivel depende de uno de mas Bajo nivel, en este caso deberia depender es de abstracciones</a:t>
            </a:r>
          </a:p>
        </p:txBody>
      </p:sp>
      <p:sp>
        <p:nvSpPr>
          <p:cNvPr name="Freeform 12" id="12"/>
          <p:cNvSpPr/>
          <p:nvPr/>
        </p:nvSpPr>
        <p:spPr>
          <a:xfrm flipH="false" flipV="false" rot="0">
            <a:off x="9894281" y="6815787"/>
            <a:ext cx="917775" cy="917775"/>
          </a:xfrm>
          <a:custGeom>
            <a:avLst/>
            <a:gdLst/>
            <a:ahLst/>
            <a:cxnLst/>
            <a:rect r="r" b="b" t="t" l="l"/>
            <a:pathLst>
              <a:path h="917775" w="917775">
                <a:moveTo>
                  <a:pt x="0" y="0"/>
                </a:moveTo>
                <a:lnTo>
                  <a:pt x="917774" y="0"/>
                </a:lnTo>
                <a:lnTo>
                  <a:pt x="917774" y="917775"/>
                </a:lnTo>
                <a:lnTo>
                  <a:pt x="0" y="9177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6"/>
            <a:stretch>
              <a:fillRect l="0" t="0" r="0" b="0"/>
            </a:stretch>
          </a:blipFill>
        </p:spPr>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2306337" y="4413545"/>
            <a:ext cx="5502107" cy="4496783"/>
          </a:xfrm>
          <a:custGeom>
            <a:avLst/>
            <a:gdLst/>
            <a:ahLst/>
            <a:cxnLst/>
            <a:rect r="r" b="b" t="t" l="l"/>
            <a:pathLst>
              <a:path h="4496783" w="5502107">
                <a:moveTo>
                  <a:pt x="0" y="0"/>
                </a:moveTo>
                <a:lnTo>
                  <a:pt x="5502106" y="0"/>
                </a:lnTo>
                <a:lnTo>
                  <a:pt x="5502106" y="4496784"/>
                </a:lnTo>
                <a:lnTo>
                  <a:pt x="0" y="4496784"/>
                </a:lnTo>
                <a:lnTo>
                  <a:pt x="0" y="0"/>
                </a:lnTo>
                <a:close/>
              </a:path>
            </a:pathLst>
          </a:custGeom>
          <a:blipFill>
            <a:blip r:embed="rId3"/>
            <a:stretch>
              <a:fillRect l="0" t="0" r="0" b="0"/>
            </a:stretch>
          </a:blipFill>
        </p:spPr>
      </p:sp>
      <p:sp>
        <p:nvSpPr>
          <p:cNvPr name="TextBox 7" id="7"/>
          <p:cNvSpPr txBox="true"/>
          <p:nvPr/>
        </p:nvSpPr>
        <p:spPr>
          <a:xfrm rot="0">
            <a:off x="3136135"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7B640E"/>
                </a:solidFill>
                <a:latin typeface="HK Modular"/>
                <a:ea typeface="HK Modular"/>
                <a:cs typeface="HK Modular"/>
                <a:sym typeface="HK Modular"/>
              </a:rPr>
              <a:t>D: DEPENDENCY INVERSION</a:t>
            </a:r>
          </a:p>
        </p:txBody>
      </p:sp>
      <p:sp>
        <p:nvSpPr>
          <p:cNvPr name="TextBox 8" id="8"/>
          <p:cNvSpPr txBox="true"/>
          <p:nvPr/>
        </p:nvSpPr>
        <p:spPr>
          <a:xfrm rot="0">
            <a:off x="1521705" y="3284478"/>
            <a:ext cx="15463324"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¿Como podemos arreglar esto?</a:t>
            </a:r>
          </a:p>
        </p:txBody>
      </p:sp>
      <p:sp>
        <p:nvSpPr>
          <p:cNvPr name="TextBox 9" id="9"/>
          <p:cNvSpPr txBox="true"/>
          <p:nvPr/>
        </p:nvSpPr>
        <p:spPr>
          <a:xfrm rot="0">
            <a:off x="9997100" y="4346870"/>
            <a:ext cx="7838619" cy="13722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Podemos hacer que el modulo de acceso a datos dependa de una abstraccion mas generica</a:t>
            </a:r>
          </a:p>
        </p:txBody>
      </p:sp>
      <p:sp>
        <p:nvSpPr>
          <p:cNvPr name="Freeform 10" id="10"/>
          <p:cNvSpPr/>
          <p:nvPr/>
        </p:nvSpPr>
        <p:spPr>
          <a:xfrm flipH="false" flipV="false" rot="0">
            <a:off x="8827116" y="4413545"/>
            <a:ext cx="852502" cy="729955"/>
          </a:xfrm>
          <a:custGeom>
            <a:avLst/>
            <a:gdLst/>
            <a:ahLst/>
            <a:cxnLst/>
            <a:rect r="r" b="b" t="t" l="l"/>
            <a:pathLst>
              <a:path h="729955" w="852502">
                <a:moveTo>
                  <a:pt x="0" y="0"/>
                </a:moveTo>
                <a:lnTo>
                  <a:pt x="852502" y="0"/>
                </a:lnTo>
                <a:lnTo>
                  <a:pt x="852502" y="729955"/>
                </a:lnTo>
                <a:lnTo>
                  <a:pt x="0" y="72995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10133746" y="6319181"/>
            <a:ext cx="7838619"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Sin importar el tipo de conexion ni este ni sus intancias tendran que cambiar</a:t>
            </a:r>
          </a:p>
        </p:txBody>
      </p:sp>
      <p:sp>
        <p:nvSpPr>
          <p:cNvPr name="Freeform 12" id="12"/>
          <p:cNvSpPr/>
          <p:nvPr/>
        </p:nvSpPr>
        <p:spPr>
          <a:xfrm flipH="false" flipV="false" rot="0">
            <a:off x="8827116" y="6385856"/>
            <a:ext cx="852502" cy="729955"/>
          </a:xfrm>
          <a:custGeom>
            <a:avLst/>
            <a:gdLst/>
            <a:ahLst/>
            <a:cxnLst/>
            <a:rect r="r" b="b" t="t" l="l"/>
            <a:pathLst>
              <a:path h="729955" w="852502">
                <a:moveTo>
                  <a:pt x="0" y="0"/>
                </a:moveTo>
                <a:lnTo>
                  <a:pt x="852502" y="0"/>
                </a:lnTo>
                <a:lnTo>
                  <a:pt x="852502" y="729955"/>
                </a:lnTo>
                <a:lnTo>
                  <a:pt x="0" y="72995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6"/>
            <a:stretch>
              <a:fillRect l="0" t="0" r="0" b="0"/>
            </a:stretch>
          </a:blipFill>
        </p:spPr>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8827116" y="4413545"/>
            <a:ext cx="852502" cy="729955"/>
          </a:xfrm>
          <a:custGeom>
            <a:avLst/>
            <a:gdLst/>
            <a:ahLst/>
            <a:cxnLst/>
            <a:rect r="r" b="b" t="t" l="l"/>
            <a:pathLst>
              <a:path h="729955" w="852502">
                <a:moveTo>
                  <a:pt x="0" y="0"/>
                </a:moveTo>
                <a:lnTo>
                  <a:pt x="852502" y="0"/>
                </a:lnTo>
                <a:lnTo>
                  <a:pt x="852502" y="729955"/>
                </a:lnTo>
                <a:lnTo>
                  <a:pt x="0" y="72995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8827116" y="6385856"/>
            <a:ext cx="852502" cy="729955"/>
          </a:xfrm>
          <a:custGeom>
            <a:avLst/>
            <a:gdLst/>
            <a:ahLst/>
            <a:cxnLst/>
            <a:rect r="r" b="b" t="t" l="l"/>
            <a:pathLst>
              <a:path h="729955" w="852502">
                <a:moveTo>
                  <a:pt x="0" y="0"/>
                </a:moveTo>
                <a:lnTo>
                  <a:pt x="852502" y="0"/>
                </a:lnTo>
                <a:lnTo>
                  <a:pt x="852502" y="729955"/>
                </a:lnTo>
                <a:lnTo>
                  <a:pt x="0" y="72995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1706101" y="4413545"/>
            <a:ext cx="5571979" cy="4323541"/>
          </a:xfrm>
          <a:custGeom>
            <a:avLst/>
            <a:gdLst/>
            <a:ahLst/>
            <a:cxnLst/>
            <a:rect r="r" b="b" t="t" l="l"/>
            <a:pathLst>
              <a:path h="4323541" w="5571979">
                <a:moveTo>
                  <a:pt x="0" y="0"/>
                </a:moveTo>
                <a:lnTo>
                  <a:pt x="5571980" y="0"/>
                </a:lnTo>
                <a:lnTo>
                  <a:pt x="5571980" y="4323541"/>
                </a:lnTo>
                <a:lnTo>
                  <a:pt x="0" y="4323541"/>
                </a:lnTo>
                <a:lnTo>
                  <a:pt x="0" y="0"/>
                </a:lnTo>
                <a:close/>
              </a:path>
            </a:pathLst>
          </a:custGeom>
          <a:blipFill>
            <a:blip r:embed="rId5"/>
            <a:stretch>
              <a:fillRect l="0" t="0" r="0" b="0"/>
            </a:stretch>
          </a:blipFill>
        </p:spPr>
      </p:sp>
      <p:sp>
        <p:nvSpPr>
          <p:cNvPr name="TextBox 9" id="9"/>
          <p:cNvSpPr txBox="true"/>
          <p:nvPr/>
        </p:nvSpPr>
        <p:spPr>
          <a:xfrm rot="0">
            <a:off x="3136135"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7B640E"/>
                </a:solidFill>
                <a:latin typeface="HK Modular"/>
                <a:ea typeface="HK Modular"/>
                <a:cs typeface="HK Modular"/>
                <a:sym typeface="HK Modular"/>
              </a:rPr>
              <a:t>D: DEPENDENCY INVERSION</a:t>
            </a:r>
          </a:p>
        </p:txBody>
      </p:sp>
      <p:sp>
        <p:nvSpPr>
          <p:cNvPr name="TextBox 10" id="10"/>
          <p:cNvSpPr txBox="true"/>
          <p:nvPr/>
        </p:nvSpPr>
        <p:spPr>
          <a:xfrm rot="0">
            <a:off x="1521705" y="3284478"/>
            <a:ext cx="15463324"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¿Como podemos arreglar esto?</a:t>
            </a:r>
          </a:p>
        </p:txBody>
      </p:sp>
      <p:sp>
        <p:nvSpPr>
          <p:cNvPr name="TextBox 11" id="11"/>
          <p:cNvSpPr txBox="true"/>
          <p:nvPr/>
        </p:nvSpPr>
        <p:spPr>
          <a:xfrm rot="0">
            <a:off x="9997100" y="4346870"/>
            <a:ext cx="7838619"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Cada servicio que querramos crear debera implementar la interfaz</a:t>
            </a:r>
          </a:p>
        </p:txBody>
      </p:sp>
      <p:sp>
        <p:nvSpPr>
          <p:cNvPr name="TextBox 12" id="12"/>
          <p:cNvSpPr txBox="true"/>
          <p:nvPr/>
        </p:nvSpPr>
        <p:spPr>
          <a:xfrm rot="0">
            <a:off x="10133746" y="6319181"/>
            <a:ext cx="7838619"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El modulo de alto nivel como el de bajo nivel dependen de abstracciones</a:t>
            </a:r>
          </a:p>
        </p:txBody>
      </p:sp>
      <p:sp>
        <p:nvSpPr>
          <p:cNvPr name="Freeform 13" id="13"/>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6"/>
            <a:stretch>
              <a:fillRect l="0" t="0" r="0" b="0"/>
            </a:stretch>
          </a:blipFill>
        </p:spPr>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3045063" y="2321035"/>
            <a:ext cx="11723240" cy="1533000"/>
          </a:xfrm>
          <a:prstGeom prst="rect">
            <a:avLst/>
          </a:prstGeom>
        </p:spPr>
        <p:txBody>
          <a:bodyPr anchor="t" rtlCol="false" tIns="0" lIns="0" bIns="0" rIns="0">
            <a:spAutoFit/>
          </a:bodyPr>
          <a:lstStyle/>
          <a:p>
            <a:pPr algn="ctr">
              <a:lnSpc>
                <a:spcPts val="6101"/>
              </a:lnSpc>
              <a:spcBef>
                <a:spcPct val="0"/>
              </a:spcBef>
            </a:pPr>
            <a:r>
              <a:rPr lang="en-US" sz="4358">
                <a:solidFill>
                  <a:srgbClr val="7B640E"/>
                </a:solidFill>
                <a:latin typeface="HK Modular"/>
                <a:ea typeface="HK Modular"/>
                <a:cs typeface="HK Modular"/>
                <a:sym typeface="HK Modular"/>
              </a:rPr>
              <a:t>DEPENDENCY INVERSION FALLA SI...</a:t>
            </a:r>
          </a:p>
        </p:txBody>
      </p:sp>
      <p:sp>
        <p:nvSpPr>
          <p:cNvPr name="Freeform 7" id="7"/>
          <p:cNvSpPr/>
          <p:nvPr/>
        </p:nvSpPr>
        <p:spPr>
          <a:xfrm flipH="false" flipV="false" rot="0">
            <a:off x="2261075" y="4357025"/>
            <a:ext cx="965256" cy="965256"/>
          </a:xfrm>
          <a:custGeom>
            <a:avLst/>
            <a:gdLst/>
            <a:ahLst/>
            <a:cxnLst/>
            <a:rect r="r" b="b" t="t" l="l"/>
            <a:pathLst>
              <a:path h="965256" w="965256">
                <a:moveTo>
                  <a:pt x="0" y="0"/>
                </a:moveTo>
                <a:lnTo>
                  <a:pt x="965256" y="0"/>
                </a:lnTo>
                <a:lnTo>
                  <a:pt x="965256" y="965256"/>
                </a:lnTo>
                <a:lnTo>
                  <a:pt x="0" y="9652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2261075" y="5549706"/>
            <a:ext cx="965256" cy="965256"/>
          </a:xfrm>
          <a:custGeom>
            <a:avLst/>
            <a:gdLst/>
            <a:ahLst/>
            <a:cxnLst/>
            <a:rect r="r" b="b" t="t" l="l"/>
            <a:pathLst>
              <a:path h="965256" w="965256">
                <a:moveTo>
                  <a:pt x="0" y="0"/>
                </a:moveTo>
                <a:lnTo>
                  <a:pt x="965256" y="0"/>
                </a:lnTo>
                <a:lnTo>
                  <a:pt x="965256" y="965256"/>
                </a:lnTo>
                <a:lnTo>
                  <a:pt x="0" y="9652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2261075" y="6743562"/>
            <a:ext cx="965256" cy="965256"/>
          </a:xfrm>
          <a:custGeom>
            <a:avLst/>
            <a:gdLst/>
            <a:ahLst/>
            <a:cxnLst/>
            <a:rect r="r" b="b" t="t" l="l"/>
            <a:pathLst>
              <a:path h="965256" w="965256">
                <a:moveTo>
                  <a:pt x="0" y="0"/>
                </a:moveTo>
                <a:lnTo>
                  <a:pt x="965256" y="0"/>
                </a:lnTo>
                <a:lnTo>
                  <a:pt x="965256" y="965256"/>
                </a:lnTo>
                <a:lnTo>
                  <a:pt x="0" y="9652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2261075" y="7937418"/>
            <a:ext cx="965256" cy="965256"/>
          </a:xfrm>
          <a:custGeom>
            <a:avLst/>
            <a:gdLst/>
            <a:ahLst/>
            <a:cxnLst/>
            <a:rect r="r" b="b" t="t" l="l"/>
            <a:pathLst>
              <a:path h="965256" w="965256">
                <a:moveTo>
                  <a:pt x="0" y="0"/>
                </a:moveTo>
                <a:lnTo>
                  <a:pt x="965256" y="0"/>
                </a:lnTo>
                <a:lnTo>
                  <a:pt x="965256" y="965256"/>
                </a:lnTo>
                <a:lnTo>
                  <a:pt x="0" y="9652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1" id="11"/>
          <p:cNvSpPr txBox="true"/>
          <p:nvPr/>
        </p:nvSpPr>
        <p:spPr>
          <a:xfrm rot="0">
            <a:off x="3506649" y="4290350"/>
            <a:ext cx="11493436"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El modulo de alto nivel conoce detalles de implementacion </a:t>
            </a:r>
          </a:p>
        </p:txBody>
      </p:sp>
      <p:sp>
        <p:nvSpPr>
          <p:cNvPr name="TextBox 12" id="12"/>
          <p:cNvSpPr txBox="true"/>
          <p:nvPr/>
        </p:nvSpPr>
        <p:spPr>
          <a:xfrm rot="0">
            <a:off x="3642600" y="5186336"/>
            <a:ext cx="11493436" cy="13722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El flujo depende de clases concretas en lugar de Abstracciones, por ejemplo un OrderService que llama a EmailSender directamente en lugar de depender de una interfaz INotificationService</a:t>
            </a:r>
          </a:p>
        </p:txBody>
      </p:sp>
      <p:sp>
        <p:nvSpPr>
          <p:cNvPr name="TextBox 13" id="13"/>
          <p:cNvSpPr txBox="true"/>
          <p:nvPr/>
        </p:nvSpPr>
        <p:spPr>
          <a:xfrm rot="0">
            <a:off x="3274866" y="7047126"/>
            <a:ext cx="11493436"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No hay interfaces o contratos claros entre capas</a:t>
            </a:r>
          </a:p>
        </p:txBody>
      </p:sp>
      <p:sp>
        <p:nvSpPr>
          <p:cNvPr name="TextBox 14" id="14"/>
          <p:cNvSpPr txBox="true"/>
          <p:nvPr/>
        </p:nvSpPr>
        <p:spPr>
          <a:xfrm rot="0">
            <a:off x="3274866" y="8157791"/>
            <a:ext cx="11493436"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No puedes usar mocks o stubs en pruebas unitarias porque las clases estan fuertemente acopladas</a:t>
            </a:r>
          </a:p>
        </p:txBody>
      </p:sp>
      <p:sp>
        <p:nvSpPr>
          <p:cNvPr name="Freeform 15" id="15"/>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5"/>
            <a:stretch>
              <a:fillRect l="0" t="0" r="0" b="0"/>
            </a:stretch>
          </a:blipFill>
        </p:spPr>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686797" y="3231200"/>
            <a:ext cx="14914406" cy="2922651"/>
          </a:xfrm>
          <a:prstGeom prst="rect">
            <a:avLst/>
          </a:prstGeom>
        </p:spPr>
        <p:txBody>
          <a:bodyPr anchor="t" rtlCol="false" tIns="0" lIns="0" bIns="0" rIns="0">
            <a:spAutoFit/>
          </a:bodyPr>
          <a:lstStyle/>
          <a:p>
            <a:pPr algn="ctr">
              <a:lnSpc>
                <a:spcPts val="11718"/>
              </a:lnSpc>
              <a:spcBef>
                <a:spcPct val="0"/>
              </a:spcBef>
            </a:pPr>
            <a:r>
              <a:rPr lang="en-US" sz="8370">
                <a:solidFill>
                  <a:srgbClr val="7B640E"/>
                </a:solidFill>
                <a:latin typeface="HK Modular"/>
                <a:ea typeface="HK Modular"/>
                <a:cs typeface="HK Modular"/>
                <a:sym typeface="HK Modular"/>
              </a:rPr>
              <a:t>PATRONES DE DISEÑO</a:t>
            </a:r>
          </a:p>
        </p:txBody>
      </p:sp>
      <p:sp>
        <p:nvSpPr>
          <p:cNvPr name="TextBox 13" id="13"/>
          <p:cNvSpPr txBox="true"/>
          <p:nvPr/>
        </p:nvSpPr>
        <p:spPr>
          <a:xfrm rot="0">
            <a:off x="3453848" y="6403088"/>
            <a:ext cx="11380305" cy="1101873"/>
          </a:xfrm>
          <a:prstGeom prst="rect">
            <a:avLst/>
          </a:prstGeom>
        </p:spPr>
        <p:txBody>
          <a:bodyPr anchor="t" rtlCol="false" tIns="0" lIns="0" bIns="0" rIns="0">
            <a:spAutoFit/>
          </a:bodyPr>
          <a:lstStyle/>
          <a:p>
            <a:pPr algn="ctr">
              <a:lnSpc>
                <a:spcPts val="8941"/>
              </a:lnSpc>
              <a:spcBef>
                <a:spcPct val="0"/>
              </a:spcBef>
            </a:pPr>
            <a:r>
              <a:rPr lang="en-US" sz="6387">
                <a:solidFill>
                  <a:srgbClr val="99C5FF"/>
                </a:solidFill>
                <a:latin typeface="HK Modular"/>
                <a:ea typeface="HK Modular"/>
                <a:cs typeface="HK Modular"/>
                <a:sym typeface="HK Modular"/>
              </a:rPr>
              <a:t>GANG OF 4</a:t>
            </a:r>
          </a:p>
        </p:txBody>
      </p:sp>
      <p:sp>
        <p:nvSpPr>
          <p:cNvPr name="Freeform 14" id="14"/>
          <p:cNvSpPr/>
          <p:nvPr/>
        </p:nvSpPr>
        <p:spPr>
          <a:xfrm flipH="false" flipV="false" rot="0">
            <a:off x="7310496" y="-264359"/>
            <a:ext cx="3667009" cy="3667009"/>
          </a:xfrm>
          <a:custGeom>
            <a:avLst/>
            <a:gdLst/>
            <a:ahLst/>
            <a:cxnLst/>
            <a:rect r="r" b="b" t="t" l="l"/>
            <a:pathLst>
              <a:path h="3667009" w="3667009">
                <a:moveTo>
                  <a:pt x="0" y="0"/>
                </a:moveTo>
                <a:lnTo>
                  <a:pt x="3667008" y="0"/>
                </a:lnTo>
                <a:lnTo>
                  <a:pt x="3667008" y="3667009"/>
                </a:lnTo>
                <a:lnTo>
                  <a:pt x="0" y="3667009"/>
                </a:lnTo>
                <a:lnTo>
                  <a:pt x="0" y="0"/>
                </a:lnTo>
                <a:close/>
              </a:path>
            </a:pathLst>
          </a:custGeom>
          <a:blipFill>
            <a:blip r:embed="rId3"/>
            <a:stretch>
              <a:fillRect l="0" t="0" r="0" b="0"/>
            </a:stretch>
          </a:blipFill>
        </p:spPr>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88346" y="3822529"/>
            <a:ext cx="9200973" cy="5750608"/>
          </a:xfrm>
          <a:custGeom>
            <a:avLst/>
            <a:gdLst/>
            <a:ahLst/>
            <a:cxnLst/>
            <a:rect r="r" b="b" t="t" l="l"/>
            <a:pathLst>
              <a:path h="5750608" w="9200973">
                <a:moveTo>
                  <a:pt x="0" y="0"/>
                </a:moveTo>
                <a:lnTo>
                  <a:pt x="9200972" y="0"/>
                </a:lnTo>
                <a:lnTo>
                  <a:pt x="9200972" y="5750607"/>
                </a:lnTo>
                <a:lnTo>
                  <a:pt x="0" y="5750607"/>
                </a:lnTo>
                <a:lnTo>
                  <a:pt x="0" y="0"/>
                </a:lnTo>
                <a:close/>
              </a:path>
            </a:pathLst>
          </a:custGeom>
          <a:blipFill>
            <a:blip r:embed="rId3"/>
            <a:stretch>
              <a:fillRect l="0" t="0" r="0" b="0"/>
            </a:stretch>
          </a:blipFill>
        </p:spPr>
      </p:sp>
      <p:sp>
        <p:nvSpPr>
          <p:cNvPr name="TextBox 7" id="7"/>
          <p:cNvSpPr txBox="true"/>
          <p:nvPr/>
        </p:nvSpPr>
        <p:spPr>
          <a:xfrm rot="0">
            <a:off x="3527699" y="2289528"/>
            <a:ext cx="11723240" cy="1533000"/>
          </a:xfrm>
          <a:prstGeom prst="rect">
            <a:avLst/>
          </a:prstGeom>
        </p:spPr>
        <p:txBody>
          <a:bodyPr anchor="t" rtlCol="false" tIns="0" lIns="0" bIns="0" rIns="0">
            <a:spAutoFit/>
          </a:bodyPr>
          <a:lstStyle/>
          <a:p>
            <a:pPr algn="ctr">
              <a:lnSpc>
                <a:spcPts val="6101"/>
              </a:lnSpc>
              <a:spcBef>
                <a:spcPct val="0"/>
              </a:spcBef>
            </a:pPr>
            <a:r>
              <a:rPr lang="en-US" sz="4358">
                <a:solidFill>
                  <a:srgbClr val="7B640E"/>
                </a:solidFill>
                <a:latin typeface="HK Modular"/>
                <a:ea typeface="HK Modular"/>
                <a:cs typeface="HK Modular"/>
                <a:sym typeface="HK Modular"/>
              </a:rPr>
              <a:t>¿QUE SON LOS PATRONES DE DISEÑO?</a:t>
            </a:r>
          </a:p>
        </p:txBody>
      </p:sp>
      <p:sp>
        <p:nvSpPr>
          <p:cNvPr name="TextBox 8" id="8"/>
          <p:cNvSpPr txBox="true"/>
          <p:nvPr/>
        </p:nvSpPr>
        <p:spPr>
          <a:xfrm rot="0">
            <a:off x="9389318" y="4424045"/>
            <a:ext cx="7869982" cy="13722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Son soluciones habituales a problemas que ocurren con frecuencia en el diseño de software</a:t>
            </a:r>
          </a:p>
        </p:txBody>
      </p:sp>
      <p:sp>
        <p:nvSpPr>
          <p:cNvPr name="TextBox 9" id="9"/>
          <p:cNvSpPr txBox="true"/>
          <p:nvPr/>
        </p:nvSpPr>
        <p:spPr>
          <a:xfrm rot="0">
            <a:off x="9253367" y="6589926"/>
            <a:ext cx="8005933"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Son como planos que se pueden personalizar para resolver un problema de diseño</a:t>
            </a:r>
          </a:p>
        </p:txBody>
      </p:sp>
      <p:sp>
        <p:nvSpPr>
          <p:cNvPr name="TextBox 10" id="10"/>
          <p:cNvSpPr txBox="true"/>
          <p:nvPr/>
        </p:nvSpPr>
        <p:spPr>
          <a:xfrm rot="0">
            <a:off x="9389318" y="8343264"/>
            <a:ext cx="7869982"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Son reutilizables y se pueden extraer, explicar en multiples ambitos</a:t>
            </a:r>
          </a:p>
        </p:txBody>
      </p:sp>
      <p:sp>
        <p:nvSpPr>
          <p:cNvPr name="Freeform 11" id="11"/>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4"/>
            <a:stretch>
              <a:fillRect l="0" t="0" r="0" b="0"/>
            </a:stretch>
          </a:blipFill>
        </p:spPr>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028700" y="3291582"/>
            <a:ext cx="3582608" cy="2239130"/>
          </a:xfrm>
          <a:custGeom>
            <a:avLst/>
            <a:gdLst/>
            <a:ahLst/>
            <a:cxnLst/>
            <a:rect r="r" b="b" t="t" l="l"/>
            <a:pathLst>
              <a:path h="2239130" w="3582608">
                <a:moveTo>
                  <a:pt x="0" y="0"/>
                </a:moveTo>
                <a:lnTo>
                  <a:pt x="3582608" y="0"/>
                </a:lnTo>
                <a:lnTo>
                  <a:pt x="3582608" y="2239130"/>
                </a:lnTo>
                <a:lnTo>
                  <a:pt x="0" y="2239130"/>
                </a:lnTo>
                <a:lnTo>
                  <a:pt x="0" y="0"/>
                </a:lnTo>
                <a:close/>
              </a:path>
            </a:pathLst>
          </a:custGeom>
          <a:blipFill>
            <a:blip r:embed="rId3"/>
            <a:stretch>
              <a:fillRect l="0" t="0" r="0" b="0"/>
            </a:stretch>
          </a:blipFill>
        </p:spPr>
      </p:sp>
      <p:sp>
        <p:nvSpPr>
          <p:cNvPr name="Freeform 7" id="7"/>
          <p:cNvSpPr/>
          <p:nvPr/>
        </p:nvSpPr>
        <p:spPr>
          <a:xfrm flipH="false" flipV="false" rot="0">
            <a:off x="7114140" y="3220983"/>
            <a:ext cx="3808523" cy="2380327"/>
          </a:xfrm>
          <a:custGeom>
            <a:avLst/>
            <a:gdLst/>
            <a:ahLst/>
            <a:cxnLst/>
            <a:rect r="r" b="b" t="t" l="l"/>
            <a:pathLst>
              <a:path h="2380327" w="3808523">
                <a:moveTo>
                  <a:pt x="0" y="0"/>
                </a:moveTo>
                <a:lnTo>
                  <a:pt x="3808524" y="0"/>
                </a:lnTo>
                <a:lnTo>
                  <a:pt x="3808524" y="2380327"/>
                </a:lnTo>
                <a:lnTo>
                  <a:pt x="0" y="2380327"/>
                </a:lnTo>
                <a:lnTo>
                  <a:pt x="0" y="0"/>
                </a:lnTo>
                <a:close/>
              </a:path>
            </a:pathLst>
          </a:custGeom>
          <a:blipFill>
            <a:blip r:embed="rId4"/>
            <a:stretch>
              <a:fillRect l="0" t="0" r="0" b="0"/>
            </a:stretch>
          </a:blipFill>
        </p:spPr>
      </p:sp>
      <p:sp>
        <p:nvSpPr>
          <p:cNvPr name="Freeform 8" id="8"/>
          <p:cNvSpPr/>
          <p:nvPr/>
        </p:nvSpPr>
        <p:spPr>
          <a:xfrm flipH="false" flipV="false" rot="0">
            <a:off x="13246245" y="3056518"/>
            <a:ext cx="3923145" cy="2709257"/>
          </a:xfrm>
          <a:custGeom>
            <a:avLst/>
            <a:gdLst/>
            <a:ahLst/>
            <a:cxnLst/>
            <a:rect r="r" b="b" t="t" l="l"/>
            <a:pathLst>
              <a:path h="2709257" w="3923145">
                <a:moveTo>
                  <a:pt x="0" y="0"/>
                </a:moveTo>
                <a:lnTo>
                  <a:pt x="3923145" y="0"/>
                </a:lnTo>
                <a:lnTo>
                  <a:pt x="3923145" y="2709257"/>
                </a:lnTo>
                <a:lnTo>
                  <a:pt x="0" y="2709257"/>
                </a:lnTo>
                <a:lnTo>
                  <a:pt x="0" y="0"/>
                </a:lnTo>
                <a:close/>
              </a:path>
            </a:pathLst>
          </a:custGeom>
          <a:blipFill>
            <a:blip r:embed="rId5"/>
            <a:stretch>
              <a:fillRect l="0" t="0" r="0" b="0"/>
            </a:stretch>
          </a:blipFill>
        </p:spPr>
      </p:sp>
      <p:sp>
        <p:nvSpPr>
          <p:cNvPr name="TextBox 9" id="9"/>
          <p:cNvSpPr txBox="true"/>
          <p:nvPr/>
        </p:nvSpPr>
        <p:spPr>
          <a:xfrm rot="0">
            <a:off x="3391747" y="2024456"/>
            <a:ext cx="11723240" cy="758774"/>
          </a:xfrm>
          <a:prstGeom prst="rect">
            <a:avLst/>
          </a:prstGeom>
        </p:spPr>
        <p:txBody>
          <a:bodyPr anchor="t" rtlCol="false" tIns="0" lIns="0" bIns="0" rIns="0">
            <a:spAutoFit/>
          </a:bodyPr>
          <a:lstStyle/>
          <a:p>
            <a:pPr algn="ctr">
              <a:lnSpc>
                <a:spcPts val="6101"/>
              </a:lnSpc>
              <a:spcBef>
                <a:spcPct val="0"/>
              </a:spcBef>
            </a:pPr>
            <a:r>
              <a:rPr lang="en-US" sz="4358">
                <a:solidFill>
                  <a:srgbClr val="99C5FF"/>
                </a:solidFill>
                <a:latin typeface="HK Modular"/>
                <a:ea typeface="HK Modular"/>
                <a:cs typeface="HK Modular"/>
                <a:sym typeface="HK Modular"/>
              </a:rPr>
              <a:t>CATEGORIAS</a:t>
            </a:r>
          </a:p>
        </p:txBody>
      </p:sp>
      <p:sp>
        <p:nvSpPr>
          <p:cNvPr name="TextBox 10" id="10"/>
          <p:cNvSpPr txBox="true"/>
          <p:nvPr/>
        </p:nvSpPr>
        <p:spPr>
          <a:xfrm rot="0">
            <a:off x="777277" y="5972389"/>
            <a:ext cx="4177332" cy="518534"/>
          </a:xfrm>
          <a:prstGeom prst="rect">
            <a:avLst/>
          </a:prstGeom>
        </p:spPr>
        <p:txBody>
          <a:bodyPr anchor="t" rtlCol="false" tIns="0" lIns="0" bIns="0" rIns="0">
            <a:spAutoFit/>
          </a:bodyPr>
          <a:lstStyle/>
          <a:p>
            <a:pPr algn="ctr">
              <a:lnSpc>
                <a:spcPts val="4155"/>
              </a:lnSpc>
              <a:spcBef>
                <a:spcPct val="0"/>
              </a:spcBef>
            </a:pPr>
            <a:r>
              <a:rPr lang="en-US" sz="2968">
                <a:solidFill>
                  <a:srgbClr val="7B640E"/>
                </a:solidFill>
                <a:latin typeface="HK Modular"/>
                <a:ea typeface="HK Modular"/>
                <a:cs typeface="HK Modular"/>
                <a:sym typeface="HK Modular"/>
              </a:rPr>
              <a:t>CREACIONALES</a:t>
            </a:r>
          </a:p>
        </p:txBody>
      </p:sp>
      <p:sp>
        <p:nvSpPr>
          <p:cNvPr name="TextBox 11" id="11"/>
          <p:cNvSpPr txBox="true"/>
          <p:nvPr/>
        </p:nvSpPr>
        <p:spPr>
          <a:xfrm rot="0">
            <a:off x="6773126" y="5972389"/>
            <a:ext cx="4544292" cy="504838"/>
          </a:xfrm>
          <a:prstGeom prst="rect">
            <a:avLst/>
          </a:prstGeom>
        </p:spPr>
        <p:txBody>
          <a:bodyPr anchor="t" rtlCol="false" tIns="0" lIns="0" bIns="0" rIns="0">
            <a:spAutoFit/>
          </a:bodyPr>
          <a:lstStyle/>
          <a:p>
            <a:pPr algn="ctr">
              <a:lnSpc>
                <a:spcPts val="4029"/>
              </a:lnSpc>
              <a:spcBef>
                <a:spcPct val="0"/>
              </a:spcBef>
            </a:pPr>
            <a:r>
              <a:rPr lang="en-US" sz="2878">
                <a:solidFill>
                  <a:srgbClr val="7B640E"/>
                </a:solidFill>
                <a:latin typeface="HK Modular"/>
                <a:ea typeface="HK Modular"/>
                <a:cs typeface="HK Modular"/>
                <a:sym typeface="HK Modular"/>
              </a:rPr>
              <a:t>ESTRUCTURALES</a:t>
            </a:r>
          </a:p>
        </p:txBody>
      </p:sp>
      <p:sp>
        <p:nvSpPr>
          <p:cNvPr name="TextBox 12" id="12"/>
          <p:cNvSpPr txBox="true"/>
          <p:nvPr/>
        </p:nvSpPr>
        <p:spPr>
          <a:xfrm rot="0">
            <a:off x="12767240" y="5981914"/>
            <a:ext cx="4959028" cy="535302"/>
          </a:xfrm>
          <a:prstGeom prst="rect">
            <a:avLst/>
          </a:prstGeom>
        </p:spPr>
        <p:txBody>
          <a:bodyPr anchor="t" rtlCol="false" tIns="0" lIns="0" bIns="0" rIns="0">
            <a:spAutoFit/>
          </a:bodyPr>
          <a:lstStyle/>
          <a:p>
            <a:pPr algn="ctr">
              <a:lnSpc>
                <a:spcPts val="4397"/>
              </a:lnSpc>
              <a:spcBef>
                <a:spcPct val="0"/>
              </a:spcBef>
            </a:pPr>
            <a:r>
              <a:rPr lang="en-US" sz="3140">
                <a:solidFill>
                  <a:srgbClr val="7B640E"/>
                </a:solidFill>
                <a:latin typeface="HK Modular"/>
                <a:ea typeface="HK Modular"/>
                <a:cs typeface="HK Modular"/>
                <a:sym typeface="HK Modular"/>
              </a:rPr>
              <a:t>COMPORTAMIENTO</a:t>
            </a:r>
          </a:p>
        </p:txBody>
      </p:sp>
      <p:sp>
        <p:nvSpPr>
          <p:cNvPr name="TextBox 13" id="13"/>
          <p:cNvSpPr txBox="true"/>
          <p:nvPr/>
        </p:nvSpPr>
        <p:spPr>
          <a:xfrm rot="0">
            <a:off x="685400" y="6738573"/>
            <a:ext cx="4269209" cy="1925965"/>
          </a:xfrm>
          <a:prstGeom prst="rect">
            <a:avLst/>
          </a:prstGeom>
        </p:spPr>
        <p:txBody>
          <a:bodyPr anchor="t" rtlCol="false" tIns="0" lIns="0" bIns="0" rIns="0">
            <a:spAutoFit/>
          </a:bodyPr>
          <a:lstStyle/>
          <a:p>
            <a:pPr algn="ctr">
              <a:lnSpc>
                <a:spcPts val="3048"/>
              </a:lnSpc>
              <a:spcBef>
                <a:spcPct val="0"/>
              </a:spcBef>
            </a:pPr>
            <a:r>
              <a:rPr lang="en-US" sz="2177">
                <a:solidFill>
                  <a:srgbClr val="FFFFFF"/>
                </a:solidFill>
                <a:latin typeface="Poppins"/>
                <a:ea typeface="Poppins"/>
                <a:cs typeface="Poppins"/>
                <a:sym typeface="Poppins"/>
              </a:rPr>
              <a:t>Proporcionan diversos mecanismos de creacion de objetos que incrementan la flexibilidad y reutilizacion del codigo existente</a:t>
            </a:r>
          </a:p>
        </p:txBody>
      </p:sp>
      <p:sp>
        <p:nvSpPr>
          <p:cNvPr name="TextBox 14" id="14"/>
          <p:cNvSpPr txBox="true"/>
          <p:nvPr/>
        </p:nvSpPr>
        <p:spPr>
          <a:xfrm rot="0">
            <a:off x="7074180" y="6682916"/>
            <a:ext cx="3888444" cy="2099381"/>
          </a:xfrm>
          <a:prstGeom prst="rect">
            <a:avLst/>
          </a:prstGeom>
        </p:spPr>
        <p:txBody>
          <a:bodyPr anchor="t" rtlCol="false" tIns="0" lIns="0" bIns="0" rIns="0">
            <a:spAutoFit/>
          </a:bodyPr>
          <a:lstStyle/>
          <a:p>
            <a:pPr algn="ctr">
              <a:lnSpc>
                <a:spcPts val="2776"/>
              </a:lnSpc>
              <a:spcBef>
                <a:spcPct val="0"/>
              </a:spcBef>
            </a:pPr>
            <a:r>
              <a:rPr lang="en-US" sz="1983">
                <a:solidFill>
                  <a:srgbClr val="FFFFFF"/>
                </a:solidFill>
                <a:latin typeface="Poppins"/>
                <a:ea typeface="Poppins"/>
                <a:cs typeface="Poppins"/>
                <a:sym typeface="Poppins"/>
              </a:rPr>
              <a:t>Explican como ensamblar objetos y clases en estructuras mas grandes, mientras se mantiene la flexibilidad y eficiencia de la estructura</a:t>
            </a:r>
          </a:p>
        </p:txBody>
      </p:sp>
      <p:sp>
        <p:nvSpPr>
          <p:cNvPr name="TextBox 15" id="15"/>
          <p:cNvSpPr txBox="true"/>
          <p:nvPr/>
        </p:nvSpPr>
        <p:spPr>
          <a:xfrm rot="0">
            <a:off x="13246245" y="6682916"/>
            <a:ext cx="4001017" cy="1799639"/>
          </a:xfrm>
          <a:prstGeom prst="rect">
            <a:avLst/>
          </a:prstGeom>
        </p:spPr>
        <p:txBody>
          <a:bodyPr anchor="t" rtlCol="false" tIns="0" lIns="0" bIns="0" rIns="0">
            <a:spAutoFit/>
          </a:bodyPr>
          <a:lstStyle/>
          <a:p>
            <a:pPr algn="ctr">
              <a:lnSpc>
                <a:spcPts val="2857"/>
              </a:lnSpc>
              <a:spcBef>
                <a:spcPct val="0"/>
              </a:spcBef>
            </a:pPr>
            <a:r>
              <a:rPr lang="en-US" sz="2040">
                <a:solidFill>
                  <a:srgbClr val="FFFFFF"/>
                </a:solidFill>
                <a:latin typeface="Poppins"/>
                <a:ea typeface="Poppins"/>
                <a:cs typeface="Poppins"/>
                <a:sym typeface="Poppins"/>
              </a:rPr>
              <a:t>Estos patrones tratan con algoritmos y la asignacion de responsabilidades entre objetos, es decir como interactuan entre si</a:t>
            </a:r>
          </a:p>
        </p:txBody>
      </p:sp>
      <p:sp>
        <p:nvSpPr>
          <p:cNvPr name="Freeform 16" id="16"/>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6"/>
            <a:stretch>
              <a:fillRect l="0" t="0" r="0" b="0"/>
            </a:stretch>
          </a:blipFill>
        </p:spPr>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2044922" y="3781664"/>
            <a:ext cx="2160641" cy="1515934"/>
          </a:xfrm>
          <a:custGeom>
            <a:avLst/>
            <a:gdLst/>
            <a:ahLst/>
            <a:cxnLst/>
            <a:rect r="r" b="b" t="t" l="l"/>
            <a:pathLst>
              <a:path h="1515934" w="2160641">
                <a:moveTo>
                  <a:pt x="0" y="0"/>
                </a:moveTo>
                <a:lnTo>
                  <a:pt x="2160641" y="0"/>
                </a:lnTo>
                <a:lnTo>
                  <a:pt x="2160641" y="1515934"/>
                </a:lnTo>
                <a:lnTo>
                  <a:pt x="0" y="1515934"/>
                </a:lnTo>
                <a:lnTo>
                  <a:pt x="0" y="0"/>
                </a:lnTo>
                <a:close/>
              </a:path>
            </a:pathLst>
          </a:custGeom>
          <a:blipFill>
            <a:blip r:embed="rId3"/>
            <a:stretch>
              <a:fillRect l="0" t="0" r="0" b="0"/>
            </a:stretch>
          </a:blipFill>
        </p:spPr>
      </p:sp>
      <p:sp>
        <p:nvSpPr>
          <p:cNvPr name="Freeform 7" id="7"/>
          <p:cNvSpPr/>
          <p:nvPr/>
        </p:nvSpPr>
        <p:spPr>
          <a:xfrm flipH="false" flipV="false" rot="0">
            <a:off x="2501774" y="6865334"/>
            <a:ext cx="2032086" cy="1629027"/>
          </a:xfrm>
          <a:custGeom>
            <a:avLst/>
            <a:gdLst/>
            <a:ahLst/>
            <a:cxnLst/>
            <a:rect r="r" b="b" t="t" l="l"/>
            <a:pathLst>
              <a:path h="1629027" w="2032086">
                <a:moveTo>
                  <a:pt x="0" y="0"/>
                </a:moveTo>
                <a:lnTo>
                  <a:pt x="2032086" y="0"/>
                </a:lnTo>
                <a:lnTo>
                  <a:pt x="2032086" y="1629028"/>
                </a:lnTo>
                <a:lnTo>
                  <a:pt x="0" y="1629028"/>
                </a:lnTo>
                <a:lnTo>
                  <a:pt x="0" y="0"/>
                </a:lnTo>
                <a:close/>
              </a:path>
            </a:pathLst>
          </a:custGeom>
          <a:blipFill>
            <a:blip r:embed="rId4"/>
            <a:stretch>
              <a:fillRect l="0" t="0" r="0" b="0"/>
            </a:stretch>
          </a:blipFill>
        </p:spPr>
      </p:sp>
      <p:sp>
        <p:nvSpPr>
          <p:cNvPr name="Freeform 8" id="8"/>
          <p:cNvSpPr/>
          <p:nvPr/>
        </p:nvSpPr>
        <p:spPr>
          <a:xfrm flipH="false" flipV="false" rot="0">
            <a:off x="10119719" y="3556659"/>
            <a:ext cx="3624167" cy="2373299"/>
          </a:xfrm>
          <a:custGeom>
            <a:avLst/>
            <a:gdLst/>
            <a:ahLst/>
            <a:cxnLst/>
            <a:rect r="r" b="b" t="t" l="l"/>
            <a:pathLst>
              <a:path h="2373299" w="3624167">
                <a:moveTo>
                  <a:pt x="0" y="0"/>
                </a:moveTo>
                <a:lnTo>
                  <a:pt x="3624167" y="0"/>
                </a:lnTo>
                <a:lnTo>
                  <a:pt x="3624167" y="2373299"/>
                </a:lnTo>
                <a:lnTo>
                  <a:pt x="0" y="2373299"/>
                </a:lnTo>
                <a:lnTo>
                  <a:pt x="0" y="0"/>
                </a:lnTo>
                <a:close/>
              </a:path>
            </a:pathLst>
          </a:custGeom>
          <a:blipFill>
            <a:blip r:embed="rId5"/>
            <a:stretch>
              <a:fillRect l="0" t="0" r="0" b="0"/>
            </a:stretch>
          </a:blipFill>
        </p:spPr>
      </p:sp>
      <p:sp>
        <p:nvSpPr>
          <p:cNvPr name="Freeform 9" id="9"/>
          <p:cNvSpPr/>
          <p:nvPr/>
        </p:nvSpPr>
        <p:spPr>
          <a:xfrm flipH="false" flipV="false" rot="0">
            <a:off x="10119719" y="7101923"/>
            <a:ext cx="3624167" cy="2393636"/>
          </a:xfrm>
          <a:custGeom>
            <a:avLst/>
            <a:gdLst/>
            <a:ahLst/>
            <a:cxnLst/>
            <a:rect r="r" b="b" t="t" l="l"/>
            <a:pathLst>
              <a:path h="2393636" w="3624167">
                <a:moveTo>
                  <a:pt x="0" y="0"/>
                </a:moveTo>
                <a:lnTo>
                  <a:pt x="3624167" y="0"/>
                </a:lnTo>
                <a:lnTo>
                  <a:pt x="3624167" y="2393636"/>
                </a:lnTo>
                <a:lnTo>
                  <a:pt x="0" y="2393636"/>
                </a:lnTo>
                <a:lnTo>
                  <a:pt x="0" y="0"/>
                </a:lnTo>
                <a:close/>
              </a:path>
            </a:pathLst>
          </a:custGeom>
          <a:blipFill>
            <a:blip r:embed="rId6"/>
            <a:stretch>
              <a:fillRect l="0" t="0" r="0" b="0"/>
            </a:stretch>
          </a:blipFill>
        </p:spPr>
      </p:sp>
      <p:sp>
        <p:nvSpPr>
          <p:cNvPr name="Freeform 10" id="10"/>
          <p:cNvSpPr/>
          <p:nvPr/>
        </p:nvSpPr>
        <p:spPr>
          <a:xfrm flipH="false" flipV="false" rot="0">
            <a:off x="14458261" y="7144341"/>
            <a:ext cx="3218735" cy="2351217"/>
          </a:xfrm>
          <a:custGeom>
            <a:avLst/>
            <a:gdLst/>
            <a:ahLst/>
            <a:cxnLst/>
            <a:rect r="r" b="b" t="t" l="l"/>
            <a:pathLst>
              <a:path h="2351217" w="3218735">
                <a:moveTo>
                  <a:pt x="0" y="0"/>
                </a:moveTo>
                <a:lnTo>
                  <a:pt x="3218735" y="0"/>
                </a:lnTo>
                <a:lnTo>
                  <a:pt x="3218735" y="2351218"/>
                </a:lnTo>
                <a:lnTo>
                  <a:pt x="0" y="2351218"/>
                </a:lnTo>
                <a:lnTo>
                  <a:pt x="0" y="0"/>
                </a:lnTo>
                <a:close/>
              </a:path>
            </a:pathLst>
          </a:custGeom>
          <a:blipFill>
            <a:blip r:embed="rId7"/>
            <a:stretch>
              <a:fillRect l="0" t="0" r="0" b="0"/>
            </a:stretch>
          </a:blipFill>
        </p:spPr>
      </p:sp>
      <p:sp>
        <p:nvSpPr>
          <p:cNvPr name="Freeform 11" id="11"/>
          <p:cNvSpPr/>
          <p:nvPr/>
        </p:nvSpPr>
        <p:spPr>
          <a:xfrm flipH="false" flipV="false" rot="0">
            <a:off x="14013451" y="3980733"/>
            <a:ext cx="3834158" cy="1733760"/>
          </a:xfrm>
          <a:custGeom>
            <a:avLst/>
            <a:gdLst/>
            <a:ahLst/>
            <a:cxnLst/>
            <a:rect r="r" b="b" t="t" l="l"/>
            <a:pathLst>
              <a:path h="1733760" w="3834158">
                <a:moveTo>
                  <a:pt x="0" y="0"/>
                </a:moveTo>
                <a:lnTo>
                  <a:pt x="3834158" y="0"/>
                </a:lnTo>
                <a:lnTo>
                  <a:pt x="3834158" y="1733760"/>
                </a:lnTo>
                <a:lnTo>
                  <a:pt x="0" y="1733760"/>
                </a:lnTo>
                <a:lnTo>
                  <a:pt x="0" y="0"/>
                </a:lnTo>
                <a:close/>
              </a:path>
            </a:pathLst>
          </a:custGeom>
          <a:blipFill>
            <a:blip r:embed="rId8"/>
            <a:stretch>
              <a:fillRect l="0" t="0" r="0" b="0"/>
            </a:stretch>
          </a:blipFill>
        </p:spPr>
      </p:sp>
      <p:sp>
        <p:nvSpPr>
          <p:cNvPr name="TextBox 12" id="12"/>
          <p:cNvSpPr txBox="true"/>
          <p:nvPr/>
        </p:nvSpPr>
        <p:spPr>
          <a:xfrm rot="0">
            <a:off x="4718526" y="2229573"/>
            <a:ext cx="8850948" cy="993012"/>
          </a:xfrm>
          <a:prstGeom prst="rect">
            <a:avLst/>
          </a:prstGeom>
        </p:spPr>
        <p:txBody>
          <a:bodyPr anchor="t" rtlCol="false" tIns="0" lIns="0" bIns="0" rIns="0">
            <a:spAutoFit/>
          </a:bodyPr>
          <a:lstStyle/>
          <a:p>
            <a:pPr algn="ctr">
              <a:lnSpc>
                <a:spcPts val="8072"/>
              </a:lnSpc>
              <a:spcBef>
                <a:spcPct val="0"/>
              </a:spcBef>
            </a:pPr>
            <a:r>
              <a:rPr lang="en-US" sz="5766">
                <a:solidFill>
                  <a:srgbClr val="99C5FF"/>
                </a:solidFill>
                <a:latin typeface="HK Modular"/>
                <a:ea typeface="HK Modular"/>
                <a:cs typeface="HK Modular"/>
                <a:sym typeface="HK Modular"/>
              </a:rPr>
              <a:t>CREACIONALES</a:t>
            </a:r>
          </a:p>
        </p:txBody>
      </p:sp>
      <p:sp>
        <p:nvSpPr>
          <p:cNvPr name="TextBox 13" id="13"/>
          <p:cNvSpPr txBox="true"/>
          <p:nvPr/>
        </p:nvSpPr>
        <p:spPr>
          <a:xfrm rot="0">
            <a:off x="697876" y="5531291"/>
            <a:ext cx="5106790" cy="518534"/>
          </a:xfrm>
          <a:prstGeom prst="rect">
            <a:avLst/>
          </a:prstGeom>
        </p:spPr>
        <p:txBody>
          <a:bodyPr anchor="t" rtlCol="false" tIns="0" lIns="0" bIns="0" rIns="0">
            <a:spAutoFit/>
          </a:bodyPr>
          <a:lstStyle/>
          <a:p>
            <a:pPr algn="ctr">
              <a:lnSpc>
                <a:spcPts val="4155"/>
              </a:lnSpc>
              <a:spcBef>
                <a:spcPct val="0"/>
              </a:spcBef>
            </a:pPr>
            <a:r>
              <a:rPr lang="en-US" sz="2968">
                <a:solidFill>
                  <a:srgbClr val="7B640E"/>
                </a:solidFill>
                <a:latin typeface="HK Modular"/>
                <a:ea typeface="HK Modular"/>
                <a:cs typeface="HK Modular"/>
                <a:sym typeface="HK Modular"/>
              </a:rPr>
              <a:t>FACTORY METHOD</a:t>
            </a:r>
          </a:p>
        </p:txBody>
      </p:sp>
      <p:sp>
        <p:nvSpPr>
          <p:cNvPr name="TextBox 14" id="14"/>
          <p:cNvSpPr txBox="true"/>
          <p:nvPr/>
        </p:nvSpPr>
        <p:spPr>
          <a:xfrm rot="0">
            <a:off x="1184972" y="8796593"/>
            <a:ext cx="4413635" cy="1045782"/>
          </a:xfrm>
          <a:prstGeom prst="rect">
            <a:avLst/>
          </a:prstGeom>
        </p:spPr>
        <p:txBody>
          <a:bodyPr anchor="t" rtlCol="false" tIns="0" lIns="0" bIns="0" rIns="0">
            <a:spAutoFit/>
          </a:bodyPr>
          <a:lstStyle/>
          <a:p>
            <a:pPr algn="ctr">
              <a:lnSpc>
                <a:spcPts val="4155"/>
              </a:lnSpc>
              <a:spcBef>
                <a:spcPct val="0"/>
              </a:spcBef>
            </a:pPr>
            <a:r>
              <a:rPr lang="en-US" sz="2968">
                <a:solidFill>
                  <a:srgbClr val="7B640E"/>
                </a:solidFill>
                <a:latin typeface="HK Modular"/>
                <a:ea typeface="HK Modular"/>
                <a:cs typeface="HK Modular"/>
                <a:sym typeface="HK Modular"/>
              </a:rPr>
              <a:t>ABSTRACT FACTORY</a:t>
            </a:r>
          </a:p>
        </p:txBody>
      </p:sp>
      <p:sp>
        <p:nvSpPr>
          <p:cNvPr name="TextBox 15" id="15"/>
          <p:cNvSpPr txBox="true"/>
          <p:nvPr/>
        </p:nvSpPr>
        <p:spPr>
          <a:xfrm rot="0">
            <a:off x="5246772" y="3724514"/>
            <a:ext cx="4313789" cy="1750613"/>
          </a:xfrm>
          <a:prstGeom prst="rect">
            <a:avLst/>
          </a:prstGeom>
        </p:spPr>
        <p:txBody>
          <a:bodyPr anchor="t" rtlCol="false" tIns="0" lIns="0" bIns="0" rIns="0">
            <a:spAutoFit/>
          </a:bodyPr>
          <a:lstStyle/>
          <a:p>
            <a:pPr algn="ctr">
              <a:lnSpc>
                <a:spcPts val="2776"/>
              </a:lnSpc>
              <a:spcBef>
                <a:spcPct val="0"/>
              </a:spcBef>
            </a:pPr>
            <a:r>
              <a:rPr lang="en-US" sz="1983">
                <a:solidFill>
                  <a:srgbClr val="FFFFFF"/>
                </a:solidFill>
                <a:latin typeface="Poppins"/>
                <a:ea typeface="Poppins"/>
                <a:cs typeface="Poppins"/>
                <a:sym typeface="Poppins"/>
              </a:rPr>
              <a:t>Proporciona una interfaz para crear objetos en una super clase, mientras permite a las subclases alterar el tipo de objetos que se crearian</a:t>
            </a:r>
          </a:p>
        </p:txBody>
      </p:sp>
      <p:sp>
        <p:nvSpPr>
          <p:cNvPr name="TextBox 16" id="16"/>
          <p:cNvSpPr txBox="true"/>
          <p:nvPr/>
        </p:nvSpPr>
        <p:spPr>
          <a:xfrm rot="0">
            <a:off x="5246772" y="7441285"/>
            <a:ext cx="4313789" cy="1053077"/>
          </a:xfrm>
          <a:prstGeom prst="rect">
            <a:avLst/>
          </a:prstGeom>
        </p:spPr>
        <p:txBody>
          <a:bodyPr anchor="t" rtlCol="false" tIns="0" lIns="0" bIns="0" rIns="0">
            <a:spAutoFit/>
          </a:bodyPr>
          <a:lstStyle/>
          <a:p>
            <a:pPr algn="ctr">
              <a:lnSpc>
                <a:spcPts val="2776"/>
              </a:lnSpc>
              <a:spcBef>
                <a:spcPct val="0"/>
              </a:spcBef>
            </a:pPr>
            <a:r>
              <a:rPr lang="en-US" sz="1983">
                <a:solidFill>
                  <a:srgbClr val="FFFFFF"/>
                </a:solidFill>
                <a:latin typeface="Poppins"/>
                <a:ea typeface="Poppins"/>
                <a:cs typeface="Poppins"/>
                <a:sym typeface="Poppins"/>
              </a:rPr>
              <a:t>Nos permite producir familias de objetos relacionados sin especificar sus clases concretas.</a:t>
            </a:r>
          </a:p>
        </p:txBody>
      </p:sp>
      <p:sp>
        <p:nvSpPr>
          <p:cNvPr name="Freeform 17" id="17"/>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9"/>
            <a:stretch>
              <a:fillRect l="0" t="0" r="0" b="0"/>
            </a:stretch>
          </a:blipFill>
        </p:spPr>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2657963" y="3849880"/>
            <a:ext cx="1932290" cy="1506531"/>
          </a:xfrm>
          <a:custGeom>
            <a:avLst/>
            <a:gdLst/>
            <a:ahLst/>
            <a:cxnLst/>
            <a:rect r="r" b="b" t="t" l="l"/>
            <a:pathLst>
              <a:path h="1506531" w="1932290">
                <a:moveTo>
                  <a:pt x="0" y="0"/>
                </a:moveTo>
                <a:lnTo>
                  <a:pt x="1932291" y="0"/>
                </a:lnTo>
                <a:lnTo>
                  <a:pt x="1932291" y="1506532"/>
                </a:lnTo>
                <a:lnTo>
                  <a:pt x="0" y="1506532"/>
                </a:lnTo>
                <a:lnTo>
                  <a:pt x="0" y="0"/>
                </a:lnTo>
                <a:close/>
              </a:path>
            </a:pathLst>
          </a:custGeom>
          <a:blipFill>
            <a:blip r:embed="rId3"/>
            <a:stretch>
              <a:fillRect l="0" t="0" r="0" b="0"/>
            </a:stretch>
          </a:blipFill>
        </p:spPr>
      </p:sp>
      <p:sp>
        <p:nvSpPr>
          <p:cNvPr name="Freeform 7" id="7"/>
          <p:cNvSpPr/>
          <p:nvPr/>
        </p:nvSpPr>
        <p:spPr>
          <a:xfrm flipH="false" flipV="false" rot="0">
            <a:off x="2635421" y="6733926"/>
            <a:ext cx="1954833" cy="1629027"/>
          </a:xfrm>
          <a:custGeom>
            <a:avLst/>
            <a:gdLst/>
            <a:ahLst/>
            <a:cxnLst/>
            <a:rect r="r" b="b" t="t" l="l"/>
            <a:pathLst>
              <a:path h="1629027" w="1954833">
                <a:moveTo>
                  <a:pt x="0" y="0"/>
                </a:moveTo>
                <a:lnTo>
                  <a:pt x="1954833" y="0"/>
                </a:lnTo>
                <a:lnTo>
                  <a:pt x="1954833" y="1629027"/>
                </a:lnTo>
                <a:lnTo>
                  <a:pt x="0" y="1629027"/>
                </a:lnTo>
                <a:lnTo>
                  <a:pt x="0" y="0"/>
                </a:lnTo>
                <a:close/>
              </a:path>
            </a:pathLst>
          </a:custGeom>
          <a:blipFill>
            <a:blip r:embed="rId4"/>
            <a:stretch>
              <a:fillRect l="0" t="0" r="0" b="0"/>
            </a:stretch>
          </a:blipFill>
        </p:spPr>
      </p:sp>
      <p:sp>
        <p:nvSpPr>
          <p:cNvPr name="Freeform 8" id="8"/>
          <p:cNvSpPr/>
          <p:nvPr/>
        </p:nvSpPr>
        <p:spPr>
          <a:xfrm flipH="false" flipV="false" rot="0">
            <a:off x="10346879" y="3704938"/>
            <a:ext cx="3457689" cy="2195684"/>
          </a:xfrm>
          <a:custGeom>
            <a:avLst/>
            <a:gdLst/>
            <a:ahLst/>
            <a:cxnLst/>
            <a:rect r="r" b="b" t="t" l="l"/>
            <a:pathLst>
              <a:path h="2195684" w="3457689">
                <a:moveTo>
                  <a:pt x="0" y="0"/>
                </a:moveTo>
                <a:lnTo>
                  <a:pt x="3457689" y="0"/>
                </a:lnTo>
                <a:lnTo>
                  <a:pt x="3457689" y="2195684"/>
                </a:lnTo>
                <a:lnTo>
                  <a:pt x="0" y="2195684"/>
                </a:lnTo>
                <a:lnTo>
                  <a:pt x="0" y="0"/>
                </a:lnTo>
                <a:close/>
              </a:path>
            </a:pathLst>
          </a:custGeom>
          <a:blipFill>
            <a:blip r:embed="rId5"/>
            <a:stretch>
              <a:fillRect l="0" t="0" r="0" b="0"/>
            </a:stretch>
          </a:blipFill>
        </p:spPr>
      </p:sp>
      <p:sp>
        <p:nvSpPr>
          <p:cNvPr name="Freeform 9" id="9"/>
          <p:cNvSpPr/>
          <p:nvPr/>
        </p:nvSpPr>
        <p:spPr>
          <a:xfrm flipH="false" flipV="false" rot="0">
            <a:off x="10346879" y="6833468"/>
            <a:ext cx="3395441" cy="2198902"/>
          </a:xfrm>
          <a:custGeom>
            <a:avLst/>
            <a:gdLst/>
            <a:ahLst/>
            <a:cxnLst/>
            <a:rect r="r" b="b" t="t" l="l"/>
            <a:pathLst>
              <a:path h="2198902" w="3395441">
                <a:moveTo>
                  <a:pt x="0" y="0"/>
                </a:moveTo>
                <a:lnTo>
                  <a:pt x="3395440" y="0"/>
                </a:lnTo>
                <a:lnTo>
                  <a:pt x="3395440" y="2198902"/>
                </a:lnTo>
                <a:lnTo>
                  <a:pt x="0" y="2198902"/>
                </a:lnTo>
                <a:lnTo>
                  <a:pt x="0" y="0"/>
                </a:lnTo>
                <a:close/>
              </a:path>
            </a:pathLst>
          </a:custGeom>
          <a:blipFill>
            <a:blip r:embed="rId6"/>
            <a:stretch>
              <a:fillRect l="0" t="0" r="0" b="0"/>
            </a:stretch>
          </a:blipFill>
        </p:spPr>
      </p:sp>
      <p:sp>
        <p:nvSpPr>
          <p:cNvPr name="Freeform 10" id="10"/>
          <p:cNvSpPr/>
          <p:nvPr/>
        </p:nvSpPr>
        <p:spPr>
          <a:xfrm flipH="false" flipV="false" rot="0">
            <a:off x="14176043" y="3758748"/>
            <a:ext cx="3591484" cy="2141874"/>
          </a:xfrm>
          <a:custGeom>
            <a:avLst/>
            <a:gdLst/>
            <a:ahLst/>
            <a:cxnLst/>
            <a:rect r="r" b="b" t="t" l="l"/>
            <a:pathLst>
              <a:path h="2141874" w="3591484">
                <a:moveTo>
                  <a:pt x="0" y="0"/>
                </a:moveTo>
                <a:lnTo>
                  <a:pt x="3591484" y="0"/>
                </a:lnTo>
                <a:lnTo>
                  <a:pt x="3591484" y="2141874"/>
                </a:lnTo>
                <a:lnTo>
                  <a:pt x="0" y="2141874"/>
                </a:lnTo>
                <a:lnTo>
                  <a:pt x="0" y="0"/>
                </a:lnTo>
                <a:close/>
              </a:path>
            </a:pathLst>
          </a:custGeom>
          <a:blipFill>
            <a:blip r:embed="rId7"/>
            <a:stretch>
              <a:fillRect l="0" t="0" r="0" b="0"/>
            </a:stretch>
          </a:blipFill>
        </p:spPr>
      </p:sp>
      <p:sp>
        <p:nvSpPr>
          <p:cNvPr name="Freeform 11" id="11"/>
          <p:cNvSpPr/>
          <p:nvPr/>
        </p:nvSpPr>
        <p:spPr>
          <a:xfrm flipH="false" flipV="false" rot="0">
            <a:off x="14221467" y="7054843"/>
            <a:ext cx="3500636" cy="1756152"/>
          </a:xfrm>
          <a:custGeom>
            <a:avLst/>
            <a:gdLst/>
            <a:ahLst/>
            <a:cxnLst/>
            <a:rect r="r" b="b" t="t" l="l"/>
            <a:pathLst>
              <a:path h="1756152" w="3500636">
                <a:moveTo>
                  <a:pt x="0" y="0"/>
                </a:moveTo>
                <a:lnTo>
                  <a:pt x="3500636" y="0"/>
                </a:lnTo>
                <a:lnTo>
                  <a:pt x="3500636" y="1756152"/>
                </a:lnTo>
                <a:lnTo>
                  <a:pt x="0" y="1756152"/>
                </a:lnTo>
                <a:lnTo>
                  <a:pt x="0" y="0"/>
                </a:lnTo>
                <a:close/>
              </a:path>
            </a:pathLst>
          </a:custGeom>
          <a:blipFill>
            <a:blip r:embed="rId8"/>
            <a:stretch>
              <a:fillRect l="0" t="0" r="0" b="0"/>
            </a:stretch>
          </a:blipFill>
        </p:spPr>
      </p:sp>
      <p:sp>
        <p:nvSpPr>
          <p:cNvPr name="TextBox 12" id="12"/>
          <p:cNvSpPr txBox="true"/>
          <p:nvPr/>
        </p:nvSpPr>
        <p:spPr>
          <a:xfrm rot="0">
            <a:off x="4718526" y="2229573"/>
            <a:ext cx="8850948" cy="993012"/>
          </a:xfrm>
          <a:prstGeom prst="rect">
            <a:avLst/>
          </a:prstGeom>
        </p:spPr>
        <p:txBody>
          <a:bodyPr anchor="t" rtlCol="false" tIns="0" lIns="0" bIns="0" rIns="0">
            <a:spAutoFit/>
          </a:bodyPr>
          <a:lstStyle/>
          <a:p>
            <a:pPr algn="ctr">
              <a:lnSpc>
                <a:spcPts val="8072"/>
              </a:lnSpc>
              <a:spcBef>
                <a:spcPct val="0"/>
              </a:spcBef>
            </a:pPr>
            <a:r>
              <a:rPr lang="en-US" sz="5766">
                <a:solidFill>
                  <a:srgbClr val="99C5FF"/>
                </a:solidFill>
                <a:latin typeface="HK Modular"/>
                <a:ea typeface="HK Modular"/>
                <a:cs typeface="HK Modular"/>
                <a:sym typeface="HK Modular"/>
              </a:rPr>
              <a:t>CREACIONALES</a:t>
            </a:r>
          </a:p>
        </p:txBody>
      </p:sp>
      <p:sp>
        <p:nvSpPr>
          <p:cNvPr name="TextBox 13" id="13"/>
          <p:cNvSpPr txBox="true"/>
          <p:nvPr/>
        </p:nvSpPr>
        <p:spPr>
          <a:xfrm rot="0">
            <a:off x="771397" y="5531291"/>
            <a:ext cx="5705424" cy="518534"/>
          </a:xfrm>
          <a:prstGeom prst="rect">
            <a:avLst/>
          </a:prstGeom>
        </p:spPr>
        <p:txBody>
          <a:bodyPr anchor="t" rtlCol="false" tIns="0" lIns="0" bIns="0" rIns="0">
            <a:spAutoFit/>
          </a:bodyPr>
          <a:lstStyle/>
          <a:p>
            <a:pPr algn="ctr">
              <a:lnSpc>
                <a:spcPts val="4155"/>
              </a:lnSpc>
              <a:spcBef>
                <a:spcPct val="0"/>
              </a:spcBef>
            </a:pPr>
            <a:r>
              <a:rPr lang="en-US" sz="2968">
                <a:solidFill>
                  <a:srgbClr val="7B640E"/>
                </a:solidFill>
                <a:latin typeface="HK Modular"/>
                <a:ea typeface="HK Modular"/>
                <a:cs typeface="HK Modular"/>
                <a:sym typeface="HK Modular"/>
              </a:rPr>
              <a:t>BUILDER</a:t>
            </a:r>
          </a:p>
        </p:txBody>
      </p:sp>
      <p:sp>
        <p:nvSpPr>
          <p:cNvPr name="TextBox 14" id="14"/>
          <p:cNvSpPr txBox="true"/>
          <p:nvPr/>
        </p:nvSpPr>
        <p:spPr>
          <a:xfrm rot="0">
            <a:off x="771397" y="8739766"/>
            <a:ext cx="5705424" cy="518534"/>
          </a:xfrm>
          <a:prstGeom prst="rect">
            <a:avLst/>
          </a:prstGeom>
        </p:spPr>
        <p:txBody>
          <a:bodyPr anchor="t" rtlCol="false" tIns="0" lIns="0" bIns="0" rIns="0">
            <a:spAutoFit/>
          </a:bodyPr>
          <a:lstStyle/>
          <a:p>
            <a:pPr algn="ctr">
              <a:lnSpc>
                <a:spcPts val="4155"/>
              </a:lnSpc>
              <a:spcBef>
                <a:spcPct val="0"/>
              </a:spcBef>
            </a:pPr>
            <a:r>
              <a:rPr lang="en-US" sz="2968">
                <a:solidFill>
                  <a:srgbClr val="7B640E"/>
                </a:solidFill>
                <a:latin typeface="HK Modular"/>
                <a:ea typeface="HK Modular"/>
                <a:cs typeface="HK Modular"/>
                <a:sym typeface="HK Modular"/>
              </a:rPr>
              <a:t>SINGLETON</a:t>
            </a:r>
          </a:p>
        </p:txBody>
      </p:sp>
      <p:sp>
        <p:nvSpPr>
          <p:cNvPr name="TextBox 15" id="15"/>
          <p:cNvSpPr txBox="true"/>
          <p:nvPr/>
        </p:nvSpPr>
        <p:spPr>
          <a:xfrm rot="0">
            <a:off x="5659118" y="3724514"/>
            <a:ext cx="4313789" cy="2099381"/>
          </a:xfrm>
          <a:prstGeom prst="rect">
            <a:avLst/>
          </a:prstGeom>
        </p:spPr>
        <p:txBody>
          <a:bodyPr anchor="t" rtlCol="false" tIns="0" lIns="0" bIns="0" rIns="0">
            <a:spAutoFit/>
          </a:bodyPr>
          <a:lstStyle/>
          <a:p>
            <a:pPr algn="ctr">
              <a:lnSpc>
                <a:spcPts val="2776"/>
              </a:lnSpc>
              <a:spcBef>
                <a:spcPct val="0"/>
              </a:spcBef>
            </a:pPr>
            <a:r>
              <a:rPr lang="en-US" sz="1983">
                <a:solidFill>
                  <a:srgbClr val="FFFFFF"/>
                </a:solidFill>
                <a:latin typeface="Poppins"/>
                <a:ea typeface="Poppins"/>
                <a:cs typeface="Poppins"/>
                <a:sym typeface="Poppins"/>
              </a:rPr>
              <a:t>Nos permite construir objetos complejos paso a paso. El patrón nos permite producir distintos tipos y representaciones de un objeto empleando el mismo código de construcción.</a:t>
            </a:r>
          </a:p>
        </p:txBody>
      </p:sp>
      <p:sp>
        <p:nvSpPr>
          <p:cNvPr name="TextBox 16" id="16"/>
          <p:cNvSpPr txBox="true"/>
          <p:nvPr/>
        </p:nvSpPr>
        <p:spPr>
          <a:xfrm rot="0">
            <a:off x="5435814" y="6809427"/>
            <a:ext cx="4313789" cy="2448149"/>
          </a:xfrm>
          <a:prstGeom prst="rect">
            <a:avLst/>
          </a:prstGeom>
        </p:spPr>
        <p:txBody>
          <a:bodyPr anchor="t" rtlCol="false" tIns="0" lIns="0" bIns="0" rIns="0">
            <a:spAutoFit/>
          </a:bodyPr>
          <a:lstStyle/>
          <a:p>
            <a:pPr algn="ctr">
              <a:lnSpc>
                <a:spcPts val="2776"/>
              </a:lnSpc>
              <a:spcBef>
                <a:spcPct val="0"/>
              </a:spcBef>
            </a:pPr>
            <a:r>
              <a:rPr lang="en-US" sz="1983">
                <a:solidFill>
                  <a:srgbClr val="FFFFFF"/>
                </a:solidFill>
                <a:latin typeface="Poppins"/>
                <a:ea typeface="Poppins"/>
                <a:cs typeface="Poppins"/>
                <a:sym typeface="Poppins"/>
              </a:rPr>
              <a:t>Nos permite asegurarnos de que una clase tenga una única instancia, a la vez que proporciona un punto de acceso global a dicha instancia.</a:t>
            </a:r>
          </a:p>
          <a:p>
            <a:pPr algn="ctr">
              <a:lnSpc>
                <a:spcPts val="2776"/>
              </a:lnSpc>
              <a:spcBef>
                <a:spcPct val="0"/>
              </a:spcBef>
            </a:pPr>
            <a:r>
              <a:rPr lang="en-US" sz="1983">
                <a:solidFill>
                  <a:srgbClr val="FFFFFF"/>
                </a:solidFill>
                <a:latin typeface="Poppins"/>
                <a:ea typeface="Poppins"/>
                <a:cs typeface="Poppins"/>
                <a:sym typeface="Poppins"/>
              </a:rPr>
              <a:t>Evitando sobreescribir esa instancia</a:t>
            </a:r>
          </a:p>
        </p:txBody>
      </p:sp>
      <p:sp>
        <p:nvSpPr>
          <p:cNvPr name="Freeform 17" id="17"/>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9"/>
            <a:stretch>
              <a:fillRect l="0" t="0" r="0" b="0"/>
            </a:stretch>
          </a:blipFill>
        </p:spPr>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2396759" y="5342921"/>
            <a:ext cx="1901041" cy="1391005"/>
          </a:xfrm>
          <a:custGeom>
            <a:avLst/>
            <a:gdLst/>
            <a:ahLst/>
            <a:cxnLst/>
            <a:rect r="r" b="b" t="t" l="l"/>
            <a:pathLst>
              <a:path h="1391005" w="1901041">
                <a:moveTo>
                  <a:pt x="0" y="0"/>
                </a:moveTo>
                <a:lnTo>
                  <a:pt x="1901041" y="0"/>
                </a:lnTo>
                <a:lnTo>
                  <a:pt x="1901041" y="1391005"/>
                </a:lnTo>
                <a:lnTo>
                  <a:pt x="0" y="1391005"/>
                </a:lnTo>
                <a:lnTo>
                  <a:pt x="0" y="0"/>
                </a:lnTo>
                <a:close/>
              </a:path>
            </a:pathLst>
          </a:custGeom>
          <a:blipFill>
            <a:blip r:embed="rId3"/>
            <a:stretch>
              <a:fillRect l="0" t="0" r="0" b="0"/>
            </a:stretch>
          </a:blipFill>
        </p:spPr>
      </p:sp>
      <p:sp>
        <p:nvSpPr>
          <p:cNvPr name="Freeform 7" id="7"/>
          <p:cNvSpPr/>
          <p:nvPr/>
        </p:nvSpPr>
        <p:spPr>
          <a:xfrm flipH="false" flipV="false" rot="0">
            <a:off x="9782064" y="4912064"/>
            <a:ext cx="3626455" cy="2366968"/>
          </a:xfrm>
          <a:custGeom>
            <a:avLst/>
            <a:gdLst/>
            <a:ahLst/>
            <a:cxnLst/>
            <a:rect r="r" b="b" t="t" l="l"/>
            <a:pathLst>
              <a:path h="2366968" w="3626455">
                <a:moveTo>
                  <a:pt x="0" y="0"/>
                </a:moveTo>
                <a:lnTo>
                  <a:pt x="3626455" y="0"/>
                </a:lnTo>
                <a:lnTo>
                  <a:pt x="3626455" y="2366968"/>
                </a:lnTo>
                <a:lnTo>
                  <a:pt x="0" y="2366968"/>
                </a:lnTo>
                <a:lnTo>
                  <a:pt x="0" y="0"/>
                </a:lnTo>
                <a:close/>
              </a:path>
            </a:pathLst>
          </a:custGeom>
          <a:blipFill>
            <a:blip r:embed="rId4"/>
            <a:stretch>
              <a:fillRect l="0" t="0" r="0" b="0"/>
            </a:stretch>
          </a:blipFill>
        </p:spPr>
      </p:sp>
      <p:sp>
        <p:nvSpPr>
          <p:cNvPr name="Freeform 8" id="8"/>
          <p:cNvSpPr/>
          <p:nvPr/>
        </p:nvSpPr>
        <p:spPr>
          <a:xfrm flipH="false" flipV="false" rot="0">
            <a:off x="13827619" y="5029529"/>
            <a:ext cx="4249816" cy="2132039"/>
          </a:xfrm>
          <a:custGeom>
            <a:avLst/>
            <a:gdLst/>
            <a:ahLst/>
            <a:cxnLst/>
            <a:rect r="r" b="b" t="t" l="l"/>
            <a:pathLst>
              <a:path h="2132039" w="4249816">
                <a:moveTo>
                  <a:pt x="0" y="0"/>
                </a:moveTo>
                <a:lnTo>
                  <a:pt x="4249816" y="0"/>
                </a:lnTo>
                <a:lnTo>
                  <a:pt x="4249816" y="2132039"/>
                </a:lnTo>
                <a:lnTo>
                  <a:pt x="0" y="2132039"/>
                </a:lnTo>
                <a:lnTo>
                  <a:pt x="0" y="0"/>
                </a:lnTo>
                <a:close/>
              </a:path>
            </a:pathLst>
          </a:custGeom>
          <a:blipFill>
            <a:blip r:embed="rId5"/>
            <a:stretch>
              <a:fillRect l="0" t="0" r="0" b="0"/>
            </a:stretch>
          </a:blipFill>
        </p:spPr>
      </p:sp>
      <p:sp>
        <p:nvSpPr>
          <p:cNvPr name="TextBox 9" id="9"/>
          <p:cNvSpPr txBox="true"/>
          <p:nvPr/>
        </p:nvSpPr>
        <p:spPr>
          <a:xfrm rot="0">
            <a:off x="4718526" y="2229573"/>
            <a:ext cx="8850948" cy="993012"/>
          </a:xfrm>
          <a:prstGeom prst="rect">
            <a:avLst/>
          </a:prstGeom>
        </p:spPr>
        <p:txBody>
          <a:bodyPr anchor="t" rtlCol="false" tIns="0" lIns="0" bIns="0" rIns="0">
            <a:spAutoFit/>
          </a:bodyPr>
          <a:lstStyle/>
          <a:p>
            <a:pPr algn="ctr">
              <a:lnSpc>
                <a:spcPts val="8072"/>
              </a:lnSpc>
              <a:spcBef>
                <a:spcPct val="0"/>
              </a:spcBef>
            </a:pPr>
            <a:r>
              <a:rPr lang="en-US" sz="5766">
                <a:solidFill>
                  <a:srgbClr val="99C5FF"/>
                </a:solidFill>
                <a:latin typeface="HK Modular"/>
                <a:ea typeface="HK Modular"/>
                <a:cs typeface="HK Modular"/>
                <a:sym typeface="HK Modular"/>
              </a:rPr>
              <a:t>CREACIONALES</a:t>
            </a:r>
          </a:p>
        </p:txBody>
      </p:sp>
      <p:sp>
        <p:nvSpPr>
          <p:cNvPr name="TextBox 10" id="10"/>
          <p:cNvSpPr txBox="true"/>
          <p:nvPr/>
        </p:nvSpPr>
        <p:spPr>
          <a:xfrm rot="0">
            <a:off x="494568" y="6986428"/>
            <a:ext cx="5705424" cy="518534"/>
          </a:xfrm>
          <a:prstGeom prst="rect">
            <a:avLst/>
          </a:prstGeom>
        </p:spPr>
        <p:txBody>
          <a:bodyPr anchor="t" rtlCol="false" tIns="0" lIns="0" bIns="0" rIns="0">
            <a:spAutoFit/>
          </a:bodyPr>
          <a:lstStyle/>
          <a:p>
            <a:pPr algn="ctr">
              <a:lnSpc>
                <a:spcPts val="4155"/>
              </a:lnSpc>
              <a:spcBef>
                <a:spcPct val="0"/>
              </a:spcBef>
            </a:pPr>
            <a:r>
              <a:rPr lang="en-US" sz="2968">
                <a:solidFill>
                  <a:srgbClr val="7B640E"/>
                </a:solidFill>
                <a:latin typeface="HK Modular"/>
                <a:ea typeface="HK Modular"/>
                <a:cs typeface="HK Modular"/>
                <a:sym typeface="HK Modular"/>
              </a:rPr>
              <a:t>PROTOTYPE</a:t>
            </a:r>
          </a:p>
        </p:txBody>
      </p:sp>
      <p:sp>
        <p:nvSpPr>
          <p:cNvPr name="TextBox 11" id="11"/>
          <p:cNvSpPr txBox="true"/>
          <p:nvPr/>
        </p:nvSpPr>
        <p:spPr>
          <a:xfrm rot="0">
            <a:off x="4718526" y="5613087"/>
            <a:ext cx="4313789" cy="1053077"/>
          </a:xfrm>
          <a:prstGeom prst="rect">
            <a:avLst/>
          </a:prstGeom>
        </p:spPr>
        <p:txBody>
          <a:bodyPr anchor="t" rtlCol="false" tIns="0" lIns="0" bIns="0" rIns="0">
            <a:spAutoFit/>
          </a:bodyPr>
          <a:lstStyle/>
          <a:p>
            <a:pPr algn="ctr">
              <a:lnSpc>
                <a:spcPts val="2776"/>
              </a:lnSpc>
              <a:spcBef>
                <a:spcPct val="0"/>
              </a:spcBef>
            </a:pPr>
            <a:r>
              <a:rPr lang="en-US" sz="1983">
                <a:solidFill>
                  <a:srgbClr val="FFFFFF"/>
                </a:solidFill>
                <a:latin typeface="Poppins"/>
                <a:ea typeface="Poppins"/>
                <a:cs typeface="Poppins"/>
                <a:sym typeface="Poppins"/>
              </a:rPr>
              <a:t>Nos permite copiar objetos existentes sin que el código dependa de sus clases.</a:t>
            </a:r>
          </a:p>
        </p:txBody>
      </p:sp>
      <p:sp>
        <p:nvSpPr>
          <p:cNvPr name="Freeform 12" id="12"/>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6"/>
            <a:stretch>
              <a:fillRect l="0" t="0" r="0" b="0"/>
            </a:stretch>
          </a:blipFill>
        </p:spPr>
      </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559917" y="2730769"/>
            <a:ext cx="1870369" cy="1342442"/>
          </a:xfrm>
          <a:custGeom>
            <a:avLst/>
            <a:gdLst/>
            <a:ahLst/>
            <a:cxnLst/>
            <a:rect r="r" b="b" t="t" l="l"/>
            <a:pathLst>
              <a:path h="1342442" w="1870369">
                <a:moveTo>
                  <a:pt x="0" y="0"/>
                </a:moveTo>
                <a:lnTo>
                  <a:pt x="1870370" y="0"/>
                </a:lnTo>
                <a:lnTo>
                  <a:pt x="1870370" y="1342442"/>
                </a:lnTo>
                <a:lnTo>
                  <a:pt x="0" y="1342442"/>
                </a:lnTo>
                <a:lnTo>
                  <a:pt x="0" y="0"/>
                </a:lnTo>
                <a:close/>
              </a:path>
            </a:pathLst>
          </a:custGeom>
          <a:blipFill>
            <a:blip r:embed="rId3"/>
            <a:stretch>
              <a:fillRect l="0" t="0" r="0" b="0"/>
            </a:stretch>
          </a:blipFill>
        </p:spPr>
      </p:sp>
      <p:sp>
        <p:nvSpPr>
          <p:cNvPr name="Freeform 7" id="7"/>
          <p:cNvSpPr/>
          <p:nvPr/>
        </p:nvSpPr>
        <p:spPr>
          <a:xfrm flipH="false" flipV="false" rot="0">
            <a:off x="1483984" y="7502606"/>
            <a:ext cx="1870369" cy="1282108"/>
          </a:xfrm>
          <a:custGeom>
            <a:avLst/>
            <a:gdLst/>
            <a:ahLst/>
            <a:cxnLst/>
            <a:rect r="r" b="b" t="t" l="l"/>
            <a:pathLst>
              <a:path h="1282108" w="1870369">
                <a:moveTo>
                  <a:pt x="0" y="0"/>
                </a:moveTo>
                <a:lnTo>
                  <a:pt x="1870369" y="0"/>
                </a:lnTo>
                <a:lnTo>
                  <a:pt x="1870369" y="1282108"/>
                </a:lnTo>
                <a:lnTo>
                  <a:pt x="0" y="1282108"/>
                </a:lnTo>
                <a:lnTo>
                  <a:pt x="0" y="0"/>
                </a:lnTo>
                <a:close/>
              </a:path>
            </a:pathLst>
          </a:custGeom>
          <a:blipFill>
            <a:blip r:embed="rId4"/>
            <a:stretch>
              <a:fillRect l="0" t="0" r="0" b="0"/>
            </a:stretch>
          </a:blipFill>
        </p:spPr>
      </p:sp>
      <p:sp>
        <p:nvSpPr>
          <p:cNvPr name="Freeform 8" id="8"/>
          <p:cNvSpPr/>
          <p:nvPr/>
        </p:nvSpPr>
        <p:spPr>
          <a:xfrm flipH="false" flipV="false" rot="0">
            <a:off x="1466477" y="5143500"/>
            <a:ext cx="2057249" cy="1342442"/>
          </a:xfrm>
          <a:custGeom>
            <a:avLst/>
            <a:gdLst/>
            <a:ahLst/>
            <a:cxnLst/>
            <a:rect r="r" b="b" t="t" l="l"/>
            <a:pathLst>
              <a:path h="1342442" w="2057249">
                <a:moveTo>
                  <a:pt x="0" y="0"/>
                </a:moveTo>
                <a:lnTo>
                  <a:pt x="2057250" y="0"/>
                </a:lnTo>
                <a:lnTo>
                  <a:pt x="2057250" y="1342442"/>
                </a:lnTo>
                <a:lnTo>
                  <a:pt x="0" y="1342442"/>
                </a:lnTo>
                <a:lnTo>
                  <a:pt x="0" y="0"/>
                </a:lnTo>
                <a:close/>
              </a:path>
            </a:pathLst>
          </a:custGeom>
          <a:blipFill>
            <a:blip r:embed="rId5"/>
            <a:stretch>
              <a:fillRect l="0" t="0" r="0" b="0"/>
            </a:stretch>
          </a:blipFill>
        </p:spPr>
      </p:sp>
      <p:sp>
        <p:nvSpPr>
          <p:cNvPr name="Freeform 9" id="9"/>
          <p:cNvSpPr/>
          <p:nvPr/>
        </p:nvSpPr>
        <p:spPr>
          <a:xfrm flipH="false" flipV="false" rot="0">
            <a:off x="9422436" y="2292313"/>
            <a:ext cx="3393302" cy="2211424"/>
          </a:xfrm>
          <a:custGeom>
            <a:avLst/>
            <a:gdLst/>
            <a:ahLst/>
            <a:cxnLst/>
            <a:rect r="r" b="b" t="t" l="l"/>
            <a:pathLst>
              <a:path h="2211424" w="3393302">
                <a:moveTo>
                  <a:pt x="0" y="0"/>
                </a:moveTo>
                <a:lnTo>
                  <a:pt x="3393302" y="0"/>
                </a:lnTo>
                <a:lnTo>
                  <a:pt x="3393302" y="2211424"/>
                </a:lnTo>
                <a:lnTo>
                  <a:pt x="0" y="2211424"/>
                </a:lnTo>
                <a:lnTo>
                  <a:pt x="0" y="0"/>
                </a:lnTo>
                <a:close/>
              </a:path>
            </a:pathLst>
          </a:custGeom>
          <a:blipFill>
            <a:blip r:embed="rId6"/>
            <a:stretch>
              <a:fillRect l="0" t="0" r="0" b="0"/>
            </a:stretch>
          </a:blipFill>
        </p:spPr>
      </p:sp>
      <p:sp>
        <p:nvSpPr>
          <p:cNvPr name="Freeform 10" id="10"/>
          <p:cNvSpPr/>
          <p:nvPr/>
        </p:nvSpPr>
        <p:spPr>
          <a:xfrm flipH="false" flipV="false" rot="0">
            <a:off x="9422436" y="7393341"/>
            <a:ext cx="3634136" cy="2370333"/>
          </a:xfrm>
          <a:custGeom>
            <a:avLst/>
            <a:gdLst/>
            <a:ahLst/>
            <a:cxnLst/>
            <a:rect r="r" b="b" t="t" l="l"/>
            <a:pathLst>
              <a:path h="2370333" w="3634136">
                <a:moveTo>
                  <a:pt x="0" y="0"/>
                </a:moveTo>
                <a:lnTo>
                  <a:pt x="3634136" y="0"/>
                </a:lnTo>
                <a:lnTo>
                  <a:pt x="3634136" y="2370333"/>
                </a:lnTo>
                <a:lnTo>
                  <a:pt x="0" y="2370333"/>
                </a:lnTo>
                <a:lnTo>
                  <a:pt x="0" y="0"/>
                </a:lnTo>
                <a:close/>
              </a:path>
            </a:pathLst>
          </a:custGeom>
          <a:blipFill>
            <a:blip r:embed="rId7"/>
            <a:stretch>
              <a:fillRect l="0" t="0" r="0" b="0"/>
            </a:stretch>
          </a:blipFill>
        </p:spPr>
      </p:sp>
      <p:sp>
        <p:nvSpPr>
          <p:cNvPr name="Freeform 11" id="11"/>
          <p:cNvSpPr/>
          <p:nvPr/>
        </p:nvSpPr>
        <p:spPr>
          <a:xfrm flipH="false" flipV="false" rot="0">
            <a:off x="9503038" y="4861522"/>
            <a:ext cx="3232099" cy="2174034"/>
          </a:xfrm>
          <a:custGeom>
            <a:avLst/>
            <a:gdLst/>
            <a:ahLst/>
            <a:cxnLst/>
            <a:rect r="r" b="b" t="t" l="l"/>
            <a:pathLst>
              <a:path h="2174034" w="3232099">
                <a:moveTo>
                  <a:pt x="0" y="0"/>
                </a:moveTo>
                <a:lnTo>
                  <a:pt x="3232099" y="0"/>
                </a:lnTo>
                <a:lnTo>
                  <a:pt x="3232099" y="2174034"/>
                </a:lnTo>
                <a:lnTo>
                  <a:pt x="0" y="2174034"/>
                </a:lnTo>
                <a:lnTo>
                  <a:pt x="0" y="0"/>
                </a:lnTo>
                <a:close/>
              </a:path>
            </a:pathLst>
          </a:custGeom>
          <a:blipFill>
            <a:blip r:embed="rId8"/>
            <a:stretch>
              <a:fillRect l="0" t="0" r="0" b="0"/>
            </a:stretch>
          </a:blipFill>
        </p:spPr>
      </p:sp>
      <p:sp>
        <p:nvSpPr>
          <p:cNvPr name="Freeform 12" id="12"/>
          <p:cNvSpPr/>
          <p:nvPr/>
        </p:nvSpPr>
        <p:spPr>
          <a:xfrm flipH="false" flipV="false" rot="0">
            <a:off x="13212010" y="2303947"/>
            <a:ext cx="3765474" cy="2180389"/>
          </a:xfrm>
          <a:custGeom>
            <a:avLst/>
            <a:gdLst/>
            <a:ahLst/>
            <a:cxnLst/>
            <a:rect r="r" b="b" t="t" l="l"/>
            <a:pathLst>
              <a:path h="2180389" w="3765474">
                <a:moveTo>
                  <a:pt x="0" y="0"/>
                </a:moveTo>
                <a:lnTo>
                  <a:pt x="3765474" y="0"/>
                </a:lnTo>
                <a:lnTo>
                  <a:pt x="3765474" y="2180389"/>
                </a:lnTo>
                <a:lnTo>
                  <a:pt x="0" y="2180389"/>
                </a:lnTo>
                <a:lnTo>
                  <a:pt x="0" y="0"/>
                </a:lnTo>
                <a:close/>
              </a:path>
            </a:pathLst>
          </a:custGeom>
          <a:blipFill>
            <a:blip r:embed="rId9"/>
            <a:stretch>
              <a:fillRect l="0" t="0" r="0" b="0"/>
            </a:stretch>
          </a:blipFill>
        </p:spPr>
      </p:sp>
      <p:sp>
        <p:nvSpPr>
          <p:cNvPr name="Freeform 13" id="13"/>
          <p:cNvSpPr/>
          <p:nvPr/>
        </p:nvSpPr>
        <p:spPr>
          <a:xfrm flipH="false" flipV="false" rot="0">
            <a:off x="13731622" y="7533693"/>
            <a:ext cx="3137404" cy="2089630"/>
          </a:xfrm>
          <a:custGeom>
            <a:avLst/>
            <a:gdLst/>
            <a:ahLst/>
            <a:cxnLst/>
            <a:rect r="r" b="b" t="t" l="l"/>
            <a:pathLst>
              <a:path h="2089630" w="3137404">
                <a:moveTo>
                  <a:pt x="0" y="0"/>
                </a:moveTo>
                <a:lnTo>
                  <a:pt x="3137405" y="0"/>
                </a:lnTo>
                <a:lnTo>
                  <a:pt x="3137405" y="2089629"/>
                </a:lnTo>
                <a:lnTo>
                  <a:pt x="0" y="2089629"/>
                </a:lnTo>
                <a:lnTo>
                  <a:pt x="0" y="0"/>
                </a:lnTo>
                <a:close/>
              </a:path>
            </a:pathLst>
          </a:custGeom>
          <a:blipFill>
            <a:blip r:embed="rId10"/>
            <a:stretch>
              <a:fillRect l="0" t="0" r="0" b="0"/>
            </a:stretch>
          </a:blipFill>
        </p:spPr>
      </p:sp>
      <p:sp>
        <p:nvSpPr>
          <p:cNvPr name="Freeform 14" id="14"/>
          <p:cNvSpPr/>
          <p:nvPr/>
        </p:nvSpPr>
        <p:spPr>
          <a:xfrm flipH="false" flipV="false" rot="0">
            <a:off x="13921646" y="4861522"/>
            <a:ext cx="2346202" cy="2207228"/>
          </a:xfrm>
          <a:custGeom>
            <a:avLst/>
            <a:gdLst/>
            <a:ahLst/>
            <a:cxnLst/>
            <a:rect r="r" b="b" t="t" l="l"/>
            <a:pathLst>
              <a:path h="2207228" w="2346202">
                <a:moveTo>
                  <a:pt x="0" y="0"/>
                </a:moveTo>
                <a:lnTo>
                  <a:pt x="2346202" y="0"/>
                </a:lnTo>
                <a:lnTo>
                  <a:pt x="2346202" y="2207229"/>
                </a:lnTo>
                <a:lnTo>
                  <a:pt x="0" y="2207229"/>
                </a:lnTo>
                <a:lnTo>
                  <a:pt x="0" y="0"/>
                </a:lnTo>
                <a:close/>
              </a:path>
            </a:pathLst>
          </a:custGeom>
          <a:blipFill>
            <a:blip r:embed="rId11"/>
            <a:stretch>
              <a:fillRect l="0" t="0" r="0" b="0"/>
            </a:stretch>
          </a:blipFill>
        </p:spPr>
      </p:sp>
      <p:sp>
        <p:nvSpPr>
          <p:cNvPr name="TextBox 15" id="15"/>
          <p:cNvSpPr txBox="true"/>
          <p:nvPr/>
        </p:nvSpPr>
        <p:spPr>
          <a:xfrm rot="0">
            <a:off x="4718526" y="1147750"/>
            <a:ext cx="8850948" cy="993012"/>
          </a:xfrm>
          <a:prstGeom prst="rect">
            <a:avLst/>
          </a:prstGeom>
        </p:spPr>
        <p:txBody>
          <a:bodyPr anchor="t" rtlCol="false" tIns="0" lIns="0" bIns="0" rIns="0">
            <a:spAutoFit/>
          </a:bodyPr>
          <a:lstStyle/>
          <a:p>
            <a:pPr algn="ctr">
              <a:lnSpc>
                <a:spcPts val="8072"/>
              </a:lnSpc>
              <a:spcBef>
                <a:spcPct val="0"/>
              </a:spcBef>
            </a:pPr>
            <a:r>
              <a:rPr lang="en-US" sz="5766">
                <a:solidFill>
                  <a:srgbClr val="99C5FF"/>
                </a:solidFill>
                <a:latin typeface="HK Modular"/>
                <a:ea typeface="HK Modular"/>
                <a:cs typeface="HK Modular"/>
                <a:sym typeface="HK Modular"/>
              </a:rPr>
              <a:t>ESTRUCTURALES</a:t>
            </a:r>
          </a:p>
        </p:txBody>
      </p:sp>
      <p:sp>
        <p:nvSpPr>
          <p:cNvPr name="TextBox 16" id="16"/>
          <p:cNvSpPr txBox="true"/>
          <p:nvPr/>
        </p:nvSpPr>
        <p:spPr>
          <a:xfrm rot="0">
            <a:off x="-134226" y="4110616"/>
            <a:ext cx="5106790" cy="518534"/>
          </a:xfrm>
          <a:prstGeom prst="rect">
            <a:avLst/>
          </a:prstGeom>
        </p:spPr>
        <p:txBody>
          <a:bodyPr anchor="t" rtlCol="false" tIns="0" lIns="0" bIns="0" rIns="0">
            <a:spAutoFit/>
          </a:bodyPr>
          <a:lstStyle/>
          <a:p>
            <a:pPr algn="ctr">
              <a:lnSpc>
                <a:spcPts val="4155"/>
              </a:lnSpc>
              <a:spcBef>
                <a:spcPct val="0"/>
              </a:spcBef>
            </a:pPr>
            <a:r>
              <a:rPr lang="en-US" sz="2968">
                <a:solidFill>
                  <a:srgbClr val="7B640E"/>
                </a:solidFill>
                <a:latin typeface="HK Modular"/>
                <a:ea typeface="HK Modular"/>
                <a:cs typeface="HK Modular"/>
                <a:sym typeface="HK Modular"/>
              </a:rPr>
              <a:t>ADAPTER</a:t>
            </a:r>
          </a:p>
        </p:txBody>
      </p:sp>
      <p:sp>
        <p:nvSpPr>
          <p:cNvPr name="TextBox 17" id="17"/>
          <p:cNvSpPr txBox="true"/>
          <p:nvPr/>
        </p:nvSpPr>
        <p:spPr>
          <a:xfrm rot="0">
            <a:off x="-134226" y="8943968"/>
            <a:ext cx="5106790" cy="518534"/>
          </a:xfrm>
          <a:prstGeom prst="rect">
            <a:avLst/>
          </a:prstGeom>
        </p:spPr>
        <p:txBody>
          <a:bodyPr anchor="t" rtlCol="false" tIns="0" lIns="0" bIns="0" rIns="0">
            <a:spAutoFit/>
          </a:bodyPr>
          <a:lstStyle/>
          <a:p>
            <a:pPr algn="ctr">
              <a:lnSpc>
                <a:spcPts val="4155"/>
              </a:lnSpc>
              <a:spcBef>
                <a:spcPct val="0"/>
              </a:spcBef>
            </a:pPr>
            <a:r>
              <a:rPr lang="en-US" sz="2968">
                <a:solidFill>
                  <a:srgbClr val="7B640E"/>
                </a:solidFill>
                <a:latin typeface="HK Modular"/>
                <a:ea typeface="HK Modular"/>
                <a:cs typeface="HK Modular"/>
                <a:sym typeface="HK Modular"/>
              </a:rPr>
              <a:t>BRIDGE</a:t>
            </a:r>
          </a:p>
        </p:txBody>
      </p:sp>
      <p:sp>
        <p:nvSpPr>
          <p:cNvPr name="TextBox 18" id="18"/>
          <p:cNvSpPr txBox="true"/>
          <p:nvPr/>
        </p:nvSpPr>
        <p:spPr>
          <a:xfrm rot="0">
            <a:off x="-58293" y="6474124"/>
            <a:ext cx="5106790" cy="518534"/>
          </a:xfrm>
          <a:prstGeom prst="rect">
            <a:avLst/>
          </a:prstGeom>
        </p:spPr>
        <p:txBody>
          <a:bodyPr anchor="t" rtlCol="false" tIns="0" lIns="0" bIns="0" rIns="0">
            <a:spAutoFit/>
          </a:bodyPr>
          <a:lstStyle/>
          <a:p>
            <a:pPr algn="ctr">
              <a:lnSpc>
                <a:spcPts val="4155"/>
              </a:lnSpc>
              <a:spcBef>
                <a:spcPct val="0"/>
              </a:spcBef>
            </a:pPr>
            <a:r>
              <a:rPr lang="en-US" sz="2968">
                <a:solidFill>
                  <a:srgbClr val="7B640E"/>
                </a:solidFill>
                <a:latin typeface="HK Modular"/>
                <a:ea typeface="HK Modular"/>
                <a:cs typeface="HK Modular"/>
                <a:sym typeface="HK Modular"/>
              </a:rPr>
              <a:t>COMPOSITE</a:t>
            </a:r>
          </a:p>
        </p:txBody>
      </p:sp>
      <p:sp>
        <p:nvSpPr>
          <p:cNvPr name="TextBox 19" id="19"/>
          <p:cNvSpPr txBox="true"/>
          <p:nvPr/>
        </p:nvSpPr>
        <p:spPr>
          <a:xfrm rot="0">
            <a:off x="4433493" y="2943239"/>
            <a:ext cx="4313789" cy="1053077"/>
          </a:xfrm>
          <a:prstGeom prst="rect">
            <a:avLst/>
          </a:prstGeom>
        </p:spPr>
        <p:txBody>
          <a:bodyPr anchor="t" rtlCol="false" tIns="0" lIns="0" bIns="0" rIns="0">
            <a:spAutoFit/>
          </a:bodyPr>
          <a:lstStyle/>
          <a:p>
            <a:pPr algn="ctr">
              <a:lnSpc>
                <a:spcPts val="2776"/>
              </a:lnSpc>
              <a:spcBef>
                <a:spcPct val="0"/>
              </a:spcBef>
            </a:pPr>
            <a:r>
              <a:rPr lang="en-US" sz="1983">
                <a:solidFill>
                  <a:srgbClr val="FFFFFF"/>
                </a:solidFill>
                <a:latin typeface="Poppins"/>
                <a:ea typeface="Poppins"/>
                <a:cs typeface="Poppins"/>
                <a:sym typeface="Poppins"/>
              </a:rPr>
              <a:t>Permite la colaboración entre objetos con interfaces incompatibles.</a:t>
            </a:r>
          </a:p>
        </p:txBody>
      </p:sp>
      <p:sp>
        <p:nvSpPr>
          <p:cNvPr name="TextBox 20" id="20"/>
          <p:cNvSpPr txBox="true"/>
          <p:nvPr/>
        </p:nvSpPr>
        <p:spPr>
          <a:xfrm rot="0">
            <a:off x="4667984" y="7126008"/>
            <a:ext cx="3743723" cy="2425333"/>
          </a:xfrm>
          <a:prstGeom prst="rect">
            <a:avLst/>
          </a:prstGeom>
        </p:spPr>
        <p:txBody>
          <a:bodyPr anchor="t" rtlCol="false" tIns="0" lIns="0" bIns="0" rIns="0">
            <a:spAutoFit/>
          </a:bodyPr>
          <a:lstStyle/>
          <a:p>
            <a:pPr algn="ctr">
              <a:lnSpc>
                <a:spcPts val="2409"/>
              </a:lnSpc>
              <a:spcBef>
                <a:spcPct val="0"/>
              </a:spcBef>
            </a:pPr>
            <a:r>
              <a:rPr lang="en-US" sz="1721">
                <a:solidFill>
                  <a:srgbClr val="FFFFFF"/>
                </a:solidFill>
                <a:latin typeface="Poppins"/>
                <a:ea typeface="Poppins"/>
                <a:cs typeface="Poppins"/>
                <a:sym typeface="Poppins"/>
              </a:rPr>
              <a:t>Permite dividir una clase grande, o un grupo de clases estrechamente relacionadas, en dos jerarquías separadas (abstracción e implementación) que pueden desarrollarse independientemente la una de la otra.</a:t>
            </a:r>
          </a:p>
        </p:txBody>
      </p:sp>
      <p:sp>
        <p:nvSpPr>
          <p:cNvPr name="TextBox 21" id="21"/>
          <p:cNvSpPr txBox="true"/>
          <p:nvPr/>
        </p:nvSpPr>
        <p:spPr>
          <a:xfrm rot="0">
            <a:off x="4433493" y="4957979"/>
            <a:ext cx="4313789" cy="1401845"/>
          </a:xfrm>
          <a:prstGeom prst="rect">
            <a:avLst/>
          </a:prstGeom>
        </p:spPr>
        <p:txBody>
          <a:bodyPr anchor="t" rtlCol="false" tIns="0" lIns="0" bIns="0" rIns="0">
            <a:spAutoFit/>
          </a:bodyPr>
          <a:lstStyle/>
          <a:p>
            <a:pPr algn="ctr">
              <a:lnSpc>
                <a:spcPts val="2776"/>
              </a:lnSpc>
              <a:spcBef>
                <a:spcPct val="0"/>
              </a:spcBef>
            </a:pPr>
            <a:r>
              <a:rPr lang="en-US" sz="1983">
                <a:solidFill>
                  <a:srgbClr val="FFFFFF"/>
                </a:solidFill>
                <a:latin typeface="Poppins"/>
                <a:ea typeface="Poppins"/>
                <a:cs typeface="Poppins"/>
                <a:sym typeface="Poppins"/>
              </a:rPr>
              <a:t>Permite componer objetos en estructuras de árbol y trabajar con esas estructuras como si fueran objetos individuales.</a:t>
            </a:r>
          </a:p>
        </p:txBody>
      </p:sp>
      <p:sp>
        <p:nvSpPr>
          <p:cNvPr name="Freeform 22" id="22"/>
          <p:cNvSpPr/>
          <p:nvPr/>
        </p:nvSpPr>
        <p:spPr>
          <a:xfrm flipH="false" flipV="false" rot="0">
            <a:off x="8227057" y="-351215"/>
            <a:ext cx="2052621" cy="2052621"/>
          </a:xfrm>
          <a:custGeom>
            <a:avLst/>
            <a:gdLst/>
            <a:ahLst/>
            <a:cxnLst/>
            <a:rect r="r" b="b" t="t" l="l"/>
            <a:pathLst>
              <a:path h="2052621" w="2052621">
                <a:moveTo>
                  <a:pt x="0" y="0"/>
                </a:moveTo>
                <a:lnTo>
                  <a:pt x="2052620" y="0"/>
                </a:lnTo>
                <a:lnTo>
                  <a:pt x="2052620" y="2052621"/>
                </a:lnTo>
                <a:lnTo>
                  <a:pt x="0" y="2052621"/>
                </a:lnTo>
                <a:lnTo>
                  <a:pt x="0" y="0"/>
                </a:lnTo>
                <a:close/>
              </a:path>
            </a:pathLst>
          </a:custGeom>
          <a:blipFill>
            <a:blip r:embed="rId12"/>
            <a:stretch>
              <a:fillRect l="0" t="0" r="0" b="0"/>
            </a:stretch>
          </a:blipFill>
        </p:spPr>
      </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849702" y="5085471"/>
            <a:ext cx="1700299" cy="1452982"/>
          </a:xfrm>
          <a:custGeom>
            <a:avLst/>
            <a:gdLst/>
            <a:ahLst/>
            <a:cxnLst/>
            <a:rect r="r" b="b" t="t" l="l"/>
            <a:pathLst>
              <a:path h="1452982" w="1700299">
                <a:moveTo>
                  <a:pt x="0" y="0"/>
                </a:moveTo>
                <a:lnTo>
                  <a:pt x="1700299" y="0"/>
                </a:lnTo>
                <a:lnTo>
                  <a:pt x="1700299" y="1452982"/>
                </a:lnTo>
                <a:lnTo>
                  <a:pt x="0" y="1452982"/>
                </a:lnTo>
                <a:lnTo>
                  <a:pt x="0" y="0"/>
                </a:lnTo>
                <a:close/>
              </a:path>
            </a:pathLst>
          </a:custGeom>
          <a:blipFill>
            <a:blip r:embed="rId3"/>
            <a:stretch>
              <a:fillRect l="0" t="0" r="0" b="0"/>
            </a:stretch>
          </a:blipFill>
        </p:spPr>
      </p:sp>
      <p:sp>
        <p:nvSpPr>
          <p:cNvPr name="Freeform 7" id="7"/>
          <p:cNvSpPr/>
          <p:nvPr/>
        </p:nvSpPr>
        <p:spPr>
          <a:xfrm flipH="false" flipV="false" rot="0">
            <a:off x="1854268" y="2518307"/>
            <a:ext cx="1695733" cy="1286418"/>
          </a:xfrm>
          <a:custGeom>
            <a:avLst/>
            <a:gdLst/>
            <a:ahLst/>
            <a:cxnLst/>
            <a:rect r="r" b="b" t="t" l="l"/>
            <a:pathLst>
              <a:path h="1286418" w="1695733">
                <a:moveTo>
                  <a:pt x="0" y="0"/>
                </a:moveTo>
                <a:lnTo>
                  <a:pt x="1695733" y="0"/>
                </a:lnTo>
                <a:lnTo>
                  <a:pt x="1695733" y="1286419"/>
                </a:lnTo>
                <a:lnTo>
                  <a:pt x="0" y="1286419"/>
                </a:lnTo>
                <a:lnTo>
                  <a:pt x="0" y="0"/>
                </a:lnTo>
                <a:close/>
              </a:path>
            </a:pathLst>
          </a:custGeom>
          <a:blipFill>
            <a:blip r:embed="rId4"/>
            <a:stretch>
              <a:fillRect l="0" t="0" r="0" b="0"/>
            </a:stretch>
          </a:blipFill>
        </p:spPr>
      </p:sp>
      <p:sp>
        <p:nvSpPr>
          <p:cNvPr name="Freeform 8" id="8"/>
          <p:cNvSpPr/>
          <p:nvPr/>
        </p:nvSpPr>
        <p:spPr>
          <a:xfrm flipH="false" flipV="false" rot="0">
            <a:off x="1709747" y="7819199"/>
            <a:ext cx="1687296" cy="1124864"/>
          </a:xfrm>
          <a:custGeom>
            <a:avLst/>
            <a:gdLst/>
            <a:ahLst/>
            <a:cxnLst/>
            <a:rect r="r" b="b" t="t" l="l"/>
            <a:pathLst>
              <a:path h="1124864" w="1687296">
                <a:moveTo>
                  <a:pt x="0" y="0"/>
                </a:moveTo>
                <a:lnTo>
                  <a:pt x="1687296" y="0"/>
                </a:lnTo>
                <a:lnTo>
                  <a:pt x="1687296" y="1124864"/>
                </a:lnTo>
                <a:lnTo>
                  <a:pt x="0" y="1124864"/>
                </a:lnTo>
                <a:lnTo>
                  <a:pt x="0" y="0"/>
                </a:lnTo>
                <a:close/>
              </a:path>
            </a:pathLst>
          </a:custGeom>
          <a:blipFill>
            <a:blip r:embed="rId5"/>
            <a:stretch>
              <a:fillRect l="0" t="0" r="0" b="0"/>
            </a:stretch>
          </a:blipFill>
        </p:spPr>
      </p:sp>
      <p:sp>
        <p:nvSpPr>
          <p:cNvPr name="Freeform 9" id="9"/>
          <p:cNvSpPr/>
          <p:nvPr/>
        </p:nvSpPr>
        <p:spPr>
          <a:xfrm flipH="false" flipV="false" rot="0">
            <a:off x="9764719" y="2360513"/>
            <a:ext cx="3511801" cy="2493323"/>
          </a:xfrm>
          <a:custGeom>
            <a:avLst/>
            <a:gdLst/>
            <a:ahLst/>
            <a:cxnLst/>
            <a:rect r="r" b="b" t="t" l="l"/>
            <a:pathLst>
              <a:path h="2493323" w="3511801">
                <a:moveTo>
                  <a:pt x="0" y="0"/>
                </a:moveTo>
                <a:lnTo>
                  <a:pt x="3511801" y="0"/>
                </a:lnTo>
                <a:lnTo>
                  <a:pt x="3511801" y="2493323"/>
                </a:lnTo>
                <a:lnTo>
                  <a:pt x="0" y="2493323"/>
                </a:lnTo>
                <a:lnTo>
                  <a:pt x="0" y="0"/>
                </a:lnTo>
                <a:close/>
              </a:path>
            </a:pathLst>
          </a:custGeom>
          <a:blipFill>
            <a:blip r:embed="rId6"/>
            <a:stretch>
              <a:fillRect l="0" t="0" r="0" b="0"/>
            </a:stretch>
          </a:blipFill>
        </p:spPr>
      </p:sp>
      <p:sp>
        <p:nvSpPr>
          <p:cNvPr name="Freeform 10" id="10"/>
          <p:cNvSpPr/>
          <p:nvPr/>
        </p:nvSpPr>
        <p:spPr>
          <a:xfrm flipH="false" flipV="false" rot="0">
            <a:off x="13646090" y="2779212"/>
            <a:ext cx="4123253" cy="1655925"/>
          </a:xfrm>
          <a:custGeom>
            <a:avLst/>
            <a:gdLst/>
            <a:ahLst/>
            <a:cxnLst/>
            <a:rect r="r" b="b" t="t" l="l"/>
            <a:pathLst>
              <a:path h="1655925" w="4123253">
                <a:moveTo>
                  <a:pt x="0" y="0"/>
                </a:moveTo>
                <a:lnTo>
                  <a:pt x="4123253" y="0"/>
                </a:lnTo>
                <a:lnTo>
                  <a:pt x="4123253" y="1655925"/>
                </a:lnTo>
                <a:lnTo>
                  <a:pt x="0" y="1655925"/>
                </a:lnTo>
                <a:lnTo>
                  <a:pt x="0" y="0"/>
                </a:lnTo>
                <a:close/>
              </a:path>
            </a:pathLst>
          </a:custGeom>
          <a:blipFill>
            <a:blip r:embed="rId7"/>
            <a:stretch>
              <a:fillRect l="0" t="0" r="0" b="0"/>
            </a:stretch>
          </a:blipFill>
        </p:spPr>
      </p:sp>
      <p:sp>
        <p:nvSpPr>
          <p:cNvPr name="Freeform 11" id="11"/>
          <p:cNvSpPr/>
          <p:nvPr/>
        </p:nvSpPr>
        <p:spPr>
          <a:xfrm flipH="false" flipV="false" rot="0">
            <a:off x="9774439" y="5143500"/>
            <a:ext cx="3726996" cy="2446202"/>
          </a:xfrm>
          <a:custGeom>
            <a:avLst/>
            <a:gdLst/>
            <a:ahLst/>
            <a:cxnLst/>
            <a:rect r="r" b="b" t="t" l="l"/>
            <a:pathLst>
              <a:path h="2446202" w="3726996">
                <a:moveTo>
                  <a:pt x="0" y="0"/>
                </a:moveTo>
                <a:lnTo>
                  <a:pt x="3726996" y="0"/>
                </a:lnTo>
                <a:lnTo>
                  <a:pt x="3726996" y="2446202"/>
                </a:lnTo>
                <a:lnTo>
                  <a:pt x="0" y="2446202"/>
                </a:lnTo>
                <a:lnTo>
                  <a:pt x="0" y="0"/>
                </a:lnTo>
                <a:close/>
              </a:path>
            </a:pathLst>
          </a:custGeom>
          <a:blipFill>
            <a:blip r:embed="rId8"/>
            <a:stretch>
              <a:fillRect l="0" t="0" r="0" b="0"/>
            </a:stretch>
          </a:blipFill>
        </p:spPr>
      </p:sp>
      <p:sp>
        <p:nvSpPr>
          <p:cNvPr name="Freeform 12" id="12"/>
          <p:cNvSpPr/>
          <p:nvPr/>
        </p:nvSpPr>
        <p:spPr>
          <a:xfrm flipH="false" flipV="false" rot="0">
            <a:off x="13813650" y="5254278"/>
            <a:ext cx="3955693" cy="1981193"/>
          </a:xfrm>
          <a:custGeom>
            <a:avLst/>
            <a:gdLst/>
            <a:ahLst/>
            <a:cxnLst/>
            <a:rect r="r" b="b" t="t" l="l"/>
            <a:pathLst>
              <a:path h="1981193" w="3955693">
                <a:moveTo>
                  <a:pt x="0" y="0"/>
                </a:moveTo>
                <a:lnTo>
                  <a:pt x="3955693" y="0"/>
                </a:lnTo>
                <a:lnTo>
                  <a:pt x="3955693" y="1981193"/>
                </a:lnTo>
                <a:lnTo>
                  <a:pt x="0" y="1981193"/>
                </a:lnTo>
                <a:lnTo>
                  <a:pt x="0" y="0"/>
                </a:lnTo>
                <a:close/>
              </a:path>
            </a:pathLst>
          </a:custGeom>
          <a:blipFill>
            <a:blip r:embed="rId9"/>
            <a:stretch>
              <a:fillRect l="0" t="0" r="0" b="0"/>
            </a:stretch>
          </a:blipFill>
        </p:spPr>
      </p:sp>
      <p:sp>
        <p:nvSpPr>
          <p:cNvPr name="Freeform 13" id="13"/>
          <p:cNvSpPr/>
          <p:nvPr/>
        </p:nvSpPr>
        <p:spPr>
          <a:xfrm flipH="false" flipV="false" rot="0">
            <a:off x="9948150" y="7761152"/>
            <a:ext cx="3379574" cy="2106265"/>
          </a:xfrm>
          <a:custGeom>
            <a:avLst/>
            <a:gdLst/>
            <a:ahLst/>
            <a:cxnLst/>
            <a:rect r="r" b="b" t="t" l="l"/>
            <a:pathLst>
              <a:path h="2106265" w="3379574">
                <a:moveTo>
                  <a:pt x="0" y="0"/>
                </a:moveTo>
                <a:lnTo>
                  <a:pt x="3379574" y="0"/>
                </a:lnTo>
                <a:lnTo>
                  <a:pt x="3379574" y="2106265"/>
                </a:lnTo>
                <a:lnTo>
                  <a:pt x="0" y="2106265"/>
                </a:lnTo>
                <a:lnTo>
                  <a:pt x="0" y="0"/>
                </a:lnTo>
                <a:close/>
              </a:path>
            </a:pathLst>
          </a:custGeom>
          <a:blipFill>
            <a:blip r:embed="rId10"/>
            <a:stretch>
              <a:fillRect l="0" t="0" r="0" b="0"/>
            </a:stretch>
          </a:blipFill>
        </p:spPr>
      </p:sp>
      <p:sp>
        <p:nvSpPr>
          <p:cNvPr name="Freeform 14" id="14"/>
          <p:cNvSpPr/>
          <p:nvPr/>
        </p:nvSpPr>
        <p:spPr>
          <a:xfrm flipH="false" flipV="false" rot="0">
            <a:off x="13881840" y="8059321"/>
            <a:ext cx="3819312" cy="1650838"/>
          </a:xfrm>
          <a:custGeom>
            <a:avLst/>
            <a:gdLst/>
            <a:ahLst/>
            <a:cxnLst/>
            <a:rect r="r" b="b" t="t" l="l"/>
            <a:pathLst>
              <a:path h="1650838" w="3819312">
                <a:moveTo>
                  <a:pt x="0" y="0"/>
                </a:moveTo>
                <a:lnTo>
                  <a:pt x="3819312" y="0"/>
                </a:lnTo>
                <a:lnTo>
                  <a:pt x="3819312" y="1650838"/>
                </a:lnTo>
                <a:lnTo>
                  <a:pt x="0" y="1650838"/>
                </a:lnTo>
                <a:lnTo>
                  <a:pt x="0" y="0"/>
                </a:lnTo>
                <a:close/>
              </a:path>
            </a:pathLst>
          </a:custGeom>
          <a:blipFill>
            <a:blip r:embed="rId11"/>
            <a:stretch>
              <a:fillRect l="0" t="0" r="0" b="0"/>
            </a:stretch>
          </a:blipFill>
        </p:spPr>
      </p:sp>
      <p:sp>
        <p:nvSpPr>
          <p:cNvPr name="TextBox 15" id="15"/>
          <p:cNvSpPr txBox="true"/>
          <p:nvPr/>
        </p:nvSpPr>
        <p:spPr>
          <a:xfrm rot="0">
            <a:off x="5332006" y="1275969"/>
            <a:ext cx="8169429" cy="915827"/>
          </a:xfrm>
          <a:prstGeom prst="rect">
            <a:avLst/>
          </a:prstGeom>
        </p:spPr>
        <p:txBody>
          <a:bodyPr anchor="t" rtlCol="false" tIns="0" lIns="0" bIns="0" rIns="0">
            <a:spAutoFit/>
          </a:bodyPr>
          <a:lstStyle/>
          <a:p>
            <a:pPr algn="ctr">
              <a:lnSpc>
                <a:spcPts val="7451"/>
              </a:lnSpc>
              <a:spcBef>
                <a:spcPct val="0"/>
              </a:spcBef>
            </a:pPr>
            <a:r>
              <a:rPr lang="en-US" sz="5322">
                <a:solidFill>
                  <a:srgbClr val="99C5FF"/>
                </a:solidFill>
                <a:latin typeface="HK Modular"/>
                <a:ea typeface="HK Modular"/>
                <a:cs typeface="HK Modular"/>
                <a:sym typeface="HK Modular"/>
              </a:rPr>
              <a:t>ESTRUCTURALES</a:t>
            </a:r>
          </a:p>
        </p:txBody>
      </p:sp>
      <p:sp>
        <p:nvSpPr>
          <p:cNvPr name="TextBox 16" id="16"/>
          <p:cNvSpPr txBox="true"/>
          <p:nvPr/>
        </p:nvSpPr>
        <p:spPr>
          <a:xfrm rot="0">
            <a:off x="225216" y="6716937"/>
            <a:ext cx="5106790" cy="518534"/>
          </a:xfrm>
          <a:prstGeom prst="rect">
            <a:avLst/>
          </a:prstGeom>
        </p:spPr>
        <p:txBody>
          <a:bodyPr anchor="t" rtlCol="false" tIns="0" lIns="0" bIns="0" rIns="0">
            <a:spAutoFit/>
          </a:bodyPr>
          <a:lstStyle/>
          <a:p>
            <a:pPr algn="ctr">
              <a:lnSpc>
                <a:spcPts val="4155"/>
              </a:lnSpc>
              <a:spcBef>
                <a:spcPct val="0"/>
              </a:spcBef>
            </a:pPr>
            <a:r>
              <a:rPr lang="en-US" sz="2968">
                <a:solidFill>
                  <a:srgbClr val="7B640E"/>
                </a:solidFill>
                <a:latin typeface="HK Modular"/>
                <a:ea typeface="HK Modular"/>
                <a:cs typeface="HK Modular"/>
                <a:sym typeface="HK Modular"/>
              </a:rPr>
              <a:t>DECORATOR</a:t>
            </a:r>
          </a:p>
        </p:txBody>
      </p:sp>
      <p:sp>
        <p:nvSpPr>
          <p:cNvPr name="TextBox 17" id="17"/>
          <p:cNvSpPr txBox="true"/>
          <p:nvPr/>
        </p:nvSpPr>
        <p:spPr>
          <a:xfrm rot="0">
            <a:off x="148739" y="3942161"/>
            <a:ext cx="5106790" cy="518534"/>
          </a:xfrm>
          <a:prstGeom prst="rect">
            <a:avLst/>
          </a:prstGeom>
        </p:spPr>
        <p:txBody>
          <a:bodyPr anchor="t" rtlCol="false" tIns="0" lIns="0" bIns="0" rIns="0">
            <a:spAutoFit/>
          </a:bodyPr>
          <a:lstStyle/>
          <a:p>
            <a:pPr algn="ctr">
              <a:lnSpc>
                <a:spcPts val="4155"/>
              </a:lnSpc>
              <a:spcBef>
                <a:spcPct val="0"/>
              </a:spcBef>
            </a:pPr>
            <a:r>
              <a:rPr lang="en-US" sz="2968">
                <a:solidFill>
                  <a:srgbClr val="7B640E"/>
                </a:solidFill>
                <a:latin typeface="HK Modular"/>
                <a:ea typeface="HK Modular"/>
                <a:cs typeface="HK Modular"/>
                <a:sym typeface="HK Modular"/>
              </a:rPr>
              <a:t>FACADE</a:t>
            </a:r>
          </a:p>
        </p:txBody>
      </p:sp>
      <p:sp>
        <p:nvSpPr>
          <p:cNvPr name="TextBox 18" id="18"/>
          <p:cNvSpPr txBox="true"/>
          <p:nvPr/>
        </p:nvSpPr>
        <p:spPr>
          <a:xfrm rot="0">
            <a:off x="0" y="9191625"/>
            <a:ext cx="5106790" cy="518534"/>
          </a:xfrm>
          <a:prstGeom prst="rect">
            <a:avLst/>
          </a:prstGeom>
        </p:spPr>
        <p:txBody>
          <a:bodyPr anchor="t" rtlCol="false" tIns="0" lIns="0" bIns="0" rIns="0">
            <a:spAutoFit/>
          </a:bodyPr>
          <a:lstStyle/>
          <a:p>
            <a:pPr algn="ctr">
              <a:lnSpc>
                <a:spcPts val="4155"/>
              </a:lnSpc>
              <a:spcBef>
                <a:spcPct val="0"/>
              </a:spcBef>
            </a:pPr>
            <a:r>
              <a:rPr lang="en-US" sz="2968">
                <a:solidFill>
                  <a:srgbClr val="7B640E"/>
                </a:solidFill>
                <a:latin typeface="HK Modular"/>
                <a:ea typeface="HK Modular"/>
                <a:cs typeface="HK Modular"/>
                <a:sym typeface="HK Modular"/>
              </a:rPr>
              <a:t>PROXY</a:t>
            </a:r>
          </a:p>
        </p:txBody>
      </p:sp>
      <p:sp>
        <p:nvSpPr>
          <p:cNvPr name="TextBox 19" id="19"/>
          <p:cNvSpPr txBox="true"/>
          <p:nvPr/>
        </p:nvSpPr>
        <p:spPr>
          <a:xfrm rot="0">
            <a:off x="4939578" y="2751649"/>
            <a:ext cx="4313789" cy="1401845"/>
          </a:xfrm>
          <a:prstGeom prst="rect">
            <a:avLst/>
          </a:prstGeom>
        </p:spPr>
        <p:txBody>
          <a:bodyPr anchor="t" rtlCol="false" tIns="0" lIns="0" bIns="0" rIns="0">
            <a:spAutoFit/>
          </a:bodyPr>
          <a:lstStyle/>
          <a:p>
            <a:pPr algn="ctr">
              <a:lnSpc>
                <a:spcPts val="2776"/>
              </a:lnSpc>
              <a:spcBef>
                <a:spcPct val="0"/>
              </a:spcBef>
            </a:pPr>
            <a:r>
              <a:rPr lang="en-US" sz="1983">
                <a:solidFill>
                  <a:srgbClr val="FFFFFF"/>
                </a:solidFill>
                <a:latin typeface="Poppins"/>
                <a:ea typeface="Poppins"/>
                <a:cs typeface="Poppins"/>
                <a:sym typeface="Poppins"/>
              </a:rPr>
              <a:t>Proporciona ina interfaz simplificada a una biblioteca, framework o cualquier otro grupo complejo de clases</a:t>
            </a:r>
          </a:p>
        </p:txBody>
      </p:sp>
      <p:sp>
        <p:nvSpPr>
          <p:cNvPr name="TextBox 20" id="20"/>
          <p:cNvSpPr txBox="true"/>
          <p:nvPr/>
        </p:nvSpPr>
        <p:spPr>
          <a:xfrm rot="0">
            <a:off x="4939578" y="5260795"/>
            <a:ext cx="4313789" cy="1750613"/>
          </a:xfrm>
          <a:prstGeom prst="rect">
            <a:avLst/>
          </a:prstGeom>
        </p:spPr>
        <p:txBody>
          <a:bodyPr anchor="t" rtlCol="false" tIns="0" lIns="0" bIns="0" rIns="0">
            <a:spAutoFit/>
          </a:bodyPr>
          <a:lstStyle/>
          <a:p>
            <a:pPr algn="ctr">
              <a:lnSpc>
                <a:spcPts val="2776"/>
              </a:lnSpc>
              <a:spcBef>
                <a:spcPct val="0"/>
              </a:spcBef>
            </a:pPr>
            <a:r>
              <a:rPr lang="en-US" sz="1983">
                <a:solidFill>
                  <a:srgbClr val="FFFFFF"/>
                </a:solidFill>
                <a:latin typeface="Poppins"/>
                <a:ea typeface="Poppins"/>
                <a:cs typeface="Poppins"/>
                <a:sym typeface="Poppins"/>
              </a:rPr>
              <a:t>Permite añadir funcionalidades a objetos colocando estos objetos dentro de objetos encapsuladores especiales que contienen estas funcionalidades.</a:t>
            </a:r>
          </a:p>
        </p:txBody>
      </p:sp>
      <p:sp>
        <p:nvSpPr>
          <p:cNvPr name="TextBox 21" id="21"/>
          <p:cNvSpPr txBox="true"/>
          <p:nvPr/>
        </p:nvSpPr>
        <p:spPr>
          <a:xfrm rot="0">
            <a:off x="4939578" y="7561635"/>
            <a:ext cx="4313789" cy="2448149"/>
          </a:xfrm>
          <a:prstGeom prst="rect">
            <a:avLst/>
          </a:prstGeom>
        </p:spPr>
        <p:txBody>
          <a:bodyPr anchor="t" rtlCol="false" tIns="0" lIns="0" bIns="0" rIns="0">
            <a:spAutoFit/>
          </a:bodyPr>
          <a:lstStyle/>
          <a:p>
            <a:pPr algn="ctr">
              <a:lnSpc>
                <a:spcPts val="2776"/>
              </a:lnSpc>
              <a:spcBef>
                <a:spcPct val="0"/>
              </a:spcBef>
            </a:pPr>
            <a:r>
              <a:rPr lang="en-US" sz="1983">
                <a:solidFill>
                  <a:srgbClr val="FFFFFF"/>
                </a:solidFill>
                <a:latin typeface="Poppins"/>
                <a:ea typeface="Poppins"/>
                <a:cs typeface="Poppins"/>
                <a:sym typeface="Poppins"/>
              </a:rPr>
              <a:t>Proporcionar un sustituto o marcador de posición para otro objeto. Un proxy controla el acceso al objeto original, permitiéndote hacer algo antes o después de que la solicitud llegue al objeto original.</a:t>
            </a:r>
          </a:p>
        </p:txBody>
      </p:sp>
      <p:sp>
        <p:nvSpPr>
          <p:cNvPr name="Freeform 22" id="22"/>
          <p:cNvSpPr/>
          <p:nvPr/>
        </p:nvSpPr>
        <p:spPr>
          <a:xfrm flipH="false" flipV="false" rot="0">
            <a:off x="8437094" y="-351215"/>
            <a:ext cx="1959253" cy="1959253"/>
          </a:xfrm>
          <a:custGeom>
            <a:avLst/>
            <a:gdLst/>
            <a:ahLst/>
            <a:cxnLst/>
            <a:rect r="r" b="b" t="t" l="l"/>
            <a:pathLst>
              <a:path h="1959253" w="1959253">
                <a:moveTo>
                  <a:pt x="0" y="0"/>
                </a:moveTo>
                <a:lnTo>
                  <a:pt x="1959253" y="0"/>
                </a:lnTo>
                <a:lnTo>
                  <a:pt x="1959253" y="1959253"/>
                </a:lnTo>
                <a:lnTo>
                  <a:pt x="0" y="1959253"/>
                </a:lnTo>
                <a:lnTo>
                  <a:pt x="0" y="0"/>
                </a:lnTo>
                <a:close/>
              </a:path>
            </a:pathLst>
          </a:custGeom>
          <a:blipFill>
            <a:blip r:embed="rId12"/>
            <a:stretch>
              <a:fillRect l="0" t="0" r="0" b="0"/>
            </a:stretch>
          </a:blipFill>
        </p:spPr>
      </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830834" y="-7402381"/>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843284" y="4982200"/>
            <a:ext cx="1703766" cy="1244490"/>
          </a:xfrm>
          <a:custGeom>
            <a:avLst/>
            <a:gdLst/>
            <a:ahLst/>
            <a:cxnLst/>
            <a:rect r="r" b="b" t="t" l="l"/>
            <a:pathLst>
              <a:path h="1244490" w="1703766">
                <a:moveTo>
                  <a:pt x="0" y="0"/>
                </a:moveTo>
                <a:lnTo>
                  <a:pt x="1703766" y="0"/>
                </a:lnTo>
                <a:lnTo>
                  <a:pt x="1703766" y="1244490"/>
                </a:lnTo>
                <a:lnTo>
                  <a:pt x="0" y="1244490"/>
                </a:lnTo>
                <a:lnTo>
                  <a:pt x="0" y="0"/>
                </a:lnTo>
                <a:close/>
              </a:path>
            </a:pathLst>
          </a:custGeom>
          <a:blipFill>
            <a:blip r:embed="rId3"/>
            <a:stretch>
              <a:fillRect l="0" t="0" r="0" b="0"/>
            </a:stretch>
          </a:blipFill>
        </p:spPr>
      </p:sp>
      <p:sp>
        <p:nvSpPr>
          <p:cNvPr name="Freeform 7" id="7"/>
          <p:cNvSpPr/>
          <p:nvPr/>
        </p:nvSpPr>
        <p:spPr>
          <a:xfrm flipH="false" flipV="false" rot="0">
            <a:off x="9416720" y="4608106"/>
            <a:ext cx="3948433" cy="2508124"/>
          </a:xfrm>
          <a:custGeom>
            <a:avLst/>
            <a:gdLst/>
            <a:ahLst/>
            <a:cxnLst/>
            <a:rect r="r" b="b" t="t" l="l"/>
            <a:pathLst>
              <a:path h="2508124" w="3948433">
                <a:moveTo>
                  <a:pt x="0" y="0"/>
                </a:moveTo>
                <a:lnTo>
                  <a:pt x="3948434" y="0"/>
                </a:lnTo>
                <a:lnTo>
                  <a:pt x="3948434" y="2508125"/>
                </a:lnTo>
                <a:lnTo>
                  <a:pt x="0" y="2508125"/>
                </a:lnTo>
                <a:lnTo>
                  <a:pt x="0" y="0"/>
                </a:lnTo>
                <a:close/>
              </a:path>
            </a:pathLst>
          </a:custGeom>
          <a:blipFill>
            <a:blip r:embed="rId4"/>
            <a:stretch>
              <a:fillRect l="0" t="0" r="0" b="0"/>
            </a:stretch>
          </a:blipFill>
        </p:spPr>
      </p:sp>
      <p:sp>
        <p:nvSpPr>
          <p:cNvPr name="Freeform 8" id="8"/>
          <p:cNvSpPr/>
          <p:nvPr/>
        </p:nvSpPr>
        <p:spPr>
          <a:xfrm flipH="false" flipV="false" rot="0">
            <a:off x="13611710" y="4923596"/>
            <a:ext cx="4384334" cy="1877144"/>
          </a:xfrm>
          <a:custGeom>
            <a:avLst/>
            <a:gdLst/>
            <a:ahLst/>
            <a:cxnLst/>
            <a:rect r="r" b="b" t="t" l="l"/>
            <a:pathLst>
              <a:path h="1877144" w="4384334">
                <a:moveTo>
                  <a:pt x="0" y="0"/>
                </a:moveTo>
                <a:lnTo>
                  <a:pt x="4384333" y="0"/>
                </a:lnTo>
                <a:lnTo>
                  <a:pt x="4384333" y="1877145"/>
                </a:lnTo>
                <a:lnTo>
                  <a:pt x="0" y="1877145"/>
                </a:lnTo>
                <a:lnTo>
                  <a:pt x="0" y="0"/>
                </a:lnTo>
                <a:close/>
              </a:path>
            </a:pathLst>
          </a:custGeom>
          <a:blipFill>
            <a:blip r:embed="rId5"/>
            <a:stretch>
              <a:fillRect l="0" t="0" r="0" b="0"/>
            </a:stretch>
          </a:blipFill>
        </p:spPr>
      </p:sp>
      <p:sp>
        <p:nvSpPr>
          <p:cNvPr name="TextBox 9" id="9"/>
          <p:cNvSpPr txBox="true"/>
          <p:nvPr/>
        </p:nvSpPr>
        <p:spPr>
          <a:xfrm rot="0">
            <a:off x="5102931" y="1976682"/>
            <a:ext cx="8169429" cy="915827"/>
          </a:xfrm>
          <a:prstGeom prst="rect">
            <a:avLst/>
          </a:prstGeom>
        </p:spPr>
        <p:txBody>
          <a:bodyPr anchor="t" rtlCol="false" tIns="0" lIns="0" bIns="0" rIns="0">
            <a:spAutoFit/>
          </a:bodyPr>
          <a:lstStyle/>
          <a:p>
            <a:pPr algn="ctr">
              <a:lnSpc>
                <a:spcPts val="7451"/>
              </a:lnSpc>
              <a:spcBef>
                <a:spcPct val="0"/>
              </a:spcBef>
            </a:pPr>
            <a:r>
              <a:rPr lang="en-US" sz="5322">
                <a:solidFill>
                  <a:srgbClr val="99C5FF"/>
                </a:solidFill>
                <a:latin typeface="HK Modular"/>
                <a:ea typeface="HK Modular"/>
                <a:cs typeface="HK Modular"/>
                <a:sym typeface="HK Modular"/>
              </a:rPr>
              <a:t>ESTRUCTURALES</a:t>
            </a:r>
          </a:p>
        </p:txBody>
      </p:sp>
      <p:sp>
        <p:nvSpPr>
          <p:cNvPr name="TextBox 10" id="10"/>
          <p:cNvSpPr txBox="true"/>
          <p:nvPr/>
        </p:nvSpPr>
        <p:spPr>
          <a:xfrm rot="0">
            <a:off x="-3859" y="6449532"/>
            <a:ext cx="5106790" cy="518534"/>
          </a:xfrm>
          <a:prstGeom prst="rect">
            <a:avLst/>
          </a:prstGeom>
        </p:spPr>
        <p:txBody>
          <a:bodyPr anchor="t" rtlCol="false" tIns="0" lIns="0" bIns="0" rIns="0">
            <a:spAutoFit/>
          </a:bodyPr>
          <a:lstStyle/>
          <a:p>
            <a:pPr algn="ctr">
              <a:lnSpc>
                <a:spcPts val="4155"/>
              </a:lnSpc>
              <a:spcBef>
                <a:spcPct val="0"/>
              </a:spcBef>
            </a:pPr>
            <a:r>
              <a:rPr lang="en-US" sz="2968">
                <a:solidFill>
                  <a:srgbClr val="7B640E"/>
                </a:solidFill>
                <a:latin typeface="HK Modular"/>
                <a:ea typeface="HK Modular"/>
                <a:cs typeface="HK Modular"/>
                <a:sym typeface="HK Modular"/>
              </a:rPr>
              <a:t>FLYWEIGHT</a:t>
            </a:r>
          </a:p>
        </p:txBody>
      </p:sp>
      <p:sp>
        <p:nvSpPr>
          <p:cNvPr name="TextBox 11" id="11"/>
          <p:cNvSpPr txBox="true"/>
          <p:nvPr/>
        </p:nvSpPr>
        <p:spPr>
          <a:xfrm rot="0">
            <a:off x="4458726" y="4765594"/>
            <a:ext cx="4313789" cy="2448149"/>
          </a:xfrm>
          <a:prstGeom prst="rect">
            <a:avLst/>
          </a:prstGeom>
        </p:spPr>
        <p:txBody>
          <a:bodyPr anchor="t" rtlCol="false" tIns="0" lIns="0" bIns="0" rIns="0">
            <a:spAutoFit/>
          </a:bodyPr>
          <a:lstStyle/>
          <a:p>
            <a:pPr algn="ctr">
              <a:lnSpc>
                <a:spcPts val="2776"/>
              </a:lnSpc>
              <a:spcBef>
                <a:spcPct val="0"/>
              </a:spcBef>
            </a:pPr>
            <a:r>
              <a:rPr lang="en-US" sz="1983">
                <a:solidFill>
                  <a:srgbClr val="FFFFFF"/>
                </a:solidFill>
                <a:latin typeface="Poppins"/>
                <a:ea typeface="Poppins"/>
                <a:cs typeface="Poppins"/>
                <a:sym typeface="Poppins"/>
              </a:rPr>
              <a:t>Permite mantener más objetos dentro de la cantidad disponible de RAM compartiendo las partes comunes del estado entre varios objetos en lugar de mantener toda la información en cada objeto.</a:t>
            </a:r>
          </a:p>
        </p:txBody>
      </p:sp>
      <p:sp>
        <p:nvSpPr>
          <p:cNvPr name="Freeform 12" id="12"/>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6"/>
            <a:stretch>
              <a:fillRect l="0" t="0" r="0" b="0"/>
            </a:stretch>
          </a:blipFill>
        </p:spPr>
      </p:sp>
    </p:spTree>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054310" y="2736530"/>
            <a:ext cx="2210764" cy="1456705"/>
          </a:xfrm>
          <a:custGeom>
            <a:avLst/>
            <a:gdLst/>
            <a:ahLst/>
            <a:cxnLst/>
            <a:rect r="r" b="b" t="t" l="l"/>
            <a:pathLst>
              <a:path h="1456705" w="2210764">
                <a:moveTo>
                  <a:pt x="0" y="0"/>
                </a:moveTo>
                <a:lnTo>
                  <a:pt x="2210764" y="0"/>
                </a:lnTo>
                <a:lnTo>
                  <a:pt x="2210764" y="1456705"/>
                </a:lnTo>
                <a:lnTo>
                  <a:pt x="0" y="1456705"/>
                </a:lnTo>
                <a:lnTo>
                  <a:pt x="0" y="0"/>
                </a:lnTo>
                <a:close/>
              </a:path>
            </a:pathLst>
          </a:custGeom>
          <a:blipFill>
            <a:blip r:embed="rId3"/>
            <a:stretch>
              <a:fillRect l="0" t="0" r="0" b="0"/>
            </a:stretch>
          </a:blipFill>
        </p:spPr>
      </p:sp>
      <p:sp>
        <p:nvSpPr>
          <p:cNvPr name="Freeform 7" id="7"/>
          <p:cNvSpPr/>
          <p:nvPr/>
        </p:nvSpPr>
        <p:spPr>
          <a:xfrm flipH="false" flipV="false" rot="0">
            <a:off x="1067115" y="5183262"/>
            <a:ext cx="2185154" cy="1432888"/>
          </a:xfrm>
          <a:custGeom>
            <a:avLst/>
            <a:gdLst/>
            <a:ahLst/>
            <a:cxnLst/>
            <a:rect r="r" b="b" t="t" l="l"/>
            <a:pathLst>
              <a:path h="1432888" w="2185154">
                <a:moveTo>
                  <a:pt x="0" y="0"/>
                </a:moveTo>
                <a:lnTo>
                  <a:pt x="2185154" y="0"/>
                </a:lnTo>
                <a:lnTo>
                  <a:pt x="2185154" y="1432888"/>
                </a:lnTo>
                <a:lnTo>
                  <a:pt x="0" y="1432888"/>
                </a:lnTo>
                <a:lnTo>
                  <a:pt x="0" y="0"/>
                </a:lnTo>
                <a:close/>
              </a:path>
            </a:pathLst>
          </a:custGeom>
          <a:blipFill>
            <a:blip r:embed="rId4"/>
            <a:stretch>
              <a:fillRect l="0" t="0" r="0" b="0"/>
            </a:stretch>
          </a:blipFill>
        </p:spPr>
      </p:sp>
      <p:sp>
        <p:nvSpPr>
          <p:cNvPr name="Freeform 8" id="8"/>
          <p:cNvSpPr/>
          <p:nvPr/>
        </p:nvSpPr>
        <p:spPr>
          <a:xfrm flipH="false" flipV="false" rot="0">
            <a:off x="984991" y="7504962"/>
            <a:ext cx="2349401" cy="1503617"/>
          </a:xfrm>
          <a:custGeom>
            <a:avLst/>
            <a:gdLst/>
            <a:ahLst/>
            <a:cxnLst/>
            <a:rect r="r" b="b" t="t" l="l"/>
            <a:pathLst>
              <a:path h="1503617" w="2349401">
                <a:moveTo>
                  <a:pt x="0" y="0"/>
                </a:moveTo>
                <a:lnTo>
                  <a:pt x="2349402" y="0"/>
                </a:lnTo>
                <a:lnTo>
                  <a:pt x="2349402" y="1503617"/>
                </a:lnTo>
                <a:lnTo>
                  <a:pt x="0" y="1503617"/>
                </a:lnTo>
                <a:lnTo>
                  <a:pt x="0" y="0"/>
                </a:lnTo>
                <a:close/>
              </a:path>
            </a:pathLst>
          </a:custGeom>
          <a:blipFill>
            <a:blip r:embed="rId5"/>
            <a:stretch>
              <a:fillRect l="0" t="0" r="0" b="0"/>
            </a:stretch>
          </a:blipFill>
        </p:spPr>
      </p:sp>
      <p:sp>
        <p:nvSpPr>
          <p:cNvPr name="Freeform 9" id="9"/>
          <p:cNvSpPr/>
          <p:nvPr/>
        </p:nvSpPr>
        <p:spPr>
          <a:xfrm flipH="false" flipV="false" rot="0">
            <a:off x="10533515" y="2542265"/>
            <a:ext cx="3026190" cy="2144421"/>
          </a:xfrm>
          <a:custGeom>
            <a:avLst/>
            <a:gdLst/>
            <a:ahLst/>
            <a:cxnLst/>
            <a:rect r="r" b="b" t="t" l="l"/>
            <a:pathLst>
              <a:path h="2144421" w="3026190">
                <a:moveTo>
                  <a:pt x="0" y="0"/>
                </a:moveTo>
                <a:lnTo>
                  <a:pt x="3026190" y="0"/>
                </a:lnTo>
                <a:lnTo>
                  <a:pt x="3026190" y="2144420"/>
                </a:lnTo>
                <a:lnTo>
                  <a:pt x="0" y="2144420"/>
                </a:lnTo>
                <a:lnTo>
                  <a:pt x="0" y="0"/>
                </a:lnTo>
                <a:close/>
              </a:path>
            </a:pathLst>
          </a:custGeom>
          <a:blipFill>
            <a:blip r:embed="rId6"/>
            <a:stretch>
              <a:fillRect l="0" t="0" r="0" b="0"/>
            </a:stretch>
          </a:blipFill>
        </p:spPr>
      </p:sp>
      <p:sp>
        <p:nvSpPr>
          <p:cNvPr name="Freeform 10" id="10"/>
          <p:cNvSpPr/>
          <p:nvPr/>
        </p:nvSpPr>
        <p:spPr>
          <a:xfrm flipH="false" flipV="false" rot="0">
            <a:off x="13829898" y="2642842"/>
            <a:ext cx="3964443" cy="1985476"/>
          </a:xfrm>
          <a:custGeom>
            <a:avLst/>
            <a:gdLst/>
            <a:ahLst/>
            <a:cxnLst/>
            <a:rect r="r" b="b" t="t" l="l"/>
            <a:pathLst>
              <a:path h="1985476" w="3964443">
                <a:moveTo>
                  <a:pt x="0" y="0"/>
                </a:moveTo>
                <a:lnTo>
                  <a:pt x="3964443" y="0"/>
                </a:lnTo>
                <a:lnTo>
                  <a:pt x="3964443" y="1985477"/>
                </a:lnTo>
                <a:lnTo>
                  <a:pt x="0" y="1985477"/>
                </a:lnTo>
                <a:lnTo>
                  <a:pt x="0" y="0"/>
                </a:lnTo>
                <a:close/>
              </a:path>
            </a:pathLst>
          </a:custGeom>
          <a:blipFill>
            <a:blip r:embed="rId7"/>
            <a:stretch>
              <a:fillRect l="0" t="0" r="0" b="0"/>
            </a:stretch>
          </a:blipFill>
        </p:spPr>
      </p:sp>
      <p:sp>
        <p:nvSpPr>
          <p:cNvPr name="Freeform 11" id="11"/>
          <p:cNvSpPr/>
          <p:nvPr/>
        </p:nvSpPr>
        <p:spPr>
          <a:xfrm flipH="false" flipV="false" rot="0">
            <a:off x="10254303" y="4965946"/>
            <a:ext cx="3584615" cy="2431636"/>
          </a:xfrm>
          <a:custGeom>
            <a:avLst/>
            <a:gdLst/>
            <a:ahLst/>
            <a:cxnLst/>
            <a:rect r="r" b="b" t="t" l="l"/>
            <a:pathLst>
              <a:path h="2431636" w="3584615">
                <a:moveTo>
                  <a:pt x="0" y="0"/>
                </a:moveTo>
                <a:lnTo>
                  <a:pt x="3584614" y="0"/>
                </a:lnTo>
                <a:lnTo>
                  <a:pt x="3584614" y="2431636"/>
                </a:lnTo>
                <a:lnTo>
                  <a:pt x="0" y="2431636"/>
                </a:lnTo>
                <a:lnTo>
                  <a:pt x="0" y="0"/>
                </a:lnTo>
                <a:close/>
              </a:path>
            </a:pathLst>
          </a:custGeom>
          <a:blipFill>
            <a:blip r:embed="rId8"/>
            <a:stretch>
              <a:fillRect l="0" t="0" r="0" b="0"/>
            </a:stretch>
          </a:blipFill>
        </p:spPr>
      </p:sp>
      <p:sp>
        <p:nvSpPr>
          <p:cNvPr name="Freeform 12" id="12"/>
          <p:cNvSpPr/>
          <p:nvPr/>
        </p:nvSpPr>
        <p:spPr>
          <a:xfrm flipH="false" flipV="false" rot="0">
            <a:off x="14021008" y="5120912"/>
            <a:ext cx="4053619" cy="1999604"/>
          </a:xfrm>
          <a:custGeom>
            <a:avLst/>
            <a:gdLst/>
            <a:ahLst/>
            <a:cxnLst/>
            <a:rect r="r" b="b" t="t" l="l"/>
            <a:pathLst>
              <a:path h="1999604" w="4053619">
                <a:moveTo>
                  <a:pt x="0" y="0"/>
                </a:moveTo>
                <a:lnTo>
                  <a:pt x="4053619" y="0"/>
                </a:lnTo>
                <a:lnTo>
                  <a:pt x="4053619" y="1999604"/>
                </a:lnTo>
                <a:lnTo>
                  <a:pt x="0" y="1999604"/>
                </a:lnTo>
                <a:lnTo>
                  <a:pt x="0" y="0"/>
                </a:lnTo>
                <a:close/>
              </a:path>
            </a:pathLst>
          </a:custGeom>
          <a:blipFill>
            <a:blip r:embed="rId9"/>
            <a:stretch>
              <a:fillRect l="0" t="0" r="0" b="0"/>
            </a:stretch>
          </a:blipFill>
        </p:spPr>
      </p:sp>
      <p:sp>
        <p:nvSpPr>
          <p:cNvPr name="Freeform 13" id="13"/>
          <p:cNvSpPr/>
          <p:nvPr/>
        </p:nvSpPr>
        <p:spPr>
          <a:xfrm flipH="false" flipV="false" rot="0">
            <a:off x="10393909" y="7642621"/>
            <a:ext cx="3305402" cy="2043719"/>
          </a:xfrm>
          <a:custGeom>
            <a:avLst/>
            <a:gdLst/>
            <a:ahLst/>
            <a:cxnLst/>
            <a:rect r="r" b="b" t="t" l="l"/>
            <a:pathLst>
              <a:path h="2043719" w="3305402">
                <a:moveTo>
                  <a:pt x="0" y="0"/>
                </a:moveTo>
                <a:lnTo>
                  <a:pt x="3305402" y="0"/>
                </a:lnTo>
                <a:lnTo>
                  <a:pt x="3305402" y="2043719"/>
                </a:lnTo>
                <a:lnTo>
                  <a:pt x="0" y="2043719"/>
                </a:lnTo>
                <a:lnTo>
                  <a:pt x="0" y="0"/>
                </a:lnTo>
                <a:close/>
              </a:path>
            </a:pathLst>
          </a:custGeom>
          <a:blipFill>
            <a:blip r:embed="rId10"/>
            <a:stretch>
              <a:fillRect l="0" t="0" r="0" b="0"/>
            </a:stretch>
          </a:blipFill>
        </p:spPr>
      </p:sp>
      <p:sp>
        <p:nvSpPr>
          <p:cNvPr name="Freeform 14" id="14"/>
          <p:cNvSpPr/>
          <p:nvPr/>
        </p:nvSpPr>
        <p:spPr>
          <a:xfrm flipH="false" flipV="false" rot="0">
            <a:off x="13838917" y="7642621"/>
            <a:ext cx="4250805" cy="2042766"/>
          </a:xfrm>
          <a:custGeom>
            <a:avLst/>
            <a:gdLst/>
            <a:ahLst/>
            <a:cxnLst/>
            <a:rect r="r" b="b" t="t" l="l"/>
            <a:pathLst>
              <a:path h="2042766" w="4250805">
                <a:moveTo>
                  <a:pt x="0" y="0"/>
                </a:moveTo>
                <a:lnTo>
                  <a:pt x="4250806" y="0"/>
                </a:lnTo>
                <a:lnTo>
                  <a:pt x="4250806" y="2042767"/>
                </a:lnTo>
                <a:lnTo>
                  <a:pt x="0" y="2042767"/>
                </a:lnTo>
                <a:lnTo>
                  <a:pt x="0" y="0"/>
                </a:lnTo>
                <a:close/>
              </a:path>
            </a:pathLst>
          </a:custGeom>
          <a:blipFill>
            <a:blip r:embed="rId11"/>
            <a:stretch>
              <a:fillRect l="0" t="0" r="0" b="0"/>
            </a:stretch>
          </a:blipFill>
        </p:spPr>
      </p:sp>
      <p:sp>
        <p:nvSpPr>
          <p:cNvPr name="TextBox 15" id="15"/>
          <p:cNvSpPr txBox="true"/>
          <p:nvPr/>
        </p:nvSpPr>
        <p:spPr>
          <a:xfrm rot="0">
            <a:off x="4685855" y="1368277"/>
            <a:ext cx="9153062" cy="993012"/>
          </a:xfrm>
          <a:prstGeom prst="rect">
            <a:avLst/>
          </a:prstGeom>
        </p:spPr>
        <p:txBody>
          <a:bodyPr anchor="t" rtlCol="false" tIns="0" lIns="0" bIns="0" rIns="0">
            <a:spAutoFit/>
          </a:bodyPr>
          <a:lstStyle/>
          <a:p>
            <a:pPr algn="ctr">
              <a:lnSpc>
                <a:spcPts val="8072"/>
              </a:lnSpc>
              <a:spcBef>
                <a:spcPct val="0"/>
              </a:spcBef>
            </a:pPr>
            <a:r>
              <a:rPr lang="en-US" sz="5766">
                <a:solidFill>
                  <a:srgbClr val="99C5FF"/>
                </a:solidFill>
                <a:latin typeface="HK Modular"/>
                <a:ea typeface="HK Modular"/>
                <a:cs typeface="HK Modular"/>
                <a:sym typeface="HK Modular"/>
              </a:rPr>
              <a:t>COMPORTAMIENTO</a:t>
            </a:r>
          </a:p>
        </p:txBody>
      </p:sp>
      <p:sp>
        <p:nvSpPr>
          <p:cNvPr name="TextBox 16" id="16"/>
          <p:cNvSpPr txBox="true"/>
          <p:nvPr/>
        </p:nvSpPr>
        <p:spPr>
          <a:xfrm rot="0">
            <a:off x="690328" y="4369324"/>
            <a:ext cx="2913117" cy="596622"/>
          </a:xfrm>
          <a:prstGeom prst="rect">
            <a:avLst/>
          </a:prstGeom>
        </p:spPr>
        <p:txBody>
          <a:bodyPr anchor="t" rtlCol="false" tIns="0" lIns="0" bIns="0" rIns="0">
            <a:spAutoFit/>
          </a:bodyPr>
          <a:lstStyle/>
          <a:p>
            <a:pPr algn="ctr">
              <a:lnSpc>
                <a:spcPts val="2370"/>
              </a:lnSpc>
              <a:spcBef>
                <a:spcPct val="0"/>
              </a:spcBef>
            </a:pPr>
            <a:r>
              <a:rPr lang="en-US" sz="1693">
                <a:solidFill>
                  <a:srgbClr val="7B640E"/>
                </a:solidFill>
                <a:latin typeface="HK Modular"/>
                <a:ea typeface="HK Modular"/>
                <a:cs typeface="HK Modular"/>
                <a:sym typeface="HK Modular"/>
              </a:rPr>
              <a:t>CHAIN OF RESPONSIBILITY</a:t>
            </a:r>
          </a:p>
        </p:txBody>
      </p:sp>
      <p:sp>
        <p:nvSpPr>
          <p:cNvPr name="TextBox 17" id="17"/>
          <p:cNvSpPr txBox="true"/>
          <p:nvPr/>
        </p:nvSpPr>
        <p:spPr>
          <a:xfrm rot="0">
            <a:off x="674575" y="6787600"/>
            <a:ext cx="2944624" cy="332916"/>
          </a:xfrm>
          <a:prstGeom prst="rect">
            <a:avLst/>
          </a:prstGeom>
        </p:spPr>
        <p:txBody>
          <a:bodyPr anchor="t" rtlCol="false" tIns="0" lIns="0" bIns="0" rIns="0">
            <a:spAutoFit/>
          </a:bodyPr>
          <a:lstStyle/>
          <a:p>
            <a:pPr algn="ctr">
              <a:lnSpc>
                <a:spcPts val="2650"/>
              </a:lnSpc>
              <a:spcBef>
                <a:spcPct val="0"/>
              </a:spcBef>
            </a:pPr>
            <a:r>
              <a:rPr lang="en-US" sz="1893">
                <a:solidFill>
                  <a:srgbClr val="7B640E"/>
                </a:solidFill>
                <a:latin typeface="HK Modular"/>
                <a:ea typeface="HK Modular"/>
                <a:cs typeface="HK Modular"/>
                <a:sym typeface="HK Modular"/>
              </a:rPr>
              <a:t>COMMAND</a:t>
            </a:r>
          </a:p>
        </p:txBody>
      </p:sp>
      <p:sp>
        <p:nvSpPr>
          <p:cNvPr name="TextBox 18" id="18"/>
          <p:cNvSpPr txBox="true"/>
          <p:nvPr/>
        </p:nvSpPr>
        <p:spPr>
          <a:xfrm rot="0">
            <a:off x="658821" y="9180029"/>
            <a:ext cx="2944624" cy="332916"/>
          </a:xfrm>
          <a:prstGeom prst="rect">
            <a:avLst/>
          </a:prstGeom>
        </p:spPr>
        <p:txBody>
          <a:bodyPr anchor="t" rtlCol="false" tIns="0" lIns="0" bIns="0" rIns="0">
            <a:spAutoFit/>
          </a:bodyPr>
          <a:lstStyle/>
          <a:p>
            <a:pPr algn="ctr">
              <a:lnSpc>
                <a:spcPts val="2650"/>
              </a:lnSpc>
              <a:spcBef>
                <a:spcPct val="0"/>
              </a:spcBef>
            </a:pPr>
            <a:r>
              <a:rPr lang="en-US" sz="1893">
                <a:solidFill>
                  <a:srgbClr val="7B640E"/>
                </a:solidFill>
                <a:latin typeface="HK Modular"/>
                <a:ea typeface="HK Modular"/>
                <a:cs typeface="HK Modular"/>
                <a:sym typeface="HK Modular"/>
              </a:rPr>
              <a:t>ITERATOR</a:t>
            </a:r>
          </a:p>
        </p:txBody>
      </p:sp>
      <p:sp>
        <p:nvSpPr>
          <p:cNvPr name="TextBox 19" id="19"/>
          <p:cNvSpPr txBox="true"/>
          <p:nvPr/>
        </p:nvSpPr>
        <p:spPr>
          <a:xfrm rot="0">
            <a:off x="4257785" y="2806587"/>
            <a:ext cx="5285130" cy="1600837"/>
          </a:xfrm>
          <a:prstGeom prst="rect">
            <a:avLst/>
          </a:prstGeom>
        </p:spPr>
        <p:txBody>
          <a:bodyPr anchor="t" rtlCol="false" tIns="0" lIns="0" bIns="0" rIns="0">
            <a:spAutoFit/>
          </a:bodyPr>
          <a:lstStyle/>
          <a:p>
            <a:pPr algn="ctr">
              <a:lnSpc>
                <a:spcPts val="2521"/>
              </a:lnSpc>
              <a:spcBef>
                <a:spcPct val="0"/>
              </a:spcBef>
            </a:pPr>
            <a:r>
              <a:rPr lang="en-US" sz="1801">
                <a:solidFill>
                  <a:srgbClr val="FFFFFF"/>
                </a:solidFill>
                <a:latin typeface="Poppins"/>
                <a:ea typeface="Poppins"/>
                <a:cs typeface="Poppins"/>
                <a:sym typeface="Poppins"/>
              </a:rPr>
              <a:t>P</a:t>
            </a:r>
            <a:r>
              <a:rPr lang="en-US" sz="1801">
                <a:solidFill>
                  <a:srgbClr val="FFFFFF"/>
                </a:solidFill>
                <a:latin typeface="Poppins"/>
                <a:ea typeface="Poppins"/>
                <a:cs typeface="Poppins"/>
                <a:sym typeface="Poppins"/>
              </a:rPr>
              <a:t>ermite pasar solicitudes a lo largo de una cadena de manejadores. Al recibir una solicitud, cada manejador decide si la procesa o si la pasa al siguiente manejador de la cadena.</a:t>
            </a:r>
          </a:p>
        </p:txBody>
      </p:sp>
      <p:sp>
        <p:nvSpPr>
          <p:cNvPr name="TextBox 20" id="20"/>
          <p:cNvSpPr txBox="true"/>
          <p:nvPr/>
        </p:nvSpPr>
        <p:spPr>
          <a:xfrm rot="0">
            <a:off x="4257785" y="4908796"/>
            <a:ext cx="5285130" cy="2554497"/>
          </a:xfrm>
          <a:prstGeom prst="rect">
            <a:avLst/>
          </a:prstGeom>
        </p:spPr>
        <p:txBody>
          <a:bodyPr anchor="t" rtlCol="false" tIns="0" lIns="0" bIns="0" rIns="0">
            <a:spAutoFit/>
          </a:bodyPr>
          <a:lstStyle/>
          <a:p>
            <a:pPr algn="ctr">
              <a:lnSpc>
                <a:spcPts val="2521"/>
              </a:lnSpc>
              <a:spcBef>
                <a:spcPct val="0"/>
              </a:spcBef>
            </a:pPr>
            <a:r>
              <a:rPr lang="en-US" sz="1801">
                <a:solidFill>
                  <a:srgbClr val="FFFFFF"/>
                </a:solidFill>
                <a:latin typeface="Poppins"/>
                <a:ea typeface="Poppins"/>
                <a:cs typeface="Poppins"/>
                <a:sym typeface="Poppins"/>
              </a:rPr>
              <a:t>Convierte una solicitud en un objeto independiente que contiene toda la información sobre la solicitud. Esta transformación te permite parametrizar los métodos con diferentes solicitudes, retrasar o poner en cola la ejecución de una solicitud y soportar operaciones que no se pueden realizar.</a:t>
            </a:r>
          </a:p>
        </p:txBody>
      </p:sp>
      <p:sp>
        <p:nvSpPr>
          <p:cNvPr name="TextBox 21" id="21"/>
          <p:cNvSpPr txBox="true"/>
          <p:nvPr/>
        </p:nvSpPr>
        <p:spPr>
          <a:xfrm rot="0">
            <a:off x="4257785" y="7912107"/>
            <a:ext cx="5285130" cy="965064"/>
          </a:xfrm>
          <a:prstGeom prst="rect">
            <a:avLst/>
          </a:prstGeom>
        </p:spPr>
        <p:txBody>
          <a:bodyPr anchor="t" rtlCol="false" tIns="0" lIns="0" bIns="0" rIns="0">
            <a:spAutoFit/>
          </a:bodyPr>
          <a:lstStyle/>
          <a:p>
            <a:pPr algn="ctr">
              <a:lnSpc>
                <a:spcPts val="2521"/>
              </a:lnSpc>
              <a:spcBef>
                <a:spcPct val="0"/>
              </a:spcBef>
            </a:pPr>
            <a:r>
              <a:rPr lang="en-US" sz="1801">
                <a:solidFill>
                  <a:srgbClr val="FFFFFF"/>
                </a:solidFill>
                <a:latin typeface="Poppins"/>
                <a:ea typeface="Poppins"/>
                <a:cs typeface="Poppins"/>
                <a:sym typeface="Poppins"/>
              </a:rPr>
              <a:t>Permite recorrer elementos de una colección sin exponer su representación subyacente (lista, pila, árbol, etc.).</a:t>
            </a:r>
          </a:p>
        </p:txBody>
      </p:sp>
      <p:sp>
        <p:nvSpPr>
          <p:cNvPr name="Freeform 22" id="22"/>
          <p:cNvSpPr/>
          <p:nvPr/>
        </p:nvSpPr>
        <p:spPr>
          <a:xfrm flipH="false" flipV="false" rot="0">
            <a:off x="8348588" y="-351215"/>
            <a:ext cx="2388654" cy="2388654"/>
          </a:xfrm>
          <a:custGeom>
            <a:avLst/>
            <a:gdLst/>
            <a:ahLst/>
            <a:cxnLst/>
            <a:rect r="r" b="b" t="t" l="l"/>
            <a:pathLst>
              <a:path h="2388654" w="2388654">
                <a:moveTo>
                  <a:pt x="0" y="0"/>
                </a:moveTo>
                <a:lnTo>
                  <a:pt x="2388654" y="0"/>
                </a:lnTo>
                <a:lnTo>
                  <a:pt x="2388654" y="2388655"/>
                </a:lnTo>
                <a:lnTo>
                  <a:pt x="0" y="2388655"/>
                </a:lnTo>
                <a:lnTo>
                  <a:pt x="0" y="0"/>
                </a:lnTo>
                <a:close/>
              </a:path>
            </a:pathLst>
          </a:custGeom>
          <a:blipFill>
            <a:blip r:embed="rId12"/>
            <a:stretch>
              <a:fillRect l="0" t="0" r="0" b="0"/>
            </a:stretch>
          </a:blipFill>
        </p:spPr>
      </p:sp>
    </p:spTree>
  </p:cSld>
  <p:clrMapOvr>
    <a:masterClrMapping/>
  </p:clrMapOvr>
</p:sld>
</file>

<file path=ppt/slides/slide5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152789" y="2449242"/>
            <a:ext cx="1941953" cy="1456465"/>
          </a:xfrm>
          <a:custGeom>
            <a:avLst/>
            <a:gdLst/>
            <a:ahLst/>
            <a:cxnLst/>
            <a:rect r="r" b="b" t="t" l="l"/>
            <a:pathLst>
              <a:path h="1456465" w="1941953">
                <a:moveTo>
                  <a:pt x="0" y="0"/>
                </a:moveTo>
                <a:lnTo>
                  <a:pt x="1941954" y="0"/>
                </a:lnTo>
                <a:lnTo>
                  <a:pt x="1941954" y="1456465"/>
                </a:lnTo>
                <a:lnTo>
                  <a:pt x="0" y="1456465"/>
                </a:lnTo>
                <a:lnTo>
                  <a:pt x="0" y="0"/>
                </a:lnTo>
                <a:close/>
              </a:path>
            </a:pathLst>
          </a:custGeom>
          <a:blipFill>
            <a:blip r:embed="rId3"/>
            <a:stretch>
              <a:fillRect l="0" t="0" r="0" b="0"/>
            </a:stretch>
          </a:blipFill>
        </p:spPr>
      </p:sp>
      <p:sp>
        <p:nvSpPr>
          <p:cNvPr name="Freeform 7" id="7"/>
          <p:cNvSpPr/>
          <p:nvPr/>
        </p:nvSpPr>
        <p:spPr>
          <a:xfrm flipH="false" flipV="false" rot="0">
            <a:off x="897793" y="7796678"/>
            <a:ext cx="2231396" cy="1475884"/>
          </a:xfrm>
          <a:custGeom>
            <a:avLst/>
            <a:gdLst/>
            <a:ahLst/>
            <a:cxnLst/>
            <a:rect r="r" b="b" t="t" l="l"/>
            <a:pathLst>
              <a:path h="1475884" w="2231396">
                <a:moveTo>
                  <a:pt x="0" y="0"/>
                </a:moveTo>
                <a:lnTo>
                  <a:pt x="2231397" y="0"/>
                </a:lnTo>
                <a:lnTo>
                  <a:pt x="2231397" y="1475884"/>
                </a:lnTo>
                <a:lnTo>
                  <a:pt x="0" y="1475884"/>
                </a:lnTo>
                <a:lnTo>
                  <a:pt x="0" y="0"/>
                </a:lnTo>
                <a:close/>
              </a:path>
            </a:pathLst>
          </a:custGeom>
          <a:blipFill>
            <a:blip r:embed="rId4"/>
            <a:stretch>
              <a:fillRect l="0" t="0" r="0" b="0"/>
            </a:stretch>
          </a:blipFill>
        </p:spPr>
      </p:sp>
      <p:sp>
        <p:nvSpPr>
          <p:cNvPr name="Freeform 8" id="8"/>
          <p:cNvSpPr/>
          <p:nvPr/>
        </p:nvSpPr>
        <p:spPr>
          <a:xfrm flipH="false" flipV="false" rot="0">
            <a:off x="1075657" y="4821601"/>
            <a:ext cx="1875669" cy="1554126"/>
          </a:xfrm>
          <a:custGeom>
            <a:avLst/>
            <a:gdLst/>
            <a:ahLst/>
            <a:cxnLst/>
            <a:rect r="r" b="b" t="t" l="l"/>
            <a:pathLst>
              <a:path h="1554126" w="1875669">
                <a:moveTo>
                  <a:pt x="0" y="0"/>
                </a:moveTo>
                <a:lnTo>
                  <a:pt x="1875669" y="0"/>
                </a:lnTo>
                <a:lnTo>
                  <a:pt x="1875669" y="1554125"/>
                </a:lnTo>
                <a:lnTo>
                  <a:pt x="0" y="1554125"/>
                </a:lnTo>
                <a:lnTo>
                  <a:pt x="0" y="0"/>
                </a:lnTo>
                <a:close/>
              </a:path>
            </a:pathLst>
          </a:custGeom>
          <a:blipFill>
            <a:blip r:embed="rId5"/>
            <a:stretch>
              <a:fillRect l="0" t="0" r="0" b="0"/>
            </a:stretch>
          </a:blipFill>
        </p:spPr>
      </p:sp>
      <p:sp>
        <p:nvSpPr>
          <p:cNvPr name="Freeform 9" id="9"/>
          <p:cNvSpPr/>
          <p:nvPr/>
        </p:nvSpPr>
        <p:spPr>
          <a:xfrm flipH="false" flipV="false" rot="0">
            <a:off x="10129667" y="2314667"/>
            <a:ext cx="3630941" cy="2229332"/>
          </a:xfrm>
          <a:custGeom>
            <a:avLst/>
            <a:gdLst/>
            <a:ahLst/>
            <a:cxnLst/>
            <a:rect r="r" b="b" t="t" l="l"/>
            <a:pathLst>
              <a:path h="2229332" w="3630941">
                <a:moveTo>
                  <a:pt x="0" y="0"/>
                </a:moveTo>
                <a:lnTo>
                  <a:pt x="3630941" y="0"/>
                </a:lnTo>
                <a:lnTo>
                  <a:pt x="3630941" y="2229332"/>
                </a:lnTo>
                <a:lnTo>
                  <a:pt x="0" y="2229332"/>
                </a:lnTo>
                <a:lnTo>
                  <a:pt x="0" y="0"/>
                </a:lnTo>
                <a:close/>
              </a:path>
            </a:pathLst>
          </a:custGeom>
          <a:blipFill>
            <a:blip r:embed="rId6"/>
            <a:stretch>
              <a:fillRect l="0" t="0" r="0" b="0"/>
            </a:stretch>
          </a:blipFill>
        </p:spPr>
      </p:sp>
      <p:sp>
        <p:nvSpPr>
          <p:cNvPr name="Freeform 10" id="10"/>
          <p:cNvSpPr/>
          <p:nvPr/>
        </p:nvSpPr>
        <p:spPr>
          <a:xfrm flipH="false" flipV="false" rot="0">
            <a:off x="14315148" y="2373673"/>
            <a:ext cx="3540417" cy="1977937"/>
          </a:xfrm>
          <a:custGeom>
            <a:avLst/>
            <a:gdLst/>
            <a:ahLst/>
            <a:cxnLst/>
            <a:rect r="r" b="b" t="t" l="l"/>
            <a:pathLst>
              <a:path h="1977937" w="3540417">
                <a:moveTo>
                  <a:pt x="0" y="0"/>
                </a:moveTo>
                <a:lnTo>
                  <a:pt x="3540417" y="0"/>
                </a:lnTo>
                <a:lnTo>
                  <a:pt x="3540417" y="1977937"/>
                </a:lnTo>
                <a:lnTo>
                  <a:pt x="0" y="1977937"/>
                </a:lnTo>
                <a:lnTo>
                  <a:pt x="0" y="0"/>
                </a:lnTo>
                <a:close/>
              </a:path>
            </a:pathLst>
          </a:custGeom>
          <a:blipFill>
            <a:blip r:embed="rId7"/>
            <a:stretch>
              <a:fillRect l="0" t="0" r="0" b="0"/>
            </a:stretch>
          </a:blipFill>
        </p:spPr>
      </p:sp>
      <p:sp>
        <p:nvSpPr>
          <p:cNvPr name="Freeform 11" id="11"/>
          <p:cNvSpPr/>
          <p:nvPr/>
        </p:nvSpPr>
        <p:spPr>
          <a:xfrm flipH="false" flipV="false" rot="0">
            <a:off x="10129667" y="7504962"/>
            <a:ext cx="3207379" cy="2077736"/>
          </a:xfrm>
          <a:custGeom>
            <a:avLst/>
            <a:gdLst/>
            <a:ahLst/>
            <a:cxnLst/>
            <a:rect r="r" b="b" t="t" l="l"/>
            <a:pathLst>
              <a:path h="2077736" w="3207379">
                <a:moveTo>
                  <a:pt x="0" y="0"/>
                </a:moveTo>
                <a:lnTo>
                  <a:pt x="3207379" y="0"/>
                </a:lnTo>
                <a:lnTo>
                  <a:pt x="3207379" y="2077736"/>
                </a:lnTo>
                <a:lnTo>
                  <a:pt x="0" y="2077736"/>
                </a:lnTo>
                <a:lnTo>
                  <a:pt x="0" y="0"/>
                </a:lnTo>
                <a:close/>
              </a:path>
            </a:pathLst>
          </a:custGeom>
          <a:blipFill>
            <a:blip r:embed="rId8"/>
            <a:stretch>
              <a:fillRect l="0" t="0" r="0" b="0"/>
            </a:stretch>
          </a:blipFill>
        </p:spPr>
      </p:sp>
      <p:sp>
        <p:nvSpPr>
          <p:cNvPr name="Freeform 12" id="12"/>
          <p:cNvSpPr/>
          <p:nvPr/>
        </p:nvSpPr>
        <p:spPr>
          <a:xfrm flipH="false" flipV="false" rot="0">
            <a:off x="14070471" y="7803623"/>
            <a:ext cx="3618793" cy="1468939"/>
          </a:xfrm>
          <a:custGeom>
            <a:avLst/>
            <a:gdLst/>
            <a:ahLst/>
            <a:cxnLst/>
            <a:rect r="r" b="b" t="t" l="l"/>
            <a:pathLst>
              <a:path h="1468939" w="3618793">
                <a:moveTo>
                  <a:pt x="0" y="0"/>
                </a:moveTo>
                <a:lnTo>
                  <a:pt x="3618793" y="0"/>
                </a:lnTo>
                <a:lnTo>
                  <a:pt x="3618793" y="1468939"/>
                </a:lnTo>
                <a:lnTo>
                  <a:pt x="0" y="1468939"/>
                </a:lnTo>
                <a:lnTo>
                  <a:pt x="0" y="0"/>
                </a:lnTo>
                <a:close/>
              </a:path>
            </a:pathLst>
          </a:custGeom>
          <a:blipFill>
            <a:blip r:embed="rId9"/>
            <a:stretch>
              <a:fillRect l="0" t="0" r="0" b="0"/>
            </a:stretch>
          </a:blipFill>
        </p:spPr>
      </p:sp>
      <p:sp>
        <p:nvSpPr>
          <p:cNvPr name="Freeform 13" id="13"/>
          <p:cNvSpPr/>
          <p:nvPr/>
        </p:nvSpPr>
        <p:spPr>
          <a:xfrm flipH="false" flipV="false" rot="0">
            <a:off x="10129667" y="4891141"/>
            <a:ext cx="3450139" cy="2066803"/>
          </a:xfrm>
          <a:custGeom>
            <a:avLst/>
            <a:gdLst/>
            <a:ahLst/>
            <a:cxnLst/>
            <a:rect r="r" b="b" t="t" l="l"/>
            <a:pathLst>
              <a:path h="2066803" w="3450139">
                <a:moveTo>
                  <a:pt x="0" y="0"/>
                </a:moveTo>
                <a:lnTo>
                  <a:pt x="3450139" y="0"/>
                </a:lnTo>
                <a:lnTo>
                  <a:pt x="3450139" y="2066803"/>
                </a:lnTo>
                <a:lnTo>
                  <a:pt x="0" y="2066803"/>
                </a:lnTo>
                <a:lnTo>
                  <a:pt x="0" y="0"/>
                </a:lnTo>
                <a:close/>
              </a:path>
            </a:pathLst>
          </a:custGeom>
          <a:blipFill>
            <a:blip r:embed="rId10"/>
            <a:stretch>
              <a:fillRect l="0" t="0" r="0" b="0"/>
            </a:stretch>
          </a:blipFill>
        </p:spPr>
      </p:sp>
      <p:sp>
        <p:nvSpPr>
          <p:cNvPr name="Freeform 14" id="14"/>
          <p:cNvSpPr/>
          <p:nvPr/>
        </p:nvSpPr>
        <p:spPr>
          <a:xfrm flipH="false" flipV="false" rot="0">
            <a:off x="14315148" y="5009210"/>
            <a:ext cx="3215744" cy="1830666"/>
          </a:xfrm>
          <a:custGeom>
            <a:avLst/>
            <a:gdLst/>
            <a:ahLst/>
            <a:cxnLst/>
            <a:rect r="r" b="b" t="t" l="l"/>
            <a:pathLst>
              <a:path h="1830666" w="3215744">
                <a:moveTo>
                  <a:pt x="0" y="0"/>
                </a:moveTo>
                <a:lnTo>
                  <a:pt x="3215745" y="0"/>
                </a:lnTo>
                <a:lnTo>
                  <a:pt x="3215745" y="1830666"/>
                </a:lnTo>
                <a:lnTo>
                  <a:pt x="0" y="1830666"/>
                </a:lnTo>
                <a:lnTo>
                  <a:pt x="0" y="0"/>
                </a:lnTo>
                <a:close/>
              </a:path>
            </a:pathLst>
          </a:custGeom>
          <a:blipFill>
            <a:blip r:embed="rId11"/>
            <a:stretch>
              <a:fillRect l="0" t="0" r="0" b="0"/>
            </a:stretch>
          </a:blipFill>
        </p:spPr>
      </p:sp>
      <p:sp>
        <p:nvSpPr>
          <p:cNvPr name="TextBox 15" id="15"/>
          <p:cNvSpPr txBox="true"/>
          <p:nvPr/>
        </p:nvSpPr>
        <p:spPr>
          <a:xfrm rot="0">
            <a:off x="4516135" y="1240994"/>
            <a:ext cx="8812600" cy="950802"/>
          </a:xfrm>
          <a:prstGeom prst="rect">
            <a:avLst/>
          </a:prstGeom>
        </p:spPr>
        <p:txBody>
          <a:bodyPr anchor="t" rtlCol="false" tIns="0" lIns="0" bIns="0" rIns="0">
            <a:spAutoFit/>
          </a:bodyPr>
          <a:lstStyle/>
          <a:p>
            <a:pPr algn="ctr">
              <a:lnSpc>
                <a:spcPts val="7772"/>
              </a:lnSpc>
              <a:spcBef>
                <a:spcPct val="0"/>
              </a:spcBef>
            </a:pPr>
            <a:r>
              <a:rPr lang="en-US" sz="5551">
                <a:solidFill>
                  <a:srgbClr val="99C5FF"/>
                </a:solidFill>
                <a:latin typeface="HK Modular"/>
                <a:ea typeface="HK Modular"/>
                <a:cs typeface="HK Modular"/>
                <a:sym typeface="HK Modular"/>
              </a:rPr>
              <a:t>COMPORTAMIENTO</a:t>
            </a:r>
          </a:p>
        </p:txBody>
      </p:sp>
      <p:sp>
        <p:nvSpPr>
          <p:cNvPr name="TextBox 16" id="16"/>
          <p:cNvSpPr txBox="true"/>
          <p:nvPr/>
        </p:nvSpPr>
        <p:spPr>
          <a:xfrm rot="0">
            <a:off x="651454" y="4018695"/>
            <a:ext cx="2944624" cy="332916"/>
          </a:xfrm>
          <a:prstGeom prst="rect">
            <a:avLst/>
          </a:prstGeom>
        </p:spPr>
        <p:txBody>
          <a:bodyPr anchor="t" rtlCol="false" tIns="0" lIns="0" bIns="0" rIns="0">
            <a:spAutoFit/>
          </a:bodyPr>
          <a:lstStyle/>
          <a:p>
            <a:pPr algn="ctr">
              <a:lnSpc>
                <a:spcPts val="2650"/>
              </a:lnSpc>
              <a:spcBef>
                <a:spcPct val="0"/>
              </a:spcBef>
            </a:pPr>
            <a:r>
              <a:rPr lang="en-US" sz="1893">
                <a:solidFill>
                  <a:srgbClr val="7B640E"/>
                </a:solidFill>
                <a:latin typeface="HK Modular"/>
                <a:ea typeface="HK Modular"/>
                <a:cs typeface="HK Modular"/>
                <a:sym typeface="HK Modular"/>
              </a:rPr>
              <a:t>MEDIATOR</a:t>
            </a:r>
          </a:p>
        </p:txBody>
      </p:sp>
      <p:sp>
        <p:nvSpPr>
          <p:cNvPr name="TextBox 17" id="17"/>
          <p:cNvSpPr txBox="true"/>
          <p:nvPr/>
        </p:nvSpPr>
        <p:spPr>
          <a:xfrm rot="0">
            <a:off x="541179" y="9516653"/>
            <a:ext cx="2944624" cy="332916"/>
          </a:xfrm>
          <a:prstGeom prst="rect">
            <a:avLst/>
          </a:prstGeom>
        </p:spPr>
        <p:txBody>
          <a:bodyPr anchor="t" rtlCol="false" tIns="0" lIns="0" bIns="0" rIns="0">
            <a:spAutoFit/>
          </a:bodyPr>
          <a:lstStyle/>
          <a:p>
            <a:pPr algn="ctr">
              <a:lnSpc>
                <a:spcPts val="2650"/>
              </a:lnSpc>
              <a:spcBef>
                <a:spcPct val="0"/>
              </a:spcBef>
            </a:pPr>
            <a:r>
              <a:rPr lang="en-US" sz="1893">
                <a:solidFill>
                  <a:srgbClr val="7B640E"/>
                </a:solidFill>
                <a:latin typeface="HK Modular"/>
                <a:ea typeface="HK Modular"/>
                <a:cs typeface="HK Modular"/>
                <a:sym typeface="HK Modular"/>
              </a:rPr>
              <a:t>MEMENTO</a:t>
            </a:r>
          </a:p>
        </p:txBody>
      </p:sp>
      <p:sp>
        <p:nvSpPr>
          <p:cNvPr name="TextBox 18" id="18"/>
          <p:cNvSpPr txBox="true"/>
          <p:nvPr/>
        </p:nvSpPr>
        <p:spPr>
          <a:xfrm rot="0">
            <a:off x="541179" y="6600986"/>
            <a:ext cx="2944624" cy="666291"/>
          </a:xfrm>
          <a:prstGeom prst="rect">
            <a:avLst/>
          </a:prstGeom>
        </p:spPr>
        <p:txBody>
          <a:bodyPr anchor="t" rtlCol="false" tIns="0" lIns="0" bIns="0" rIns="0">
            <a:spAutoFit/>
          </a:bodyPr>
          <a:lstStyle/>
          <a:p>
            <a:pPr algn="ctr">
              <a:lnSpc>
                <a:spcPts val="2650"/>
              </a:lnSpc>
              <a:spcBef>
                <a:spcPct val="0"/>
              </a:spcBef>
            </a:pPr>
            <a:r>
              <a:rPr lang="en-US" sz="1893">
                <a:solidFill>
                  <a:srgbClr val="7B640E"/>
                </a:solidFill>
                <a:latin typeface="HK Modular"/>
                <a:ea typeface="HK Modular"/>
                <a:cs typeface="HK Modular"/>
                <a:sym typeface="HK Modular"/>
              </a:rPr>
              <a:t>TEMPLATE METHOD</a:t>
            </a:r>
          </a:p>
        </p:txBody>
      </p:sp>
      <p:sp>
        <p:nvSpPr>
          <p:cNvPr name="TextBox 19" id="19"/>
          <p:cNvSpPr txBox="true"/>
          <p:nvPr/>
        </p:nvSpPr>
        <p:spPr>
          <a:xfrm rot="0">
            <a:off x="3968237" y="2465482"/>
            <a:ext cx="5285130" cy="1600837"/>
          </a:xfrm>
          <a:prstGeom prst="rect">
            <a:avLst/>
          </a:prstGeom>
        </p:spPr>
        <p:txBody>
          <a:bodyPr anchor="t" rtlCol="false" tIns="0" lIns="0" bIns="0" rIns="0">
            <a:spAutoFit/>
          </a:bodyPr>
          <a:lstStyle/>
          <a:p>
            <a:pPr algn="ctr">
              <a:lnSpc>
                <a:spcPts val="2521"/>
              </a:lnSpc>
              <a:spcBef>
                <a:spcPct val="0"/>
              </a:spcBef>
            </a:pPr>
            <a:r>
              <a:rPr lang="en-US" sz="1801">
                <a:solidFill>
                  <a:srgbClr val="FFFFFF"/>
                </a:solidFill>
                <a:latin typeface="Poppins"/>
                <a:ea typeface="Poppins"/>
                <a:cs typeface="Poppins"/>
                <a:sym typeface="Poppins"/>
              </a:rPr>
              <a:t>Permite reducir las dependencias caóticas entre objetos. El patrón restringe las comunicaciones directas entre los objetos, forzándolos a colaborar únicamente a través de un objeto mediador.</a:t>
            </a:r>
          </a:p>
        </p:txBody>
      </p:sp>
      <p:sp>
        <p:nvSpPr>
          <p:cNvPr name="TextBox 20" id="20"/>
          <p:cNvSpPr txBox="true"/>
          <p:nvPr/>
        </p:nvSpPr>
        <p:spPr>
          <a:xfrm rot="0">
            <a:off x="4112542" y="8095512"/>
            <a:ext cx="5285130" cy="965064"/>
          </a:xfrm>
          <a:prstGeom prst="rect">
            <a:avLst/>
          </a:prstGeom>
        </p:spPr>
        <p:txBody>
          <a:bodyPr anchor="t" rtlCol="false" tIns="0" lIns="0" bIns="0" rIns="0">
            <a:spAutoFit/>
          </a:bodyPr>
          <a:lstStyle/>
          <a:p>
            <a:pPr algn="ctr">
              <a:lnSpc>
                <a:spcPts val="2521"/>
              </a:lnSpc>
              <a:spcBef>
                <a:spcPct val="0"/>
              </a:spcBef>
            </a:pPr>
            <a:r>
              <a:rPr lang="en-US" sz="1801">
                <a:solidFill>
                  <a:srgbClr val="FFFFFF"/>
                </a:solidFill>
                <a:latin typeface="Poppins"/>
                <a:ea typeface="Poppins"/>
                <a:cs typeface="Poppins"/>
                <a:sym typeface="Poppins"/>
              </a:rPr>
              <a:t>Permite guardar y restaurar el estado previo de un objeto sin revelar los detalles de su implementación.</a:t>
            </a:r>
          </a:p>
        </p:txBody>
      </p:sp>
      <p:sp>
        <p:nvSpPr>
          <p:cNvPr name="TextBox 21" id="21"/>
          <p:cNvSpPr txBox="true"/>
          <p:nvPr/>
        </p:nvSpPr>
        <p:spPr>
          <a:xfrm rot="0">
            <a:off x="3968237" y="4933650"/>
            <a:ext cx="5285130" cy="1282951"/>
          </a:xfrm>
          <a:prstGeom prst="rect">
            <a:avLst/>
          </a:prstGeom>
        </p:spPr>
        <p:txBody>
          <a:bodyPr anchor="t" rtlCol="false" tIns="0" lIns="0" bIns="0" rIns="0">
            <a:spAutoFit/>
          </a:bodyPr>
          <a:lstStyle/>
          <a:p>
            <a:pPr algn="ctr">
              <a:lnSpc>
                <a:spcPts val="2521"/>
              </a:lnSpc>
              <a:spcBef>
                <a:spcPct val="0"/>
              </a:spcBef>
            </a:pPr>
            <a:r>
              <a:rPr lang="en-US" sz="1801">
                <a:solidFill>
                  <a:srgbClr val="FFFFFF"/>
                </a:solidFill>
                <a:latin typeface="Poppins"/>
                <a:ea typeface="Poppins"/>
                <a:cs typeface="Poppins"/>
                <a:sym typeface="Poppins"/>
              </a:rPr>
              <a:t>Define el esqueleto de un algoritmo en la superclase pero permite que las subclases sobrescriban pasos del algoritmo sin cambiar su estructura.</a:t>
            </a:r>
          </a:p>
        </p:txBody>
      </p:sp>
      <p:sp>
        <p:nvSpPr>
          <p:cNvPr name="Freeform 22" id="22"/>
          <p:cNvSpPr/>
          <p:nvPr/>
        </p:nvSpPr>
        <p:spPr>
          <a:xfrm flipH="false" flipV="false" rot="0">
            <a:off x="8402483" y="-455990"/>
            <a:ext cx="2322982" cy="2322982"/>
          </a:xfrm>
          <a:custGeom>
            <a:avLst/>
            <a:gdLst/>
            <a:ahLst/>
            <a:cxnLst/>
            <a:rect r="r" b="b" t="t" l="l"/>
            <a:pathLst>
              <a:path h="2322982" w="2322982">
                <a:moveTo>
                  <a:pt x="0" y="0"/>
                </a:moveTo>
                <a:lnTo>
                  <a:pt x="2322982" y="0"/>
                </a:lnTo>
                <a:lnTo>
                  <a:pt x="2322982" y="2322982"/>
                </a:lnTo>
                <a:lnTo>
                  <a:pt x="0" y="2322982"/>
                </a:lnTo>
                <a:lnTo>
                  <a:pt x="0" y="0"/>
                </a:lnTo>
                <a:close/>
              </a:path>
            </a:pathLst>
          </a:custGeom>
          <a:blipFill>
            <a:blip r:embed="rId12"/>
            <a:stretch>
              <a:fillRect l="0" t="0" r="0" b="0"/>
            </a:stretch>
          </a:blipFill>
        </p:spPr>
      </p:sp>
    </p:spTree>
  </p:cSld>
  <p:clrMapOvr>
    <a:masterClrMapping/>
  </p:clrMapOvr>
</p:sld>
</file>

<file path=ppt/slides/slide5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288893" y="2398160"/>
            <a:ext cx="2055696" cy="1475884"/>
          </a:xfrm>
          <a:custGeom>
            <a:avLst/>
            <a:gdLst/>
            <a:ahLst/>
            <a:cxnLst/>
            <a:rect r="r" b="b" t="t" l="l"/>
            <a:pathLst>
              <a:path h="1475884" w="2055696">
                <a:moveTo>
                  <a:pt x="0" y="0"/>
                </a:moveTo>
                <a:lnTo>
                  <a:pt x="2055696" y="0"/>
                </a:lnTo>
                <a:lnTo>
                  <a:pt x="2055696" y="1475884"/>
                </a:lnTo>
                <a:lnTo>
                  <a:pt x="0" y="1475884"/>
                </a:lnTo>
                <a:lnTo>
                  <a:pt x="0" y="0"/>
                </a:lnTo>
                <a:close/>
              </a:path>
            </a:pathLst>
          </a:custGeom>
          <a:blipFill>
            <a:blip r:embed="rId3"/>
            <a:stretch>
              <a:fillRect l="0" t="0" r="0" b="0"/>
            </a:stretch>
          </a:blipFill>
        </p:spPr>
      </p:sp>
      <p:sp>
        <p:nvSpPr>
          <p:cNvPr name="Freeform 7" id="7"/>
          <p:cNvSpPr/>
          <p:nvPr/>
        </p:nvSpPr>
        <p:spPr>
          <a:xfrm flipH="false" flipV="false" rot="0">
            <a:off x="1214983" y="4804166"/>
            <a:ext cx="2203515" cy="1457163"/>
          </a:xfrm>
          <a:custGeom>
            <a:avLst/>
            <a:gdLst/>
            <a:ahLst/>
            <a:cxnLst/>
            <a:rect r="r" b="b" t="t" l="l"/>
            <a:pathLst>
              <a:path h="1457163" w="2203515">
                <a:moveTo>
                  <a:pt x="0" y="0"/>
                </a:moveTo>
                <a:lnTo>
                  <a:pt x="2203515" y="0"/>
                </a:lnTo>
                <a:lnTo>
                  <a:pt x="2203515" y="1457163"/>
                </a:lnTo>
                <a:lnTo>
                  <a:pt x="0" y="1457163"/>
                </a:lnTo>
                <a:lnTo>
                  <a:pt x="0" y="0"/>
                </a:lnTo>
                <a:close/>
              </a:path>
            </a:pathLst>
          </a:custGeom>
          <a:blipFill>
            <a:blip r:embed="rId4"/>
            <a:stretch>
              <a:fillRect l="0" t="0" r="0" b="0"/>
            </a:stretch>
          </a:blipFill>
        </p:spPr>
      </p:sp>
      <p:sp>
        <p:nvSpPr>
          <p:cNvPr name="Freeform 8" id="8"/>
          <p:cNvSpPr/>
          <p:nvPr/>
        </p:nvSpPr>
        <p:spPr>
          <a:xfrm flipH="false" flipV="false" rot="0">
            <a:off x="1288893" y="7304237"/>
            <a:ext cx="1964768" cy="1519625"/>
          </a:xfrm>
          <a:custGeom>
            <a:avLst/>
            <a:gdLst/>
            <a:ahLst/>
            <a:cxnLst/>
            <a:rect r="r" b="b" t="t" l="l"/>
            <a:pathLst>
              <a:path h="1519625" w="1964768">
                <a:moveTo>
                  <a:pt x="0" y="0"/>
                </a:moveTo>
                <a:lnTo>
                  <a:pt x="1964768" y="0"/>
                </a:lnTo>
                <a:lnTo>
                  <a:pt x="1964768" y="1519625"/>
                </a:lnTo>
                <a:lnTo>
                  <a:pt x="0" y="1519625"/>
                </a:lnTo>
                <a:lnTo>
                  <a:pt x="0" y="0"/>
                </a:lnTo>
                <a:close/>
              </a:path>
            </a:pathLst>
          </a:custGeom>
          <a:blipFill>
            <a:blip r:embed="rId5"/>
            <a:stretch>
              <a:fillRect l="0" t="0" r="0" b="0"/>
            </a:stretch>
          </a:blipFill>
        </p:spPr>
      </p:sp>
      <p:sp>
        <p:nvSpPr>
          <p:cNvPr name="Freeform 9" id="9"/>
          <p:cNvSpPr/>
          <p:nvPr/>
        </p:nvSpPr>
        <p:spPr>
          <a:xfrm flipH="false" flipV="false" rot="0">
            <a:off x="9521858" y="2315585"/>
            <a:ext cx="3167416" cy="1983986"/>
          </a:xfrm>
          <a:custGeom>
            <a:avLst/>
            <a:gdLst/>
            <a:ahLst/>
            <a:cxnLst/>
            <a:rect r="r" b="b" t="t" l="l"/>
            <a:pathLst>
              <a:path h="1983986" w="3167416">
                <a:moveTo>
                  <a:pt x="0" y="0"/>
                </a:moveTo>
                <a:lnTo>
                  <a:pt x="3167416" y="0"/>
                </a:lnTo>
                <a:lnTo>
                  <a:pt x="3167416" y="1983985"/>
                </a:lnTo>
                <a:lnTo>
                  <a:pt x="0" y="1983985"/>
                </a:lnTo>
                <a:lnTo>
                  <a:pt x="0" y="0"/>
                </a:lnTo>
                <a:close/>
              </a:path>
            </a:pathLst>
          </a:custGeom>
          <a:blipFill>
            <a:blip r:embed="rId6"/>
            <a:stretch>
              <a:fillRect l="0" t="0" r="0" b="0"/>
            </a:stretch>
          </a:blipFill>
        </p:spPr>
      </p:sp>
      <p:sp>
        <p:nvSpPr>
          <p:cNvPr name="Freeform 10" id="10"/>
          <p:cNvSpPr/>
          <p:nvPr/>
        </p:nvSpPr>
        <p:spPr>
          <a:xfrm flipH="false" flipV="false" rot="0">
            <a:off x="13071362" y="2728701"/>
            <a:ext cx="4681401" cy="814801"/>
          </a:xfrm>
          <a:custGeom>
            <a:avLst/>
            <a:gdLst/>
            <a:ahLst/>
            <a:cxnLst/>
            <a:rect r="r" b="b" t="t" l="l"/>
            <a:pathLst>
              <a:path h="814801" w="4681401">
                <a:moveTo>
                  <a:pt x="0" y="0"/>
                </a:moveTo>
                <a:lnTo>
                  <a:pt x="4681401" y="0"/>
                </a:lnTo>
                <a:lnTo>
                  <a:pt x="4681401" y="814801"/>
                </a:lnTo>
                <a:lnTo>
                  <a:pt x="0" y="814801"/>
                </a:lnTo>
                <a:lnTo>
                  <a:pt x="0" y="0"/>
                </a:lnTo>
                <a:close/>
              </a:path>
            </a:pathLst>
          </a:custGeom>
          <a:blipFill>
            <a:blip r:embed="rId7"/>
            <a:stretch>
              <a:fillRect l="0" t="0" r="0" b="0"/>
            </a:stretch>
          </a:blipFill>
        </p:spPr>
      </p:sp>
      <p:sp>
        <p:nvSpPr>
          <p:cNvPr name="Freeform 11" id="11"/>
          <p:cNvSpPr/>
          <p:nvPr/>
        </p:nvSpPr>
        <p:spPr>
          <a:xfrm flipH="false" flipV="false" rot="0">
            <a:off x="9414291" y="4745679"/>
            <a:ext cx="3382551" cy="2179749"/>
          </a:xfrm>
          <a:custGeom>
            <a:avLst/>
            <a:gdLst/>
            <a:ahLst/>
            <a:cxnLst/>
            <a:rect r="r" b="b" t="t" l="l"/>
            <a:pathLst>
              <a:path h="2179749" w="3382551">
                <a:moveTo>
                  <a:pt x="0" y="0"/>
                </a:moveTo>
                <a:lnTo>
                  <a:pt x="3382550" y="0"/>
                </a:lnTo>
                <a:lnTo>
                  <a:pt x="3382550" y="2179749"/>
                </a:lnTo>
                <a:lnTo>
                  <a:pt x="0" y="2179749"/>
                </a:lnTo>
                <a:lnTo>
                  <a:pt x="0" y="0"/>
                </a:lnTo>
                <a:close/>
              </a:path>
            </a:pathLst>
          </a:custGeom>
          <a:blipFill>
            <a:blip r:embed="rId8"/>
            <a:stretch>
              <a:fillRect l="0" t="0" r="0" b="0"/>
            </a:stretch>
          </a:blipFill>
        </p:spPr>
      </p:sp>
      <p:sp>
        <p:nvSpPr>
          <p:cNvPr name="Freeform 12" id="12"/>
          <p:cNvSpPr/>
          <p:nvPr/>
        </p:nvSpPr>
        <p:spPr>
          <a:xfrm flipH="false" flipV="false" rot="0">
            <a:off x="13349291" y="4716725"/>
            <a:ext cx="4403471" cy="2263854"/>
          </a:xfrm>
          <a:custGeom>
            <a:avLst/>
            <a:gdLst/>
            <a:ahLst/>
            <a:cxnLst/>
            <a:rect r="r" b="b" t="t" l="l"/>
            <a:pathLst>
              <a:path h="2263854" w="4403471">
                <a:moveTo>
                  <a:pt x="0" y="0"/>
                </a:moveTo>
                <a:lnTo>
                  <a:pt x="4403472" y="0"/>
                </a:lnTo>
                <a:lnTo>
                  <a:pt x="4403472" y="2263853"/>
                </a:lnTo>
                <a:lnTo>
                  <a:pt x="0" y="2263853"/>
                </a:lnTo>
                <a:lnTo>
                  <a:pt x="0" y="0"/>
                </a:lnTo>
                <a:close/>
              </a:path>
            </a:pathLst>
          </a:custGeom>
          <a:blipFill>
            <a:blip r:embed="rId9"/>
            <a:stretch>
              <a:fillRect l="0" t="0" r="0" b="0"/>
            </a:stretch>
          </a:blipFill>
        </p:spPr>
      </p:sp>
      <p:sp>
        <p:nvSpPr>
          <p:cNvPr name="Freeform 13" id="13"/>
          <p:cNvSpPr/>
          <p:nvPr/>
        </p:nvSpPr>
        <p:spPr>
          <a:xfrm flipH="false" flipV="false" rot="0">
            <a:off x="9414291" y="7363578"/>
            <a:ext cx="3370234" cy="2348776"/>
          </a:xfrm>
          <a:custGeom>
            <a:avLst/>
            <a:gdLst/>
            <a:ahLst/>
            <a:cxnLst/>
            <a:rect r="r" b="b" t="t" l="l"/>
            <a:pathLst>
              <a:path h="2348776" w="3370234">
                <a:moveTo>
                  <a:pt x="0" y="0"/>
                </a:moveTo>
                <a:lnTo>
                  <a:pt x="3370233" y="0"/>
                </a:lnTo>
                <a:lnTo>
                  <a:pt x="3370233" y="2348776"/>
                </a:lnTo>
                <a:lnTo>
                  <a:pt x="0" y="2348776"/>
                </a:lnTo>
                <a:lnTo>
                  <a:pt x="0" y="0"/>
                </a:lnTo>
                <a:close/>
              </a:path>
            </a:pathLst>
          </a:custGeom>
          <a:blipFill>
            <a:blip r:embed="rId10"/>
            <a:stretch>
              <a:fillRect l="0" t="0" r="0" b="0"/>
            </a:stretch>
          </a:blipFill>
        </p:spPr>
      </p:sp>
      <p:sp>
        <p:nvSpPr>
          <p:cNvPr name="Freeform 14" id="14"/>
          <p:cNvSpPr/>
          <p:nvPr/>
        </p:nvSpPr>
        <p:spPr>
          <a:xfrm flipH="false" flipV="false" rot="0">
            <a:off x="13546919" y="7304237"/>
            <a:ext cx="4068659" cy="2408117"/>
          </a:xfrm>
          <a:custGeom>
            <a:avLst/>
            <a:gdLst/>
            <a:ahLst/>
            <a:cxnLst/>
            <a:rect r="r" b="b" t="t" l="l"/>
            <a:pathLst>
              <a:path h="2408117" w="4068659">
                <a:moveTo>
                  <a:pt x="0" y="0"/>
                </a:moveTo>
                <a:lnTo>
                  <a:pt x="4068659" y="0"/>
                </a:lnTo>
                <a:lnTo>
                  <a:pt x="4068659" y="2408117"/>
                </a:lnTo>
                <a:lnTo>
                  <a:pt x="0" y="2408117"/>
                </a:lnTo>
                <a:lnTo>
                  <a:pt x="0" y="0"/>
                </a:lnTo>
                <a:close/>
              </a:path>
            </a:pathLst>
          </a:custGeom>
          <a:blipFill>
            <a:blip r:embed="rId11"/>
            <a:stretch>
              <a:fillRect l="0" t="0" r="0" b="0"/>
            </a:stretch>
          </a:blipFill>
        </p:spPr>
      </p:sp>
      <p:sp>
        <p:nvSpPr>
          <p:cNvPr name="TextBox 15" id="15"/>
          <p:cNvSpPr txBox="true"/>
          <p:nvPr/>
        </p:nvSpPr>
        <p:spPr>
          <a:xfrm rot="0">
            <a:off x="4862113" y="1243882"/>
            <a:ext cx="8782508" cy="947914"/>
          </a:xfrm>
          <a:prstGeom prst="rect">
            <a:avLst/>
          </a:prstGeom>
        </p:spPr>
        <p:txBody>
          <a:bodyPr anchor="t" rtlCol="false" tIns="0" lIns="0" bIns="0" rIns="0">
            <a:spAutoFit/>
          </a:bodyPr>
          <a:lstStyle/>
          <a:p>
            <a:pPr algn="ctr">
              <a:lnSpc>
                <a:spcPts val="7745"/>
              </a:lnSpc>
              <a:spcBef>
                <a:spcPct val="0"/>
              </a:spcBef>
            </a:pPr>
            <a:r>
              <a:rPr lang="en-US" sz="5532">
                <a:solidFill>
                  <a:srgbClr val="99C5FF"/>
                </a:solidFill>
                <a:latin typeface="HK Modular"/>
                <a:ea typeface="HK Modular"/>
                <a:cs typeface="HK Modular"/>
                <a:sym typeface="HK Modular"/>
              </a:rPr>
              <a:t>COMPORTAMIENTO</a:t>
            </a:r>
          </a:p>
        </p:txBody>
      </p:sp>
      <p:sp>
        <p:nvSpPr>
          <p:cNvPr name="TextBox 16" id="16"/>
          <p:cNvSpPr txBox="true"/>
          <p:nvPr/>
        </p:nvSpPr>
        <p:spPr>
          <a:xfrm rot="0">
            <a:off x="798964" y="4109300"/>
            <a:ext cx="2944624" cy="332916"/>
          </a:xfrm>
          <a:prstGeom prst="rect">
            <a:avLst/>
          </a:prstGeom>
        </p:spPr>
        <p:txBody>
          <a:bodyPr anchor="t" rtlCol="false" tIns="0" lIns="0" bIns="0" rIns="0">
            <a:spAutoFit/>
          </a:bodyPr>
          <a:lstStyle/>
          <a:p>
            <a:pPr algn="ctr">
              <a:lnSpc>
                <a:spcPts val="2650"/>
              </a:lnSpc>
              <a:spcBef>
                <a:spcPct val="0"/>
              </a:spcBef>
            </a:pPr>
            <a:r>
              <a:rPr lang="en-US" sz="1893">
                <a:solidFill>
                  <a:srgbClr val="7B640E"/>
                </a:solidFill>
                <a:latin typeface="HK Modular"/>
                <a:ea typeface="HK Modular"/>
                <a:cs typeface="HK Modular"/>
                <a:sym typeface="HK Modular"/>
              </a:rPr>
              <a:t>STATE</a:t>
            </a:r>
          </a:p>
        </p:txBody>
      </p:sp>
      <p:sp>
        <p:nvSpPr>
          <p:cNvPr name="TextBox 17" id="17"/>
          <p:cNvSpPr txBox="true"/>
          <p:nvPr/>
        </p:nvSpPr>
        <p:spPr>
          <a:xfrm rot="0">
            <a:off x="798964" y="6592513"/>
            <a:ext cx="2944624" cy="332916"/>
          </a:xfrm>
          <a:prstGeom prst="rect">
            <a:avLst/>
          </a:prstGeom>
        </p:spPr>
        <p:txBody>
          <a:bodyPr anchor="t" rtlCol="false" tIns="0" lIns="0" bIns="0" rIns="0">
            <a:spAutoFit/>
          </a:bodyPr>
          <a:lstStyle/>
          <a:p>
            <a:pPr algn="ctr">
              <a:lnSpc>
                <a:spcPts val="2650"/>
              </a:lnSpc>
              <a:spcBef>
                <a:spcPct val="0"/>
              </a:spcBef>
            </a:pPr>
            <a:r>
              <a:rPr lang="en-US" sz="1893">
                <a:solidFill>
                  <a:srgbClr val="7B640E"/>
                </a:solidFill>
                <a:latin typeface="HK Modular"/>
                <a:ea typeface="HK Modular"/>
                <a:cs typeface="HK Modular"/>
                <a:sym typeface="HK Modular"/>
              </a:rPr>
              <a:t>STRATEGY</a:t>
            </a:r>
          </a:p>
        </p:txBody>
      </p:sp>
      <p:sp>
        <p:nvSpPr>
          <p:cNvPr name="TextBox 18" id="18"/>
          <p:cNvSpPr txBox="true"/>
          <p:nvPr/>
        </p:nvSpPr>
        <p:spPr>
          <a:xfrm rot="0">
            <a:off x="844428" y="9138187"/>
            <a:ext cx="2944624" cy="332916"/>
          </a:xfrm>
          <a:prstGeom prst="rect">
            <a:avLst/>
          </a:prstGeom>
        </p:spPr>
        <p:txBody>
          <a:bodyPr anchor="t" rtlCol="false" tIns="0" lIns="0" bIns="0" rIns="0">
            <a:spAutoFit/>
          </a:bodyPr>
          <a:lstStyle/>
          <a:p>
            <a:pPr algn="ctr">
              <a:lnSpc>
                <a:spcPts val="2650"/>
              </a:lnSpc>
              <a:spcBef>
                <a:spcPct val="0"/>
              </a:spcBef>
            </a:pPr>
            <a:r>
              <a:rPr lang="en-US" sz="1893">
                <a:solidFill>
                  <a:srgbClr val="7B640E"/>
                </a:solidFill>
                <a:latin typeface="HK Modular"/>
                <a:ea typeface="HK Modular"/>
                <a:cs typeface="HK Modular"/>
                <a:sym typeface="HK Modular"/>
              </a:rPr>
              <a:t>VISITOR</a:t>
            </a:r>
          </a:p>
        </p:txBody>
      </p:sp>
      <p:sp>
        <p:nvSpPr>
          <p:cNvPr name="TextBox 19" id="19"/>
          <p:cNvSpPr txBox="true"/>
          <p:nvPr/>
        </p:nvSpPr>
        <p:spPr>
          <a:xfrm rot="0">
            <a:off x="3789053" y="2466051"/>
            <a:ext cx="5285130" cy="1282951"/>
          </a:xfrm>
          <a:prstGeom prst="rect">
            <a:avLst/>
          </a:prstGeom>
        </p:spPr>
        <p:txBody>
          <a:bodyPr anchor="t" rtlCol="false" tIns="0" lIns="0" bIns="0" rIns="0">
            <a:spAutoFit/>
          </a:bodyPr>
          <a:lstStyle/>
          <a:p>
            <a:pPr algn="ctr">
              <a:lnSpc>
                <a:spcPts val="2521"/>
              </a:lnSpc>
              <a:spcBef>
                <a:spcPct val="0"/>
              </a:spcBef>
            </a:pPr>
            <a:r>
              <a:rPr lang="en-US" sz="1801">
                <a:solidFill>
                  <a:srgbClr val="FFFFFF"/>
                </a:solidFill>
                <a:latin typeface="Poppins"/>
                <a:ea typeface="Poppins"/>
                <a:cs typeface="Poppins"/>
                <a:sym typeface="Poppins"/>
              </a:rPr>
              <a:t>Permite a un objeto alterar su comportamiento cuando su estado interno cambia. Parece como si el objeto cambiara su clase.</a:t>
            </a:r>
          </a:p>
        </p:txBody>
      </p:sp>
      <p:sp>
        <p:nvSpPr>
          <p:cNvPr name="TextBox 20" id="20"/>
          <p:cNvSpPr txBox="true"/>
          <p:nvPr/>
        </p:nvSpPr>
        <p:spPr>
          <a:xfrm rot="0">
            <a:off x="3968237" y="4747016"/>
            <a:ext cx="5285130" cy="1282951"/>
          </a:xfrm>
          <a:prstGeom prst="rect">
            <a:avLst/>
          </a:prstGeom>
        </p:spPr>
        <p:txBody>
          <a:bodyPr anchor="t" rtlCol="false" tIns="0" lIns="0" bIns="0" rIns="0">
            <a:spAutoFit/>
          </a:bodyPr>
          <a:lstStyle/>
          <a:p>
            <a:pPr algn="ctr">
              <a:lnSpc>
                <a:spcPts val="2521"/>
              </a:lnSpc>
              <a:spcBef>
                <a:spcPct val="0"/>
              </a:spcBef>
            </a:pPr>
            <a:r>
              <a:rPr lang="en-US" sz="1801">
                <a:solidFill>
                  <a:srgbClr val="FFFFFF"/>
                </a:solidFill>
                <a:latin typeface="Poppins"/>
                <a:ea typeface="Poppins"/>
                <a:cs typeface="Poppins"/>
                <a:sym typeface="Poppins"/>
              </a:rPr>
              <a:t>Permite definir una familia de algoritmos, colocar cada uno de ellos en una clase separada y hacer sus objetos intercambiables.</a:t>
            </a:r>
          </a:p>
        </p:txBody>
      </p:sp>
      <p:sp>
        <p:nvSpPr>
          <p:cNvPr name="TextBox 21" id="21"/>
          <p:cNvSpPr txBox="true"/>
          <p:nvPr/>
        </p:nvSpPr>
        <p:spPr>
          <a:xfrm rot="0">
            <a:off x="3858870" y="7447812"/>
            <a:ext cx="5285130" cy="647178"/>
          </a:xfrm>
          <a:prstGeom prst="rect">
            <a:avLst/>
          </a:prstGeom>
        </p:spPr>
        <p:txBody>
          <a:bodyPr anchor="t" rtlCol="false" tIns="0" lIns="0" bIns="0" rIns="0">
            <a:spAutoFit/>
          </a:bodyPr>
          <a:lstStyle/>
          <a:p>
            <a:pPr algn="ctr">
              <a:lnSpc>
                <a:spcPts val="2521"/>
              </a:lnSpc>
              <a:spcBef>
                <a:spcPct val="0"/>
              </a:spcBef>
            </a:pPr>
            <a:r>
              <a:rPr lang="en-US" sz="1801">
                <a:solidFill>
                  <a:srgbClr val="FFFFFF"/>
                </a:solidFill>
                <a:latin typeface="Poppins"/>
                <a:ea typeface="Poppins"/>
                <a:cs typeface="Poppins"/>
                <a:sym typeface="Poppins"/>
              </a:rPr>
              <a:t>Permite separar algoritmos de los objetos sobre los que operan.</a:t>
            </a:r>
          </a:p>
        </p:txBody>
      </p:sp>
      <p:sp>
        <p:nvSpPr>
          <p:cNvPr name="Freeform 22" id="22"/>
          <p:cNvSpPr/>
          <p:nvPr/>
        </p:nvSpPr>
        <p:spPr>
          <a:xfrm flipH="false" flipV="false" rot="0">
            <a:off x="8299966" y="-351215"/>
            <a:ext cx="2228650" cy="2228650"/>
          </a:xfrm>
          <a:custGeom>
            <a:avLst/>
            <a:gdLst/>
            <a:ahLst/>
            <a:cxnLst/>
            <a:rect r="r" b="b" t="t" l="l"/>
            <a:pathLst>
              <a:path h="2228650" w="2228650">
                <a:moveTo>
                  <a:pt x="0" y="0"/>
                </a:moveTo>
                <a:lnTo>
                  <a:pt x="2228650" y="0"/>
                </a:lnTo>
                <a:lnTo>
                  <a:pt x="2228650" y="2228650"/>
                </a:lnTo>
                <a:lnTo>
                  <a:pt x="0" y="2228650"/>
                </a:lnTo>
                <a:lnTo>
                  <a:pt x="0" y="0"/>
                </a:lnTo>
                <a:close/>
              </a:path>
            </a:pathLst>
          </a:custGeom>
          <a:blipFill>
            <a:blip r:embed="rId12"/>
            <a:stretch>
              <a:fillRect l="0" t="0" r="0" b="0"/>
            </a:stretch>
          </a:blipFill>
        </p:spPr>
      </p:sp>
    </p:spTree>
  </p:cSld>
  <p:clrMapOvr>
    <a:masterClrMapping/>
  </p:clrMapOvr>
</p:sld>
</file>

<file path=ppt/slides/slide5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028700" y="4383687"/>
            <a:ext cx="1964768" cy="1519625"/>
          </a:xfrm>
          <a:custGeom>
            <a:avLst/>
            <a:gdLst/>
            <a:ahLst/>
            <a:cxnLst/>
            <a:rect r="r" b="b" t="t" l="l"/>
            <a:pathLst>
              <a:path h="1519625" w="1964768">
                <a:moveTo>
                  <a:pt x="0" y="0"/>
                </a:moveTo>
                <a:lnTo>
                  <a:pt x="1964768" y="0"/>
                </a:lnTo>
                <a:lnTo>
                  <a:pt x="1964768" y="1519626"/>
                </a:lnTo>
                <a:lnTo>
                  <a:pt x="0" y="1519626"/>
                </a:lnTo>
                <a:lnTo>
                  <a:pt x="0" y="0"/>
                </a:lnTo>
                <a:close/>
              </a:path>
            </a:pathLst>
          </a:custGeom>
          <a:blipFill>
            <a:blip r:embed="rId3"/>
            <a:stretch>
              <a:fillRect l="0" t="0" r="0" b="0"/>
            </a:stretch>
          </a:blipFill>
        </p:spPr>
      </p:sp>
      <p:sp>
        <p:nvSpPr>
          <p:cNvPr name="Freeform 7" id="7"/>
          <p:cNvSpPr/>
          <p:nvPr/>
        </p:nvSpPr>
        <p:spPr>
          <a:xfrm flipH="false" flipV="false" rot="0">
            <a:off x="9034206" y="3627745"/>
            <a:ext cx="4382484" cy="3007724"/>
          </a:xfrm>
          <a:custGeom>
            <a:avLst/>
            <a:gdLst/>
            <a:ahLst/>
            <a:cxnLst/>
            <a:rect r="r" b="b" t="t" l="l"/>
            <a:pathLst>
              <a:path h="3007724" w="4382484">
                <a:moveTo>
                  <a:pt x="0" y="0"/>
                </a:moveTo>
                <a:lnTo>
                  <a:pt x="4382484" y="0"/>
                </a:lnTo>
                <a:lnTo>
                  <a:pt x="4382484" y="3007724"/>
                </a:lnTo>
                <a:lnTo>
                  <a:pt x="0" y="3007724"/>
                </a:lnTo>
                <a:lnTo>
                  <a:pt x="0" y="0"/>
                </a:lnTo>
                <a:close/>
              </a:path>
            </a:pathLst>
          </a:custGeom>
          <a:blipFill>
            <a:blip r:embed="rId4"/>
            <a:stretch>
              <a:fillRect l="0" t="0" r="0" b="0"/>
            </a:stretch>
          </a:blipFill>
        </p:spPr>
      </p:sp>
      <p:sp>
        <p:nvSpPr>
          <p:cNvPr name="Freeform 8" id="8"/>
          <p:cNvSpPr/>
          <p:nvPr/>
        </p:nvSpPr>
        <p:spPr>
          <a:xfrm flipH="false" flipV="false" rot="0">
            <a:off x="13540515" y="3825288"/>
            <a:ext cx="4462597" cy="2524890"/>
          </a:xfrm>
          <a:custGeom>
            <a:avLst/>
            <a:gdLst/>
            <a:ahLst/>
            <a:cxnLst/>
            <a:rect r="r" b="b" t="t" l="l"/>
            <a:pathLst>
              <a:path h="2524890" w="4462597">
                <a:moveTo>
                  <a:pt x="0" y="0"/>
                </a:moveTo>
                <a:lnTo>
                  <a:pt x="4462596" y="0"/>
                </a:lnTo>
                <a:lnTo>
                  <a:pt x="4462596" y="2524891"/>
                </a:lnTo>
                <a:lnTo>
                  <a:pt x="0" y="2524891"/>
                </a:lnTo>
                <a:lnTo>
                  <a:pt x="0" y="0"/>
                </a:lnTo>
                <a:close/>
              </a:path>
            </a:pathLst>
          </a:custGeom>
          <a:blipFill>
            <a:blip r:embed="rId5"/>
            <a:stretch>
              <a:fillRect l="0" t="0" r="0" b="0"/>
            </a:stretch>
          </a:blipFill>
        </p:spPr>
      </p:sp>
      <p:sp>
        <p:nvSpPr>
          <p:cNvPr name="TextBox 9" id="9"/>
          <p:cNvSpPr txBox="true"/>
          <p:nvPr/>
        </p:nvSpPr>
        <p:spPr>
          <a:xfrm rot="0">
            <a:off x="4862113" y="1795256"/>
            <a:ext cx="8782508" cy="947914"/>
          </a:xfrm>
          <a:prstGeom prst="rect">
            <a:avLst/>
          </a:prstGeom>
        </p:spPr>
        <p:txBody>
          <a:bodyPr anchor="t" rtlCol="false" tIns="0" lIns="0" bIns="0" rIns="0">
            <a:spAutoFit/>
          </a:bodyPr>
          <a:lstStyle/>
          <a:p>
            <a:pPr algn="ctr">
              <a:lnSpc>
                <a:spcPts val="7745"/>
              </a:lnSpc>
              <a:spcBef>
                <a:spcPct val="0"/>
              </a:spcBef>
            </a:pPr>
            <a:r>
              <a:rPr lang="en-US" sz="5532">
                <a:solidFill>
                  <a:srgbClr val="99C5FF"/>
                </a:solidFill>
                <a:latin typeface="HK Modular"/>
                <a:ea typeface="HK Modular"/>
                <a:cs typeface="HK Modular"/>
                <a:sym typeface="HK Modular"/>
              </a:rPr>
              <a:t>COMPORTAMIENTO</a:t>
            </a:r>
          </a:p>
        </p:txBody>
      </p:sp>
      <p:sp>
        <p:nvSpPr>
          <p:cNvPr name="TextBox 10" id="10"/>
          <p:cNvSpPr txBox="true"/>
          <p:nvPr/>
        </p:nvSpPr>
        <p:spPr>
          <a:xfrm rot="0">
            <a:off x="422449" y="6302554"/>
            <a:ext cx="2944624" cy="332916"/>
          </a:xfrm>
          <a:prstGeom prst="rect">
            <a:avLst/>
          </a:prstGeom>
        </p:spPr>
        <p:txBody>
          <a:bodyPr anchor="t" rtlCol="false" tIns="0" lIns="0" bIns="0" rIns="0">
            <a:spAutoFit/>
          </a:bodyPr>
          <a:lstStyle/>
          <a:p>
            <a:pPr algn="ctr">
              <a:lnSpc>
                <a:spcPts val="2650"/>
              </a:lnSpc>
              <a:spcBef>
                <a:spcPct val="0"/>
              </a:spcBef>
            </a:pPr>
            <a:r>
              <a:rPr lang="en-US" sz="1893">
                <a:solidFill>
                  <a:srgbClr val="7B640E"/>
                </a:solidFill>
                <a:latin typeface="HK Modular"/>
                <a:ea typeface="HK Modular"/>
                <a:cs typeface="HK Modular"/>
                <a:sym typeface="HK Modular"/>
              </a:rPr>
              <a:t>OBSERVER</a:t>
            </a:r>
          </a:p>
        </p:txBody>
      </p:sp>
      <p:sp>
        <p:nvSpPr>
          <p:cNvPr name="TextBox 11" id="11"/>
          <p:cNvSpPr txBox="true"/>
          <p:nvPr/>
        </p:nvSpPr>
        <p:spPr>
          <a:xfrm rot="0">
            <a:off x="3495631" y="4473450"/>
            <a:ext cx="5285130" cy="1282951"/>
          </a:xfrm>
          <a:prstGeom prst="rect">
            <a:avLst/>
          </a:prstGeom>
        </p:spPr>
        <p:txBody>
          <a:bodyPr anchor="t" rtlCol="false" tIns="0" lIns="0" bIns="0" rIns="0">
            <a:spAutoFit/>
          </a:bodyPr>
          <a:lstStyle/>
          <a:p>
            <a:pPr algn="ctr">
              <a:lnSpc>
                <a:spcPts val="2521"/>
              </a:lnSpc>
              <a:spcBef>
                <a:spcPct val="0"/>
              </a:spcBef>
            </a:pPr>
            <a:r>
              <a:rPr lang="en-US" sz="1801">
                <a:solidFill>
                  <a:srgbClr val="FFFFFF"/>
                </a:solidFill>
                <a:latin typeface="Poppins"/>
                <a:ea typeface="Poppins"/>
                <a:cs typeface="Poppins"/>
                <a:sym typeface="Poppins"/>
              </a:rPr>
              <a:t>Permite definir un mecanismo de suscripción para notificar a varios objetos sobre cualquier evento que le suceda al objeto que están observando.</a:t>
            </a:r>
          </a:p>
        </p:txBody>
      </p:sp>
      <p:sp>
        <p:nvSpPr>
          <p:cNvPr name="Freeform 12" id="12"/>
          <p:cNvSpPr/>
          <p:nvPr/>
        </p:nvSpPr>
        <p:spPr>
          <a:xfrm flipH="false" flipV="false" rot="0">
            <a:off x="8299966" y="-351215"/>
            <a:ext cx="2228650" cy="2228650"/>
          </a:xfrm>
          <a:custGeom>
            <a:avLst/>
            <a:gdLst/>
            <a:ahLst/>
            <a:cxnLst/>
            <a:rect r="r" b="b" t="t" l="l"/>
            <a:pathLst>
              <a:path h="2228650" w="2228650">
                <a:moveTo>
                  <a:pt x="0" y="0"/>
                </a:moveTo>
                <a:lnTo>
                  <a:pt x="2228650" y="0"/>
                </a:lnTo>
                <a:lnTo>
                  <a:pt x="2228650" y="2228650"/>
                </a:lnTo>
                <a:lnTo>
                  <a:pt x="0" y="2228650"/>
                </a:lnTo>
                <a:lnTo>
                  <a:pt x="0" y="0"/>
                </a:lnTo>
                <a:close/>
              </a:path>
            </a:pathLst>
          </a:custGeom>
          <a:blipFill>
            <a:blip r:embed="rId6"/>
            <a:stretch>
              <a:fillRect l="0" t="0" r="0" b="0"/>
            </a:stretch>
          </a:blipFill>
        </p:spPr>
      </p:sp>
    </p:spTree>
  </p:cSld>
  <p:clrMapOvr>
    <a:masterClrMapping/>
  </p:clrMapOvr>
</p:sld>
</file>

<file path=ppt/slides/slide5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1292713" y="6117119"/>
            <a:ext cx="4363587" cy="1218609"/>
          </a:xfrm>
          <a:custGeom>
            <a:avLst/>
            <a:gdLst/>
            <a:ahLst/>
            <a:cxnLst/>
            <a:rect r="r" b="b" t="t" l="l"/>
            <a:pathLst>
              <a:path h="1218609" w="4363587">
                <a:moveTo>
                  <a:pt x="0" y="0"/>
                </a:moveTo>
                <a:lnTo>
                  <a:pt x="4363587" y="0"/>
                </a:lnTo>
                <a:lnTo>
                  <a:pt x="4363587" y="1218609"/>
                </a:lnTo>
                <a:lnTo>
                  <a:pt x="0" y="1218609"/>
                </a:lnTo>
                <a:lnTo>
                  <a:pt x="0" y="0"/>
                </a:lnTo>
                <a:close/>
              </a:path>
            </a:pathLst>
          </a:custGeom>
          <a:blipFill>
            <a:blip r:embed="rId3"/>
            <a:stretch>
              <a:fillRect l="0" t="-69772" r="0" b="-85998"/>
            </a:stretch>
          </a:blipFill>
        </p:spPr>
      </p:sp>
      <p:sp>
        <p:nvSpPr>
          <p:cNvPr name="Freeform 13" id="13"/>
          <p:cNvSpPr/>
          <p:nvPr/>
        </p:nvSpPr>
        <p:spPr>
          <a:xfrm flipH="false" flipV="false" rot="0">
            <a:off x="8005613" y="5408182"/>
            <a:ext cx="2636483" cy="2636483"/>
          </a:xfrm>
          <a:custGeom>
            <a:avLst/>
            <a:gdLst/>
            <a:ahLst/>
            <a:cxnLst/>
            <a:rect r="r" b="b" t="t" l="l"/>
            <a:pathLst>
              <a:path h="2636483" w="2636483">
                <a:moveTo>
                  <a:pt x="0" y="0"/>
                </a:moveTo>
                <a:lnTo>
                  <a:pt x="2636482" y="0"/>
                </a:lnTo>
                <a:lnTo>
                  <a:pt x="2636482" y="2636483"/>
                </a:lnTo>
                <a:lnTo>
                  <a:pt x="0" y="2636483"/>
                </a:lnTo>
                <a:lnTo>
                  <a:pt x="0" y="0"/>
                </a:lnTo>
                <a:close/>
              </a:path>
            </a:pathLst>
          </a:custGeom>
          <a:blipFill>
            <a:blip r:embed="rId4"/>
            <a:stretch>
              <a:fillRect l="0" t="0" r="0" b="0"/>
            </a:stretch>
          </a:blipFill>
        </p:spPr>
      </p:sp>
      <p:sp>
        <p:nvSpPr>
          <p:cNvPr name="Freeform 14" id="14"/>
          <p:cNvSpPr/>
          <p:nvPr/>
        </p:nvSpPr>
        <p:spPr>
          <a:xfrm flipH="false" flipV="false" rot="0">
            <a:off x="12991408" y="6084753"/>
            <a:ext cx="3427330" cy="1250975"/>
          </a:xfrm>
          <a:custGeom>
            <a:avLst/>
            <a:gdLst/>
            <a:ahLst/>
            <a:cxnLst/>
            <a:rect r="r" b="b" t="t" l="l"/>
            <a:pathLst>
              <a:path h="1250975" w="3427330">
                <a:moveTo>
                  <a:pt x="0" y="0"/>
                </a:moveTo>
                <a:lnTo>
                  <a:pt x="3427330" y="0"/>
                </a:lnTo>
                <a:lnTo>
                  <a:pt x="3427330" y="1250975"/>
                </a:lnTo>
                <a:lnTo>
                  <a:pt x="0" y="1250975"/>
                </a:lnTo>
                <a:lnTo>
                  <a:pt x="0" y="0"/>
                </a:lnTo>
                <a:close/>
              </a:path>
            </a:pathLst>
          </a:custGeom>
          <a:blipFill>
            <a:blip r:embed="rId5"/>
            <a:stretch>
              <a:fillRect l="0" t="0" r="0" b="0"/>
            </a:stretch>
          </a:blipFill>
        </p:spPr>
      </p:sp>
      <p:sp>
        <p:nvSpPr>
          <p:cNvPr name="TextBox 15" id="15"/>
          <p:cNvSpPr txBox="true"/>
          <p:nvPr/>
        </p:nvSpPr>
        <p:spPr>
          <a:xfrm rot="0">
            <a:off x="2652876" y="3281171"/>
            <a:ext cx="14407805" cy="985735"/>
          </a:xfrm>
          <a:prstGeom prst="rect">
            <a:avLst/>
          </a:prstGeom>
        </p:spPr>
        <p:txBody>
          <a:bodyPr anchor="t" rtlCol="false" tIns="0" lIns="0" bIns="0" rIns="0">
            <a:spAutoFit/>
          </a:bodyPr>
          <a:lstStyle/>
          <a:p>
            <a:pPr algn="ctr">
              <a:lnSpc>
                <a:spcPts val="8045"/>
              </a:lnSpc>
              <a:spcBef>
                <a:spcPct val="0"/>
              </a:spcBef>
            </a:pPr>
            <a:r>
              <a:rPr lang="en-US" sz="5746">
                <a:solidFill>
                  <a:srgbClr val="7B640E"/>
                </a:solidFill>
                <a:latin typeface="HK Modular"/>
                <a:ea typeface="HK Modular"/>
                <a:cs typeface="HK Modular"/>
                <a:sym typeface="HK Modular"/>
              </a:rPr>
              <a:t>MODULO DE DIAGRAMACION </a:t>
            </a:r>
          </a:p>
        </p:txBody>
      </p:sp>
      <p:sp>
        <p:nvSpPr>
          <p:cNvPr name="Freeform 16" id="16"/>
          <p:cNvSpPr/>
          <p:nvPr/>
        </p:nvSpPr>
        <p:spPr>
          <a:xfrm flipH="false" flipV="false" rot="0">
            <a:off x="7612707" y="114152"/>
            <a:ext cx="3281320" cy="3281320"/>
          </a:xfrm>
          <a:custGeom>
            <a:avLst/>
            <a:gdLst/>
            <a:ahLst/>
            <a:cxnLst/>
            <a:rect r="r" b="b" t="t" l="l"/>
            <a:pathLst>
              <a:path h="3281320" w="3281320">
                <a:moveTo>
                  <a:pt x="0" y="0"/>
                </a:moveTo>
                <a:lnTo>
                  <a:pt x="3281320" y="0"/>
                </a:lnTo>
                <a:lnTo>
                  <a:pt x="3281320" y="3281319"/>
                </a:lnTo>
                <a:lnTo>
                  <a:pt x="0" y="3281319"/>
                </a:lnTo>
                <a:lnTo>
                  <a:pt x="0" y="0"/>
                </a:lnTo>
                <a:close/>
              </a:path>
            </a:pathLst>
          </a:custGeom>
          <a:blipFill>
            <a:blip r:embed="rId6"/>
            <a:stretch>
              <a:fillRect l="0" t="0" r="0" b="0"/>
            </a:stretch>
          </a:blipFill>
        </p:spPr>
      </p:sp>
    </p:spTree>
  </p:cSld>
  <p:clrMapOvr>
    <a:masterClrMapping/>
  </p:clrMapOvr>
</p:sld>
</file>

<file path=ppt/slides/slide5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9253367" y="3384633"/>
            <a:ext cx="8221696" cy="5919621"/>
          </a:xfrm>
          <a:custGeom>
            <a:avLst/>
            <a:gdLst/>
            <a:ahLst/>
            <a:cxnLst/>
            <a:rect r="r" b="b" t="t" l="l"/>
            <a:pathLst>
              <a:path h="5919621" w="8221696">
                <a:moveTo>
                  <a:pt x="0" y="0"/>
                </a:moveTo>
                <a:lnTo>
                  <a:pt x="8221696" y="0"/>
                </a:lnTo>
                <a:lnTo>
                  <a:pt x="8221696" y="5919621"/>
                </a:lnTo>
                <a:lnTo>
                  <a:pt x="0" y="5919621"/>
                </a:lnTo>
                <a:lnTo>
                  <a:pt x="0" y="0"/>
                </a:lnTo>
                <a:close/>
              </a:path>
            </a:pathLst>
          </a:custGeom>
          <a:blipFill>
            <a:blip r:embed="rId3"/>
            <a:stretch>
              <a:fillRect l="0" t="0" r="0" b="0"/>
            </a:stretch>
          </a:blipFill>
        </p:spPr>
      </p:sp>
      <p:sp>
        <p:nvSpPr>
          <p:cNvPr name="TextBox 13" id="13"/>
          <p:cNvSpPr txBox="true"/>
          <p:nvPr/>
        </p:nvSpPr>
        <p:spPr>
          <a:xfrm rot="0">
            <a:off x="2509136" y="1747713"/>
            <a:ext cx="13488463" cy="1277705"/>
          </a:xfrm>
          <a:prstGeom prst="rect">
            <a:avLst/>
          </a:prstGeom>
        </p:spPr>
        <p:txBody>
          <a:bodyPr anchor="t" rtlCol="false" tIns="0" lIns="0" bIns="0" rIns="0">
            <a:spAutoFit/>
          </a:bodyPr>
          <a:lstStyle/>
          <a:p>
            <a:pPr algn="ctr">
              <a:lnSpc>
                <a:spcPts val="5117"/>
              </a:lnSpc>
              <a:spcBef>
                <a:spcPct val="0"/>
              </a:spcBef>
            </a:pPr>
            <a:r>
              <a:rPr lang="en-US" sz="3655">
                <a:solidFill>
                  <a:srgbClr val="7B640E"/>
                </a:solidFill>
                <a:latin typeface="HK Modular"/>
                <a:ea typeface="HK Modular"/>
                <a:cs typeface="HK Modular"/>
                <a:sym typeface="HK Modular"/>
              </a:rPr>
              <a:t>DIAGRAMACION # 1 - DIAGRAMAS DE CLASES</a:t>
            </a:r>
          </a:p>
        </p:txBody>
      </p:sp>
      <p:sp>
        <p:nvSpPr>
          <p:cNvPr name="TextBox 14" id="14"/>
          <p:cNvSpPr txBox="true"/>
          <p:nvPr/>
        </p:nvSpPr>
        <p:spPr>
          <a:xfrm rot="0">
            <a:off x="1150007" y="3509228"/>
            <a:ext cx="7071493" cy="1342390"/>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El diagrama de clases es un diagrama estructural, parte de la familia que modela las relaciones estáticas de un sistema en estado estacionario. Es una herramienta vital para la programación orientada a objetos (POO).</a:t>
            </a:r>
          </a:p>
        </p:txBody>
      </p:sp>
      <p:sp>
        <p:nvSpPr>
          <p:cNvPr name="TextBox 15" id="15"/>
          <p:cNvSpPr txBox="true"/>
          <p:nvPr/>
        </p:nvSpPr>
        <p:spPr>
          <a:xfrm rot="0">
            <a:off x="1150007" y="5335429"/>
            <a:ext cx="6819436" cy="10090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Una clase es un elemento de modelado que define las características del objeto que representa, incluidos sus atributos y comportamientos.</a:t>
            </a:r>
          </a:p>
        </p:txBody>
      </p:sp>
      <p:sp>
        <p:nvSpPr>
          <p:cNvPr name="TextBox 16" id="16"/>
          <p:cNvSpPr txBox="true"/>
          <p:nvPr/>
        </p:nvSpPr>
        <p:spPr>
          <a:xfrm rot="0">
            <a:off x="1259472" y="7197741"/>
            <a:ext cx="1895294" cy="307221"/>
          </a:xfrm>
          <a:prstGeom prst="rect">
            <a:avLst/>
          </a:prstGeom>
        </p:spPr>
        <p:txBody>
          <a:bodyPr anchor="t" rtlCol="false" tIns="0" lIns="0" bIns="0" rIns="0">
            <a:spAutoFit/>
          </a:bodyPr>
          <a:lstStyle/>
          <a:p>
            <a:pPr algn="ctr">
              <a:lnSpc>
                <a:spcPts val="2491"/>
              </a:lnSpc>
              <a:spcBef>
                <a:spcPct val="0"/>
              </a:spcBef>
            </a:pPr>
            <a:r>
              <a:rPr lang="en-US" sz="1779">
                <a:solidFill>
                  <a:srgbClr val="7B640E"/>
                </a:solidFill>
                <a:latin typeface="HK Modular"/>
                <a:ea typeface="HK Modular"/>
                <a:cs typeface="HK Modular"/>
                <a:sym typeface="HK Modular"/>
              </a:rPr>
              <a:t>CLASES</a:t>
            </a:r>
          </a:p>
        </p:txBody>
      </p:sp>
      <p:sp>
        <p:nvSpPr>
          <p:cNvPr name="TextBox 17" id="17"/>
          <p:cNvSpPr txBox="true"/>
          <p:nvPr/>
        </p:nvSpPr>
        <p:spPr>
          <a:xfrm rot="0">
            <a:off x="5347002" y="6849269"/>
            <a:ext cx="1895294" cy="307221"/>
          </a:xfrm>
          <a:prstGeom prst="rect">
            <a:avLst/>
          </a:prstGeom>
        </p:spPr>
        <p:txBody>
          <a:bodyPr anchor="t" rtlCol="false" tIns="0" lIns="0" bIns="0" rIns="0">
            <a:spAutoFit/>
          </a:bodyPr>
          <a:lstStyle/>
          <a:p>
            <a:pPr algn="ctr">
              <a:lnSpc>
                <a:spcPts val="2491"/>
              </a:lnSpc>
              <a:spcBef>
                <a:spcPct val="0"/>
              </a:spcBef>
            </a:pPr>
            <a:r>
              <a:rPr lang="en-US" sz="1779">
                <a:solidFill>
                  <a:srgbClr val="7B640E"/>
                </a:solidFill>
                <a:latin typeface="HK Modular"/>
                <a:ea typeface="HK Modular"/>
                <a:cs typeface="HK Modular"/>
                <a:sym typeface="HK Modular"/>
              </a:rPr>
              <a:t>NOMBRE</a:t>
            </a:r>
          </a:p>
        </p:txBody>
      </p:sp>
      <p:sp>
        <p:nvSpPr>
          <p:cNvPr name="TextBox 18" id="18"/>
          <p:cNvSpPr txBox="true"/>
          <p:nvPr/>
        </p:nvSpPr>
        <p:spPr>
          <a:xfrm rot="0">
            <a:off x="5347002" y="7236132"/>
            <a:ext cx="1895294" cy="307221"/>
          </a:xfrm>
          <a:prstGeom prst="rect">
            <a:avLst/>
          </a:prstGeom>
        </p:spPr>
        <p:txBody>
          <a:bodyPr anchor="t" rtlCol="false" tIns="0" lIns="0" bIns="0" rIns="0">
            <a:spAutoFit/>
          </a:bodyPr>
          <a:lstStyle/>
          <a:p>
            <a:pPr algn="ctr">
              <a:lnSpc>
                <a:spcPts val="2491"/>
              </a:lnSpc>
              <a:spcBef>
                <a:spcPct val="0"/>
              </a:spcBef>
            </a:pPr>
            <a:r>
              <a:rPr lang="en-US" sz="1779">
                <a:solidFill>
                  <a:srgbClr val="7B640E"/>
                </a:solidFill>
                <a:latin typeface="HK Modular"/>
                <a:ea typeface="HK Modular"/>
                <a:cs typeface="HK Modular"/>
                <a:sym typeface="HK Modular"/>
              </a:rPr>
              <a:t>ATRIBUTOS</a:t>
            </a:r>
          </a:p>
        </p:txBody>
      </p:sp>
      <p:sp>
        <p:nvSpPr>
          <p:cNvPr name="TextBox 19" id="19"/>
          <p:cNvSpPr txBox="true"/>
          <p:nvPr/>
        </p:nvSpPr>
        <p:spPr>
          <a:xfrm rot="0">
            <a:off x="5347002" y="7622995"/>
            <a:ext cx="1895294" cy="307221"/>
          </a:xfrm>
          <a:prstGeom prst="rect">
            <a:avLst/>
          </a:prstGeom>
        </p:spPr>
        <p:txBody>
          <a:bodyPr anchor="t" rtlCol="false" tIns="0" lIns="0" bIns="0" rIns="0">
            <a:spAutoFit/>
          </a:bodyPr>
          <a:lstStyle/>
          <a:p>
            <a:pPr algn="ctr">
              <a:lnSpc>
                <a:spcPts val="2491"/>
              </a:lnSpc>
              <a:spcBef>
                <a:spcPct val="0"/>
              </a:spcBef>
            </a:pPr>
            <a:r>
              <a:rPr lang="en-US" sz="1779">
                <a:solidFill>
                  <a:srgbClr val="7B640E"/>
                </a:solidFill>
                <a:latin typeface="HK Modular"/>
                <a:ea typeface="HK Modular"/>
                <a:cs typeface="HK Modular"/>
                <a:sym typeface="HK Modular"/>
              </a:rPr>
              <a:t>METODOS</a:t>
            </a:r>
          </a:p>
        </p:txBody>
      </p:sp>
      <p:sp>
        <p:nvSpPr>
          <p:cNvPr name="TextBox 20" id="20"/>
          <p:cNvSpPr txBox="true"/>
          <p:nvPr/>
        </p:nvSpPr>
        <p:spPr>
          <a:xfrm rot="0">
            <a:off x="5165837" y="8032351"/>
            <a:ext cx="2257625" cy="307221"/>
          </a:xfrm>
          <a:prstGeom prst="rect">
            <a:avLst/>
          </a:prstGeom>
        </p:spPr>
        <p:txBody>
          <a:bodyPr anchor="t" rtlCol="false" tIns="0" lIns="0" bIns="0" rIns="0">
            <a:spAutoFit/>
          </a:bodyPr>
          <a:lstStyle/>
          <a:p>
            <a:pPr algn="ctr">
              <a:lnSpc>
                <a:spcPts val="2491"/>
              </a:lnSpc>
              <a:spcBef>
                <a:spcPct val="0"/>
              </a:spcBef>
            </a:pPr>
            <a:r>
              <a:rPr lang="en-US" sz="1779">
                <a:solidFill>
                  <a:srgbClr val="7B640E"/>
                </a:solidFill>
                <a:latin typeface="HK Modular"/>
                <a:ea typeface="HK Modular"/>
                <a:cs typeface="HK Modular"/>
                <a:sym typeface="HK Modular"/>
              </a:rPr>
              <a:t>VISIBILIDAD</a:t>
            </a:r>
          </a:p>
        </p:txBody>
      </p:sp>
      <p:sp>
        <p:nvSpPr>
          <p:cNvPr name="TextBox 21" id="21"/>
          <p:cNvSpPr txBox="true"/>
          <p:nvPr/>
        </p:nvSpPr>
        <p:spPr>
          <a:xfrm rot="0">
            <a:off x="1078307" y="9220200"/>
            <a:ext cx="2257625" cy="307221"/>
          </a:xfrm>
          <a:prstGeom prst="rect">
            <a:avLst/>
          </a:prstGeom>
        </p:spPr>
        <p:txBody>
          <a:bodyPr anchor="t" rtlCol="false" tIns="0" lIns="0" bIns="0" rIns="0">
            <a:spAutoFit/>
          </a:bodyPr>
          <a:lstStyle/>
          <a:p>
            <a:pPr algn="ctr">
              <a:lnSpc>
                <a:spcPts val="2491"/>
              </a:lnSpc>
              <a:spcBef>
                <a:spcPct val="0"/>
              </a:spcBef>
            </a:pPr>
            <a:r>
              <a:rPr lang="en-US" sz="1779">
                <a:solidFill>
                  <a:srgbClr val="7B640E"/>
                </a:solidFill>
                <a:latin typeface="HK Modular"/>
                <a:ea typeface="HK Modular"/>
                <a:cs typeface="HK Modular"/>
                <a:sym typeface="HK Modular"/>
              </a:rPr>
              <a:t>RELACIONES</a:t>
            </a:r>
          </a:p>
        </p:txBody>
      </p:sp>
      <p:sp>
        <p:nvSpPr>
          <p:cNvPr name="TextBox 22" id="22"/>
          <p:cNvSpPr txBox="true"/>
          <p:nvPr/>
        </p:nvSpPr>
        <p:spPr>
          <a:xfrm rot="0">
            <a:off x="5165837" y="8710952"/>
            <a:ext cx="2257625" cy="307221"/>
          </a:xfrm>
          <a:prstGeom prst="rect">
            <a:avLst/>
          </a:prstGeom>
        </p:spPr>
        <p:txBody>
          <a:bodyPr anchor="t" rtlCol="false" tIns="0" lIns="0" bIns="0" rIns="0">
            <a:spAutoFit/>
          </a:bodyPr>
          <a:lstStyle/>
          <a:p>
            <a:pPr algn="ctr">
              <a:lnSpc>
                <a:spcPts val="2491"/>
              </a:lnSpc>
              <a:spcBef>
                <a:spcPct val="0"/>
              </a:spcBef>
            </a:pPr>
            <a:r>
              <a:rPr lang="en-US" sz="1779">
                <a:solidFill>
                  <a:srgbClr val="7B640E"/>
                </a:solidFill>
                <a:latin typeface="HK Modular"/>
                <a:ea typeface="HK Modular"/>
                <a:cs typeface="HK Modular"/>
                <a:sym typeface="HK Modular"/>
              </a:rPr>
              <a:t>ASOCIACION</a:t>
            </a:r>
          </a:p>
        </p:txBody>
      </p:sp>
      <p:sp>
        <p:nvSpPr>
          <p:cNvPr name="TextBox 23" id="23"/>
          <p:cNvSpPr txBox="true"/>
          <p:nvPr/>
        </p:nvSpPr>
        <p:spPr>
          <a:xfrm rot="0">
            <a:off x="3952816" y="9075323"/>
            <a:ext cx="4683667" cy="307221"/>
          </a:xfrm>
          <a:prstGeom prst="rect">
            <a:avLst/>
          </a:prstGeom>
        </p:spPr>
        <p:txBody>
          <a:bodyPr anchor="t" rtlCol="false" tIns="0" lIns="0" bIns="0" rIns="0">
            <a:spAutoFit/>
          </a:bodyPr>
          <a:lstStyle/>
          <a:p>
            <a:pPr algn="ctr">
              <a:lnSpc>
                <a:spcPts val="2491"/>
              </a:lnSpc>
              <a:spcBef>
                <a:spcPct val="0"/>
              </a:spcBef>
            </a:pPr>
            <a:r>
              <a:rPr lang="en-US" sz="1779">
                <a:solidFill>
                  <a:srgbClr val="7B640E"/>
                </a:solidFill>
                <a:latin typeface="HK Modular"/>
                <a:ea typeface="HK Modular"/>
                <a:cs typeface="HK Modular"/>
                <a:sym typeface="HK Modular"/>
              </a:rPr>
              <a:t>AGREGACION Y COMPOSICION</a:t>
            </a:r>
          </a:p>
        </p:txBody>
      </p:sp>
      <p:sp>
        <p:nvSpPr>
          <p:cNvPr name="TextBox 24" id="24"/>
          <p:cNvSpPr txBox="true"/>
          <p:nvPr/>
        </p:nvSpPr>
        <p:spPr>
          <a:xfrm rot="0">
            <a:off x="3952816" y="9496844"/>
            <a:ext cx="4683667" cy="307221"/>
          </a:xfrm>
          <a:prstGeom prst="rect">
            <a:avLst/>
          </a:prstGeom>
        </p:spPr>
        <p:txBody>
          <a:bodyPr anchor="t" rtlCol="false" tIns="0" lIns="0" bIns="0" rIns="0">
            <a:spAutoFit/>
          </a:bodyPr>
          <a:lstStyle/>
          <a:p>
            <a:pPr algn="ctr">
              <a:lnSpc>
                <a:spcPts val="2491"/>
              </a:lnSpc>
              <a:spcBef>
                <a:spcPct val="0"/>
              </a:spcBef>
            </a:pPr>
            <a:r>
              <a:rPr lang="en-US" sz="1779">
                <a:solidFill>
                  <a:srgbClr val="7B640E"/>
                </a:solidFill>
                <a:latin typeface="HK Modular"/>
                <a:ea typeface="HK Modular"/>
                <a:cs typeface="HK Modular"/>
                <a:sym typeface="HK Modular"/>
              </a:rPr>
              <a:t>HERENCIA</a:t>
            </a:r>
          </a:p>
        </p:txBody>
      </p:sp>
      <p:sp>
        <p:nvSpPr>
          <p:cNvPr name="TextBox 25" id="25"/>
          <p:cNvSpPr txBox="true"/>
          <p:nvPr/>
        </p:nvSpPr>
        <p:spPr>
          <a:xfrm rot="0">
            <a:off x="3952816" y="9861215"/>
            <a:ext cx="4683667" cy="307221"/>
          </a:xfrm>
          <a:prstGeom prst="rect">
            <a:avLst/>
          </a:prstGeom>
        </p:spPr>
        <p:txBody>
          <a:bodyPr anchor="t" rtlCol="false" tIns="0" lIns="0" bIns="0" rIns="0">
            <a:spAutoFit/>
          </a:bodyPr>
          <a:lstStyle/>
          <a:p>
            <a:pPr algn="ctr">
              <a:lnSpc>
                <a:spcPts val="2491"/>
              </a:lnSpc>
              <a:spcBef>
                <a:spcPct val="0"/>
              </a:spcBef>
            </a:pPr>
            <a:r>
              <a:rPr lang="en-US" sz="1779">
                <a:solidFill>
                  <a:srgbClr val="7B640E"/>
                </a:solidFill>
                <a:latin typeface="HK Modular"/>
                <a:ea typeface="HK Modular"/>
                <a:cs typeface="HK Modular"/>
                <a:sym typeface="HK Modular"/>
              </a:rPr>
              <a:t>MULTIPLICIDAD</a:t>
            </a:r>
          </a:p>
        </p:txBody>
      </p:sp>
      <p:sp>
        <p:nvSpPr>
          <p:cNvPr name="Freeform 26" id="26"/>
          <p:cNvSpPr/>
          <p:nvPr/>
        </p:nvSpPr>
        <p:spPr>
          <a:xfrm flipH="false" flipV="false" rot="0">
            <a:off x="8299966" y="-351215"/>
            <a:ext cx="2228650" cy="2228650"/>
          </a:xfrm>
          <a:custGeom>
            <a:avLst/>
            <a:gdLst/>
            <a:ahLst/>
            <a:cxnLst/>
            <a:rect r="r" b="b" t="t" l="l"/>
            <a:pathLst>
              <a:path h="2228650" w="2228650">
                <a:moveTo>
                  <a:pt x="0" y="0"/>
                </a:moveTo>
                <a:lnTo>
                  <a:pt x="2228650" y="0"/>
                </a:lnTo>
                <a:lnTo>
                  <a:pt x="2228650" y="2228650"/>
                </a:lnTo>
                <a:lnTo>
                  <a:pt x="0" y="2228650"/>
                </a:lnTo>
                <a:lnTo>
                  <a:pt x="0" y="0"/>
                </a:lnTo>
                <a:close/>
              </a:path>
            </a:pathLst>
          </a:custGeom>
          <a:blipFill>
            <a:blip r:embed="rId4"/>
            <a:stretch>
              <a:fillRect l="0" t="0" r="0" b="0"/>
            </a:stretch>
          </a:blipFill>
        </p:spPr>
      </p:sp>
    </p:spTree>
  </p:cSld>
  <p:clrMapOvr>
    <a:masterClrMapping/>
  </p:clrMapOvr>
</p:sld>
</file>

<file path=ppt/slides/slide5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3649348" y="4733365"/>
            <a:ext cx="11380305" cy="1101873"/>
          </a:xfrm>
          <a:prstGeom prst="rect">
            <a:avLst/>
          </a:prstGeom>
        </p:spPr>
        <p:txBody>
          <a:bodyPr anchor="t" rtlCol="false" tIns="0" lIns="0" bIns="0" rIns="0">
            <a:spAutoFit/>
          </a:bodyPr>
          <a:lstStyle/>
          <a:p>
            <a:pPr algn="ctr">
              <a:lnSpc>
                <a:spcPts val="8941"/>
              </a:lnSpc>
              <a:spcBef>
                <a:spcPct val="0"/>
              </a:spcBef>
            </a:pPr>
            <a:r>
              <a:rPr lang="en-US" sz="6387">
                <a:solidFill>
                  <a:srgbClr val="7B640E"/>
                </a:solidFill>
                <a:latin typeface="HK Modular"/>
                <a:ea typeface="HK Modular"/>
                <a:cs typeface="HK Modular"/>
                <a:sym typeface="HK Modular"/>
              </a:rPr>
              <a:t>MAVEN</a:t>
            </a:r>
          </a:p>
        </p:txBody>
      </p:sp>
      <p:sp>
        <p:nvSpPr>
          <p:cNvPr name="Freeform 13" id="13"/>
          <p:cNvSpPr/>
          <p:nvPr/>
        </p:nvSpPr>
        <p:spPr>
          <a:xfrm flipH="false" flipV="false" rot="0">
            <a:off x="7456270" y="-248515"/>
            <a:ext cx="3375461" cy="3375461"/>
          </a:xfrm>
          <a:custGeom>
            <a:avLst/>
            <a:gdLst/>
            <a:ahLst/>
            <a:cxnLst/>
            <a:rect r="r" b="b" t="t" l="l"/>
            <a:pathLst>
              <a:path h="3375461" w="3375461">
                <a:moveTo>
                  <a:pt x="0" y="0"/>
                </a:moveTo>
                <a:lnTo>
                  <a:pt x="3375460" y="0"/>
                </a:lnTo>
                <a:lnTo>
                  <a:pt x="3375460" y="3375460"/>
                </a:lnTo>
                <a:lnTo>
                  <a:pt x="0" y="3375460"/>
                </a:lnTo>
                <a:lnTo>
                  <a:pt x="0" y="0"/>
                </a:lnTo>
                <a:close/>
              </a:path>
            </a:pathLst>
          </a:custGeom>
          <a:blipFill>
            <a:blip r:embed="rId3"/>
            <a:stretch>
              <a:fillRect l="0" t="0" r="0" b="0"/>
            </a:stretch>
          </a:blipFill>
        </p:spPr>
      </p:sp>
    </p:spTree>
  </p:cSld>
  <p:clrMapOvr>
    <a:masterClrMapping/>
  </p:clrMapOvr>
</p:sld>
</file>

<file path=ppt/slides/slide5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4567469" y="1596881"/>
            <a:ext cx="9153062" cy="993012"/>
          </a:xfrm>
          <a:prstGeom prst="rect">
            <a:avLst/>
          </a:prstGeom>
        </p:spPr>
        <p:txBody>
          <a:bodyPr anchor="t" rtlCol="false" tIns="0" lIns="0" bIns="0" rIns="0">
            <a:spAutoFit/>
          </a:bodyPr>
          <a:lstStyle/>
          <a:p>
            <a:pPr algn="ctr">
              <a:lnSpc>
                <a:spcPts val="8072"/>
              </a:lnSpc>
              <a:spcBef>
                <a:spcPct val="0"/>
              </a:spcBef>
            </a:pPr>
            <a:r>
              <a:rPr lang="en-US" sz="5766">
                <a:solidFill>
                  <a:srgbClr val="7B640E"/>
                </a:solidFill>
                <a:latin typeface="HK Modular"/>
                <a:ea typeface="HK Modular"/>
                <a:cs typeface="HK Modular"/>
                <a:sym typeface="HK Modular"/>
              </a:rPr>
              <a:t>¿QUE ES MAVEN?</a:t>
            </a:r>
          </a:p>
        </p:txBody>
      </p:sp>
      <p:sp>
        <p:nvSpPr>
          <p:cNvPr name="TextBox 7" id="7"/>
          <p:cNvSpPr txBox="true"/>
          <p:nvPr/>
        </p:nvSpPr>
        <p:spPr>
          <a:xfrm rot="0">
            <a:off x="2297557" y="3046603"/>
            <a:ext cx="13692886"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Es una herramienta de software para la gestion de proyectos y construccion de proyectos JAVA, creada por Jason van Zyl en 2002</a:t>
            </a:r>
          </a:p>
        </p:txBody>
      </p:sp>
      <p:sp>
        <p:nvSpPr>
          <p:cNvPr name="TextBox 8" id="8"/>
          <p:cNvSpPr txBox="true"/>
          <p:nvPr/>
        </p:nvSpPr>
        <p:spPr>
          <a:xfrm rot="0">
            <a:off x="2406924" y="4228338"/>
            <a:ext cx="13692886"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Gestiona las dependencias como herramienta de compilacion e incluso como herramienta de documentacion</a:t>
            </a:r>
          </a:p>
        </p:txBody>
      </p:sp>
      <p:sp>
        <p:nvSpPr>
          <p:cNvPr name="TextBox 9" id="9"/>
          <p:cNvSpPr txBox="true"/>
          <p:nvPr/>
        </p:nvSpPr>
        <p:spPr>
          <a:xfrm rot="0">
            <a:off x="2297557" y="5410074"/>
            <a:ext cx="13692886"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Con maven se puede</a:t>
            </a:r>
          </a:p>
        </p:txBody>
      </p:sp>
      <p:sp>
        <p:nvSpPr>
          <p:cNvPr name="TextBox 10" id="10"/>
          <p:cNvSpPr txBox="true"/>
          <p:nvPr/>
        </p:nvSpPr>
        <p:spPr>
          <a:xfrm rot="0">
            <a:off x="2297557" y="6313249"/>
            <a:ext cx="13692886" cy="3210561"/>
          </a:xfrm>
          <a:prstGeom prst="rect">
            <a:avLst/>
          </a:prstGeom>
        </p:spPr>
        <p:txBody>
          <a:bodyPr anchor="t" rtlCol="false" tIns="0" lIns="0" bIns="0" rIns="0">
            <a:spAutoFit/>
          </a:bodyPr>
          <a:lstStyle/>
          <a:p>
            <a:pPr algn="l" marL="561336" indent="-280668" lvl="1">
              <a:lnSpc>
                <a:spcPts val="3639"/>
              </a:lnSpc>
              <a:buFont typeface="Arial"/>
              <a:buChar char="•"/>
            </a:pPr>
            <a:r>
              <a:rPr lang="en-US" sz="2599">
                <a:solidFill>
                  <a:srgbClr val="FFFFFF"/>
                </a:solidFill>
                <a:latin typeface="Poppins"/>
                <a:ea typeface="Poppins"/>
                <a:cs typeface="Poppins"/>
                <a:sym typeface="Poppins"/>
              </a:rPr>
              <a:t>Gestionar las dependencias del proyecto, descargando e instando modulos, paquetes y herramientas</a:t>
            </a:r>
          </a:p>
          <a:p>
            <a:pPr algn="l" marL="561336" indent="-280668" lvl="1">
              <a:lnSpc>
                <a:spcPts val="3639"/>
              </a:lnSpc>
              <a:buFont typeface="Arial"/>
              <a:buChar char="•"/>
            </a:pPr>
            <a:r>
              <a:rPr lang="en-US" sz="2599">
                <a:solidFill>
                  <a:srgbClr val="FFFFFF"/>
                </a:solidFill>
                <a:latin typeface="Poppins"/>
                <a:ea typeface="Poppins"/>
                <a:cs typeface="Poppins"/>
                <a:sym typeface="Poppins"/>
              </a:rPr>
              <a:t>Compilar codigo fuente de la aplicacion</a:t>
            </a:r>
          </a:p>
          <a:p>
            <a:pPr algn="l" marL="561336" indent="-280668" lvl="1">
              <a:lnSpc>
                <a:spcPts val="3639"/>
              </a:lnSpc>
              <a:buFont typeface="Arial"/>
              <a:buChar char="•"/>
            </a:pPr>
            <a:r>
              <a:rPr lang="en-US" sz="2599">
                <a:solidFill>
                  <a:srgbClr val="FFFFFF"/>
                </a:solidFill>
                <a:latin typeface="Poppins"/>
                <a:ea typeface="Poppins"/>
                <a:cs typeface="Poppins"/>
                <a:sym typeface="Poppins"/>
              </a:rPr>
              <a:t>Empaquetar el codigo en archivos .jar o .zip</a:t>
            </a:r>
          </a:p>
          <a:p>
            <a:pPr algn="l" marL="561336" indent="-280668" lvl="1">
              <a:lnSpc>
                <a:spcPts val="3639"/>
              </a:lnSpc>
              <a:buFont typeface="Arial"/>
              <a:buChar char="•"/>
            </a:pPr>
            <a:r>
              <a:rPr lang="en-US" sz="2599">
                <a:solidFill>
                  <a:srgbClr val="FFFFFF"/>
                </a:solidFill>
                <a:latin typeface="Poppins"/>
                <a:ea typeface="Poppins"/>
                <a:cs typeface="Poppins"/>
                <a:sym typeface="Poppins"/>
              </a:rPr>
              <a:t>Instalar los paquetes en un repositorio</a:t>
            </a:r>
          </a:p>
          <a:p>
            <a:pPr algn="l" marL="561336" indent="-280668" lvl="1">
              <a:lnSpc>
                <a:spcPts val="3639"/>
              </a:lnSpc>
              <a:buFont typeface="Arial"/>
              <a:buChar char="•"/>
            </a:pPr>
            <a:r>
              <a:rPr lang="en-US" sz="2599">
                <a:solidFill>
                  <a:srgbClr val="FFFFFF"/>
                </a:solidFill>
                <a:latin typeface="Poppins"/>
                <a:ea typeface="Poppins"/>
                <a:cs typeface="Poppins"/>
                <a:sym typeface="Poppins"/>
              </a:rPr>
              <a:t>Generar documentacion a partir de codigo fuente</a:t>
            </a:r>
          </a:p>
          <a:p>
            <a:pPr algn="l" marL="561336" indent="-280668" lvl="1">
              <a:lnSpc>
                <a:spcPts val="3639"/>
              </a:lnSpc>
              <a:buFont typeface="Arial"/>
              <a:buChar char="•"/>
            </a:pPr>
            <a:r>
              <a:rPr lang="en-US" sz="2599">
                <a:solidFill>
                  <a:srgbClr val="FFFFFF"/>
                </a:solidFill>
                <a:latin typeface="Poppins"/>
                <a:ea typeface="Poppins"/>
                <a:cs typeface="Poppins"/>
                <a:sym typeface="Poppins"/>
              </a:rPr>
              <a:t>Gestionar las distintas fases del ciclo de vida</a:t>
            </a:r>
          </a:p>
        </p:txBody>
      </p:sp>
      <p:sp>
        <p:nvSpPr>
          <p:cNvPr name="Freeform 11" id="11"/>
          <p:cNvSpPr/>
          <p:nvPr/>
        </p:nvSpPr>
        <p:spPr>
          <a:xfrm flipH="false" flipV="false" rot="0">
            <a:off x="8299966" y="-351215"/>
            <a:ext cx="2228650" cy="2228650"/>
          </a:xfrm>
          <a:custGeom>
            <a:avLst/>
            <a:gdLst/>
            <a:ahLst/>
            <a:cxnLst/>
            <a:rect r="r" b="b" t="t" l="l"/>
            <a:pathLst>
              <a:path h="2228650" w="2228650">
                <a:moveTo>
                  <a:pt x="0" y="0"/>
                </a:moveTo>
                <a:lnTo>
                  <a:pt x="2228650" y="0"/>
                </a:lnTo>
                <a:lnTo>
                  <a:pt x="2228650" y="2228650"/>
                </a:lnTo>
                <a:lnTo>
                  <a:pt x="0" y="2228650"/>
                </a:lnTo>
                <a:lnTo>
                  <a:pt x="0" y="0"/>
                </a:lnTo>
                <a:close/>
              </a:path>
            </a:pathLst>
          </a:custGeom>
          <a:blipFill>
            <a:blip r:embed="rId3"/>
            <a:stretch>
              <a:fillRect l="0" t="0" r="0" b="0"/>
            </a:stretch>
          </a:blipFill>
        </p:spPr>
      </p:sp>
    </p:spTree>
  </p:cSld>
  <p:clrMapOvr>
    <a:masterClrMapping/>
  </p:clrMapOvr>
</p:sld>
</file>

<file path=ppt/slides/slide6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856298" y="-7571540"/>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932991" y="3820875"/>
            <a:ext cx="3534450" cy="4633397"/>
          </a:xfrm>
          <a:custGeom>
            <a:avLst/>
            <a:gdLst/>
            <a:ahLst/>
            <a:cxnLst/>
            <a:rect r="r" b="b" t="t" l="l"/>
            <a:pathLst>
              <a:path h="4633397" w="3534450">
                <a:moveTo>
                  <a:pt x="0" y="0"/>
                </a:moveTo>
                <a:lnTo>
                  <a:pt x="3534450" y="0"/>
                </a:lnTo>
                <a:lnTo>
                  <a:pt x="3534450" y="4633397"/>
                </a:lnTo>
                <a:lnTo>
                  <a:pt x="0" y="4633397"/>
                </a:lnTo>
                <a:lnTo>
                  <a:pt x="0" y="0"/>
                </a:lnTo>
                <a:close/>
              </a:path>
            </a:pathLst>
          </a:custGeom>
          <a:blipFill>
            <a:blip r:embed="rId3"/>
            <a:stretch>
              <a:fillRect l="0" t="0" r="0" b="0"/>
            </a:stretch>
          </a:blipFill>
        </p:spPr>
      </p:sp>
      <p:sp>
        <p:nvSpPr>
          <p:cNvPr name="Freeform 7" id="7"/>
          <p:cNvSpPr/>
          <p:nvPr/>
        </p:nvSpPr>
        <p:spPr>
          <a:xfrm flipH="false" flipV="false" rot="0">
            <a:off x="12494871" y="4211237"/>
            <a:ext cx="4764429" cy="3852673"/>
          </a:xfrm>
          <a:custGeom>
            <a:avLst/>
            <a:gdLst/>
            <a:ahLst/>
            <a:cxnLst/>
            <a:rect r="r" b="b" t="t" l="l"/>
            <a:pathLst>
              <a:path h="3852673" w="4764429">
                <a:moveTo>
                  <a:pt x="0" y="0"/>
                </a:moveTo>
                <a:lnTo>
                  <a:pt x="4764429" y="0"/>
                </a:lnTo>
                <a:lnTo>
                  <a:pt x="4764429" y="3852673"/>
                </a:lnTo>
                <a:lnTo>
                  <a:pt x="0" y="3852673"/>
                </a:lnTo>
                <a:lnTo>
                  <a:pt x="0" y="0"/>
                </a:lnTo>
                <a:close/>
              </a:path>
            </a:pathLst>
          </a:custGeom>
          <a:blipFill>
            <a:blip r:embed="rId4"/>
            <a:stretch>
              <a:fillRect l="-3954" t="0" r="-20211" b="0"/>
            </a:stretch>
          </a:blipFill>
        </p:spPr>
      </p:sp>
      <p:sp>
        <p:nvSpPr>
          <p:cNvPr name="TextBox 8" id="8"/>
          <p:cNvSpPr txBox="true"/>
          <p:nvPr/>
        </p:nvSpPr>
        <p:spPr>
          <a:xfrm rot="0">
            <a:off x="4567469" y="1596881"/>
            <a:ext cx="9153062" cy="993012"/>
          </a:xfrm>
          <a:prstGeom prst="rect">
            <a:avLst/>
          </a:prstGeom>
        </p:spPr>
        <p:txBody>
          <a:bodyPr anchor="t" rtlCol="false" tIns="0" lIns="0" bIns="0" rIns="0">
            <a:spAutoFit/>
          </a:bodyPr>
          <a:lstStyle/>
          <a:p>
            <a:pPr algn="ctr">
              <a:lnSpc>
                <a:spcPts val="8072"/>
              </a:lnSpc>
              <a:spcBef>
                <a:spcPct val="0"/>
              </a:spcBef>
            </a:pPr>
            <a:r>
              <a:rPr lang="en-US" sz="5766">
                <a:solidFill>
                  <a:srgbClr val="7B640E"/>
                </a:solidFill>
                <a:latin typeface="HK Modular"/>
                <a:ea typeface="HK Modular"/>
                <a:cs typeface="HK Modular"/>
                <a:sym typeface="HK Modular"/>
              </a:rPr>
              <a:t>EL ARCHIVO POM</a:t>
            </a:r>
          </a:p>
        </p:txBody>
      </p:sp>
      <p:sp>
        <p:nvSpPr>
          <p:cNvPr name="TextBox 9" id="9"/>
          <p:cNvSpPr txBox="true"/>
          <p:nvPr/>
        </p:nvSpPr>
        <p:spPr>
          <a:xfrm rot="0">
            <a:off x="1028700" y="3131037"/>
            <a:ext cx="6178456" cy="2286636"/>
          </a:xfrm>
          <a:prstGeom prst="rect">
            <a:avLst/>
          </a:prstGeom>
        </p:spPr>
        <p:txBody>
          <a:bodyPr anchor="t" rtlCol="false" tIns="0" lIns="0" bIns="0" rIns="0">
            <a:spAutoFit/>
          </a:bodyPr>
          <a:lstStyle/>
          <a:p>
            <a:pPr algn="ctr">
              <a:lnSpc>
                <a:spcPts val="3639"/>
              </a:lnSpc>
            </a:pPr>
            <a:r>
              <a:rPr lang="en-US" sz="2599">
                <a:solidFill>
                  <a:srgbClr val="FFFFFF"/>
                </a:solidFill>
                <a:latin typeface="Poppins"/>
                <a:ea typeface="Poppins"/>
                <a:cs typeface="Poppins"/>
                <a:sym typeface="Poppins"/>
              </a:rPr>
              <a:t>La unidad basica de trabajo en Maven es el llamado Modelo de Objetos de Proyecto conocido como POM (Project Object Model)</a:t>
            </a:r>
          </a:p>
          <a:p>
            <a:pPr algn="ctr">
              <a:lnSpc>
                <a:spcPts val="3639"/>
              </a:lnSpc>
            </a:pPr>
          </a:p>
        </p:txBody>
      </p:sp>
      <p:sp>
        <p:nvSpPr>
          <p:cNvPr name="TextBox 10" id="10"/>
          <p:cNvSpPr txBox="true"/>
          <p:nvPr/>
        </p:nvSpPr>
        <p:spPr>
          <a:xfrm rot="0">
            <a:off x="1028700" y="7792915"/>
            <a:ext cx="6139506" cy="1831151"/>
          </a:xfrm>
          <a:prstGeom prst="rect">
            <a:avLst/>
          </a:prstGeom>
        </p:spPr>
        <p:txBody>
          <a:bodyPr anchor="t" rtlCol="false" tIns="0" lIns="0" bIns="0" rIns="0">
            <a:spAutoFit/>
          </a:bodyPr>
          <a:lstStyle/>
          <a:p>
            <a:pPr algn="ctr">
              <a:lnSpc>
                <a:spcPts val="3643"/>
              </a:lnSpc>
            </a:pPr>
            <a:r>
              <a:rPr lang="en-US" sz="2602">
                <a:solidFill>
                  <a:srgbClr val="FFFFFF"/>
                </a:solidFill>
                <a:latin typeface="Poppins"/>
                <a:ea typeface="Poppins"/>
                <a:cs typeface="Poppins"/>
                <a:sym typeface="Poppins"/>
              </a:rPr>
              <a:t>Es un archivo XML llamado pom.xml que se encuentra por defecto en la raiz de los proyectos</a:t>
            </a:r>
          </a:p>
          <a:p>
            <a:pPr algn="ctr">
              <a:lnSpc>
                <a:spcPts val="3643"/>
              </a:lnSpc>
            </a:pPr>
          </a:p>
        </p:txBody>
      </p:sp>
      <p:sp>
        <p:nvSpPr>
          <p:cNvPr name="TextBox 11" id="11"/>
          <p:cNvSpPr txBox="true"/>
          <p:nvPr/>
        </p:nvSpPr>
        <p:spPr>
          <a:xfrm rot="0">
            <a:off x="1028700" y="5575418"/>
            <a:ext cx="6178456" cy="1831151"/>
          </a:xfrm>
          <a:prstGeom prst="rect">
            <a:avLst/>
          </a:prstGeom>
        </p:spPr>
        <p:txBody>
          <a:bodyPr anchor="t" rtlCol="false" tIns="0" lIns="0" bIns="0" rIns="0">
            <a:spAutoFit/>
          </a:bodyPr>
          <a:lstStyle/>
          <a:p>
            <a:pPr algn="ctr">
              <a:lnSpc>
                <a:spcPts val="3643"/>
              </a:lnSpc>
            </a:pPr>
            <a:r>
              <a:rPr lang="en-US" sz="2602">
                <a:solidFill>
                  <a:srgbClr val="FFFFFF"/>
                </a:solidFill>
                <a:latin typeface="Poppins"/>
                <a:ea typeface="Poppins"/>
                <a:cs typeface="Poppins"/>
                <a:sym typeface="Poppins"/>
              </a:rPr>
              <a:t>Contiene toda la informacion del proyecto: su configuracion, sus dependencias, etc...</a:t>
            </a:r>
          </a:p>
          <a:p>
            <a:pPr algn="ctr">
              <a:lnSpc>
                <a:spcPts val="3643"/>
              </a:lnSpc>
            </a:pPr>
          </a:p>
        </p:txBody>
      </p:sp>
      <p:sp>
        <p:nvSpPr>
          <p:cNvPr name="Freeform 12" id="12"/>
          <p:cNvSpPr/>
          <p:nvPr/>
        </p:nvSpPr>
        <p:spPr>
          <a:xfrm flipH="false" flipV="false" rot="0">
            <a:off x="8299966" y="-351215"/>
            <a:ext cx="2228650" cy="2228650"/>
          </a:xfrm>
          <a:custGeom>
            <a:avLst/>
            <a:gdLst/>
            <a:ahLst/>
            <a:cxnLst/>
            <a:rect r="r" b="b" t="t" l="l"/>
            <a:pathLst>
              <a:path h="2228650" w="2228650">
                <a:moveTo>
                  <a:pt x="0" y="0"/>
                </a:moveTo>
                <a:lnTo>
                  <a:pt x="2228650" y="0"/>
                </a:lnTo>
                <a:lnTo>
                  <a:pt x="2228650" y="2228650"/>
                </a:lnTo>
                <a:lnTo>
                  <a:pt x="0" y="2228650"/>
                </a:lnTo>
                <a:lnTo>
                  <a:pt x="0" y="0"/>
                </a:lnTo>
                <a:close/>
              </a:path>
            </a:pathLst>
          </a:custGeom>
          <a:blipFill>
            <a:blip r:embed="rId5"/>
            <a:stretch>
              <a:fillRect l="0" t="0" r="0" b="0"/>
            </a:stretch>
          </a:blipFill>
        </p:spPr>
      </p:sp>
    </p:spTree>
  </p:cSld>
  <p:clrMapOvr>
    <a:masterClrMapping/>
  </p:clrMapOvr>
</p:sld>
</file>

<file path=ppt/slides/slide6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028700" y="3391909"/>
            <a:ext cx="7945860" cy="5486971"/>
          </a:xfrm>
          <a:prstGeom prst="rect">
            <a:avLst/>
          </a:prstGeom>
        </p:spPr>
        <p:txBody>
          <a:bodyPr anchor="t" rtlCol="false" tIns="0" lIns="0" bIns="0" rIns="0">
            <a:spAutoFit/>
          </a:bodyPr>
          <a:lstStyle/>
          <a:p>
            <a:pPr algn="l" marL="561881" indent="-280941" lvl="1">
              <a:lnSpc>
                <a:spcPts val="3643"/>
              </a:lnSpc>
              <a:buAutoNum type="arabicPeriod" startAt="1"/>
            </a:pPr>
            <a:r>
              <a:rPr lang="en-US" sz="2602">
                <a:solidFill>
                  <a:srgbClr val="FFFFFF"/>
                </a:solidFill>
                <a:latin typeface="Poppins"/>
                <a:ea typeface="Poppins"/>
                <a:cs typeface="Poppins"/>
                <a:sym typeface="Poppins"/>
              </a:rPr>
              <a:t>Instalar Maven:  https://maven.apache.org/download.cgi</a:t>
            </a:r>
          </a:p>
          <a:p>
            <a:pPr algn="l" marL="561881" indent="-280941" lvl="1">
              <a:lnSpc>
                <a:spcPts val="3643"/>
              </a:lnSpc>
              <a:buAutoNum type="arabicPeriod" startAt="1"/>
            </a:pPr>
            <a:r>
              <a:rPr lang="en-US" sz="2602">
                <a:solidFill>
                  <a:srgbClr val="FFFFFF"/>
                </a:solidFill>
                <a:latin typeface="Poppins"/>
                <a:ea typeface="Poppins"/>
                <a:cs typeface="Poppins"/>
                <a:sym typeface="Poppins"/>
              </a:rPr>
              <a:t>Descargar el archivo binario en formato .zip o tar</a:t>
            </a:r>
          </a:p>
          <a:p>
            <a:pPr algn="l" marL="561881" indent="-280941" lvl="1">
              <a:lnSpc>
                <a:spcPts val="3643"/>
              </a:lnSpc>
              <a:buAutoNum type="arabicPeriod" startAt="1"/>
            </a:pPr>
            <a:r>
              <a:rPr lang="en-US" sz="2602">
                <a:solidFill>
                  <a:srgbClr val="FFFFFF"/>
                </a:solidFill>
                <a:latin typeface="Poppins"/>
                <a:ea typeface="Poppins"/>
                <a:cs typeface="Poppins"/>
                <a:sym typeface="Poppins"/>
              </a:rPr>
              <a:t>Extraer Maven en la ubicacion deseada (/opt/maven)</a:t>
            </a:r>
          </a:p>
          <a:p>
            <a:pPr algn="l" marL="561881" indent="-280941" lvl="1">
              <a:lnSpc>
                <a:spcPts val="3643"/>
              </a:lnSpc>
              <a:buAutoNum type="arabicPeriod" startAt="1"/>
            </a:pPr>
            <a:r>
              <a:rPr lang="en-US" sz="2602">
                <a:solidFill>
                  <a:srgbClr val="FFFFFF"/>
                </a:solidFill>
                <a:latin typeface="Poppins"/>
                <a:ea typeface="Poppins"/>
                <a:cs typeface="Poppins"/>
                <a:sym typeface="Poppins"/>
              </a:rPr>
              <a:t>Configurar variables de entorno MAVEN_HOME (ruta donde se encuentra la carpeta extraida) y PATH donde se agrega la carpeta bin de Maven en la variable PATH</a:t>
            </a:r>
          </a:p>
          <a:p>
            <a:pPr algn="l">
              <a:lnSpc>
                <a:spcPts val="3643"/>
              </a:lnSpc>
            </a:pPr>
          </a:p>
          <a:p>
            <a:pPr algn="l">
              <a:lnSpc>
                <a:spcPts val="3643"/>
              </a:lnSpc>
            </a:pPr>
          </a:p>
        </p:txBody>
      </p:sp>
      <p:sp>
        <p:nvSpPr>
          <p:cNvPr name="Freeform 7" id="7"/>
          <p:cNvSpPr/>
          <p:nvPr/>
        </p:nvSpPr>
        <p:spPr>
          <a:xfrm flipH="false" flipV="false" rot="0">
            <a:off x="2181872" y="8489148"/>
            <a:ext cx="5875819" cy="769152"/>
          </a:xfrm>
          <a:custGeom>
            <a:avLst/>
            <a:gdLst/>
            <a:ahLst/>
            <a:cxnLst/>
            <a:rect r="r" b="b" t="t" l="l"/>
            <a:pathLst>
              <a:path h="769152" w="5875819">
                <a:moveTo>
                  <a:pt x="0" y="0"/>
                </a:moveTo>
                <a:lnTo>
                  <a:pt x="5875819" y="0"/>
                </a:lnTo>
                <a:lnTo>
                  <a:pt x="5875819" y="769152"/>
                </a:lnTo>
                <a:lnTo>
                  <a:pt x="0" y="769152"/>
                </a:lnTo>
                <a:lnTo>
                  <a:pt x="0" y="0"/>
                </a:lnTo>
                <a:close/>
              </a:path>
            </a:pathLst>
          </a:custGeom>
          <a:blipFill>
            <a:blip r:embed="rId3"/>
            <a:stretch>
              <a:fillRect l="0" t="0" r="0" b="0"/>
            </a:stretch>
          </a:blipFill>
        </p:spPr>
      </p:sp>
      <p:sp>
        <p:nvSpPr>
          <p:cNvPr name="Freeform 8" id="8"/>
          <p:cNvSpPr/>
          <p:nvPr/>
        </p:nvSpPr>
        <p:spPr>
          <a:xfrm flipH="false" flipV="false" rot="0">
            <a:off x="9681153" y="6493551"/>
            <a:ext cx="7362191" cy="1507078"/>
          </a:xfrm>
          <a:custGeom>
            <a:avLst/>
            <a:gdLst/>
            <a:ahLst/>
            <a:cxnLst/>
            <a:rect r="r" b="b" t="t" l="l"/>
            <a:pathLst>
              <a:path h="1507078" w="7362191">
                <a:moveTo>
                  <a:pt x="0" y="0"/>
                </a:moveTo>
                <a:lnTo>
                  <a:pt x="7362191" y="0"/>
                </a:lnTo>
                <a:lnTo>
                  <a:pt x="7362191" y="1507078"/>
                </a:lnTo>
                <a:lnTo>
                  <a:pt x="0" y="1507078"/>
                </a:lnTo>
                <a:lnTo>
                  <a:pt x="0" y="0"/>
                </a:lnTo>
                <a:close/>
              </a:path>
            </a:pathLst>
          </a:custGeom>
          <a:blipFill>
            <a:blip r:embed="rId4"/>
            <a:stretch>
              <a:fillRect l="0" t="-6271" r="0" b="0"/>
            </a:stretch>
          </a:blipFill>
        </p:spPr>
      </p:sp>
      <p:sp>
        <p:nvSpPr>
          <p:cNvPr name="TextBox 9" id="9"/>
          <p:cNvSpPr txBox="true"/>
          <p:nvPr/>
        </p:nvSpPr>
        <p:spPr>
          <a:xfrm rot="0">
            <a:off x="4049948" y="2077496"/>
            <a:ext cx="10406838" cy="993012"/>
          </a:xfrm>
          <a:prstGeom prst="rect">
            <a:avLst/>
          </a:prstGeom>
        </p:spPr>
        <p:txBody>
          <a:bodyPr anchor="t" rtlCol="false" tIns="0" lIns="0" bIns="0" rIns="0">
            <a:spAutoFit/>
          </a:bodyPr>
          <a:lstStyle/>
          <a:p>
            <a:pPr algn="ctr">
              <a:lnSpc>
                <a:spcPts val="8072"/>
              </a:lnSpc>
              <a:spcBef>
                <a:spcPct val="0"/>
              </a:spcBef>
            </a:pPr>
            <a:r>
              <a:rPr lang="en-US" sz="5766">
                <a:solidFill>
                  <a:srgbClr val="7B640E"/>
                </a:solidFill>
                <a:latin typeface="HK Modular"/>
                <a:ea typeface="HK Modular"/>
                <a:cs typeface="HK Modular"/>
                <a:sym typeface="HK Modular"/>
              </a:rPr>
              <a:t>¿COMO FUNCIONA?</a:t>
            </a:r>
          </a:p>
        </p:txBody>
      </p:sp>
      <p:sp>
        <p:nvSpPr>
          <p:cNvPr name="TextBox 10" id="10"/>
          <p:cNvSpPr txBox="true"/>
          <p:nvPr/>
        </p:nvSpPr>
        <p:spPr>
          <a:xfrm rot="0">
            <a:off x="9389318" y="3386753"/>
            <a:ext cx="7945860" cy="3658171"/>
          </a:xfrm>
          <a:prstGeom prst="rect">
            <a:avLst/>
          </a:prstGeom>
        </p:spPr>
        <p:txBody>
          <a:bodyPr anchor="t" rtlCol="false" tIns="0" lIns="0" bIns="0" rIns="0">
            <a:spAutoFit/>
          </a:bodyPr>
          <a:lstStyle/>
          <a:p>
            <a:pPr algn="l">
              <a:lnSpc>
                <a:spcPts val="3643"/>
              </a:lnSpc>
            </a:pPr>
            <a:r>
              <a:rPr lang="en-US" sz="2602">
                <a:solidFill>
                  <a:srgbClr val="FFFFFF"/>
                </a:solidFill>
                <a:latin typeface="Poppins"/>
                <a:ea typeface="Poppins"/>
                <a:cs typeface="Poppins"/>
                <a:sym typeface="Poppins"/>
              </a:rPr>
              <a:t>5. Verifica la instalacion:</a:t>
            </a:r>
          </a:p>
          <a:p>
            <a:pPr algn="l">
              <a:lnSpc>
                <a:spcPts val="3643"/>
              </a:lnSpc>
            </a:pPr>
          </a:p>
          <a:p>
            <a:pPr algn="l">
              <a:lnSpc>
                <a:spcPts val="3643"/>
              </a:lnSpc>
            </a:pPr>
            <a:r>
              <a:rPr lang="en-US" sz="2602">
                <a:solidFill>
                  <a:srgbClr val="FFFFFF"/>
                </a:solidFill>
                <a:latin typeface="Poppins"/>
                <a:ea typeface="Poppins"/>
                <a:cs typeface="Poppins"/>
                <a:sym typeface="Poppins"/>
              </a:rPr>
              <a:t>Ejecuta una nueva terminal</a:t>
            </a:r>
          </a:p>
          <a:p>
            <a:pPr algn="l">
              <a:lnSpc>
                <a:spcPts val="3643"/>
              </a:lnSpc>
            </a:pPr>
            <a:r>
              <a:rPr lang="en-US" sz="2602">
                <a:solidFill>
                  <a:srgbClr val="FFFFFF"/>
                </a:solidFill>
                <a:latin typeface="Poppins"/>
                <a:ea typeface="Poppins"/>
                <a:cs typeface="Poppins"/>
                <a:sym typeface="Poppins"/>
              </a:rPr>
              <a:t>Ejecuta el comando mvn -v</a:t>
            </a:r>
          </a:p>
          <a:p>
            <a:pPr algn="l">
              <a:lnSpc>
                <a:spcPts val="3643"/>
              </a:lnSpc>
            </a:pPr>
            <a:r>
              <a:rPr lang="en-US" sz="2602">
                <a:solidFill>
                  <a:srgbClr val="FFFFFF"/>
                </a:solidFill>
                <a:latin typeface="Poppins"/>
                <a:ea typeface="Poppins"/>
                <a:cs typeface="Poppins"/>
                <a:sym typeface="Poppins"/>
              </a:rPr>
              <a:t>Deberia mostrar informacion sobre la version de Maven, java y el sistema operativo</a:t>
            </a:r>
          </a:p>
          <a:p>
            <a:pPr algn="l">
              <a:lnSpc>
                <a:spcPts val="3643"/>
              </a:lnSpc>
            </a:pPr>
          </a:p>
          <a:p>
            <a:pPr algn="l">
              <a:lnSpc>
                <a:spcPts val="3643"/>
              </a:lnSpc>
            </a:pPr>
          </a:p>
        </p:txBody>
      </p:sp>
      <p:sp>
        <p:nvSpPr>
          <p:cNvPr name="Freeform 11" id="11"/>
          <p:cNvSpPr/>
          <p:nvPr/>
        </p:nvSpPr>
        <p:spPr>
          <a:xfrm flipH="false" flipV="false" rot="0">
            <a:off x="8299966" y="-351215"/>
            <a:ext cx="2228650" cy="2228650"/>
          </a:xfrm>
          <a:custGeom>
            <a:avLst/>
            <a:gdLst/>
            <a:ahLst/>
            <a:cxnLst/>
            <a:rect r="r" b="b" t="t" l="l"/>
            <a:pathLst>
              <a:path h="2228650" w="2228650">
                <a:moveTo>
                  <a:pt x="0" y="0"/>
                </a:moveTo>
                <a:lnTo>
                  <a:pt x="2228650" y="0"/>
                </a:lnTo>
                <a:lnTo>
                  <a:pt x="2228650" y="2228650"/>
                </a:lnTo>
                <a:lnTo>
                  <a:pt x="0" y="2228650"/>
                </a:lnTo>
                <a:lnTo>
                  <a:pt x="0" y="0"/>
                </a:lnTo>
                <a:close/>
              </a:path>
            </a:pathLst>
          </a:custGeom>
          <a:blipFill>
            <a:blip r:embed="rId5"/>
            <a:stretch>
              <a:fillRect l="0" t="0" r="0" b="0"/>
            </a:stretch>
          </a:blipFill>
        </p:spPr>
      </p:sp>
    </p:spTree>
  </p:cSld>
  <p:clrMapOvr>
    <a:masterClrMapping/>
  </p:clrMapOvr>
</p:sld>
</file>

<file path=ppt/slides/slide6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613416" y="3401434"/>
            <a:ext cx="7036417" cy="4857066"/>
          </a:xfrm>
          <a:prstGeom prst="rect">
            <a:avLst/>
          </a:prstGeom>
        </p:spPr>
        <p:txBody>
          <a:bodyPr anchor="t" rtlCol="false" tIns="0" lIns="0" bIns="0" rIns="0">
            <a:spAutoFit/>
          </a:bodyPr>
          <a:lstStyle/>
          <a:p>
            <a:pPr algn="l" marL="497571" indent="-248786" lvl="1">
              <a:lnSpc>
                <a:spcPts val="3226"/>
              </a:lnSpc>
              <a:buAutoNum type="arabicPeriod" startAt="1"/>
            </a:pPr>
            <a:r>
              <a:rPr lang="en-US" sz="2304">
                <a:solidFill>
                  <a:srgbClr val="FFFFFF"/>
                </a:solidFill>
                <a:latin typeface="Poppins"/>
                <a:ea typeface="Poppins"/>
                <a:cs typeface="Poppins"/>
                <a:sym typeface="Poppins"/>
              </a:rPr>
              <a:t>Instalar Maven:  https://maven.apache.org/download.cgi</a:t>
            </a:r>
          </a:p>
          <a:p>
            <a:pPr algn="l" marL="497571" indent="-248786" lvl="1">
              <a:lnSpc>
                <a:spcPts val="3226"/>
              </a:lnSpc>
              <a:buAutoNum type="arabicPeriod" startAt="1"/>
            </a:pPr>
            <a:r>
              <a:rPr lang="en-US" sz="2304">
                <a:solidFill>
                  <a:srgbClr val="FFFFFF"/>
                </a:solidFill>
                <a:latin typeface="Poppins"/>
                <a:ea typeface="Poppins"/>
                <a:cs typeface="Poppins"/>
                <a:sym typeface="Poppins"/>
              </a:rPr>
              <a:t>Descargar el archivo binario en formato .zip o tar</a:t>
            </a:r>
          </a:p>
          <a:p>
            <a:pPr algn="l" marL="497571" indent="-248786" lvl="1">
              <a:lnSpc>
                <a:spcPts val="3226"/>
              </a:lnSpc>
              <a:buAutoNum type="arabicPeriod" startAt="1"/>
            </a:pPr>
            <a:r>
              <a:rPr lang="en-US" sz="2304">
                <a:solidFill>
                  <a:srgbClr val="FFFFFF"/>
                </a:solidFill>
                <a:latin typeface="Poppins"/>
                <a:ea typeface="Poppins"/>
                <a:cs typeface="Poppins"/>
                <a:sym typeface="Poppins"/>
              </a:rPr>
              <a:t>Extraer Maven en la ubicacion deseada (/opt/maven)</a:t>
            </a:r>
          </a:p>
          <a:p>
            <a:pPr algn="l" marL="497571" indent="-248786" lvl="1">
              <a:lnSpc>
                <a:spcPts val="3226"/>
              </a:lnSpc>
              <a:buAutoNum type="arabicPeriod" startAt="1"/>
            </a:pPr>
            <a:r>
              <a:rPr lang="en-US" sz="2304">
                <a:solidFill>
                  <a:srgbClr val="FFFFFF"/>
                </a:solidFill>
                <a:latin typeface="Poppins"/>
                <a:ea typeface="Poppins"/>
                <a:cs typeface="Poppins"/>
                <a:sym typeface="Poppins"/>
              </a:rPr>
              <a:t>Configurar variables de entorno MAVEN_HOME (ruta donde se encuentra la carpeta extraida) y PATH donde se agrega la carpeta bin de Maven en la variable PATH</a:t>
            </a:r>
          </a:p>
          <a:p>
            <a:pPr algn="l">
              <a:lnSpc>
                <a:spcPts val="3226"/>
              </a:lnSpc>
            </a:pPr>
          </a:p>
          <a:p>
            <a:pPr algn="l">
              <a:lnSpc>
                <a:spcPts val="3226"/>
              </a:lnSpc>
            </a:pPr>
          </a:p>
        </p:txBody>
      </p:sp>
      <p:sp>
        <p:nvSpPr>
          <p:cNvPr name="Freeform 7" id="7"/>
          <p:cNvSpPr/>
          <p:nvPr/>
        </p:nvSpPr>
        <p:spPr>
          <a:xfrm flipH="false" flipV="false" rot="0">
            <a:off x="1835295" y="8447387"/>
            <a:ext cx="6592660" cy="862988"/>
          </a:xfrm>
          <a:custGeom>
            <a:avLst/>
            <a:gdLst/>
            <a:ahLst/>
            <a:cxnLst/>
            <a:rect r="r" b="b" t="t" l="l"/>
            <a:pathLst>
              <a:path h="862988" w="6592660">
                <a:moveTo>
                  <a:pt x="0" y="0"/>
                </a:moveTo>
                <a:lnTo>
                  <a:pt x="6592660" y="0"/>
                </a:lnTo>
                <a:lnTo>
                  <a:pt x="6592660" y="862988"/>
                </a:lnTo>
                <a:lnTo>
                  <a:pt x="0" y="862988"/>
                </a:lnTo>
                <a:lnTo>
                  <a:pt x="0" y="0"/>
                </a:lnTo>
                <a:close/>
              </a:path>
            </a:pathLst>
          </a:custGeom>
          <a:blipFill>
            <a:blip r:embed="rId3"/>
            <a:stretch>
              <a:fillRect l="0" t="0" r="0" b="0"/>
            </a:stretch>
          </a:blipFill>
        </p:spPr>
      </p:sp>
      <p:sp>
        <p:nvSpPr>
          <p:cNvPr name="Freeform 8" id="8"/>
          <p:cNvSpPr/>
          <p:nvPr/>
        </p:nvSpPr>
        <p:spPr>
          <a:xfrm flipH="false" flipV="false" rot="0">
            <a:off x="10067509" y="7504962"/>
            <a:ext cx="7362191" cy="1507078"/>
          </a:xfrm>
          <a:custGeom>
            <a:avLst/>
            <a:gdLst/>
            <a:ahLst/>
            <a:cxnLst/>
            <a:rect r="r" b="b" t="t" l="l"/>
            <a:pathLst>
              <a:path h="1507078" w="7362191">
                <a:moveTo>
                  <a:pt x="0" y="0"/>
                </a:moveTo>
                <a:lnTo>
                  <a:pt x="7362191" y="0"/>
                </a:lnTo>
                <a:lnTo>
                  <a:pt x="7362191" y="1507078"/>
                </a:lnTo>
                <a:lnTo>
                  <a:pt x="0" y="1507078"/>
                </a:lnTo>
                <a:lnTo>
                  <a:pt x="0" y="0"/>
                </a:lnTo>
                <a:close/>
              </a:path>
            </a:pathLst>
          </a:custGeom>
          <a:blipFill>
            <a:blip r:embed="rId4"/>
            <a:stretch>
              <a:fillRect l="0" t="-6271" r="0" b="0"/>
            </a:stretch>
          </a:blipFill>
        </p:spPr>
      </p:sp>
      <p:sp>
        <p:nvSpPr>
          <p:cNvPr name="TextBox 9" id="9"/>
          <p:cNvSpPr txBox="true"/>
          <p:nvPr/>
        </p:nvSpPr>
        <p:spPr>
          <a:xfrm rot="0">
            <a:off x="4049948" y="2077496"/>
            <a:ext cx="10406838" cy="993012"/>
          </a:xfrm>
          <a:prstGeom prst="rect">
            <a:avLst/>
          </a:prstGeom>
        </p:spPr>
        <p:txBody>
          <a:bodyPr anchor="t" rtlCol="false" tIns="0" lIns="0" bIns="0" rIns="0">
            <a:spAutoFit/>
          </a:bodyPr>
          <a:lstStyle/>
          <a:p>
            <a:pPr algn="ctr">
              <a:lnSpc>
                <a:spcPts val="8072"/>
              </a:lnSpc>
              <a:spcBef>
                <a:spcPct val="0"/>
              </a:spcBef>
            </a:pPr>
            <a:r>
              <a:rPr lang="en-US" sz="5766">
                <a:solidFill>
                  <a:srgbClr val="7B640E"/>
                </a:solidFill>
                <a:latin typeface="HK Modular"/>
                <a:ea typeface="HK Modular"/>
                <a:cs typeface="HK Modular"/>
                <a:sym typeface="HK Modular"/>
              </a:rPr>
              <a:t>¿COMO FUNCIONA?</a:t>
            </a:r>
          </a:p>
        </p:txBody>
      </p:sp>
      <p:sp>
        <p:nvSpPr>
          <p:cNvPr name="TextBox 10" id="10"/>
          <p:cNvSpPr txBox="true"/>
          <p:nvPr/>
        </p:nvSpPr>
        <p:spPr>
          <a:xfrm rot="0">
            <a:off x="10264034" y="3790905"/>
            <a:ext cx="6556601" cy="3030232"/>
          </a:xfrm>
          <a:prstGeom prst="rect">
            <a:avLst/>
          </a:prstGeom>
        </p:spPr>
        <p:txBody>
          <a:bodyPr anchor="t" rtlCol="false" tIns="0" lIns="0" bIns="0" rIns="0">
            <a:spAutoFit/>
          </a:bodyPr>
          <a:lstStyle/>
          <a:p>
            <a:pPr algn="ctr">
              <a:lnSpc>
                <a:spcPts val="3006"/>
              </a:lnSpc>
            </a:pPr>
            <a:r>
              <a:rPr lang="en-US" sz="2147">
                <a:solidFill>
                  <a:srgbClr val="FFFFFF"/>
                </a:solidFill>
                <a:latin typeface="Poppins"/>
                <a:ea typeface="Poppins"/>
                <a:cs typeface="Poppins"/>
                <a:sym typeface="Poppins"/>
              </a:rPr>
              <a:t>5. Verifica la instalacion:</a:t>
            </a:r>
          </a:p>
          <a:p>
            <a:pPr algn="ctr">
              <a:lnSpc>
                <a:spcPts val="3006"/>
              </a:lnSpc>
            </a:pPr>
          </a:p>
          <a:p>
            <a:pPr algn="ctr">
              <a:lnSpc>
                <a:spcPts val="3006"/>
              </a:lnSpc>
            </a:pPr>
            <a:r>
              <a:rPr lang="en-US" sz="2147">
                <a:solidFill>
                  <a:srgbClr val="FFFFFF"/>
                </a:solidFill>
                <a:latin typeface="Poppins"/>
                <a:ea typeface="Poppins"/>
                <a:cs typeface="Poppins"/>
                <a:sym typeface="Poppins"/>
              </a:rPr>
              <a:t>Ejecuta una nueva terminal</a:t>
            </a:r>
          </a:p>
          <a:p>
            <a:pPr algn="ctr">
              <a:lnSpc>
                <a:spcPts val="3006"/>
              </a:lnSpc>
            </a:pPr>
            <a:r>
              <a:rPr lang="en-US" sz="2147">
                <a:solidFill>
                  <a:srgbClr val="FFFFFF"/>
                </a:solidFill>
                <a:latin typeface="Poppins"/>
                <a:ea typeface="Poppins"/>
                <a:cs typeface="Poppins"/>
                <a:sym typeface="Poppins"/>
              </a:rPr>
              <a:t>Ejecuta el comando mvn -v</a:t>
            </a:r>
          </a:p>
          <a:p>
            <a:pPr algn="ctr">
              <a:lnSpc>
                <a:spcPts val="3006"/>
              </a:lnSpc>
            </a:pPr>
            <a:r>
              <a:rPr lang="en-US" sz="2147">
                <a:solidFill>
                  <a:srgbClr val="FFFFFF"/>
                </a:solidFill>
                <a:latin typeface="Poppins"/>
                <a:ea typeface="Poppins"/>
                <a:cs typeface="Poppins"/>
                <a:sym typeface="Poppins"/>
              </a:rPr>
              <a:t>Deberia mostrar informacion sobre la version de Maven, java y el sistema operativo</a:t>
            </a:r>
          </a:p>
          <a:p>
            <a:pPr algn="ctr">
              <a:lnSpc>
                <a:spcPts val="3006"/>
              </a:lnSpc>
            </a:pPr>
          </a:p>
          <a:p>
            <a:pPr algn="ctr">
              <a:lnSpc>
                <a:spcPts val="3006"/>
              </a:lnSpc>
            </a:pPr>
          </a:p>
        </p:txBody>
      </p:sp>
      <p:sp>
        <p:nvSpPr>
          <p:cNvPr name="Freeform 11" id="11"/>
          <p:cNvSpPr/>
          <p:nvPr/>
        </p:nvSpPr>
        <p:spPr>
          <a:xfrm flipH="false" flipV="false" rot="0">
            <a:off x="8299966" y="-351215"/>
            <a:ext cx="2228650" cy="2228650"/>
          </a:xfrm>
          <a:custGeom>
            <a:avLst/>
            <a:gdLst/>
            <a:ahLst/>
            <a:cxnLst/>
            <a:rect r="r" b="b" t="t" l="l"/>
            <a:pathLst>
              <a:path h="2228650" w="2228650">
                <a:moveTo>
                  <a:pt x="0" y="0"/>
                </a:moveTo>
                <a:lnTo>
                  <a:pt x="2228650" y="0"/>
                </a:lnTo>
                <a:lnTo>
                  <a:pt x="2228650" y="2228650"/>
                </a:lnTo>
                <a:lnTo>
                  <a:pt x="0" y="2228650"/>
                </a:lnTo>
                <a:lnTo>
                  <a:pt x="0" y="0"/>
                </a:lnTo>
                <a:close/>
              </a:path>
            </a:pathLst>
          </a:custGeom>
          <a:blipFill>
            <a:blip r:embed="rId5"/>
            <a:stretch>
              <a:fillRect l="0" t="0" r="0" b="0"/>
            </a:stretch>
          </a:blipFill>
        </p:spPr>
      </p:sp>
    </p:spTree>
  </p:cSld>
  <p:clrMapOvr>
    <a:masterClrMapping/>
  </p:clrMapOvr>
</p:sld>
</file>

<file path=ppt/slides/slide6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5902507" y="4919085"/>
            <a:ext cx="2166521" cy="2166521"/>
          </a:xfrm>
          <a:custGeom>
            <a:avLst/>
            <a:gdLst/>
            <a:ahLst/>
            <a:cxnLst/>
            <a:rect r="r" b="b" t="t" l="l"/>
            <a:pathLst>
              <a:path h="2166521" w="2166521">
                <a:moveTo>
                  <a:pt x="0" y="0"/>
                </a:moveTo>
                <a:lnTo>
                  <a:pt x="2166521" y="0"/>
                </a:lnTo>
                <a:lnTo>
                  <a:pt x="2166521" y="2166522"/>
                </a:lnTo>
                <a:lnTo>
                  <a:pt x="0" y="2166522"/>
                </a:lnTo>
                <a:lnTo>
                  <a:pt x="0" y="0"/>
                </a:lnTo>
                <a:close/>
              </a:path>
            </a:pathLst>
          </a:custGeom>
          <a:blipFill>
            <a:blip r:embed="rId3"/>
            <a:stretch>
              <a:fillRect l="0" t="0" r="0" b="0"/>
            </a:stretch>
          </a:blipFill>
        </p:spPr>
      </p:sp>
      <p:sp>
        <p:nvSpPr>
          <p:cNvPr name="Freeform 7" id="7"/>
          <p:cNvSpPr/>
          <p:nvPr/>
        </p:nvSpPr>
        <p:spPr>
          <a:xfrm flipH="false" flipV="false" rot="0">
            <a:off x="10514689" y="4911208"/>
            <a:ext cx="2182275" cy="2182275"/>
          </a:xfrm>
          <a:custGeom>
            <a:avLst/>
            <a:gdLst/>
            <a:ahLst/>
            <a:cxnLst/>
            <a:rect r="r" b="b" t="t" l="l"/>
            <a:pathLst>
              <a:path h="2182275" w="2182275">
                <a:moveTo>
                  <a:pt x="0" y="0"/>
                </a:moveTo>
                <a:lnTo>
                  <a:pt x="2182275" y="0"/>
                </a:lnTo>
                <a:lnTo>
                  <a:pt x="2182275" y="2182275"/>
                </a:lnTo>
                <a:lnTo>
                  <a:pt x="0" y="2182275"/>
                </a:lnTo>
                <a:lnTo>
                  <a:pt x="0" y="0"/>
                </a:lnTo>
                <a:close/>
              </a:path>
            </a:pathLst>
          </a:custGeom>
          <a:blipFill>
            <a:blip r:embed="rId4"/>
            <a:stretch>
              <a:fillRect l="0" t="0" r="0" b="0"/>
            </a:stretch>
          </a:blipFill>
        </p:spPr>
      </p:sp>
      <p:sp>
        <p:nvSpPr>
          <p:cNvPr name="Freeform 8" id="8"/>
          <p:cNvSpPr/>
          <p:nvPr/>
        </p:nvSpPr>
        <p:spPr>
          <a:xfrm flipH="false" flipV="false" rot="0">
            <a:off x="14811102" y="4911208"/>
            <a:ext cx="2448198" cy="2448198"/>
          </a:xfrm>
          <a:custGeom>
            <a:avLst/>
            <a:gdLst/>
            <a:ahLst/>
            <a:cxnLst/>
            <a:rect r="r" b="b" t="t" l="l"/>
            <a:pathLst>
              <a:path h="2448198" w="2448198">
                <a:moveTo>
                  <a:pt x="0" y="0"/>
                </a:moveTo>
                <a:lnTo>
                  <a:pt x="2448198" y="0"/>
                </a:lnTo>
                <a:lnTo>
                  <a:pt x="2448198" y="2448198"/>
                </a:lnTo>
                <a:lnTo>
                  <a:pt x="0" y="2448198"/>
                </a:lnTo>
                <a:lnTo>
                  <a:pt x="0" y="0"/>
                </a:lnTo>
                <a:close/>
              </a:path>
            </a:pathLst>
          </a:custGeom>
          <a:blipFill>
            <a:blip r:embed="rId5"/>
            <a:stretch>
              <a:fillRect l="0" t="0" r="0" b="0"/>
            </a:stretch>
          </a:blipFill>
        </p:spPr>
      </p:sp>
      <p:sp>
        <p:nvSpPr>
          <p:cNvPr name="TextBox 9" id="9"/>
          <p:cNvSpPr txBox="true"/>
          <p:nvPr/>
        </p:nvSpPr>
        <p:spPr>
          <a:xfrm rot="0">
            <a:off x="3441649" y="2087021"/>
            <a:ext cx="11404702" cy="1734748"/>
          </a:xfrm>
          <a:prstGeom prst="rect">
            <a:avLst/>
          </a:prstGeom>
        </p:spPr>
        <p:txBody>
          <a:bodyPr anchor="t" rtlCol="false" tIns="0" lIns="0" bIns="0" rIns="0">
            <a:spAutoFit/>
          </a:bodyPr>
          <a:lstStyle/>
          <a:p>
            <a:pPr algn="ctr">
              <a:lnSpc>
                <a:spcPts val="6911"/>
              </a:lnSpc>
              <a:spcBef>
                <a:spcPct val="0"/>
              </a:spcBef>
            </a:pPr>
            <a:r>
              <a:rPr lang="en-US" sz="4936">
                <a:solidFill>
                  <a:srgbClr val="7B640E"/>
                </a:solidFill>
                <a:latin typeface="HK Modular"/>
                <a:ea typeface="HK Modular"/>
                <a:cs typeface="HK Modular"/>
                <a:sym typeface="HK Modular"/>
              </a:rPr>
              <a:t>CREAR PROYECTO BASE CON MAVEN</a:t>
            </a:r>
          </a:p>
        </p:txBody>
      </p:sp>
      <p:sp>
        <p:nvSpPr>
          <p:cNvPr name="TextBox 10" id="10"/>
          <p:cNvSpPr txBox="true"/>
          <p:nvPr/>
        </p:nvSpPr>
        <p:spPr>
          <a:xfrm rot="0">
            <a:off x="4925788" y="9033479"/>
            <a:ext cx="3906946" cy="1123003"/>
          </a:xfrm>
          <a:prstGeom prst="rect">
            <a:avLst/>
          </a:prstGeom>
        </p:spPr>
        <p:txBody>
          <a:bodyPr anchor="t" rtlCol="false" tIns="0" lIns="0" bIns="0" rIns="0">
            <a:spAutoFit/>
          </a:bodyPr>
          <a:lstStyle/>
          <a:p>
            <a:pPr algn="ctr">
              <a:lnSpc>
                <a:spcPts val="2222"/>
              </a:lnSpc>
            </a:pPr>
            <a:r>
              <a:rPr lang="en-US" sz="1587">
                <a:solidFill>
                  <a:srgbClr val="FFFFFF"/>
                </a:solidFill>
                <a:latin typeface="Poppins"/>
                <a:ea typeface="Poppins"/>
                <a:cs typeface="Poppins"/>
                <a:sym typeface="Poppins"/>
              </a:rPr>
              <a:t>https://www.youtube.com/watch?v=ZVvQ5YLBVn4</a:t>
            </a:r>
          </a:p>
          <a:p>
            <a:pPr algn="ctr">
              <a:lnSpc>
                <a:spcPts val="2222"/>
              </a:lnSpc>
            </a:pPr>
          </a:p>
          <a:p>
            <a:pPr algn="ctr">
              <a:lnSpc>
                <a:spcPts val="2222"/>
              </a:lnSpc>
            </a:pPr>
          </a:p>
        </p:txBody>
      </p:sp>
      <p:sp>
        <p:nvSpPr>
          <p:cNvPr name="TextBox 11" id="11"/>
          <p:cNvSpPr txBox="true"/>
          <p:nvPr/>
        </p:nvSpPr>
        <p:spPr>
          <a:xfrm rot="0">
            <a:off x="1028700" y="9031566"/>
            <a:ext cx="2662957" cy="398131"/>
          </a:xfrm>
          <a:prstGeom prst="rect">
            <a:avLst/>
          </a:prstGeom>
        </p:spPr>
        <p:txBody>
          <a:bodyPr anchor="t" rtlCol="false" tIns="0" lIns="0" bIns="0" rIns="0">
            <a:spAutoFit/>
          </a:bodyPr>
          <a:lstStyle/>
          <a:p>
            <a:pPr algn="ctr">
              <a:lnSpc>
                <a:spcPts val="3255"/>
              </a:lnSpc>
              <a:spcBef>
                <a:spcPct val="0"/>
              </a:spcBef>
            </a:pPr>
            <a:r>
              <a:rPr lang="en-US" sz="2325">
                <a:solidFill>
                  <a:srgbClr val="99C5FF"/>
                </a:solidFill>
                <a:latin typeface="HK Modular"/>
                <a:ea typeface="HK Modular"/>
                <a:cs typeface="HK Modular"/>
                <a:sym typeface="HK Modular"/>
              </a:rPr>
              <a:t>CREACION</a:t>
            </a:r>
          </a:p>
        </p:txBody>
      </p:sp>
      <p:sp>
        <p:nvSpPr>
          <p:cNvPr name="TextBox 12" id="12"/>
          <p:cNvSpPr txBox="true"/>
          <p:nvPr/>
        </p:nvSpPr>
        <p:spPr>
          <a:xfrm rot="0">
            <a:off x="702325" y="8067574"/>
            <a:ext cx="3404314" cy="402017"/>
          </a:xfrm>
          <a:prstGeom prst="rect">
            <a:avLst/>
          </a:prstGeom>
        </p:spPr>
        <p:txBody>
          <a:bodyPr anchor="t" rtlCol="false" tIns="0" lIns="0" bIns="0" rIns="0">
            <a:spAutoFit/>
          </a:bodyPr>
          <a:lstStyle/>
          <a:p>
            <a:pPr algn="ctr">
              <a:lnSpc>
                <a:spcPts val="3255"/>
              </a:lnSpc>
              <a:spcBef>
                <a:spcPct val="0"/>
              </a:spcBef>
            </a:pPr>
            <a:r>
              <a:rPr lang="en-US" sz="2325">
                <a:solidFill>
                  <a:srgbClr val="99C5FF"/>
                </a:solidFill>
                <a:latin typeface="HK Modular"/>
                <a:ea typeface="HK Modular"/>
                <a:cs typeface="HK Modular"/>
                <a:sym typeface="HK Modular"/>
              </a:rPr>
              <a:t>CONFIGURACION</a:t>
            </a:r>
          </a:p>
        </p:txBody>
      </p:sp>
      <p:sp>
        <p:nvSpPr>
          <p:cNvPr name="TextBox 13" id="13"/>
          <p:cNvSpPr txBox="true"/>
          <p:nvPr/>
        </p:nvSpPr>
        <p:spPr>
          <a:xfrm rot="0">
            <a:off x="9652353" y="8543187"/>
            <a:ext cx="3906946" cy="1123003"/>
          </a:xfrm>
          <a:prstGeom prst="rect">
            <a:avLst/>
          </a:prstGeom>
        </p:spPr>
        <p:txBody>
          <a:bodyPr anchor="t" rtlCol="false" tIns="0" lIns="0" bIns="0" rIns="0">
            <a:spAutoFit/>
          </a:bodyPr>
          <a:lstStyle/>
          <a:p>
            <a:pPr algn="ctr">
              <a:lnSpc>
                <a:spcPts val="2222"/>
              </a:lnSpc>
            </a:pPr>
            <a:r>
              <a:rPr lang="en-US" sz="1587">
                <a:solidFill>
                  <a:srgbClr val="FFFFFF"/>
                </a:solidFill>
                <a:latin typeface="Poppins"/>
                <a:ea typeface="Poppins"/>
                <a:cs typeface="Poppins"/>
                <a:sym typeface="Poppins"/>
              </a:rPr>
              <a:t>https://www.youtube.com/watch?v=3mWGDArNYss</a:t>
            </a:r>
          </a:p>
          <a:p>
            <a:pPr algn="ctr">
              <a:lnSpc>
                <a:spcPts val="2222"/>
              </a:lnSpc>
            </a:pPr>
          </a:p>
          <a:p>
            <a:pPr algn="ctr">
              <a:lnSpc>
                <a:spcPts val="2222"/>
              </a:lnSpc>
            </a:pPr>
          </a:p>
        </p:txBody>
      </p:sp>
      <p:sp>
        <p:nvSpPr>
          <p:cNvPr name="TextBox 14" id="14"/>
          <p:cNvSpPr txBox="true"/>
          <p:nvPr/>
        </p:nvSpPr>
        <p:spPr>
          <a:xfrm rot="0">
            <a:off x="4925788" y="8135297"/>
            <a:ext cx="3906946" cy="1123003"/>
          </a:xfrm>
          <a:prstGeom prst="rect">
            <a:avLst/>
          </a:prstGeom>
        </p:spPr>
        <p:txBody>
          <a:bodyPr anchor="t" rtlCol="false" tIns="0" lIns="0" bIns="0" rIns="0">
            <a:spAutoFit/>
          </a:bodyPr>
          <a:lstStyle/>
          <a:p>
            <a:pPr algn="ctr">
              <a:lnSpc>
                <a:spcPts val="2222"/>
              </a:lnSpc>
            </a:pPr>
            <a:r>
              <a:rPr lang="en-US" sz="1587">
                <a:solidFill>
                  <a:srgbClr val="FFFFFF"/>
                </a:solidFill>
                <a:latin typeface="Poppins"/>
                <a:ea typeface="Poppins"/>
                <a:cs typeface="Poppins"/>
                <a:sym typeface="Poppins"/>
              </a:rPr>
              <a:t>https://www.youtube.com/watch?v=TdLKMdf5bDU</a:t>
            </a:r>
          </a:p>
          <a:p>
            <a:pPr algn="ctr">
              <a:lnSpc>
                <a:spcPts val="2222"/>
              </a:lnSpc>
            </a:pPr>
          </a:p>
          <a:p>
            <a:pPr algn="ctr">
              <a:lnSpc>
                <a:spcPts val="2222"/>
              </a:lnSpc>
            </a:pPr>
          </a:p>
        </p:txBody>
      </p:sp>
      <p:sp>
        <p:nvSpPr>
          <p:cNvPr name="TextBox 15" id="15"/>
          <p:cNvSpPr txBox="true"/>
          <p:nvPr/>
        </p:nvSpPr>
        <p:spPr>
          <a:xfrm rot="0">
            <a:off x="14081728" y="8585621"/>
            <a:ext cx="3906946" cy="844076"/>
          </a:xfrm>
          <a:prstGeom prst="rect">
            <a:avLst/>
          </a:prstGeom>
        </p:spPr>
        <p:txBody>
          <a:bodyPr anchor="t" rtlCol="false" tIns="0" lIns="0" bIns="0" rIns="0">
            <a:spAutoFit/>
          </a:bodyPr>
          <a:lstStyle/>
          <a:p>
            <a:pPr algn="ctr">
              <a:lnSpc>
                <a:spcPts val="2222"/>
              </a:lnSpc>
            </a:pPr>
            <a:r>
              <a:rPr lang="en-US" sz="1587">
                <a:solidFill>
                  <a:srgbClr val="FFFFFF"/>
                </a:solidFill>
                <a:latin typeface="Poppins"/>
                <a:ea typeface="Poppins"/>
                <a:cs typeface="Poppins"/>
                <a:sym typeface="Poppins"/>
              </a:rPr>
              <a:t>https://start.spring.io/</a:t>
            </a:r>
          </a:p>
          <a:p>
            <a:pPr algn="ctr">
              <a:lnSpc>
                <a:spcPts val="2222"/>
              </a:lnSpc>
            </a:pPr>
          </a:p>
          <a:p>
            <a:pPr algn="ctr">
              <a:lnSpc>
                <a:spcPts val="2222"/>
              </a:lnSpc>
            </a:pPr>
          </a:p>
        </p:txBody>
      </p:sp>
      <p:sp>
        <p:nvSpPr>
          <p:cNvPr name="Freeform 16" id="16"/>
          <p:cNvSpPr/>
          <p:nvPr/>
        </p:nvSpPr>
        <p:spPr>
          <a:xfrm flipH="false" flipV="false" rot="0">
            <a:off x="8299966" y="-351215"/>
            <a:ext cx="2228650" cy="2228650"/>
          </a:xfrm>
          <a:custGeom>
            <a:avLst/>
            <a:gdLst/>
            <a:ahLst/>
            <a:cxnLst/>
            <a:rect r="r" b="b" t="t" l="l"/>
            <a:pathLst>
              <a:path h="2228650" w="2228650">
                <a:moveTo>
                  <a:pt x="0" y="0"/>
                </a:moveTo>
                <a:lnTo>
                  <a:pt x="2228650" y="0"/>
                </a:lnTo>
                <a:lnTo>
                  <a:pt x="2228650" y="2228650"/>
                </a:lnTo>
                <a:lnTo>
                  <a:pt x="0" y="2228650"/>
                </a:lnTo>
                <a:lnTo>
                  <a:pt x="0" y="0"/>
                </a:lnTo>
                <a:close/>
              </a:path>
            </a:pathLst>
          </a:custGeom>
          <a:blipFill>
            <a:blip r:embed="rId6"/>
            <a:stretch>
              <a:fillRect l="0" t="0" r="0" b="0"/>
            </a:stretch>
          </a:blipFill>
        </p:spPr>
      </p:sp>
    </p:spTree>
  </p:cSld>
  <p:clrMapOvr>
    <a:masterClrMapping/>
  </p:clrMapOvr>
</p:sld>
</file>

<file path=ppt/slides/slide6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3493371" y="3111832"/>
            <a:ext cx="11301259" cy="6356958"/>
          </a:xfrm>
          <a:custGeom>
            <a:avLst/>
            <a:gdLst/>
            <a:ahLst/>
            <a:cxnLst/>
            <a:rect r="r" b="b" t="t" l="l"/>
            <a:pathLst>
              <a:path h="6356958" w="11301259">
                <a:moveTo>
                  <a:pt x="0" y="0"/>
                </a:moveTo>
                <a:lnTo>
                  <a:pt x="11301258" y="0"/>
                </a:lnTo>
                <a:lnTo>
                  <a:pt x="11301258" y="6356958"/>
                </a:lnTo>
                <a:lnTo>
                  <a:pt x="0" y="6356958"/>
                </a:lnTo>
                <a:lnTo>
                  <a:pt x="0" y="0"/>
                </a:lnTo>
                <a:close/>
              </a:path>
            </a:pathLst>
          </a:custGeom>
          <a:blipFill>
            <a:blip r:embed="rId3"/>
            <a:stretch>
              <a:fillRect l="0" t="0" r="0" b="0"/>
            </a:stretch>
          </a:blipFill>
        </p:spPr>
      </p:sp>
      <p:sp>
        <p:nvSpPr>
          <p:cNvPr name="TextBox 13" id="13"/>
          <p:cNvSpPr txBox="true"/>
          <p:nvPr/>
        </p:nvSpPr>
        <p:spPr>
          <a:xfrm rot="0">
            <a:off x="1609267" y="1794055"/>
            <a:ext cx="15460467" cy="1101873"/>
          </a:xfrm>
          <a:prstGeom prst="rect">
            <a:avLst/>
          </a:prstGeom>
        </p:spPr>
        <p:txBody>
          <a:bodyPr anchor="t" rtlCol="false" tIns="0" lIns="0" bIns="0" rIns="0">
            <a:spAutoFit/>
          </a:bodyPr>
          <a:lstStyle/>
          <a:p>
            <a:pPr algn="ctr">
              <a:lnSpc>
                <a:spcPts val="8941"/>
              </a:lnSpc>
              <a:spcBef>
                <a:spcPct val="0"/>
              </a:spcBef>
            </a:pPr>
            <a:r>
              <a:rPr lang="en-US" sz="6387">
                <a:solidFill>
                  <a:srgbClr val="99C5FF"/>
                </a:solidFill>
                <a:latin typeface="HK Modular"/>
                <a:ea typeface="HK Modular"/>
                <a:cs typeface="HK Modular"/>
                <a:sym typeface="HK Modular"/>
              </a:rPr>
              <a:t>WE’RE GOING TO BOOTCAMP</a:t>
            </a:r>
          </a:p>
        </p:txBody>
      </p:sp>
      <p:sp>
        <p:nvSpPr>
          <p:cNvPr name="Freeform 14" id="14"/>
          <p:cNvSpPr/>
          <p:nvPr/>
        </p:nvSpPr>
        <p:spPr>
          <a:xfrm flipH="false" flipV="false" rot="0">
            <a:off x="8299966" y="-351215"/>
            <a:ext cx="2228650" cy="2228650"/>
          </a:xfrm>
          <a:custGeom>
            <a:avLst/>
            <a:gdLst/>
            <a:ahLst/>
            <a:cxnLst/>
            <a:rect r="r" b="b" t="t" l="l"/>
            <a:pathLst>
              <a:path h="2228650" w="2228650">
                <a:moveTo>
                  <a:pt x="0" y="0"/>
                </a:moveTo>
                <a:lnTo>
                  <a:pt x="2228650" y="0"/>
                </a:lnTo>
                <a:lnTo>
                  <a:pt x="2228650" y="2228650"/>
                </a:lnTo>
                <a:lnTo>
                  <a:pt x="0" y="2228650"/>
                </a:lnTo>
                <a:lnTo>
                  <a:pt x="0" y="0"/>
                </a:lnTo>
                <a:close/>
              </a:path>
            </a:pathLst>
          </a:custGeom>
          <a:blipFill>
            <a:blip r:embed="rId4"/>
            <a:stretch>
              <a:fillRect l="0" t="0" r="0" b="0"/>
            </a:stretch>
          </a:blipFill>
        </p:spPr>
      </p:sp>
    </p:spTree>
  </p:cSld>
  <p:clrMapOvr>
    <a:masterClrMapping/>
  </p:clrMapOvr>
</p:sld>
</file>

<file path=ppt/slides/slide6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777" r="0" b="-8777"/>
            </a:stretch>
          </a:blipFill>
        </p:spPr>
      </p:sp>
      <p:sp>
        <p:nvSpPr>
          <p:cNvPr name="Freeform 3" id="3"/>
          <p:cNvSpPr/>
          <p:nvPr/>
        </p:nvSpPr>
        <p:spPr>
          <a:xfrm flipH="false" flipV="false" rot="0">
            <a:off x="8346232" y="-93621"/>
            <a:ext cx="7049995" cy="11271794"/>
          </a:xfrm>
          <a:custGeom>
            <a:avLst/>
            <a:gdLst/>
            <a:ahLst/>
            <a:cxnLst/>
            <a:rect r="r" b="b" t="t" l="l"/>
            <a:pathLst>
              <a:path h="11271794" w="7049995">
                <a:moveTo>
                  <a:pt x="0" y="0"/>
                </a:moveTo>
                <a:lnTo>
                  <a:pt x="7049994" y="0"/>
                </a:lnTo>
                <a:lnTo>
                  <a:pt x="7049994" y="11271794"/>
                </a:lnTo>
                <a:lnTo>
                  <a:pt x="0" y="1127179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532442" y="5382267"/>
            <a:ext cx="7315200" cy="2349450"/>
          </a:xfrm>
          <a:custGeom>
            <a:avLst/>
            <a:gdLst/>
            <a:ahLst/>
            <a:cxnLst/>
            <a:rect r="r" b="b" t="t" l="l"/>
            <a:pathLst>
              <a:path h="2349450" w="7315200">
                <a:moveTo>
                  <a:pt x="0" y="0"/>
                </a:moveTo>
                <a:lnTo>
                  <a:pt x="7315200" y="0"/>
                </a:lnTo>
                <a:lnTo>
                  <a:pt x="7315200" y="2349449"/>
                </a:lnTo>
                <a:lnTo>
                  <a:pt x="0" y="2349449"/>
                </a:lnTo>
                <a:lnTo>
                  <a:pt x="0" y="0"/>
                </a:lnTo>
                <a:close/>
              </a:path>
            </a:pathLst>
          </a:custGeom>
          <a:blipFill>
            <a:blip r:embed="rId5">
              <a:alphaModFix amt="17000"/>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725042" y="3176984"/>
            <a:ext cx="6783956" cy="772200"/>
          </a:xfrm>
          <a:prstGeom prst="rect">
            <a:avLst/>
          </a:prstGeom>
        </p:spPr>
        <p:txBody>
          <a:bodyPr anchor="t" rtlCol="false" tIns="0" lIns="0" bIns="0" rIns="0">
            <a:spAutoFit/>
          </a:bodyPr>
          <a:lstStyle/>
          <a:p>
            <a:pPr algn="ctr">
              <a:lnSpc>
                <a:spcPts val="6262"/>
              </a:lnSpc>
              <a:spcBef>
                <a:spcPct val="0"/>
              </a:spcBef>
            </a:pPr>
            <a:r>
              <a:rPr lang="en-US" sz="4473">
                <a:solidFill>
                  <a:srgbClr val="99C5FF"/>
                </a:solidFill>
                <a:latin typeface="HK Modular"/>
                <a:ea typeface="HK Modular"/>
                <a:cs typeface="HK Modular"/>
                <a:sym typeface="HK Modular"/>
              </a:rPr>
              <a:t>LABORATORIO #2</a:t>
            </a:r>
          </a:p>
        </p:txBody>
      </p:sp>
      <p:sp>
        <p:nvSpPr>
          <p:cNvPr name="Freeform 6" id="6"/>
          <p:cNvSpPr/>
          <p:nvPr/>
        </p:nvSpPr>
        <p:spPr>
          <a:xfrm flipH="false" flipV="false" rot="0">
            <a:off x="-952235" y="7504962"/>
            <a:ext cx="4077393" cy="4114800"/>
          </a:xfrm>
          <a:custGeom>
            <a:avLst/>
            <a:gdLst/>
            <a:ahLst/>
            <a:cxnLst/>
            <a:rect r="r" b="b" t="t" l="l"/>
            <a:pathLst>
              <a:path h="4114800" w="4077393">
                <a:moveTo>
                  <a:pt x="0" y="0"/>
                </a:moveTo>
                <a:lnTo>
                  <a:pt x="4077393" y="0"/>
                </a:lnTo>
                <a:lnTo>
                  <a:pt x="4077393" y="4114800"/>
                </a:lnTo>
                <a:lnTo>
                  <a:pt x="0" y="4114800"/>
                </a:lnTo>
                <a:lnTo>
                  <a:pt x="0" y="0"/>
                </a:lnTo>
                <a:close/>
              </a:path>
            </a:pathLst>
          </a:custGeom>
          <a:blipFill>
            <a:blip r:embed="rId7">
              <a:alphaModFix amt="14000"/>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16962114" y="35055"/>
            <a:ext cx="4077393" cy="4114800"/>
          </a:xfrm>
          <a:custGeom>
            <a:avLst/>
            <a:gdLst/>
            <a:ahLst/>
            <a:cxnLst/>
            <a:rect r="r" b="b" t="t" l="l"/>
            <a:pathLst>
              <a:path h="4114800" w="4077393">
                <a:moveTo>
                  <a:pt x="0" y="0"/>
                </a:moveTo>
                <a:lnTo>
                  <a:pt x="4077393" y="0"/>
                </a:lnTo>
                <a:lnTo>
                  <a:pt x="4077393" y="4114800"/>
                </a:lnTo>
                <a:lnTo>
                  <a:pt x="0" y="4114800"/>
                </a:lnTo>
                <a:lnTo>
                  <a:pt x="0" y="0"/>
                </a:lnTo>
                <a:close/>
              </a:path>
            </a:pathLst>
          </a:custGeom>
          <a:blipFill>
            <a:blip r:embed="rId7">
              <a:alphaModFix amt="14000"/>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9253367" y="2776584"/>
            <a:ext cx="5566212" cy="5211366"/>
          </a:xfrm>
          <a:custGeom>
            <a:avLst/>
            <a:gdLst/>
            <a:ahLst/>
            <a:cxnLst/>
            <a:rect r="r" b="b" t="t" l="l"/>
            <a:pathLst>
              <a:path h="5211366" w="5566212">
                <a:moveTo>
                  <a:pt x="0" y="0"/>
                </a:moveTo>
                <a:lnTo>
                  <a:pt x="5566212" y="0"/>
                </a:lnTo>
                <a:lnTo>
                  <a:pt x="5566212" y="5211366"/>
                </a:lnTo>
                <a:lnTo>
                  <a:pt x="0" y="521136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9" id="9"/>
          <p:cNvSpPr txBox="true"/>
          <p:nvPr/>
        </p:nvSpPr>
        <p:spPr>
          <a:xfrm rot="0">
            <a:off x="1342862" y="4890648"/>
            <a:ext cx="5548316" cy="22866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Se les compartira la parte 1 por correo, tienen hasta el viernes para finalizar esa parte, es insumo para iniciar el laboratorio #2</a:t>
            </a:r>
          </a:p>
        </p:txBody>
      </p:sp>
      <p:sp>
        <p:nvSpPr>
          <p:cNvPr name="Freeform 10" id="10"/>
          <p:cNvSpPr/>
          <p:nvPr/>
        </p:nvSpPr>
        <p:spPr>
          <a:xfrm flipH="false" flipV="false" rot="0">
            <a:off x="2369382" y="344816"/>
            <a:ext cx="3495277" cy="3495277"/>
          </a:xfrm>
          <a:custGeom>
            <a:avLst/>
            <a:gdLst/>
            <a:ahLst/>
            <a:cxnLst/>
            <a:rect r="r" b="b" t="t" l="l"/>
            <a:pathLst>
              <a:path h="3495277" w="3495277">
                <a:moveTo>
                  <a:pt x="0" y="0"/>
                </a:moveTo>
                <a:lnTo>
                  <a:pt x="3495277" y="0"/>
                </a:lnTo>
                <a:lnTo>
                  <a:pt x="3495277" y="3495277"/>
                </a:lnTo>
                <a:lnTo>
                  <a:pt x="0" y="3495277"/>
                </a:lnTo>
                <a:lnTo>
                  <a:pt x="0" y="0"/>
                </a:lnTo>
                <a:close/>
              </a:path>
            </a:pathLst>
          </a:custGeom>
          <a:blipFill>
            <a:blip r:embed="rId11"/>
            <a:stretch>
              <a:fillRect l="0" t="0" r="0" b="0"/>
            </a:stretch>
          </a:blipFill>
        </p:spPr>
      </p:sp>
    </p:spTree>
  </p:cSld>
  <p:clrMapOvr>
    <a:masterClrMapping/>
  </p:clrMapOvr>
</p:sld>
</file>

<file path=ppt/slides/slide6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3218159" y="4707333"/>
            <a:ext cx="11486914" cy="4550967"/>
          </a:xfrm>
          <a:prstGeom prst="rect">
            <a:avLst/>
          </a:prstGeom>
        </p:spPr>
        <p:txBody>
          <a:bodyPr anchor="t" rtlCol="false" tIns="0" lIns="0" bIns="0" rIns="0">
            <a:spAutoFit/>
          </a:bodyPr>
          <a:lstStyle/>
          <a:p>
            <a:pPr algn="ctr" marL="698667" indent="-349334" lvl="1">
              <a:lnSpc>
                <a:spcPts val="4530"/>
              </a:lnSpc>
              <a:buAutoNum type="arabicPeriod" startAt="1"/>
            </a:pPr>
            <a:r>
              <a:rPr lang="en-US" sz="3236">
                <a:solidFill>
                  <a:srgbClr val="FFFFFF"/>
                </a:solidFill>
                <a:latin typeface="HK Modular"/>
                <a:ea typeface="HK Modular"/>
                <a:cs typeface="HK Modular"/>
                <a:sym typeface="HK Modular"/>
              </a:rPr>
              <a:t>REVISEN LOS VIDEOS DE CREACION DE PROYECTOS CON MAVEN </a:t>
            </a:r>
          </a:p>
          <a:p>
            <a:pPr algn="ctr" marL="698667" indent="-349334" lvl="1">
              <a:lnSpc>
                <a:spcPts val="4530"/>
              </a:lnSpc>
              <a:buAutoNum type="arabicPeriod" startAt="1"/>
            </a:pPr>
            <a:r>
              <a:rPr lang="en-US" sz="3236">
                <a:solidFill>
                  <a:srgbClr val="FFFFFF"/>
                </a:solidFill>
                <a:latin typeface="HK Modular"/>
                <a:ea typeface="HK Modular"/>
                <a:cs typeface="HK Modular"/>
                <a:sym typeface="HK Modular"/>
              </a:rPr>
              <a:t>ESTUDIEN LOS TIPOS DE PATRONES DE DISEÑO Y SOLID</a:t>
            </a:r>
          </a:p>
          <a:p>
            <a:pPr algn="ctr" marL="698667" indent="-349334" lvl="1">
              <a:lnSpc>
                <a:spcPts val="4530"/>
              </a:lnSpc>
              <a:buAutoNum type="arabicPeriod" startAt="1"/>
            </a:pPr>
            <a:r>
              <a:rPr lang="en-US" sz="3236">
                <a:solidFill>
                  <a:srgbClr val="FFFFFF"/>
                </a:solidFill>
                <a:latin typeface="HK Modular"/>
                <a:ea typeface="HK Modular"/>
                <a:cs typeface="HK Modular"/>
                <a:sym typeface="HK Modular"/>
              </a:rPr>
              <a:t>TERMINEN LA PRUEBA TECNICA INICIAL</a:t>
            </a:r>
          </a:p>
          <a:p>
            <a:pPr algn="ctr" marL="698667" indent="-349334" lvl="1">
              <a:lnSpc>
                <a:spcPts val="4530"/>
              </a:lnSpc>
              <a:buAutoNum type="arabicPeriod" startAt="1"/>
            </a:pPr>
            <a:r>
              <a:rPr lang="en-US" sz="3236">
                <a:solidFill>
                  <a:srgbClr val="FFFFFF"/>
                </a:solidFill>
                <a:latin typeface="HK Modular"/>
                <a:ea typeface="HK Modular"/>
                <a:cs typeface="HK Modular"/>
                <a:sym typeface="HK Modular"/>
              </a:rPr>
              <a:t>COMPLETEN LA PARTE 1 DEL LABORATORIO # 2</a:t>
            </a:r>
          </a:p>
        </p:txBody>
      </p:sp>
      <p:sp>
        <p:nvSpPr>
          <p:cNvPr name="TextBox 13" id="13"/>
          <p:cNvSpPr txBox="true"/>
          <p:nvPr/>
        </p:nvSpPr>
        <p:spPr>
          <a:xfrm rot="0">
            <a:off x="2365746" y="2967237"/>
            <a:ext cx="13556508" cy="1217902"/>
          </a:xfrm>
          <a:prstGeom prst="rect">
            <a:avLst/>
          </a:prstGeom>
        </p:spPr>
        <p:txBody>
          <a:bodyPr anchor="t" rtlCol="false" tIns="0" lIns="0" bIns="0" rIns="0">
            <a:spAutoFit/>
          </a:bodyPr>
          <a:lstStyle/>
          <a:p>
            <a:pPr algn="ctr">
              <a:lnSpc>
                <a:spcPts val="9973"/>
              </a:lnSpc>
              <a:spcBef>
                <a:spcPct val="0"/>
              </a:spcBef>
            </a:pPr>
            <a:r>
              <a:rPr lang="en-US" sz="7123">
                <a:solidFill>
                  <a:srgbClr val="99C5FF"/>
                </a:solidFill>
                <a:latin typeface="HK Modular"/>
                <a:ea typeface="HK Modular"/>
                <a:cs typeface="HK Modular"/>
                <a:sym typeface="HK Modular"/>
              </a:rPr>
              <a:t>TAREA</a:t>
            </a:r>
          </a:p>
        </p:txBody>
      </p:sp>
      <p:sp>
        <p:nvSpPr>
          <p:cNvPr name="Freeform 14" id="14"/>
          <p:cNvSpPr/>
          <p:nvPr/>
        </p:nvSpPr>
        <p:spPr>
          <a:xfrm flipH="false" flipV="false" rot="0">
            <a:off x="7250871" y="-342121"/>
            <a:ext cx="3786259" cy="3786259"/>
          </a:xfrm>
          <a:custGeom>
            <a:avLst/>
            <a:gdLst/>
            <a:ahLst/>
            <a:cxnLst/>
            <a:rect r="r" b="b" t="t" l="l"/>
            <a:pathLst>
              <a:path h="3786259" w="3786259">
                <a:moveTo>
                  <a:pt x="0" y="0"/>
                </a:moveTo>
                <a:lnTo>
                  <a:pt x="3786258" y="0"/>
                </a:lnTo>
                <a:lnTo>
                  <a:pt x="3786258" y="3786259"/>
                </a:lnTo>
                <a:lnTo>
                  <a:pt x="0" y="3786259"/>
                </a:lnTo>
                <a:lnTo>
                  <a:pt x="0" y="0"/>
                </a:lnTo>
                <a:close/>
              </a:path>
            </a:pathLst>
          </a:custGeom>
          <a:blipFill>
            <a:blip r:embed="rId3"/>
            <a:stretch>
              <a:fillRect l="0" t="0" r="0" b="0"/>
            </a:stretch>
          </a:blipFill>
        </p:spPr>
      </p:sp>
    </p:spTree>
  </p:cSld>
  <p:clrMapOvr>
    <a:masterClrMapping/>
  </p:clrMapOvr>
</p:sld>
</file>

<file path=ppt/slides/slide6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7109828" y="6218657"/>
            <a:ext cx="4068343" cy="4068343"/>
          </a:xfrm>
          <a:custGeom>
            <a:avLst/>
            <a:gdLst/>
            <a:ahLst/>
            <a:cxnLst/>
            <a:rect r="r" b="b" t="t" l="l"/>
            <a:pathLst>
              <a:path h="4068343" w="4068343">
                <a:moveTo>
                  <a:pt x="0" y="0"/>
                </a:moveTo>
                <a:lnTo>
                  <a:pt x="4068344" y="0"/>
                </a:lnTo>
                <a:lnTo>
                  <a:pt x="4068344" y="4068343"/>
                </a:lnTo>
                <a:lnTo>
                  <a:pt x="0" y="4068343"/>
                </a:lnTo>
                <a:lnTo>
                  <a:pt x="0" y="0"/>
                </a:lnTo>
                <a:close/>
              </a:path>
            </a:pathLst>
          </a:custGeom>
          <a:blipFill>
            <a:blip r:embed="rId3"/>
            <a:stretch>
              <a:fillRect l="0" t="0" r="0" b="0"/>
            </a:stretch>
          </a:blipFill>
        </p:spPr>
      </p:sp>
      <p:sp>
        <p:nvSpPr>
          <p:cNvPr name="TextBox 13" id="13"/>
          <p:cNvSpPr txBox="true"/>
          <p:nvPr/>
        </p:nvSpPr>
        <p:spPr>
          <a:xfrm rot="0">
            <a:off x="3666280" y="3703492"/>
            <a:ext cx="10955440" cy="1611888"/>
          </a:xfrm>
          <a:prstGeom prst="rect">
            <a:avLst/>
          </a:prstGeom>
        </p:spPr>
        <p:txBody>
          <a:bodyPr anchor="t" rtlCol="false" tIns="0" lIns="0" bIns="0" rIns="0">
            <a:spAutoFit/>
          </a:bodyPr>
          <a:lstStyle/>
          <a:p>
            <a:pPr algn="ctr">
              <a:lnSpc>
                <a:spcPts val="6476"/>
              </a:lnSpc>
              <a:spcBef>
                <a:spcPct val="0"/>
              </a:spcBef>
            </a:pPr>
            <a:r>
              <a:rPr lang="en-US" sz="4626">
                <a:solidFill>
                  <a:srgbClr val="7B640E"/>
                </a:solidFill>
                <a:latin typeface="HK Modular"/>
                <a:ea typeface="HK Modular"/>
                <a:cs typeface="HK Modular"/>
                <a:sym typeface="HK Modular"/>
              </a:rPr>
              <a:t>PROXIMA SESION DE LABORATORIO</a:t>
            </a:r>
          </a:p>
        </p:txBody>
      </p:sp>
      <p:sp>
        <p:nvSpPr>
          <p:cNvPr name="TextBox 14" id="14"/>
          <p:cNvSpPr txBox="true"/>
          <p:nvPr/>
        </p:nvSpPr>
        <p:spPr>
          <a:xfrm rot="0">
            <a:off x="2365746" y="2522241"/>
            <a:ext cx="13556508" cy="1217902"/>
          </a:xfrm>
          <a:prstGeom prst="rect">
            <a:avLst/>
          </a:prstGeom>
        </p:spPr>
        <p:txBody>
          <a:bodyPr anchor="t" rtlCol="false" tIns="0" lIns="0" bIns="0" rIns="0">
            <a:spAutoFit/>
          </a:bodyPr>
          <a:lstStyle/>
          <a:p>
            <a:pPr algn="ctr">
              <a:lnSpc>
                <a:spcPts val="9973"/>
              </a:lnSpc>
              <a:spcBef>
                <a:spcPct val="0"/>
              </a:spcBef>
            </a:pPr>
            <a:r>
              <a:rPr lang="en-US" sz="7123">
                <a:solidFill>
                  <a:srgbClr val="99C5FF"/>
                </a:solidFill>
                <a:latin typeface="HK Modular"/>
                <a:ea typeface="HK Modular"/>
                <a:cs typeface="HK Modular"/>
                <a:sym typeface="HK Modular"/>
              </a:rPr>
              <a:t>NOS VEMOS EN LA </a:t>
            </a:r>
          </a:p>
        </p:txBody>
      </p:sp>
      <p:sp>
        <p:nvSpPr>
          <p:cNvPr name="Freeform 15" id="15"/>
          <p:cNvSpPr/>
          <p:nvPr/>
        </p:nvSpPr>
        <p:spPr>
          <a:xfrm flipH="false" flipV="false" rot="0">
            <a:off x="7439153" y="-342121"/>
            <a:ext cx="3409694" cy="3409694"/>
          </a:xfrm>
          <a:custGeom>
            <a:avLst/>
            <a:gdLst/>
            <a:ahLst/>
            <a:cxnLst/>
            <a:rect r="r" b="b" t="t" l="l"/>
            <a:pathLst>
              <a:path h="3409694" w="3409694">
                <a:moveTo>
                  <a:pt x="0" y="0"/>
                </a:moveTo>
                <a:lnTo>
                  <a:pt x="3409694" y="0"/>
                </a:lnTo>
                <a:lnTo>
                  <a:pt x="3409694" y="3409694"/>
                </a:lnTo>
                <a:lnTo>
                  <a:pt x="0" y="3409694"/>
                </a:lnTo>
                <a:lnTo>
                  <a:pt x="0" y="0"/>
                </a:lnTo>
                <a:close/>
              </a:path>
            </a:pathLst>
          </a:custGeom>
          <a:blipFill>
            <a:blip r:embed="rId4"/>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DAGwSVcCAXE</dc:identifier>
  <dcterms:modified xsi:type="dcterms:W3CDTF">2011-08-01T06:04:30Z</dcterms:modified>
  <cp:revision>1</cp:revision>
  <dc:title>DOSW 2 - S2</dc:title>
</cp:coreProperties>
</file>