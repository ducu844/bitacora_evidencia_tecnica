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HK Modular" charset="1" panose="00000800000000000000"/>
      <p:regular r:id="rId34"/>
    </p:embeddedFont>
    <p:embeddedFont>
      <p:font typeface="RQND Pro" charset="1" panose="00000500000000000000"/>
      <p:regular r:id="rId35"/>
    </p:embeddedFont>
    <p:embeddedFont>
      <p:font typeface="Open Sans" charset="1" panose="020B0606030504020204"/>
      <p:regular r:id="rId36"/>
    </p:embeddedFont>
    <p:embeddedFont>
      <p:font typeface="Poppins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6.png" Type="http://schemas.openxmlformats.org/officeDocument/2006/relationships/image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7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6.png" Type="http://schemas.openxmlformats.org/officeDocument/2006/relationships/image"/><Relationship Id="rId2" Target="../media/image8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.png" Type="http://schemas.openxmlformats.org/officeDocument/2006/relationships/image"/><Relationship Id="rId2" Target="../media/image8.jpe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jpeg" Type="http://schemas.openxmlformats.org/officeDocument/2006/relationships/image"/><Relationship Id="rId3" Target="../media/image64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68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2" Target="../media/image68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3911" y="163050"/>
            <a:ext cx="6623053" cy="9668691"/>
          </a:xfrm>
          <a:custGeom>
            <a:avLst/>
            <a:gdLst/>
            <a:ahLst/>
            <a:cxnLst/>
            <a:rect r="r" b="b" t="t" l="l"/>
            <a:pathLst>
              <a:path h="9668691" w="6623053">
                <a:moveTo>
                  <a:pt x="0" y="0"/>
                </a:moveTo>
                <a:lnTo>
                  <a:pt x="6623054" y="0"/>
                </a:lnTo>
                <a:lnTo>
                  <a:pt x="6623054" y="9668691"/>
                </a:lnTo>
                <a:lnTo>
                  <a:pt x="0" y="9668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49816" y="9023379"/>
            <a:ext cx="601820" cy="601820"/>
          </a:xfrm>
          <a:custGeom>
            <a:avLst/>
            <a:gdLst/>
            <a:ahLst/>
            <a:cxnLst/>
            <a:rect r="r" b="b" t="t" l="l"/>
            <a:pathLst>
              <a:path h="601820" w="601820">
                <a:moveTo>
                  <a:pt x="0" y="0"/>
                </a:moveTo>
                <a:lnTo>
                  <a:pt x="601820" y="0"/>
                </a:lnTo>
                <a:lnTo>
                  <a:pt x="601820" y="601820"/>
                </a:lnTo>
                <a:lnTo>
                  <a:pt x="0" y="601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06723" y="3835213"/>
            <a:ext cx="8249579" cy="84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6"/>
              </a:lnSpc>
              <a:spcBef>
                <a:spcPct val="0"/>
              </a:spcBef>
            </a:pPr>
            <a:r>
              <a:rPr lang="en-US" sz="4890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PRUEBA TECNICA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7416" y="4911670"/>
            <a:ext cx="6416565" cy="71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  <a:spcBef>
                <a:spcPct val="0"/>
              </a:spcBef>
            </a:pPr>
            <a:r>
              <a:rPr lang="en-US" sz="4160">
                <a:solidFill>
                  <a:srgbClr val="7A6200"/>
                </a:solidFill>
                <a:latin typeface="HK Modular"/>
                <a:ea typeface="HK Modular"/>
                <a:cs typeface="HK Modular"/>
                <a:sym typeface="HK Modular"/>
              </a:rPr>
              <a:t>LABORATORIO #1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51636" y="9201150"/>
            <a:ext cx="4748826" cy="42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243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ESCUELA COLOMBIANA DE INGENIERIA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2528" y="1970590"/>
            <a:ext cx="6345820" cy="6345820"/>
          </a:xfrm>
          <a:custGeom>
            <a:avLst/>
            <a:gdLst/>
            <a:ahLst/>
            <a:cxnLst/>
            <a:rect r="r" b="b" t="t" l="l"/>
            <a:pathLst>
              <a:path h="6345820" w="6345820">
                <a:moveTo>
                  <a:pt x="0" y="0"/>
                </a:moveTo>
                <a:lnTo>
                  <a:pt x="6345820" y="0"/>
                </a:lnTo>
                <a:lnTo>
                  <a:pt x="6345820" y="6345820"/>
                </a:lnTo>
                <a:lnTo>
                  <a:pt x="0" y="6345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78082" y="8304778"/>
            <a:ext cx="5194713" cy="69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1"/>
              </a:lnSpc>
              <a:spcBef>
                <a:spcPct val="0"/>
              </a:spcBef>
            </a:pPr>
            <a:r>
              <a:rPr lang="en-US" sz="4072">
                <a:solidFill>
                  <a:srgbClr val="7A6200"/>
                </a:solidFill>
                <a:latin typeface="HK Modular"/>
                <a:ea typeface="HK Modular"/>
                <a:cs typeface="HK Modular"/>
                <a:sym typeface="HK Modular"/>
              </a:rPr>
              <a:t>DOSW 201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4353" y="6745775"/>
            <a:ext cx="20076706" cy="4517259"/>
          </a:xfrm>
          <a:custGeom>
            <a:avLst/>
            <a:gdLst/>
            <a:ahLst/>
            <a:cxnLst/>
            <a:rect r="r" b="b" t="t" l="l"/>
            <a:pathLst>
              <a:path h="4517259" w="20076706">
                <a:moveTo>
                  <a:pt x="0" y="0"/>
                </a:moveTo>
                <a:lnTo>
                  <a:pt x="20076706" y="0"/>
                </a:lnTo>
                <a:lnTo>
                  <a:pt x="20076706" y="4517259"/>
                </a:lnTo>
                <a:lnTo>
                  <a:pt x="0" y="451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69932" y="-101786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99163" y="904875"/>
            <a:ext cx="9165145" cy="111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  <a:spcBef>
                <a:spcPct val="0"/>
              </a:spcBef>
            </a:pPr>
            <a:r>
              <a:rPr lang="en-US" sz="6546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ORDEN DEL DIA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47626" y="2442502"/>
            <a:ext cx="7011372" cy="5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INVESTIGACION PREVIA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7626" y="3254304"/>
            <a:ext cx="8115300" cy="10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788" indent="-322894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SECCIONES PRINCIPALES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47626" y="4342285"/>
            <a:ext cx="8115300" cy="5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788" indent="-322894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COMANDOS GIT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7626" y="4906390"/>
            <a:ext cx="8115300" cy="5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788" indent="-322894" lvl="1">
              <a:lnSpc>
                <a:spcPts val="4187"/>
              </a:lnSpc>
              <a:buFont typeface="Arial"/>
              <a:buChar char="•"/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RECOMENDACIONES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47626" y="6455150"/>
            <a:ext cx="8115300" cy="5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PROGRAMACION FUNCIONAL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7626" y="5792440"/>
            <a:ext cx="8115300" cy="5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ESTRUCTURAS DE DATOS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47626" y="7131650"/>
            <a:ext cx="8115300" cy="5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PRUEBA TECNICA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63911" y="163050"/>
            <a:ext cx="6623053" cy="9668691"/>
          </a:xfrm>
          <a:custGeom>
            <a:avLst/>
            <a:gdLst/>
            <a:ahLst/>
            <a:cxnLst/>
            <a:rect r="r" b="b" t="t" l="l"/>
            <a:pathLst>
              <a:path h="9668691" w="6623053">
                <a:moveTo>
                  <a:pt x="0" y="0"/>
                </a:moveTo>
                <a:lnTo>
                  <a:pt x="6623054" y="0"/>
                </a:lnTo>
                <a:lnTo>
                  <a:pt x="6623054" y="9668691"/>
                </a:lnTo>
                <a:lnTo>
                  <a:pt x="0" y="966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02528" y="1970590"/>
            <a:ext cx="6345820" cy="6345820"/>
          </a:xfrm>
          <a:custGeom>
            <a:avLst/>
            <a:gdLst/>
            <a:ahLst/>
            <a:cxnLst/>
            <a:rect r="r" b="b" t="t" l="l"/>
            <a:pathLst>
              <a:path h="6345820" w="6345820">
                <a:moveTo>
                  <a:pt x="0" y="0"/>
                </a:moveTo>
                <a:lnTo>
                  <a:pt x="6345820" y="0"/>
                </a:lnTo>
                <a:lnTo>
                  <a:pt x="6345820" y="6345820"/>
                </a:lnTo>
                <a:lnTo>
                  <a:pt x="0" y="63458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2574" y="5543550"/>
            <a:ext cx="6789166" cy="136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¿QUE COMANDOS PUEDEN USAR CON GIT? ¿CUAL ES SU FUNCION?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2623" y="3157077"/>
            <a:ext cx="15721487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INVESTIGACION PREVIA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0134" y="5433782"/>
            <a:ext cx="6789166" cy="227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¿CUALES SON LOS TIPOS DE BRANCH QUE PODEMOS MANEJAR COMO ESTRATEGIAS CON GIT FLOW Y CUAL ES SU FUNCION?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677186" y="-34203"/>
            <a:ext cx="3324630" cy="3324630"/>
          </a:xfrm>
          <a:custGeom>
            <a:avLst/>
            <a:gdLst/>
            <a:ahLst/>
            <a:cxnLst/>
            <a:rect r="r" b="b" t="t" l="l"/>
            <a:pathLst>
              <a:path h="3324630" w="3324630">
                <a:moveTo>
                  <a:pt x="0" y="0"/>
                </a:moveTo>
                <a:lnTo>
                  <a:pt x="3324630" y="0"/>
                </a:lnTo>
                <a:lnTo>
                  <a:pt x="3324630" y="3324630"/>
                </a:lnTo>
                <a:lnTo>
                  <a:pt x="0" y="3324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61482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521675">
            <a:off x="-2145225" y="6960043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21675">
            <a:off x="11525853" y="-142301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21675">
            <a:off x="-3649571" y="6744248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21446" y="620181"/>
            <a:ext cx="1254551" cy="1254551"/>
          </a:xfrm>
          <a:custGeom>
            <a:avLst/>
            <a:gdLst/>
            <a:ahLst/>
            <a:cxnLst/>
            <a:rect r="r" b="b" t="t" l="l"/>
            <a:pathLst>
              <a:path h="1254551" w="1254551">
                <a:moveTo>
                  <a:pt x="0" y="0"/>
                </a:moveTo>
                <a:lnTo>
                  <a:pt x="1254551" y="0"/>
                </a:lnTo>
                <a:lnTo>
                  <a:pt x="1254551" y="1254551"/>
                </a:lnTo>
                <a:lnTo>
                  <a:pt x="0" y="1254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54138" y="2901342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33172" y="807144"/>
            <a:ext cx="4440390" cy="79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6"/>
              </a:lnSpc>
              <a:spcBef>
                <a:spcPct val="0"/>
              </a:spcBef>
            </a:pPr>
            <a:r>
              <a:rPr lang="en-US" sz="4704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GIT FLOW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08288" y="7818444"/>
            <a:ext cx="2879712" cy="2879712"/>
          </a:xfrm>
          <a:custGeom>
            <a:avLst/>
            <a:gdLst/>
            <a:ahLst/>
            <a:cxnLst/>
            <a:rect r="r" b="b" t="t" l="l"/>
            <a:pathLst>
              <a:path h="2879712" w="2879712">
                <a:moveTo>
                  <a:pt x="0" y="0"/>
                </a:moveTo>
                <a:lnTo>
                  <a:pt x="2879712" y="0"/>
                </a:lnTo>
                <a:lnTo>
                  <a:pt x="2879712" y="2879712"/>
                </a:lnTo>
                <a:lnTo>
                  <a:pt x="0" y="28797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61482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521675">
            <a:off x="-2145225" y="6960043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21675">
            <a:off x="11525853" y="-142301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21675">
            <a:off x="-3649571" y="6744248"/>
            <a:ext cx="10032200" cy="3229319"/>
          </a:xfrm>
          <a:custGeom>
            <a:avLst/>
            <a:gdLst/>
            <a:ahLst/>
            <a:cxnLst/>
            <a:rect r="r" b="b" t="t" l="l"/>
            <a:pathLst>
              <a:path h="3229319" w="10032200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16837" y="3447492"/>
            <a:ext cx="1080836" cy="1080836"/>
          </a:xfrm>
          <a:custGeom>
            <a:avLst/>
            <a:gdLst/>
            <a:ahLst/>
            <a:cxnLst/>
            <a:rect r="r" b="b" t="t" l="l"/>
            <a:pathLst>
              <a:path h="1080836" w="1080836">
                <a:moveTo>
                  <a:pt x="0" y="0"/>
                </a:moveTo>
                <a:lnTo>
                  <a:pt x="1080835" y="0"/>
                </a:lnTo>
                <a:lnTo>
                  <a:pt x="1080835" y="1080835"/>
                </a:lnTo>
                <a:lnTo>
                  <a:pt x="0" y="10808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5387" y="3343864"/>
            <a:ext cx="9180241" cy="5015044"/>
          </a:xfrm>
          <a:custGeom>
            <a:avLst/>
            <a:gdLst/>
            <a:ahLst/>
            <a:cxnLst/>
            <a:rect r="r" b="b" t="t" l="l"/>
            <a:pathLst>
              <a:path h="5015044" w="9180241">
                <a:moveTo>
                  <a:pt x="0" y="0"/>
                </a:moveTo>
                <a:lnTo>
                  <a:pt x="9180241" y="0"/>
                </a:lnTo>
                <a:lnTo>
                  <a:pt x="9180241" y="5015043"/>
                </a:lnTo>
                <a:lnTo>
                  <a:pt x="0" y="501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58" r="0" b="-25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04307"/>
            <a:ext cx="14274218" cy="162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6"/>
              </a:lnSpc>
              <a:spcBef>
                <a:spcPct val="0"/>
              </a:spcBef>
            </a:pPr>
            <a:r>
              <a:rPr lang="en-US" sz="4704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PROYECTO GIT SECCIONES PRINCIPALES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16837" y="5747937"/>
            <a:ext cx="1080836" cy="1080836"/>
          </a:xfrm>
          <a:custGeom>
            <a:avLst/>
            <a:gdLst/>
            <a:ahLst/>
            <a:cxnLst/>
            <a:rect r="r" b="b" t="t" l="l"/>
            <a:pathLst>
              <a:path h="1080836" w="1080836">
                <a:moveTo>
                  <a:pt x="0" y="0"/>
                </a:moveTo>
                <a:lnTo>
                  <a:pt x="1080835" y="0"/>
                </a:lnTo>
                <a:lnTo>
                  <a:pt x="1080835" y="1080835"/>
                </a:lnTo>
                <a:lnTo>
                  <a:pt x="0" y="10808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16837" y="8019230"/>
            <a:ext cx="1080836" cy="1080836"/>
          </a:xfrm>
          <a:custGeom>
            <a:avLst/>
            <a:gdLst/>
            <a:ahLst/>
            <a:cxnLst/>
            <a:rect r="r" b="b" t="t" l="l"/>
            <a:pathLst>
              <a:path h="1080836" w="1080836">
                <a:moveTo>
                  <a:pt x="0" y="0"/>
                </a:moveTo>
                <a:lnTo>
                  <a:pt x="1080835" y="0"/>
                </a:lnTo>
                <a:lnTo>
                  <a:pt x="1080835" y="1080836"/>
                </a:lnTo>
                <a:lnTo>
                  <a:pt x="0" y="10808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77228" y="8245898"/>
            <a:ext cx="6210772" cy="58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donde se almacena los metadatos y la base de datos de objetos para el proyecto, es la parte mas importante de git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77228" y="3674159"/>
            <a:ext cx="5908658" cy="11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copia de una version del proyecto, estos archivos se sacan de la base de datos comprimida en el directorio de git y se colocan en disco para que los puedan usar o modificar.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77228" y="5813285"/>
            <a:ext cx="5908658" cy="88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archivo generalmente contenido en el directorio de git que almacena la informacion acerca de lo que va en la proxima confirmacion, a veces se le denomina indice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582052" y="0"/>
            <a:ext cx="2705948" cy="2705948"/>
          </a:xfrm>
          <a:custGeom>
            <a:avLst/>
            <a:gdLst/>
            <a:ahLst/>
            <a:cxnLst/>
            <a:rect r="r" b="b" t="t" l="l"/>
            <a:pathLst>
              <a:path h="2705948" w="2705948">
                <a:moveTo>
                  <a:pt x="0" y="0"/>
                </a:moveTo>
                <a:lnTo>
                  <a:pt x="2705948" y="0"/>
                </a:lnTo>
                <a:lnTo>
                  <a:pt x="2705948" y="2705948"/>
                </a:lnTo>
                <a:lnTo>
                  <a:pt x="0" y="27059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728019" y="-1153953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9002" y="2201018"/>
            <a:ext cx="9908730" cy="75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2280" y="3960203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INIT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662" y="4710820"/>
            <a:ext cx="6945388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CLONE COPIED_URL_LINK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662" y="5457825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STATUS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865" y="6204830"/>
            <a:ext cx="7259522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ADD . Y GIT ADD FILE_NAME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865" y="6941119"/>
            <a:ext cx="7780271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COMMIT -M “COMMIT_MESSAGE”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6529" y="7677408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PUSH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5861" y="8414888"/>
            <a:ext cx="7201808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CHECKOUT BRANCH_NAME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2280" y="9201150"/>
            <a:ext cx="7201808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CHECKOUT -B BRANCH_NAME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89771" y="3846657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 nuevo repositorio Git o reinicia uno existente, añade una carpeta oculta .git  en el directorio donde almacena los metadatos, hsitorial de versiones y registros del 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89771" y="4652906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Copia un repositorio existente, incluyendo registros y versiones, desde servidores remotos como GitHub o GitLab a tu máquina local.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89771" y="5476875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detalles sobre archivos modificados, archivos no rastreados y archivos preparados y listos para ser enviados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89771" y="6301609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Añade tus cambios al area de preparacion, indica a git que el repositorio debe actualizar estos cambios una vez el usuario ejecute el comando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89771" y="7070969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Guarda los cambios que has realizado en el repositorio local, una vez jecutado crea una instancia del repositorio en ese momento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89771" y="7838553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Sincroniza tu repostiorio remoto con el repositorio local, una vez ejecutado el repositorio remoto reflejara todos los cambios que hayas confirmado localmente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89771" y="9287032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nueva rama llamada “branch_name” desde la rama donde estes parado y cambia a la rama creada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89771" y="8544738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Cambia desde la rama donde estes parado a la rama branch_name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974088" y="-77391"/>
            <a:ext cx="2705948" cy="2705948"/>
          </a:xfrm>
          <a:custGeom>
            <a:avLst/>
            <a:gdLst/>
            <a:ahLst/>
            <a:cxnLst/>
            <a:rect r="r" b="b" t="t" l="l"/>
            <a:pathLst>
              <a:path h="2705948" w="2705948">
                <a:moveTo>
                  <a:pt x="0" y="0"/>
                </a:moveTo>
                <a:lnTo>
                  <a:pt x="2705949" y="0"/>
                </a:lnTo>
                <a:lnTo>
                  <a:pt x="2705949" y="2705948"/>
                </a:lnTo>
                <a:lnTo>
                  <a:pt x="0" y="2705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728019" y="-1153953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9002" y="2201018"/>
            <a:ext cx="9908730" cy="75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678" y="3897140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PULL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257" y="7965576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BRANCH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4491" y="9455747"/>
            <a:ext cx="6734219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BRANCH -D NOMBRE_RAMA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8257" y="8708743"/>
            <a:ext cx="6100712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BRANCH NOMBRE_RAMA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505" y="4710856"/>
            <a:ext cx="623646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MERGE &lt;NOMBRE_RAMA&gt;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8257" y="5692843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REBASE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257" y="6506523"/>
            <a:ext cx="2043248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4491" y="7329728"/>
            <a:ext cx="7015497" cy="37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LOG --ONELINE Y GIT LOG --STAT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14249" y="3651461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Recupera y fusiona los cambios del repositorio remoto con los del repositorio local, combina git fetch y git merge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14249" y="8172390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la lista de todas las ramas del repositorio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14249" y="8793703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nueva rama llamada “nombre_rama”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14249" y="9474797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 la rama llamada “nombre_rama”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14249" y="4575977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realizar una fusion e integracion de los cambios de la rama nombre_rama a la rama en la que estes parado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14249" y="5505486"/>
            <a:ext cx="9390153" cy="79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otra forma de integrar cambios entre ramas, pero funciona de forma distinta a git merge. Fusionar conserva el historial completo tanto de la rama principal como de la rama de características. Rebase, por otro lado, sobrescribe el historial de confirmaciones para hacerlo lineal y limpio.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14249" y="6500791"/>
            <a:ext cx="9390153" cy="52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todo el historial de confirmaciones de tu rama actual. Incluye cuatro campos clave: confirmación, autor, fecha y mensaje de confirmación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14249" y="7228165"/>
            <a:ext cx="9390153" cy="79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bandera --oneline causa en el git log que se muestre en pantalla: un commit por linea, los primeros 7 caracteres del SHA, mensaje del commit, la bandera --stat causa que muestre los archivos que se modificaron en cada confirmacion, numero de lineas añadidas o eliminadas y una linea resumen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050755" y="-183818"/>
            <a:ext cx="2705948" cy="2705948"/>
          </a:xfrm>
          <a:custGeom>
            <a:avLst/>
            <a:gdLst/>
            <a:ahLst/>
            <a:cxnLst/>
            <a:rect r="r" b="b" t="t" l="l"/>
            <a:pathLst>
              <a:path h="2705948" w="2705948">
                <a:moveTo>
                  <a:pt x="0" y="0"/>
                </a:moveTo>
                <a:lnTo>
                  <a:pt x="2705948" y="0"/>
                </a:lnTo>
                <a:lnTo>
                  <a:pt x="2705948" y="2705949"/>
                </a:lnTo>
                <a:lnTo>
                  <a:pt x="0" y="2705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728019" y="-1153953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9002" y="2201018"/>
            <a:ext cx="9908730" cy="75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694" y="3878090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DIFF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612" y="4710820"/>
            <a:ext cx="6945388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DIFF COMMIT 1 COMMIT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612" y="5539671"/>
            <a:ext cx="6653091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DIFF BRANCH1..BRANCH2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1612" y="6443233"/>
            <a:ext cx="2797423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STASH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8793" y="7560216"/>
            <a:ext cx="3476181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STASH POP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1431394" y="8560700"/>
            <a:ext cx="13608454" cy="39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CONFIG --GLOBAL USER.NAME “YOUR NAME”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728019" y="9429907"/>
            <a:ext cx="13608454" cy="39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CONFIG --GLOBAL USER.EMAIL “EMAIL”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35022" y="3820176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la diferencia entre tu directorio de trabajo actual y el area de preparacion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35022" y="4729870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la diferencia entre el commit 1 y el commit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35022" y="5558721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Compara las diferencias entre branch1 y branch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35022" y="6406339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guardar temporalmente los cambios almacenados al directorio actual y restablece tu directorio de trabajo al ultimo estado comprometido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35022" y="7466862"/>
            <a:ext cx="9033358" cy="85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has guardado algunos cambios en el pasado y quieres incluirlos en tu directorio de trabajo, esto aplicará los últimos cambios almacenados al directorio actual y los eliminará de la lista de cambios almacenados.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7854" y="8596022"/>
            <a:ext cx="7479756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Establece el nombre de usuario git para todos los repositorios de tu sistema en “your name”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67854" y="9411231"/>
            <a:ext cx="7479756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Establece la direccion de correo electronico apra todos los repositorios de tu sistema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791026" y="-77391"/>
            <a:ext cx="2705948" cy="2705948"/>
          </a:xfrm>
          <a:custGeom>
            <a:avLst/>
            <a:gdLst/>
            <a:ahLst/>
            <a:cxnLst/>
            <a:rect r="r" b="b" t="t" l="l"/>
            <a:pathLst>
              <a:path h="2705948" w="2705948">
                <a:moveTo>
                  <a:pt x="0" y="0"/>
                </a:moveTo>
                <a:lnTo>
                  <a:pt x="2705948" y="0"/>
                </a:lnTo>
                <a:lnTo>
                  <a:pt x="2705948" y="2705948"/>
                </a:lnTo>
                <a:lnTo>
                  <a:pt x="0" y="2705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728019" y="-1153953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9002" y="2201018"/>
            <a:ext cx="9908730" cy="75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53" y="6414425"/>
            <a:ext cx="7865482" cy="87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RESET --(SOFT,MIXED,HARD) HEAD~1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678" y="5289875"/>
            <a:ext cx="3548002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CLEAN -N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1647" y="4314270"/>
            <a:ext cx="2661672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CLEAN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314" y="3501833"/>
            <a:ext cx="4172512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CONFIG -LIST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7234" y="7799750"/>
            <a:ext cx="7166519" cy="87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REMOTE ADD &lt;REPO_NAME&gt; &lt;REMOTE_URL&gt;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89771" y="8028537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conexion entre tu repositorio git local y el repositori git remoto, permitiendote introducir y extraer cambios entre ellos, origen es por defecto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89771" y="8809468"/>
            <a:ext cx="9033358" cy="113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 permite revisar los cambios en el repositorio remoto antes de fusionarlos en el local. Descarga los cambios y actualízalos en ramas de seguimiento remotas. Para los que no estén familiarizados, las ramas de seguimiento remoto son copias de ramas de repositorios remotos.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1647" y="8965367"/>
            <a:ext cx="2661672" cy="4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FETCH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89771" y="6104607"/>
            <a:ext cx="9033358" cy="171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deshacer cambios restableciendo el HEAD Actual a un estado anterior especifico, para mover el HEAD a un commit anterior tiene tres variantes: suave que retorcede a una confirmacion anterior pero con los cambios actuales, mixta que retrocede a una confirmacion anterior y elimina los cambios de la confirmacion actual y hard que apunta a una confirmacion anterior y elimina las actualizaciones de la confirmacion actual y del area de preparacion.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89771" y="3586794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los ajustes git de todos los niveles: a nivel de sistema, a nivel global y a nivel local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89771" y="4465141"/>
            <a:ext cx="9033358" cy="28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 los archivos no rastreados del directorio de trabajo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89771" y="5240001"/>
            <a:ext cx="9033358" cy="56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Muesta una lista de archivos y directorios no rastreados que se eliminarían sin borrarlos realmente. Esto te permite revisar los cambios antes de ejecutarlos.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81933" y="2058446"/>
            <a:ext cx="12324133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RECOMENDACIONES</a:t>
            </a:r>
          </a:p>
        </p:txBody>
      </p:sp>
      <p:grpSp>
        <p:nvGrpSpPr>
          <p:cNvPr name="Group 7" id="7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85722" y="3900353"/>
            <a:ext cx="12317738" cy="80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Mantener el Flujo de Trabajo Limpio y estructurado y colaborativo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094498" y="4953810"/>
            <a:ext cx="12317738" cy="120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un seguimiento eficaz de los cambios a lo largo del tiempo, para posteriormente comprender que se modifico en cada uno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104955" y="6295934"/>
            <a:ext cx="12317738" cy="120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Mensajes claros que describan que se realizo, asi es mas sencillo saber que incluye cada cambio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988328" y="7438287"/>
            <a:ext cx="12317738" cy="120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cualquier nueva funcion o correccion, crea una rama trabaja en ella y fusionala, puede crear ramas desde el repositorio en github y actualizar en local.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104955" y="8780665"/>
            <a:ext cx="12317738" cy="120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 .gitgnore que contiene archivos y directorios relacionados con el proyecto que no es necesario rastrear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30241" y="4917532"/>
            <a:ext cx="12765801" cy="85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 ESTRUCTURAS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30241" y="6102318"/>
            <a:ext cx="1273778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Importantes estructuras de datos que se utilizan para almacenar una serie de elementos y procesarlos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76999" y="939850"/>
            <a:ext cx="4203650" cy="4203650"/>
          </a:xfrm>
          <a:custGeom>
            <a:avLst/>
            <a:gdLst/>
            <a:ahLst/>
            <a:cxnLst/>
            <a:rect r="r" b="b" t="t" l="l"/>
            <a:pathLst>
              <a:path h="4203650" w="4203650">
                <a:moveTo>
                  <a:pt x="0" y="0"/>
                </a:moveTo>
                <a:lnTo>
                  <a:pt x="4203650" y="0"/>
                </a:lnTo>
                <a:lnTo>
                  <a:pt x="4203650" y="4203650"/>
                </a:lnTo>
                <a:lnTo>
                  <a:pt x="0" y="4203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50659" y="-7812873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48815" y="2096546"/>
            <a:ext cx="9830019" cy="81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1"/>
              </a:lnSpc>
              <a:spcBef>
                <a:spcPct val="0"/>
              </a:spcBef>
            </a:pPr>
            <a:r>
              <a:rPr lang="en-US" sz="4715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ARRAY VS ARRAY LIST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149948" y="7670305"/>
            <a:ext cx="3452105" cy="2193958"/>
          </a:xfrm>
          <a:custGeom>
            <a:avLst/>
            <a:gdLst/>
            <a:ahLst/>
            <a:cxnLst/>
            <a:rect r="r" b="b" t="t" l="l"/>
            <a:pathLst>
              <a:path h="2193958" w="3452105">
                <a:moveTo>
                  <a:pt x="0" y="0"/>
                </a:moveTo>
                <a:lnTo>
                  <a:pt x="3452105" y="0"/>
                </a:lnTo>
                <a:lnTo>
                  <a:pt x="3452105" y="2193958"/>
                </a:lnTo>
                <a:lnTo>
                  <a:pt x="0" y="219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03609" y="7458203"/>
            <a:ext cx="3062211" cy="2464264"/>
          </a:xfrm>
          <a:custGeom>
            <a:avLst/>
            <a:gdLst/>
            <a:ahLst/>
            <a:cxnLst/>
            <a:rect r="r" b="b" t="t" l="l"/>
            <a:pathLst>
              <a:path h="2464264" w="3062211">
                <a:moveTo>
                  <a:pt x="0" y="0"/>
                </a:moveTo>
                <a:lnTo>
                  <a:pt x="3062211" y="0"/>
                </a:lnTo>
                <a:lnTo>
                  <a:pt x="3062211" y="2464265"/>
                </a:lnTo>
                <a:lnTo>
                  <a:pt x="0" y="2464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52805" y="3318673"/>
            <a:ext cx="5643495" cy="40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Tamaño Fijo que debe especificarse y no puede modificarse posteriormente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Solo puede contener tipos primitivos (int, double, boolean, etc)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Tiene acceso a elementos muy rapido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soporta genericos, puede ser menos seguro ya que es mas facil introducir errores de tipo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Acceso mediante [] y longitud con .length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Puede ser unidimensional o multidimensional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73851" y="3328198"/>
            <a:ext cx="5923295" cy="41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372" indent="-194686" lvl="1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Tamaño dinamico, se expande o se contrae automaticamente segun los elementos que contenga</a:t>
            </a:r>
          </a:p>
          <a:p>
            <a:pPr algn="l" marL="389372" indent="-194686" lvl="1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Solo puede almacenar objetos, para usar los tipos primitivos Java los convierte mediante autoboxing (int a Integer)</a:t>
            </a:r>
          </a:p>
          <a:p>
            <a:pPr algn="l" marL="389372" indent="-194686" lvl="1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mas lento a comparacion en especial cuando necesita redimensionarse</a:t>
            </a:r>
          </a:p>
          <a:p>
            <a:pPr algn="l" marL="389372" indent="-194686" lvl="1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Soporta genericos mejorando la seguridad de tipos y evitando errores en tiempo de ejecucion</a:t>
            </a:r>
          </a:p>
          <a:p>
            <a:pPr algn="l" marL="389372" indent="-194686" lvl="1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add(), remove(), size(), indexOf(), contains()</a:t>
            </a:r>
          </a:p>
          <a:p>
            <a:pPr algn="l" marL="389372" indent="-194686" lvl="1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solo unidimensional</a:t>
            </a:r>
          </a:p>
          <a:p>
            <a:pPr algn="l">
              <a:lnSpc>
                <a:spcPts val="2524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259904" y="1993582"/>
            <a:ext cx="10007840" cy="77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8"/>
              </a:lnSpc>
              <a:spcBef>
                <a:spcPct val="0"/>
              </a:spcBef>
            </a:pPr>
            <a:r>
              <a:rPr lang="en-US" sz="4534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HASHMAP VS HASHTABLE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59982" y="7284654"/>
            <a:ext cx="4968037" cy="2471619"/>
          </a:xfrm>
          <a:custGeom>
            <a:avLst/>
            <a:gdLst/>
            <a:ahLst/>
            <a:cxnLst/>
            <a:rect r="r" b="b" t="t" l="l"/>
            <a:pathLst>
              <a:path h="2471619" w="4968037">
                <a:moveTo>
                  <a:pt x="0" y="0"/>
                </a:moveTo>
                <a:lnTo>
                  <a:pt x="4968036" y="0"/>
                </a:lnTo>
                <a:lnTo>
                  <a:pt x="4968036" y="2471619"/>
                </a:lnTo>
                <a:lnTo>
                  <a:pt x="0" y="2471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38833" y="3366511"/>
            <a:ext cx="7057517" cy="386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9134" indent="-214567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HashMap en Java es una implementación de la interfaz Map que almacena pares clave–valor.</a:t>
            </a:r>
          </a:p>
          <a:p>
            <a:pPr algn="l" marL="429134" indent="-214567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 internamente la implementacion de hash table</a:t>
            </a:r>
          </a:p>
          <a:p>
            <a:pPr algn="l" marL="429134" indent="-214567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claves son únicas, pero los valores pueden repetirse.</a:t>
            </a:r>
          </a:p>
          <a:p>
            <a:pPr algn="l" marL="429134" indent="-214567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Internamente usa una tabla hash para ubicar rápidamente los elementos.</a:t>
            </a:r>
          </a:p>
          <a:p>
            <a:pPr algn="l" marL="429134" indent="-214567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no sincronizado → más rápido en entornos de un solo hilo.</a:t>
            </a:r>
          </a:p>
          <a:p>
            <a:pPr algn="l" marL="429134" indent="-214567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una clave null y varios valores null.</a:t>
            </a:r>
          </a:p>
          <a:p>
            <a:pPr algn="l">
              <a:lnSpc>
                <a:spcPts val="278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853969" y="3457145"/>
            <a:ext cx="6522592" cy="382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519" indent="-212260" lvl="1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Hashtable también almacena pares clave–valor y usa una tabla hash internamente.</a:t>
            </a:r>
          </a:p>
          <a:p>
            <a:pPr algn="l" marL="424519" indent="-212260" lvl="1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claves son únicas, valores pueden repetirse.</a:t>
            </a:r>
          </a:p>
          <a:p>
            <a:pPr algn="l" marL="424519" indent="-212260" lvl="1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sincronizado → seguro para multihilo, pero más lento.</a:t>
            </a:r>
          </a:p>
          <a:p>
            <a:pPr algn="l" marL="424519" indent="-212260" lvl="1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permite claves null ni valores null.</a:t>
            </a:r>
          </a:p>
          <a:p>
            <a:pPr algn="l" marL="424519" indent="-212260" lvl="1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clase legacy (heredada de Java 1.0), anterior al HashMap. Hoy en día casi siempre se prefiere HashMap o ConcurrentHashMap.</a:t>
            </a:r>
          </a:p>
          <a:p>
            <a:pPr algn="l">
              <a:lnSpc>
                <a:spcPts val="2752"/>
              </a:lnSpc>
            </a:pPr>
          </a:p>
          <a:p>
            <a:pPr algn="l">
              <a:lnSpc>
                <a:spcPts val="2752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55603" y="1953297"/>
            <a:ext cx="8776794" cy="71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HASHSET VS TREESET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393245" y="7580699"/>
            <a:ext cx="6518312" cy="1677601"/>
          </a:xfrm>
          <a:custGeom>
            <a:avLst/>
            <a:gdLst/>
            <a:ahLst/>
            <a:cxnLst/>
            <a:rect r="r" b="b" t="t" l="l"/>
            <a:pathLst>
              <a:path h="1677601" w="6518312">
                <a:moveTo>
                  <a:pt x="0" y="0"/>
                </a:moveTo>
                <a:lnTo>
                  <a:pt x="6518312" y="0"/>
                </a:lnTo>
                <a:lnTo>
                  <a:pt x="6518312" y="1677601"/>
                </a:lnTo>
                <a:lnTo>
                  <a:pt x="0" y="167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41587" y="7580699"/>
            <a:ext cx="6847229" cy="1681775"/>
          </a:xfrm>
          <a:custGeom>
            <a:avLst/>
            <a:gdLst/>
            <a:ahLst/>
            <a:cxnLst/>
            <a:rect r="r" b="b" t="t" l="l"/>
            <a:pathLst>
              <a:path h="1681775" w="6847229">
                <a:moveTo>
                  <a:pt x="0" y="0"/>
                </a:moveTo>
                <a:lnTo>
                  <a:pt x="6847229" y="0"/>
                </a:lnTo>
                <a:lnTo>
                  <a:pt x="6847229" y="1681775"/>
                </a:lnTo>
                <a:lnTo>
                  <a:pt x="0" y="168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39058" y="3655190"/>
            <a:ext cx="6426685" cy="33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57" indent="-206879" lvl="1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colección en Java que almacena elementos únicos (sin duplicados).</a:t>
            </a:r>
          </a:p>
          <a:p>
            <a:pPr algn="l" marL="413757" indent="-206879" lvl="1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Internamente usa una tabla hash para </a:t>
            </a: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guardar los datos.</a:t>
            </a:r>
          </a:p>
          <a:p>
            <a:pPr algn="l" marL="413757" indent="-206879" lvl="1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mantiene ningún orden en cómo se guardan o muestran los elementos.</a:t>
            </a:r>
          </a:p>
          <a:p>
            <a:pPr algn="l" marL="413757" indent="-206879" lvl="1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un solo elemento null.</a:t>
            </a:r>
          </a:p>
          <a:p>
            <a:pPr algn="l" marL="413757" indent="-206879" lvl="1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muy rápido para buscar, agregar o eliminar elementos (en promedio O(1)).</a:t>
            </a:r>
          </a:p>
          <a:p>
            <a:pPr algn="l">
              <a:lnSpc>
                <a:spcPts val="268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974815" y="3664715"/>
            <a:ext cx="5890085" cy="330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051" indent="-195026" lvl="1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También es una colección que almacena elementos únicos.</a:t>
            </a:r>
          </a:p>
          <a:p>
            <a:pPr algn="l" marL="390051" indent="-195026" lvl="1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</a:t>
            </a: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rnamente usa un árbol rojo-negro (estructura de árbol balanceado).</a:t>
            </a:r>
          </a:p>
          <a:p>
            <a:pPr algn="l" marL="390051" indent="-195026" lvl="1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Mantiene los elementos ordenados automáticamente (por orden natural o usando un Comparator).</a:t>
            </a:r>
          </a:p>
          <a:p>
            <a:pPr algn="l" marL="390051" indent="-195026" lvl="1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permite null en Java moderno.</a:t>
            </a:r>
          </a:p>
          <a:p>
            <a:pPr algn="l" marL="390051" indent="-195026" lvl="1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más lento que HashSet (O(log n)) porque mantiene el orden mientras agrega/busca/elimina.</a:t>
            </a:r>
          </a:p>
          <a:p>
            <a:pPr algn="l">
              <a:lnSpc>
                <a:spcPts val="158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01747" cy="1480665"/>
            </a:xfrm>
            <a:custGeom>
              <a:avLst/>
              <a:gdLst/>
              <a:ahLst/>
              <a:cxnLst/>
              <a:rect r="r" b="b" t="t" l="l"/>
              <a:pathLst>
                <a:path h="1480665" w="4001747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38833" y="7160571"/>
            <a:ext cx="4722776" cy="596079"/>
          </a:xfrm>
          <a:custGeom>
            <a:avLst/>
            <a:gdLst/>
            <a:ahLst/>
            <a:cxnLst/>
            <a:rect r="r" b="b" t="t" l="l"/>
            <a:pathLst>
              <a:path h="596079" w="4722776">
                <a:moveTo>
                  <a:pt x="0" y="0"/>
                </a:moveTo>
                <a:lnTo>
                  <a:pt x="4722776" y="0"/>
                </a:lnTo>
                <a:lnTo>
                  <a:pt x="4722776" y="596078"/>
                </a:lnTo>
                <a:lnTo>
                  <a:pt x="0" y="596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19898" y="7600512"/>
            <a:ext cx="4197370" cy="837480"/>
          </a:xfrm>
          <a:custGeom>
            <a:avLst/>
            <a:gdLst/>
            <a:ahLst/>
            <a:cxnLst/>
            <a:rect r="r" b="b" t="t" l="l"/>
            <a:pathLst>
              <a:path h="837480" w="4197370">
                <a:moveTo>
                  <a:pt x="0" y="0"/>
                </a:moveTo>
                <a:lnTo>
                  <a:pt x="4197371" y="0"/>
                </a:lnTo>
                <a:lnTo>
                  <a:pt x="4197371" y="837480"/>
                </a:lnTo>
                <a:lnTo>
                  <a:pt x="0" y="837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13295" y="6579366"/>
            <a:ext cx="5455484" cy="743930"/>
          </a:xfrm>
          <a:custGeom>
            <a:avLst/>
            <a:gdLst/>
            <a:ahLst/>
            <a:cxnLst/>
            <a:rect r="r" b="b" t="t" l="l"/>
            <a:pathLst>
              <a:path h="743930" w="5455484">
                <a:moveTo>
                  <a:pt x="0" y="0"/>
                </a:moveTo>
                <a:lnTo>
                  <a:pt x="5455484" y="0"/>
                </a:lnTo>
                <a:lnTo>
                  <a:pt x="5455484" y="743930"/>
                </a:lnTo>
                <a:lnTo>
                  <a:pt x="0" y="743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45069" y="2712528"/>
            <a:ext cx="15234490" cy="51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STRING VS STRING BUILDER VS STRING BUFFER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0515" y="4693043"/>
            <a:ext cx="4900632" cy="232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5814" indent="-177907" lvl="1">
              <a:lnSpc>
                <a:spcPts val="2307"/>
              </a:lnSpc>
              <a:buFont typeface="Arial"/>
              <a:buChar char="•"/>
            </a:pPr>
            <a:r>
              <a:rPr lang="en-US" sz="1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inmutable → una vez creado, su valor no se puede cambiar.</a:t>
            </a:r>
          </a:p>
          <a:p>
            <a:pPr algn="l" marL="355814" indent="-177907" lvl="1">
              <a:lnSpc>
                <a:spcPts val="2307"/>
              </a:lnSpc>
              <a:buFont typeface="Arial"/>
              <a:buChar char="•"/>
            </a:pPr>
            <a:r>
              <a:rPr lang="en-US" sz="1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 vez que modificas un String, en realidad se crea un nuevo objeto en memoria.</a:t>
            </a:r>
          </a:p>
          <a:p>
            <a:pPr algn="l" marL="355814" indent="-177907" lvl="1">
              <a:lnSpc>
                <a:spcPts val="2307"/>
              </a:lnSpc>
              <a:buFont typeface="Arial"/>
              <a:buChar char="•"/>
            </a:pPr>
            <a:r>
              <a:rPr lang="en-US" sz="1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 seguro para uso en múltiples hilos porque no cambia, pero menos eficiente si hay muchas concatenaciones.</a:t>
            </a:r>
          </a:p>
          <a:p>
            <a:pPr algn="l">
              <a:lnSpc>
                <a:spcPts val="23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434240" y="4395507"/>
            <a:ext cx="3357573" cy="292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50" indent="-172725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mutable → puedes cambia</a:t>
            </a: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el contenido sin crear nuevos objetos.</a:t>
            </a:r>
          </a:p>
          <a:p>
            <a:pPr algn="l" marL="345450" indent="-172725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está sincronizado → más rápido, pero no es thread-safe (no usar en múltiples hilos sin control).</a:t>
            </a:r>
          </a:p>
          <a:p>
            <a:pPr algn="l" marL="345450" indent="-172725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Ideal cuando necesitas modificar cadenas muchas veces en un solo hilo.</a:t>
            </a:r>
          </a:p>
          <a:p>
            <a:pPr algn="l">
              <a:lnSpc>
                <a:spcPts val="11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013295" y="4395507"/>
            <a:ext cx="4121933" cy="205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9" indent="-183519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i</a:t>
            </a: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gual que StringBuilder pero sincronizado → es thread-safe.</a:t>
            </a:r>
          </a:p>
          <a:p>
            <a:pPr algn="l" marL="367039" indent="-183519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 lento que StringBuilder debido al costo de sincronización.</a:t>
            </a:r>
          </a:p>
          <a:p>
            <a:pPr algn="l" marL="367039" indent="-183519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cuando varios hilos necesitan modificar la misma cadena.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70467" y="4666984"/>
            <a:ext cx="12765801" cy="85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PROGRAMACION FUNCIONAL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0265" y="6102318"/>
            <a:ext cx="16516708" cy="184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paradigma de programación que trata la computación como la evaluación de funciones matemáticas y evita cambios de estado y datos mutables. Se centra en aplicar y componer funciones para transformar datos, en lugar de modificar el estado del programa. 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839165" y="315095"/>
            <a:ext cx="4828405" cy="4828405"/>
          </a:xfrm>
          <a:custGeom>
            <a:avLst/>
            <a:gdLst/>
            <a:ahLst/>
            <a:cxnLst/>
            <a:rect r="r" b="b" t="t" l="l"/>
            <a:pathLst>
              <a:path h="4828405" w="4828405">
                <a:moveTo>
                  <a:pt x="0" y="0"/>
                </a:moveTo>
                <a:lnTo>
                  <a:pt x="4828404" y="0"/>
                </a:lnTo>
                <a:lnTo>
                  <a:pt x="4828404" y="4828405"/>
                </a:lnTo>
                <a:lnTo>
                  <a:pt x="0" y="4828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1711" y="2331544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CONCEPTOS CLAVE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2002" y="4095390"/>
            <a:ext cx="4774694" cy="48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FUNCIONES PURAS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23434" y="4095390"/>
            <a:ext cx="4659865" cy="48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INMUTABLIDAD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7223" y="4104915"/>
            <a:ext cx="5243573" cy="76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lang="en-US" sz="216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FUNCIONES DE ORDEN SUPERIOR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4722" y="5086350"/>
            <a:ext cx="5243573" cy="137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Funciones que, dado el mismo input, siempre devuelven el mismo output y no tienen efectos secundarios (no modifican variables externas).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2876" y="5030771"/>
            <a:ext cx="5243573" cy="137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datos no se pueden modificar después de ser creados, lo que ayuda a evitar errores y facilita el razonamiento sobre el código.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7223" y="5086350"/>
            <a:ext cx="5243573" cy="104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Funciones que pueden tomar otras funciones como argumentos o devolver funciones como resultado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30948" y="7447812"/>
            <a:ext cx="4774694" cy="98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COMPOSICION DE FUNCIONES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37374" y="7344464"/>
            <a:ext cx="4659865" cy="98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ENFOQUE DECLARATIVO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10202" y="8540439"/>
            <a:ext cx="5243573" cy="137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Combinar varias funciones para crear una nueva función más compleja, pasando el resultado de una función como entrada a la siguiente.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37374" y="8540439"/>
            <a:ext cx="5243573" cy="137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describe qué se quiere lograr, no cómo se debe lograr, evitando detalles de implementación y estructuras de control como bucles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1711" y="2331544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VENTAJAS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921347" y="4219030"/>
            <a:ext cx="2051546" cy="1595077"/>
          </a:xfrm>
          <a:custGeom>
            <a:avLst/>
            <a:gdLst/>
            <a:ahLst/>
            <a:cxnLst/>
            <a:rect r="r" b="b" t="t" l="l"/>
            <a:pathLst>
              <a:path h="1595077" w="2051546">
                <a:moveTo>
                  <a:pt x="0" y="0"/>
                </a:moveTo>
                <a:lnTo>
                  <a:pt x="2051546" y="0"/>
                </a:lnTo>
                <a:lnTo>
                  <a:pt x="2051546" y="1595077"/>
                </a:lnTo>
                <a:lnTo>
                  <a:pt x="0" y="1595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13435" y="7504962"/>
            <a:ext cx="1267370" cy="1267370"/>
          </a:xfrm>
          <a:custGeom>
            <a:avLst/>
            <a:gdLst/>
            <a:ahLst/>
            <a:cxnLst/>
            <a:rect r="r" b="b" t="t" l="l"/>
            <a:pathLst>
              <a:path h="1267370" w="1267370">
                <a:moveTo>
                  <a:pt x="0" y="0"/>
                </a:moveTo>
                <a:lnTo>
                  <a:pt x="1267371" y="0"/>
                </a:lnTo>
                <a:lnTo>
                  <a:pt x="1267371" y="1267370"/>
                </a:lnTo>
                <a:lnTo>
                  <a:pt x="0" y="1267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54255" y="3931493"/>
            <a:ext cx="2105045" cy="2170149"/>
          </a:xfrm>
          <a:custGeom>
            <a:avLst/>
            <a:gdLst/>
            <a:ahLst/>
            <a:cxnLst/>
            <a:rect r="r" b="b" t="t" l="l"/>
            <a:pathLst>
              <a:path h="2170149" w="2105045">
                <a:moveTo>
                  <a:pt x="0" y="0"/>
                </a:moveTo>
                <a:lnTo>
                  <a:pt x="2105045" y="0"/>
                </a:lnTo>
                <a:lnTo>
                  <a:pt x="2105045" y="2170150"/>
                </a:lnTo>
                <a:lnTo>
                  <a:pt x="0" y="2170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490876" y="7149170"/>
            <a:ext cx="1578216" cy="1978954"/>
          </a:xfrm>
          <a:custGeom>
            <a:avLst/>
            <a:gdLst/>
            <a:ahLst/>
            <a:cxnLst/>
            <a:rect r="r" b="b" t="t" l="l"/>
            <a:pathLst>
              <a:path h="1978954" w="1578216">
                <a:moveTo>
                  <a:pt x="0" y="0"/>
                </a:moveTo>
                <a:lnTo>
                  <a:pt x="1578216" y="0"/>
                </a:lnTo>
                <a:lnTo>
                  <a:pt x="1578216" y="1978954"/>
                </a:lnTo>
                <a:lnTo>
                  <a:pt x="0" y="19789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6654" y="4624027"/>
            <a:ext cx="4774694" cy="98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CODIGO MAS LIMPIO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28403" y="4622195"/>
            <a:ext cx="4659865" cy="98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MAYOR FACILIDAD PARA PRUEBAS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6778" y="7674521"/>
            <a:ext cx="5243573" cy="76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lang="en-US" sz="2160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MAYOR PARALELISMO Y CONCURRENCIA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6654" y="7453026"/>
            <a:ext cx="4774694" cy="98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MAYOR MANTENIBILIDAD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790497" y="-48418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1711" y="2331544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EJEMPLO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912692" y="3887278"/>
            <a:ext cx="6444922" cy="551372"/>
          </a:xfrm>
          <a:custGeom>
            <a:avLst/>
            <a:gdLst/>
            <a:ahLst/>
            <a:cxnLst/>
            <a:rect r="r" b="b" t="t" l="l"/>
            <a:pathLst>
              <a:path h="551372" w="6444922">
                <a:moveTo>
                  <a:pt x="0" y="0"/>
                </a:moveTo>
                <a:lnTo>
                  <a:pt x="6444922" y="0"/>
                </a:lnTo>
                <a:lnTo>
                  <a:pt x="6444922" y="551372"/>
                </a:lnTo>
                <a:lnTo>
                  <a:pt x="0" y="551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08560" y="5143500"/>
            <a:ext cx="6249055" cy="2859123"/>
          </a:xfrm>
          <a:custGeom>
            <a:avLst/>
            <a:gdLst/>
            <a:ahLst/>
            <a:cxnLst/>
            <a:rect r="r" b="b" t="t" l="l"/>
            <a:pathLst>
              <a:path h="2859123" w="6249055">
                <a:moveTo>
                  <a:pt x="0" y="0"/>
                </a:moveTo>
                <a:lnTo>
                  <a:pt x="6249054" y="0"/>
                </a:lnTo>
                <a:lnTo>
                  <a:pt x="6249054" y="2859123"/>
                </a:lnTo>
                <a:lnTo>
                  <a:pt x="0" y="2859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39501" y="8711442"/>
            <a:ext cx="7134589" cy="546858"/>
          </a:xfrm>
          <a:custGeom>
            <a:avLst/>
            <a:gdLst/>
            <a:ahLst/>
            <a:cxnLst/>
            <a:rect r="r" b="b" t="t" l="l"/>
            <a:pathLst>
              <a:path h="546858" w="7134589">
                <a:moveTo>
                  <a:pt x="0" y="0"/>
                </a:moveTo>
                <a:lnTo>
                  <a:pt x="7134589" y="0"/>
                </a:lnTo>
                <a:lnTo>
                  <a:pt x="7134589" y="546858"/>
                </a:lnTo>
                <a:lnTo>
                  <a:pt x="0" y="546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44177" y="4032773"/>
            <a:ext cx="4762812" cy="35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7"/>
              </a:lnSpc>
              <a:spcBef>
                <a:spcPct val="0"/>
              </a:spcBef>
            </a:pPr>
            <a:r>
              <a:rPr lang="en-US" sz="21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NUMEROS MAYORES A 10 EN LA LISTA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7636" y="5952543"/>
            <a:ext cx="4015896" cy="35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7"/>
              </a:lnSpc>
              <a:spcBef>
                <a:spcPct val="0"/>
              </a:spcBef>
            </a:pPr>
            <a:r>
              <a:rPr lang="en-US" sz="21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CICLOS Y CONDICIONALES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7386" y="8476512"/>
            <a:ext cx="5448297" cy="35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7"/>
              </a:lnSpc>
              <a:spcBef>
                <a:spcPct val="0"/>
              </a:spcBef>
            </a:pPr>
            <a:r>
              <a:rPr lang="en-US" sz="21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UN ENFOQUE FUNCIONAL Y LAMBDAS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90569" y="-45745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9"/>
                </a:lnTo>
                <a:lnTo>
                  <a:pt x="0" y="3108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26549" y="2251598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41532" y="4507726"/>
            <a:ext cx="4391649" cy="1271548"/>
          </a:xfrm>
          <a:custGeom>
            <a:avLst/>
            <a:gdLst/>
            <a:ahLst/>
            <a:cxnLst/>
            <a:rect r="r" b="b" t="t" l="l"/>
            <a:pathLst>
              <a:path h="1271548" w="4391649">
                <a:moveTo>
                  <a:pt x="0" y="0"/>
                </a:moveTo>
                <a:lnTo>
                  <a:pt x="4391649" y="0"/>
                </a:lnTo>
                <a:lnTo>
                  <a:pt x="4391649" y="1271548"/>
                </a:lnTo>
                <a:lnTo>
                  <a:pt x="0" y="1271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37374" y="4507726"/>
            <a:ext cx="6389319" cy="3350637"/>
          </a:xfrm>
          <a:custGeom>
            <a:avLst/>
            <a:gdLst/>
            <a:ahLst/>
            <a:cxnLst/>
            <a:rect r="r" b="b" t="t" l="l"/>
            <a:pathLst>
              <a:path h="3350637" w="6389319">
                <a:moveTo>
                  <a:pt x="0" y="0"/>
                </a:moveTo>
                <a:lnTo>
                  <a:pt x="6389319" y="0"/>
                </a:lnTo>
                <a:lnTo>
                  <a:pt x="6389319" y="3350637"/>
                </a:lnTo>
                <a:lnTo>
                  <a:pt x="0" y="3350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34955" y="3607214"/>
            <a:ext cx="499332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 caracterizada por la siguiente sintaxis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267990"/>
            <a:ext cx="9468535" cy="189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1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expresión lambda representa el método abstracto de una interfaz funcional, una interfaz funcional es aquella que solo tiene un método abstracto, puede tener cualquier cantidad de métodos default o estáticos, pero solamente puede tener un método abstracto. Este método puede ser representado por una expresión lambda.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785407" y="-448277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26549" y="2251598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51156" y="5536439"/>
            <a:ext cx="5410866" cy="3349583"/>
          </a:xfrm>
          <a:custGeom>
            <a:avLst/>
            <a:gdLst/>
            <a:ahLst/>
            <a:cxnLst/>
            <a:rect r="r" b="b" t="t" l="l"/>
            <a:pathLst>
              <a:path h="3349583" w="5410866">
                <a:moveTo>
                  <a:pt x="0" y="0"/>
                </a:moveTo>
                <a:lnTo>
                  <a:pt x="5410866" y="0"/>
                </a:lnTo>
                <a:lnTo>
                  <a:pt x="5410866" y="3349583"/>
                </a:lnTo>
                <a:lnTo>
                  <a:pt x="0" y="33495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71342" y="7678268"/>
            <a:ext cx="5033731" cy="1580032"/>
          </a:xfrm>
          <a:custGeom>
            <a:avLst/>
            <a:gdLst/>
            <a:ahLst/>
            <a:cxnLst/>
            <a:rect r="r" b="b" t="t" l="l"/>
            <a:pathLst>
              <a:path h="1580032" w="5033731">
                <a:moveTo>
                  <a:pt x="0" y="0"/>
                </a:moveTo>
                <a:lnTo>
                  <a:pt x="5033731" y="0"/>
                </a:lnTo>
                <a:lnTo>
                  <a:pt x="5033731" y="1580032"/>
                </a:lnTo>
                <a:lnTo>
                  <a:pt x="0" y="1580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1156" y="3893879"/>
            <a:ext cx="5306273" cy="8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24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OPERACIONES DE CREACION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86364" y="3893879"/>
            <a:ext cx="5306273" cy="8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24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OPERACIONES INTERMEDIAS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40706" y="3893879"/>
            <a:ext cx="5306273" cy="8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24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OPERACIONES TERMINALES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5019" y="4979161"/>
            <a:ext cx="3618548" cy="30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sz="17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la que inician el flujo de datos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9163" y="5241164"/>
            <a:ext cx="3418211" cy="220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Transforman o filtran el flujo.</a:t>
            </a:r>
          </a:p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lazy (perezosas): no se ejecutan hasta que llega una operación terminal.</a:t>
            </a:r>
          </a:p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Devuelven otro Stream.</a:t>
            </a:r>
          </a:p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Puedes encadenar multiples operaciones intermedias</a:t>
            </a:r>
          </a:p>
          <a:p>
            <a:pPr algn="l">
              <a:lnSpc>
                <a:spcPts val="221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584737" y="5105400"/>
            <a:ext cx="3418211" cy="248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Cierran el stream.</a:t>
            </a:r>
          </a:p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Devuelven un resultado no-stream (colección, valor, nada).</a:t>
            </a:r>
          </a:p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vez que usas una operación terminal, no puedes reutilizar el mismo stream.</a:t>
            </a:r>
          </a:p>
          <a:p>
            <a:pPr algn="l" marL="340980" indent="-170490" lvl="1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Solo puedes usar una terminal para cerrar</a:t>
            </a:r>
          </a:p>
          <a:p>
            <a:pPr algn="l">
              <a:lnSpc>
                <a:spcPts val="2211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785407" y="-302391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0960" y="2153124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 CON STREAM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281861" y="4130511"/>
            <a:ext cx="5434335" cy="722651"/>
          </a:xfrm>
          <a:custGeom>
            <a:avLst/>
            <a:gdLst/>
            <a:ahLst/>
            <a:cxnLst/>
            <a:rect r="r" b="b" t="t" l="l"/>
            <a:pathLst>
              <a:path h="722651" w="5434335">
                <a:moveTo>
                  <a:pt x="0" y="0"/>
                </a:moveTo>
                <a:lnTo>
                  <a:pt x="5434335" y="0"/>
                </a:lnTo>
                <a:lnTo>
                  <a:pt x="5434335" y="722651"/>
                </a:lnTo>
                <a:lnTo>
                  <a:pt x="0" y="722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08380" y="5797681"/>
            <a:ext cx="4650006" cy="1472363"/>
          </a:xfrm>
          <a:custGeom>
            <a:avLst/>
            <a:gdLst/>
            <a:ahLst/>
            <a:cxnLst/>
            <a:rect r="r" b="b" t="t" l="l"/>
            <a:pathLst>
              <a:path h="1472363" w="4650006">
                <a:moveTo>
                  <a:pt x="0" y="0"/>
                </a:moveTo>
                <a:lnTo>
                  <a:pt x="4650006" y="0"/>
                </a:lnTo>
                <a:lnTo>
                  <a:pt x="4650006" y="1472363"/>
                </a:lnTo>
                <a:lnTo>
                  <a:pt x="0" y="1472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62787" y="4030848"/>
            <a:ext cx="4525709" cy="1392526"/>
          </a:xfrm>
          <a:custGeom>
            <a:avLst/>
            <a:gdLst/>
            <a:ahLst/>
            <a:cxnLst/>
            <a:rect r="r" b="b" t="t" l="l"/>
            <a:pathLst>
              <a:path h="1392526" w="4525709">
                <a:moveTo>
                  <a:pt x="0" y="0"/>
                </a:moveTo>
                <a:lnTo>
                  <a:pt x="4525709" y="0"/>
                </a:lnTo>
                <a:lnTo>
                  <a:pt x="4525709" y="1392526"/>
                </a:lnTo>
                <a:lnTo>
                  <a:pt x="0" y="139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54359" y="8190761"/>
            <a:ext cx="4715087" cy="1523652"/>
          </a:xfrm>
          <a:custGeom>
            <a:avLst/>
            <a:gdLst/>
            <a:ahLst/>
            <a:cxnLst/>
            <a:rect r="r" b="b" t="t" l="l"/>
            <a:pathLst>
              <a:path h="1523652" w="4715087">
                <a:moveTo>
                  <a:pt x="0" y="0"/>
                </a:moveTo>
                <a:lnTo>
                  <a:pt x="4715086" y="0"/>
                </a:lnTo>
                <a:lnTo>
                  <a:pt x="4715086" y="1523652"/>
                </a:lnTo>
                <a:lnTo>
                  <a:pt x="0" y="1523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2179" y="6952142"/>
            <a:ext cx="6629217" cy="692207"/>
          </a:xfrm>
          <a:custGeom>
            <a:avLst/>
            <a:gdLst/>
            <a:ahLst/>
            <a:cxnLst/>
            <a:rect r="r" b="b" t="t" l="l"/>
            <a:pathLst>
              <a:path h="692207" w="6629217">
                <a:moveTo>
                  <a:pt x="0" y="0"/>
                </a:moveTo>
                <a:lnTo>
                  <a:pt x="6629218" y="0"/>
                </a:lnTo>
                <a:lnTo>
                  <a:pt x="6629218" y="692208"/>
                </a:lnTo>
                <a:lnTo>
                  <a:pt x="0" y="6922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0993" y="8787246"/>
            <a:ext cx="5642503" cy="1024153"/>
          </a:xfrm>
          <a:custGeom>
            <a:avLst/>
            <a:gdLst/>
            <a:ahLst/>
            <a:cxnLst/>
            <a:rect r="r" b="b" t="t" l="l"/>
            <a:pathLst>
              <a:path h="1024153" w="5642503">
                <a:moveTo>
                  <a:pt x="0" y="0"/>
                </a:moveTo>
                <a:lnTo>
                  <a:pt x="5642503" y="0"/>
                </a:lnTo>
                <a:lnTo>
                  <a:pt x="5642503" y="1024153"/>
                </a:lnTo>
                <a:lnTo>
                  <a:pt x="0" y="10241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26809" y="3531724"/>
            <a:ext cx="710565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ForEach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84844" y="5280500"/>
            <a:ext cx="394494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66190" y="3531724"/>
            <a:ext cx="4120674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Recorre todos los elementos de una coleccion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76372" y="5280500"/>
            <a:ext cx="4939824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Transforma cada elemento de la coleccion en otro valor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2817" y="3531724"/>
            <a:ext cx="446722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09395" y="3531724"/>
            <a:ext cx="3432493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Filtra los elementos segun la condicion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74195" y="7501475"/>
            <a:ext cx="615791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88780" y="7501475"/>
            <a:ext cx="4515009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Combina todos los elementos en un solo resultado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2651" y="5968985"/>
            <a:ext cx="567055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collect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62787" y="5968985"/>
            <a:ext cx="5447325" cy="7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operacion terminal de un stream, sirve para recoger los elementos procesados y guardarlos en una coleccion o estructura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00993" y="8047886"/>
            <a:ext cx="430371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peek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60960" y="8025248"/>
            <a:ext cx="5447325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sirve para ver o espiar lo que esta pasando en cada paso de la tuberia del stream sin modificar los datos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785407" y="-302391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0960" y="2105499"/>
            <a:ext cx="13825903" cy="7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 CON STREAM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863995" y="3955855"/>
            <a:ext cx="3782062" cy="1684258"/>
          </a:xfrm>
          <a:custGeom>
            <a:avLst/>
            <a:gdLst/>
            <a:ahLst/>
            <a:cxnLst/>
            <a:rect r="r" b="b" t="t" l="l"/>
            <a:pathLst>
              <a:path h="1684258" w="3782062">
                <a:moveTo>
                  <a:pt x="0" y="0"/>
                </a:moveTo>
                <a:lnTo>
                  <a:pt x="3782063" y="0"/>
                </a:lnTo>
                <a:lnTo>
                  <a:pt x="3782063" y="1684259"/>
                </a:lnTo>
                <a:lnTo>
                  <a:pt x="0" y="1684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01898" y="6398602"/>
            <a:ext cx="4306258" cy="1131448"/>
          </a:xfrm>
          <a:custGeom>
            <a:avLst/>
            <a:gdLst/>
            <a:ahLst/>
            <a:cxnLst/>
            <a:rect r="r" b="b" t="t" l="l"/>
            <a:pathLst>
              <a:path h="1131448" w="4306258">
                <a:moveTo>
                  <a:pt x="0" y="0"/>
                </a:moveTo>
                <a:lnTo>
                  <a:pt x="4306257" y="0"/>
                </a:lnTo>
                <a:lnTo>
                  <a:pt x="4306257" y="1131448"/>
                </a:lnTo>
                <a:lnTo>
                  <a:pt x="0" y="1131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48139" y="8627814"/>
            <a:ext cx="4155005" cy="1260972"/>
          </a:xfrm>
          <a:custGeom>
            <a:avLst/>
            <a:gdLst/>
            <a:ahLst/>
            <a:cxnLst/>
            <a:rect r="r" b="b" t="t" l="l"/>
            <a:pathLst>
              <a:path h="1260972" w="4155005">
                <a:moveTo>
                  <a:pt x="0" y="0"/>
                </a:moveTo>
                <a:lnTo>
                  <a:pt x="4155005" y="0"/>
                </a:lnTo>
                <a:lnTo>
                  <a:pt x="4155005" y="1260972"/>
                </a:lnTo>
                <a:lnTo>
                  <a:pt x="0" y="126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82091" y="5781322"/>
            <a:ext cx="5093465" cy="1505081"/>
          </a:xfrm>
          <a:custGeom>
            <a:avLst/>
            <a:gdLst/>
            <a:ahLst/>
            <a:cxnLst/>
            <a:rect r="r" b="b" t="t" l="l"/>
            <a:pathLst>
              <a:path h="1505081" w="5093465">
                <a:moveTo>
                  <a:pt x="0" y="0"/>
                </a:moveTo>
                <a:lnTo>
                  <a:pt x="5093465" y="0"/>
                </a:lnTo>
                <a:lnTo>
                  <a:pt x="5093465" y="1505080"/>
                </a:lnTo>
                <a:lnTo>
                  <a:pt x="0" y="150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60587" y="3955855"/>
            <a:ext cx="4287249" cy="1148693"/>
          </a:xfrm>
          <a:custGeom>
            <a:avLst/>
            <a:gdLst/>
            <a:ahLst/>
            <a:cxnLst/>
            <a:rect r="r" b="b" t="t" l="l"/>
            <a:pathLst>
              <a:path h="1148693" w="4287249">
                <a:moveTo>
                  <a:pt x="0" y="0"/>
                </a:moveTo>
                <a:lnTo>
                  <a:pt x="4287249" y="0"/>
                </a:lnTo>
                <a:lnTo>
                  <a:pt x="4287249" y="1148694"/>
                </a:lnTo>
                <a:lnTo>
                  <a:pt x="0" y="11486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228823" y="3994615"/>
            <a:ext cx="3884768" cy="1109934"/>
          </a:xfrm>
          <a:custGeom>
            <a:avLst/>
            <a:gdLst/>
            <a:ahLst/>
            <a:cxnLst/>
            <a:rect r="r" b="b" t="t" l="l"/>
            <a:pathLst>
              <a:path h="1109934" w="3884768">
                <a:moveTo>
                  <a:pt x="0" y="0"/>
                </a:moveTo>
                <a:lnTo>
                  <a:pt x="3884769" y="0"/>
                </a:lnTo>
                <a:lnTo>
                  <a:pt x="3884769" y="1109934"/>
                </a:lnTo>
                <a:lnTo>
                  <a:pt x="0" y="1109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04338" y="8006299"/>
            <a:ext cx="3260569" cy="622016"/>
          </a:xfrm>
          <a:custGeom>
            <a:avLst/>
            <a:gdLst/>
            <a:ahLst/>
            <a:cxnLst/>
            <a:rect r="r" b="b" t="t" l="l"/>
            <a:pathLst>
              <a:path h="622016" w="3260569">
                <a:moveTo>
                  <a:pt x="0" y="0"/>
                </a:moveTo>
                <a:lnTo>
                  <a:pt x="3260570" y="0"/>
                </a:lnTo>
                <a:lnTo>
                  <a:pt x="3260570" y="622017"/>
                </a:lnTo>
                <a:lnTo>
                  <a:pt x="0" y="622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201217" y="8799766"/>
            <a:ext cx="3666812" cy="564887"/>
          </a:xfrm>
          <a:custGeom>
            <a:avLst/>
            <a:gdLst/>
            <a:ahLst/>
            <a:cxnLst/>
            <a:rect r="r" b="b" t="t" l="l"/>
            <a:pathLst>
              <a:path h="564887" w="3666812">
                <a:moveTo>
                  <a:pt x="0" y="0"/>
                </a:moveTo>
                <a:lnTo>
                  <a:pt x="3666812" y="0"/>
                </a:lnTo>
                <a:lnTo>
                  <a:pt x="3666812" y="564887"/>
                </a:lnTo>
                <a:lnTo>
                  <a:pt x="0" y="564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19721" y="9545628"/>
            <a:ext cx="3829805" cy="536792"/>
          </a:xfrm>
          <a:custGeom>
            <a:avLst/>
            <a:gdLst/>
            <a:ahLst/>
            <a:cxnLst/>
            <a:rect r="r" b="b" t="t" l="l"/>
            <a:pathLst>
              <a:path h="536792" w="3829805">
                <a:moveTo>
                  <a:pt x="0" y="0"/>
                </a:moveTo>
                <a:lnTo>
                  <a:pt x="3829804" y="0"/>
                </a:lnTo>
                <a:lnTo>
                  <a:pt x="3829804" y="536792"/>
                </a:lnTo>
                <a:lnTo>
                  <a:pt x="0" y="536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043315" y="3531724"/>
            <a:ext cx="3277553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min(Comparator) / max(Comparator)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04212" y="5280500"/>
            <a:ext cx="355759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72382" y="3531724"/>
            <a:ext cx="3585051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Devuelve el elemento minimo o maximo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72382" y="5280500"/>
            <a:ext cx="2747804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Salta los primeros n elementos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8920" y="3531724"/>
            <a:ext cx="574516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sorted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56460" y="3531724"/>
            <a:ext cx="2138362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Ordena el flujo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53137" y="7501475"/>
            <a:ext cx="3023235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any Match/ all Match/ none Match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47897" y="7501475"/>
            <a:ext cx="4869339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validan si algun/todos/ninguno cumplen una condicion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3043" y="5968985"/>
            <a:ext cx="646271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distinct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31364" y="5968985"/>
            <a:ext cx="5447325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 duplicados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21551" y="8047886"/>
            <a:ext cx="389255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60960" y="8025248"/>
            <a:ext cx="5447325" cy="25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Toma solo los primeros n elementos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785407" y="-302391"/>
            <a:ext cx="3108188" cy="3108188"/>
          </a:xfrm>
          <a:custGeom>
            <a:avLst/>
            <a:gdLst/>
            <a:ahLst/>
            <a:cxnLst/>
            <a:rect r="r" b="b" t="t" l="l"/>
            <a:pathLst>
              <a:path h="3108188" w="3108188">
                <a:moveTo>
                  <a:pt x="0" y="0"/>
                </a:moveTo>
                <a:lnTo>
                  <a:pt x="3108188" y="0"/>
                </a:lnTo>
                <a:lnTo>
                  <a:pt x="3108188" y="3108188"/>
                </a:lnTo>
                <a:lnTo>
                  <a:pt x="0" y="3108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43772" y="5354948"/>
            <a:ext cx="7332354" cy="107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5"/>
              </a:lnSpc>
              <a:spcBef>
                <a:spcPct val="0"/>
              </a:spcBef>
            </a:pPr>
            <a:r>
              <a:rPr lang="en-US" sz="624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PORQUE ES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46268" y="2529284"/>
            <a:ext cx="7228457" cy="4824995"/>
          </a:xfrm>
          <a:custGeom>
            <a:avLst/>
            <a:gdLst/>
            <a:ahLst/>
            <a:cxnLst/>
            <a:rect r="r" b="b" t="t" l="l"/>
            <a:pathLst>
              <a:path h="4824995" w="7228457">
                <a:moveTo>
                  <a:pt x="0" y="0"/>
                </a:moveTo>
                <a:lnTo>
                  <a:pt x="7228457" y="0"/>
                </a:lnTo>
                <a:lnTo>
                  <a:pt x="7228457" y="4824995"/>
                </a:lnTo>
                <a:lnTo>
                  <a:pt x="0" y="4824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02616" y="6615287"/>
            <a:ext cx="5014666" cy="140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6"/>
              </a:lnSpc>
              <a:spcBef>
                <a:spcPct val="0"/>
              </a:spcBef>
            </a:pPr>
            <a:r>
              <a:rPr lang="en-US" sz="4061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IMPORTANTE TODO ESTO 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12313" y="1028700"/>
            <a:ext cx="5204970" cy="5204970"/>
          </a:xfrm>
          <a:custGeom>
            <a:avLst/>
            <a:gdLst/>
            <a:ahLst/>
            <a:cxnLst/>
            <a:rect r="r" b="b" t="t" l="l"/>
            <a:pathLst>
              <a:path h="5204970" w="5204970">
                <a:moveTo>
                  <a:pt x="0" y="0"/>
                </a:moveTo>
                <a:lnTo>
                  <a:pt x="5204970" y="0"/>
                </a:lnTo>
                <a:lnTo>
                  <a:pt x="5204970" y="5204970"/>
                </a:lnTo>
                <a:lnTo>
                  <a:pt x="0" y="5204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795467" y="-1512024"/>
            <a:ext cx="5709021" cy="4810850"/>
          </a:xfrm>
          <a:custGeom>
            <a:avLst/>
            <a:gdLst/>
            <a:ahLst/>
            <a:cxnLst/>
            <a:rect r="r" b="b" t="t" l="l"/>
            <a:pathLst>
              <a:path h="4810850" w="5709021">
                <a:moveTo>
                  <a:pt x="0" y="0"/>
                </a:moveTo>
                <a:lnTo>
                  <a:pt x="5709021" y="0"/>
                </a:lnTo>
                <a:lnTo>
                  <a:pt x="5709021" y="4810851"/>
                </a:lnTo>
                <a:lnTo>
                  <a:pt x="0" y="481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04789" y="-1376725"/>
            <a:ext cx="5709021" cy="4810850"/>
          </a:xfrm>
          <a:custGeom>
            <a:avLst/>
            <a:gdLst/>
            <a:ahLst/>
            <a:cxnLst/>
            <a:rect r="r" b="b" t="t" l="l"/>
            <a:pathLst>
              <a:path h="4810850" w="5709021">
                <a:moveTo>
                  <a:pt x="0" y="0"/>
                </a:moveTo>
                <a:lnTo>
                  <a:pt x="5709022" y="0"/>
                </a:lnTo>
                <a:lnTo>
                  <a:pt x="5709022" y="4810850"/>
                </a:lnTo>
                <a:lnTo>
                  <a:pt x="0" y="4810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400000">
            <a:off x="7753776" y="1390224"/>
            <a:ext cx="10287000" cy="7506552"/>
            <a:chOff x="0" y="0"/>
            <a:chExt cx="2709333" cy="1977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3" cy="1977034"/>
            </a:xfrm>
            <a:custGeom>
              <a:avLst/>
              <a:gdLst/>
              <a:ahLst/>
              <a:cxnLst/>
              <a:rect r="r" b="b" t="t" l="l"/>
              <a:pathLst>
                <a:path h="1977034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977034"/>
                  </a:lnTo>
                  <a:lnTo>
                    <a:pt x="0" y="197703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37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3" cy="201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62285" y="5720865"/>
            <a:ext cx="6300917" cy="215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9"/>
              </a:lnSpc>
            </a:pPr>
            <a:r>
              <a:rPr lang="en-US" sz="407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LABORATORIO #1</a:t>
            </a:r>
          </a:p>
          <a:p>
            <a:pPr algn="ctr">
              <a:lnSpc>
                <a:spcPts val="5709"/>
              </a:lnSpc>
              <a:spcBef>
                <a:spcPct val="0"/>
              </a:spcBef>
            </a:pPr>
            <a:r>
              <a:rPr lang="en-US" sz="4078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PRUEBA TECNICA DE INGRESO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83802" y="2987837"/>
            <a:ext cx="7026947" cy="107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05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2. ABRAN EL ENUNCIADO QUE LES LLEGO A SU CORREO INSTITUCIONAL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05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LEEANLO DETALLADAMENTE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3802" y="1610450"/>
            <a:ext cx="7026947" cy="71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4081" indent="-222041" lvl="1">
              <a:lnSpc>
                <a:spcPts val="2879"/>
              </a:lnSpc>
              <a:spcBef>
                <a:spcPct val="0"/>
              </a:spcBef>
              <a:buAutoNum type="arabicPeriod" startAt="1"/>
            </a:pPr>
            <a:r>
              <a:rPr lang="en-US" sz="205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TRABAJARAN EN LAS PAREJAS ASIGNADAS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3802" y="7371976"/>
            <a:ext cx="7026947" cy="14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4081" indent="-222041" lvl="1">
              <a:lnSpc>
                <a:spcPts val="2879"/>
              </a:lnSpc>
              <a:spcBef>
                <a:spcPct val="0"/>
              </a:spcBef>
              <a:buAutoNum type="arabicPeriod" startAt="1"/>
            </a:pPr>
            <a:r>
              <a:rPr lang="en-US" sz="205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CUANDO TODOS LOS EQUIPOS FINALICEN LA PARTE 1 Y 2 INFORMEN AL PROFESOR PARA INICIAR LA PARTE NUMERO 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13369" y="676420"/>
            <a:ext cx="6049834" cy="6049834"/>
          </a:xfrm>
          <a:custGeom>
            <a:avLst/>
            <a:gdLst/>
            <a:ahLst/>
            <a:cxnLst/>
            <a:rect r="r" b="b" t="t" l="l"/>
            <a:pathLst>
              <a:path h="6049834" w="6049834">
                <a:moveTo>
                  <a:pt x="0" y="0"/>
                </a:moveTo>
                <a:lnTo>
                  <a:pt x="6049833" y="0"/>
                </a:lnTo>
                <a:lnTo>
                  <a:pt x="6049833" y="6049834"/>
                </a:lnTo>
                <a:lnTo>
                  <a:pt x="0" y="6049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83802" y="4900258"/>
            <a:ext cx="7026947" cy="180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44081" indent="-222041" lvl="1">
              <a:lnSpc>
                <a:spcPts val="2879"/>
              </a:lnSpc>
              <a:spcBef>
                <a:spcPct val="0"/>
              </a:spcBef>
              <a:buAutoNum type="arabicPeriod" startAt="1"/>
            </a:pPr>
            <a:r>
              <a:rPr lang="en-US" sz="205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SE LES DEVOLVERA SU HV, LA IDEA ES QUE DENTRO DEL README DE SU PROYECTO LA ANEXEN YA SEA EN PDF O UNA FOTO CON BUENA RESOLUCION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46232" y="-93621"/>
            <a:ext cx="7049995" cy="11271794"/>
          </a:xfrm>
          <a:custGeom>
            <a:avLst/>
            <a:gdLst/>
            <a:ahLst/>
            <a:cxnLst/>
            <a:rect r="r" b="b" t="t" l="l"/>
            <a:pathLst>
              <a:path h="11271794" w="7049995">
                <a:moveTo>
                  <a:pt x="0" y="0"/>
                </a:moveTo>
                <a:lnTo>
                  <a:pt x="7049994" y="0"/>
                </a:lnTo>
                <a:lnTo>
                  <a:pt x="7049994" y="11271794"/>
                </a:lnTo>
                <a:lnTo>
                  <a:pt x="0" y="1127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532442" y="5382267"/>
            <a:ext cx="7315200" cy="2349450"/>
          </a:xfrm>
          <a:custGeom>
            <a:avLst/>
            <a:gdLst/>
            <a:ahLst/>
            <a:cxnLst/>
            <a:rect r="r" b="b" t="t" l="l"/>
            <a:pathLst>
              <a:path h="2349450" w="7315200">
                <a:moveTo>
                  <a:pt x="0" y="0"/>
                </a:moveTo>
                <a:lnTo>
                  <a:pt x="7315200" y="0"/>
                </a:lnTo>
                <a:lnTo>
                  <a:pt x="7315200" y="2349449"/>
                </a:lnTo>
                <a:lnTo>
                  <a:pt x="0" y="23494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35011" y="4496841"/>
            <a:ext cx="6783956" cy="77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2"/>
              </a:lnSpc>
              <a:spcBef>
                <a:spcPct val="0"/>
              </a:spcBef>
            </a:pPr>
            <a:r>
              <a:rPr lang="en-US" sz="447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PARTE 3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52235" y="7504962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62114" y="35055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864813"/>
            <a:ext cx="5690116" cy="6816285"/>
          </a:xfrm>
          <a:custGeom>
            <a:avLst/>
            <a:gdLst/>
            <a:ahLst/>
            <a:cxnLst/>
            <a:rect r="r" b="b" t="t" l="l"/>
            <a:pathLst>
              <a:path h="6816285" w="5690116">
                <a:moveTo>
                  <a:pt x="0" y="0"/>
                </a:moveTo>
                <a:lnTo>
                  <a:pt x="5690116" y="0"/>
                </a:lnTo>
                <a:lnTo>
                  <a:pt x="5690116" y="6816285"/>
                </a:lnTo>
                <a:lnTo>
                  <a:pt x="0" y="68162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5011" y="5649229"/>
            <a:ext cx="4803020" cy="100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sz="2861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HACKATHON EXPRESS 2026-1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35011" y="-507557"/>
            <a:ext cx="6049834" cy="6049834"/>
          </a:xfrm>
          <a:custGeom>
            <a:avLst/>
            <a:gdLst/>
            <a:ahLst/>
            <a:cxnLst/>
            <a:rect r="r" b="b" t="t" l="l"/>
            <a:pathLst>
              <a:path h="6049834" w="6049834">
                <a:moveTo>
                  <a:pt x="0" y="0"/>
                </a:moveTo>
                <a:lnTo>
                  <a:pt x="6049834" y="0"/>
                </a:lnTo>
                <a:lnTo>
                  <a:pt x="6049834" y="6049833"/>
                </a:lnTo>
                <a:lnTo>
                  <a:pt x="0" y="6049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141291"/>
            <a:ext cx="7026947" cy="107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05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ANTES DE TERMINAR LA CLASE TIENEN QUE SUBIR UNA EVIDENCIA DE SU TRABAJO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46232" y="-93621"/>
            <a:ext cx="7049995" cy="11271794"/>
          </a:xfrm>
          <a:custGeom>
            <a:avLst/>
            <a:gdLst/>
            <a:ahLst/>
            <a:cxnLst/>
            <a:rect r="r" b="b" t="t" l="l"/>
            <a:pathLst>
              <a:path h="11271794" w="7049995">
                <a:moveTo>
                  <a:pt x="0" y="0"/>
                </a:moveTo>
                <a:lnTo>
                  <a:pt x="7049994" y="0"/>
                </a:lnTo>
                <a:lnTo>
                  <a:pt x="7049994" y="11271794"/>
                </a:lnTo>
                <a:lnTo>
                  <a:pt x="0" y="11271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532442" y="5382267"/>
            <a:ext cx="7315200" cy="2349450"/>
          </a:xfrm>
          <a:custGeom>
            <a:avLst/>
            <a:gdLst/>
            <a:ahLst/>
            <a:cxnLst/>
            <a:rect r="r" b="b" t="t" l="l"/>
            <a:pathLst>
              <a:path h="2349450" w="7315200">
                <a:moveTo>
                  <a:pt x="0" y="0"/>
                </a:moveTo>
                <a:lnTo>
                  <a:pt x="7315200" y="0"/>
                </a:lnTo>
                <a:lnTo>
                  <a:pt x="7315200" y="2349449"/>
                </a:lnTo>
                <a:lnTo>
                  <a:pt x="0" y="23494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35011" y="4496841"/>
            <a:ext cx="6783956" cy="77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2"/>
              </a:lnSpc>
              <a:spcBef>
                <a:spcPct val="0"/>
              </a:spcBef>
            </a:pPr>
            <a:r>
              <a:rPr lang="en-US" sz="447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PARTE 4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52235" y="7504962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62114" y="35055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53367" y="2807699"/>
            <a:ext cx="5654308" cy="5469154"/>
          </a:xfrm>
          <a:custGeom>
            <a:avLst/>
            <a:gdLst/>
            <a:ahLst/>
            <a:cxnLst/>
            <a:rect r="r" b="b" t="t" l="l"/>
            <a:pathLst>
              <a:path h="5469154" w="5654308">
                <a:moveTo>
                  <a:pt x="0" y="0"/>
                </a:moveTo>
                <a:lnTo>
                  <a:pt x="5654308" y="0"/>
                </a:lnTo>
                <a:lnTo>
                  <a:pt x="5654308" y="5469154"/>
                </a:lnTo>
                <a:lnTo>
                  <a:pt x="0" y="54691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5011" y="5649229"/>
            <a:ext cx="4803020" cy="50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sz="2861">
                <a:solidFill>
                  <a:srgbClr val="FFDAF4"/>
                </a:solidFill>
                <a:latin typeface="HK Modular"/>
                <a:ea typeface="HK Modular"/>
                <a:cs typeface="HK Modular"/>
                <a:sym typeface="HK Modular"/>
              </a:rPr>
              <a:t>CUESTIONARIO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35011" y="-507557"/>
            <a:ext cx="6049834" cy="6049834"/>
          </a:xfrm>
          <a:custGeom>
            <a:avLst/>
            <a:gdLst/>
            <a:ahLst/>
            <a:cxnLst/>
            <a:rect r="r" b="b" t="t" l="l"/>
            <a:pathLst>
              <a:path h="6049834" w="6049834">
                <a:moveTo>
                  <a:pt x="0" y="0"/>
                </a:moveTo>
                <a:lnTo>
                  <a:pt x="6049834" y="0"/>
                </a:lnTo>
                <a:lnTo>
                  <a:pt x="6049834" y="6049833"/>
                </a:lnTo>
                <a:lnTo>
                  <a:pt x="0" y="6049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8705" cy="5209212"/>
            </a:xfrm>
            <a:custGeom>
              <a:avLst/>
              <a:gdLst/>
              <a:ahLst/>
              <a:cxnLst/>
              <a:rect r="r" b="b" t="t" l="l"/>
              <a:pathLst>
                <a:path h="5209212" w="2798705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52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9501" y="-2648321"/>
            <a:ext cx="10731144" cy="4199330"/>
            <a:chOff x="0" y="0"/>
            <a:chExt cx="3083604" cy="1206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83604" cy="1206681"/>
            </a:xfrm>
            <a:custGeom>
              <a:avLst/>
              <a:gdLst/>
              <a:ahLst/>
              <a:cxnLst/>
              <a:rect r="r" b="b" t="t" l="l"/>
              <a:pathLst>
                <a:path h="1206681" w="3083604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A67D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439016" y="8012732"/>
            <a:ext cx="612033" cy="609807"/>
          </a:xfrm>
          <a:custGeom>
            <a:avLst/>
            <a:gdLst/>
            <a:ahLst/>
            <a:cxnLst/>
            <a:rect r="r" b="b" t="t" l="l"/>
            <a:pathLst>
              <a:path h="609807" w="612033">
                <a:moveTo>
                  <a:pt x="0" y="0"/>
                </a:moveTo>
                <a:lnTo>
                  <a:pt x="612033" y="0"/>
                </a:lnTo>
                <a:lnTo>
                  <a:pt x="612033" y="609808"/>
                </a:lnTo>
                <a:lnTo>
                  <a:pt x="0" y="609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2898" y="4452188"/>
            <a:ext cx="16869666" cy="121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PROXIMA SESION TEORICA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78573" y="3367636"/>
            <a:ext cx="10520257" cy="121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99C5FF"/>
                </a:solidFill>
                <a:latin typeface="HK Modular"/>
                <a:ea typeface="HK Modular"/>
                <a:cs typeface="HK Modular"/>
                <a:sym typeface="HK Modular"/>
              </a:rPr>
              <a:t>NOS VEMOS LA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94038" y="6154901"/>
            <a:ext cx="1089092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Recuerden terminar lo que les queda de laboratorio 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Investiguen que es SOLID y Patrones de diseño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22719" y="8000262"/>
            <a:ext cx="4767206" cy="58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16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https://www.datacamp.com/es/blog/git-commands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131901" y="-548656"/>
            <a:ext cx="4415200" cy="4415200"/>
          </a:xfrm>
          <a:custGeom>
            <a:avLst/>
            <a:gdLst/>
            <a:ahLst/>
            <a:cxnLst/>
            <a:rect r="r" b="b" t="t" l="l"/>
            <a:pathLst>
              <a:path h="4415200" w="4415200">
                <a:moveTo>
                  <a:pt x="0" y="0"/>
                </a:moveTo>
                <a:lnTo>
                  <a:pt x="4415200" y="0"/>
                </a:lnTo>
                <a:lnTo>
                  <a:pt x="4415200" y="4415200"/>
                </a:lnTo>
                <a:lnTo>
                  <a:pt x="0" y="4415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DAGwFe1EpNI</dc:identifier>
  <dcterms:modified xsi:type="dcterms:W3CDTF">2011-08-01T06:04:30Z</dcterms:modified>
  <cp:revision>1</cp:revision>
  <dc:title>DOSW 201 - LAB 01</dc:title>
</cp:coreProperties>
</file>